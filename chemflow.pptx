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51"/>
    <p:sldId id="301" r:id="rId52"/>
    <p:sldId id="302" r:id="rId5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2" d="100"/>
          <a:sy n="112" d="100"/>
        </p:scale>
        <p:origin x="5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1B2140"/>
                </a:solidFill>
                <a:latin typeface="Calibri"/>
              </a:defRPr>
            </a:pPr>
            <a:r>
              <a:rPr lang="en-US" sz="1150" b="0" i="0" u="none" strike="noStrike">
                <a:solidFill>
                  <a:srgbClr val="1B2140"/>
                </a:solidFill>
                <a:latin typeface="Calibri"/>
              </a:rPr>
              <a:t>RMSD redocking per reseptor (Å), data demonstrasi</a:t>
            </a:r>
          </a:p>
        </c:rich>
      </c:tx>
      <c:overlay val="0"/>
    </c:title>
    <c:autoTitleDeleted val="0"/>
    <c:plotArea>
      <c:layout/>
      <c:barChart>
        <c:barDir val="col"/>
        <c:grouping val="clustered"/>
        <c:varyColors val="0"/>
        <c:ser>
          <c:idx val="0"/>
          <c:order val="0"/>
          <c:tx>
            <c:strRef>
              <c:f>Sheet1!$B$1</c:f>
              <c:strCache>
                <c:ptCount val="1"/>
                <c:pt idx="0">
                  <c:v>RMSD (Å)</c:v>
                </c:pt>
              </c:strCache>
            </c:strRef>
          </c:tx>
          <c:spPr>
            <a:solidFill>
              <a:srgbClr val="009E73"/>
            </a:solidFill>
            <a:effectLst/>
          </c:spPr>
          <c:invertIfNegative val="0"/>
          <c:dPt>
            <c:idx val="0"/>
            <c:invertIfNegative val="0"/>
            <c:bubble3D val="0"/>
            <c:extLst>
              <c:ext xmlns:c16="http://schemas.microsoft.com/office/drawing/2014/chart" uri="{C3380CC4-5D6E-409C-BE32-E72D297353CC}">
                <c16:uniqueId val="{00000001-5A6A-4C39-87C1-A0B7AC1F36D9}"/>
              </c:ext>
            </c:extLst>
          </c:dPt>
          <c:dPt>
            <c:idx val="1"/>
            <c:invertIfNegative val="0"/>
            <c:bubble3D val="0"/>
            <c:extLst>
              <c:ext xmlns:c16="http://schemas.microsoft.com/office/drawing/2014/chart" uri="{C3380CC4-5D6E-409C-BE32-E72D297353CC}">
                <c16:uniqueId val="{00000003-5A6A-4C39-87C1-A0B7AC1F36D9}"/>
              </c:ext>
            </c:extLst>
          </c:dPt>
          <c:dPt>
            <c:idx val="2"/>
            <c:invertIfNegative val="0"/>
            <c:bubble3D val="0"/>
            <c:spPr>
              <a:solidFill>
                <a:srgbClr val="E69F00"/>
              </a:solidFill>
              <a:effectLst/>
            </c:spPr>
            <c:extLst>
              <c:ext xmlns:c16="http://schemas.microsoft.com/office/drawing/2014/chart" uri="{C3380CC4-5D6E-409C-BE32-E72D297353CC}">
                <c16:uniqueId val="{00000005-5A6A-4C39-87C1-A0B7AC1F36D9}"/>
              </c:ext>
            </c:extLst>
          </c:dPt>
          <c:dPt>
            <c:idx val="3"/>
            <c:invertIfNegative val="0"/>
            <c:bubble3D val="0"/>
            <c:spPr>
              <a:solidFill>
                <a:srgbClr val="D55E00"/>
              </a:solidFill>
              <a:effectLst/>
            </c:spPr>
            <c:extLst>
              <c:ext xmlns:c16="http://schemas.microsoft.com/office/drawing/2014/chart" uri="{C3380CC4-5D6E-409C-BE32-E72D297353CC}">
                <c16:uniqueId val="{00000007-5A6A-4C39-87C1-A0B7AC1F36D9}"/>
              </c:ext>
            </c:extLst>
          </c:dPt>
          <c:dPt>
            <c:idx val="4"/>
            <c:invertIfNegative val="0"/>
            <c:bubble3D val="0"/>
            <c:spPr>
              <a:solidFill>
                <a:srgbClr val="E69F00"/>
              </a:solidFill>
              <a:effectLst/>
            </c:spPr>
            <c:extLst>
              <c:ext xmlns:c16="http://schemas.microsoft.com/office/drawing/2014/chart" uri="{C3380CC4-5D6E-409C-BE32-E72D297353CC}">
                <c16:uniqueId val="{00000009-5A6A-4C39-87C1-A0B7AC1F36D9}"/>
              </c:ext>
            </c:extLst>
          </c:dPt>
          <c:dLbls>
            <c:numFmt formatCode="0.00" sourceLinked="0"/>
            <c:spPr>
              <a:noFill/>
              <a:ln>
                <a:noFill/>
              </a:ln>
              <a:effectLst/>
            </c:spPr>
            <c:txPr>
              <a:bodyPr/>
              <a:lstStyle/>
              <a:p>
                <a:pPr>
                  <a:defRPr sz="1100" b="0" i="0" u="none" strike="noStrike">
                    <a:solidFill>
                      <a:srgbClr val="1B214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1UWH</c:v>
                </c:pt>
                <c:pt idx="1">
                  <c:v>4EY7</c:v>
                </c:pt>
                <c:pt idx="2">
                  <c:v>1HCK</c:v>
                </c:pt>
                <c:pt idx="3">
                  <c:v>1HSG</c:v>
                </c:pt>
                <c:pt idx="4">
                  <c:v>1EVE</c:v>
                </c:pt>
              </c:strCache>
            </c:strRef>
          </c:cat>
          <c:val>
            <c:numRef>
              <c:f>Sheet1!$B$2:$B$6</c:f>
              <c:numCache>
                <c:formatCode>0.00</c:formatCode>
                <c:ptCount val="5"/>
                <c:pt idx="0">
                  <c:v>0.61</c:v>
                </c:pt>
                <c:pt idx="1">
                  <c:v>0.83</c:v>
                </c:pt>
                <c:pt idx="2">
                  <c:v>2.73</c:v>
                </c:pt>
                <c:pt idx="3">
                  <c:v>10.52</c:v>
                </c:pt>
                <c:pt idx="4">
                  <c:v>2.19</c:v>
                </c:pt>
              </c:numCache>
            </c:numRef>
          </c:val>
          <c:extLst>
            <c:ext xmlns:c16="http://schemas.microsoft.com/office/drawing/2014/chart" uri="{C3380CC4-5D6E-409C-BE32-E72D297353CC}">
              <c16:uniqueId val="{0000000A-5A6A-4C39-87C1-A0B7AC1F36D9}"/>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140"/>
                </a:solidFill>
                <a:latin typeface="Calibri"/>
              </a:defRPr>
            </a:pPr>
            <a:endParaRPr lang="en-US"/>
          </a:p>
        </c:txPr>
        <c:crossAx val="2094734552"/>
        <c:crosses val="autoZero"/>
        <c:auto val="1"/>
        <c:lblAlgn val="ctr"/>
        <c:lblOffset val="100"/>
        <c:noMultiLvlLbl val="1"/>
      </c:catAx>
      <c:valAx>
        <c:axId val="2094734552"/>
        <c:scaling>
          <c:orientation val="minMax"/>
          <c:max val="12"/>
          <c:min val="0"/>
        </c:scaling>
        <c:delete val="0"/>
        <c:axPos val="l"/>
        <c:majorGridlines>
          <c:spPr>
            <a:ln w="6350" cap="flat">
              <a:solidFill>
                <a:srgbClr val="E1E6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80"/>
                </a:solidFill>
                <a:latin typeface="Arial"/>
              </a:defRPr>
            </a:pPr>
            <a:endParaRPr lang="en-US"/>
          </a:p>
        </c:txPr>
        <c:crossAx val="2094734554"/>
        <c:crosses val="autoZero"/>
        <c:crossBetween val="between"/>
        <c:majorUnit val="2"/>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1B2140"/>
                </a:solidFill>
                <a:latin typeface="Arial"/>
              </a:defRPr>
            </a:pPr>
            <a:r>
              <a:rPr lang="en-US" sz="1150" b="0" i="0" u="none" strike="noStrike">
                <a:solidFill>
                  <a:srgbClr val="1B2140"/>
                </a:solidFill>
                <a:latin typeface="Arial"/>
              </a:rPr>
              <a:t>Aturan klasifikasi per kategori (total 120)</a:t>
            </a:r>
          </a:p>
        </c:rich>
      </c:tx>
      <c:overlay val="0"/>
    </c:title>
    <c:autoTitleDeleted val="0"/>
    <c:plotArea>
      <c:layout/>
      <c:barChart>
        <c:barDir val="col"/>
        <c:grouping val="clustered"/>
        <c:varyColors val="0"/>
        <c:ser>
          <c:idx val="0"/>
          <c:order val="0"/>
          <c:tx>
            <c:strRef>
              <c:f>Sheet1!$B$1</c:f>
              <c:strCache>
                <c:ptCount val="1"/>
                <c:pt idx="0">
                  <c:v>Aturan</c:v>
                </c:pt>
              </c:strCache>
            </c:strRef>
          </c:tx>
          <c:spPr>
            <a:solidFill>
              <a:srgbClr val="3C71E8"/>
            </a:solidFill>
            <a:effectLst/>
          </c:spPr>
          <c:invertIfNegative val="0"/>
          <c:dLbls>
            <c:numFmt formatCode="#,##0" sourceLinked="0"/>
            <c:spPr>
              <a:noFill/>
              <a:ln>
                <a:noFill/>
              </a:ln>
              <a:effectLst/>
            </c:spPr>
            <c:txPr>
              <a:bodyPr/>
              <a:lstStyle/>
              <a:p>
                <a:pPr>
                  <a:defRPr sz="1100" b="0" i="0" u="none" strike="noStrike">
                    <a:solidFill>
                      <a:srgbClr val="1B214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Fisikokimia</c:v>
                </c:pt>
                <c:pt idx="1">
                  <c:v>Absorpsi</c:v>
                </c:pt>
                <c:pt idx="2">
                  <c:v>Distribusi</c:v>
                </c:pt>
                <c:pt idx="3">
                  <c:v>Metabolisme</c:v>
                </c:pt>
                <c:pt idx="4">
                  <c:v>Ekskresi</c:v>
                </c:pt>
                <c:pt idx="5">
                  <c:v>Toksisitas</c:v>
                </c:pt>
              </c:strCache>
            </c:strRef>
          </c:cat>
          <c:val>
            <c:numRef>
              <c:f>Sheet1!$B$2:$B$7</c:f>
              <c:numCache>
                <c:formatCode>General</c:formatCode>
                <c:ptCount val="6"/>
                <c:pt idx="0">
                  <c:v>42</c:v>
                </c:pt>
                <c:pt idx="1">
                  <c:v>9</c:v>
                </c:pt>
                <c:pt idx="2">
                  <c:v>9</c:v>
                </c:pt>
                <c:pt idx="3">
                  <c:v>14</c:v>
                </c:pt>
                <c:pt idx="4">
                  <c:v>2</c:v>
                </c:pt>
                <c:pt idx="5">
                  <c:v>44</c:v>
                </c:pt>
              </c:numCache>
            </c:numRef>
          </c:val>
          <c:extLst>
            <c:ext xmlns:c16="http://schemas.microsoft.com/office/drawing/2014/chart" uri="{C3380CC4-5D6E-409C-BE32-E72D297353CC}">
              <c16:uniqueId val="{00000000-5F30-4EFC-91BB-E19AA0F2D6D3}"/>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214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1B2140"/>
                </a:solidFill>
                <a:latin typeface="Arial"/>
              </a:defRPr>
            </a:pPr>
            <a:r>
              <a:rPr lang="en-US" sz="1150" b="0" i="0" u="none" strike="noStrike">
                <a:solidFill>
                  <a:srgbClr val="1B2140"/>
                </a:solidFill>
                <a:latin typeface="Arial"/>
              </a:rPr>
              <a:t>Jumlah aturan menurut tipe</a:t>
            </a:r>
          </a:p>
        </c:rich>
      </c:tx>
      <c:overlay val="0"/>
    </c:title>
    <c:autoTitleDeleted val="0"/>
    <c:plotArea>
      <c:layout/>
      <c:barChart>
        <c:barDir val="bar"/>
        <c:grouping val="clustered"/>
        <c:varyColors val="0"/>
        <c:ser>
          <c:idx val="0"/>
          <c:order val="0"/>
          <c:tx>
            <c:strRef>
              <c:f>Sheet1!$B$1</c:f>
              <c:strCache>
                <c:ptCount val="1"/>
                <c:pt idx="0">
                  <c:v>Aturan</c:v>
                </c:pt>
              </c:strCache>
            </c:strRef>
          </c:tx>
          <c:spPr>
            <a:solidFill>
              <a:srgbClr val="8E70EB"/>
            </a:solidFill>
            <a:effectLst/>
          </c:spPr>
          <c:invertIfNegative val="0"/>
          <c:dLbls>
            <c:numFmt formatCode="#,##0" sourceLinked="0"/>
            <c:spPr>
              <a:noFill/>
              <a:ln>
                <a:noFill/>
              </a:ln>
              <a:effectLst/>
            </c:spPr>
            <c:txPr>
              <a:bodyPr/>
              <a:lstStyle/>
              <a:p>
                <a:pPr>
                  <a:defRPr sz="1050" b="0" i="0" u="none" strike="noStrike">
                    <a:solidFill>
                      <a:srgbClr val="1B214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tiered</c:v>
                </c:pt>
                <c:pt idx="1">
                  <c:v>range</c:v>
                </c:pt>
                <c:pt idx="2">
                  <c:v>alert_count</c:v>
                </c:pt>
                <c:pt idx="3">
                  <c:v>descriptive</c:v>
                </c:pt>
                <c:pt idx="4">
                  <c:v>threshold_lte</c:v>
                </c:pt>
                <c:pt idx="5">
                  <c:v>threshold_gte</c:v>
                </c:pt>
                <c:pt idx="6">
                  <c:v>tiered_reversed</c:v>
                </c:pt>
                <c:pt idx="7">
                  <c:v>tiered_range</c:v>
                </c:pt>
                <c:pt idx="8">
                  <c:v>binary</c:v>
                </c:pt>
              </c:strCache>
            </c:strRef>
          </c:cat>
          <c:val>
            <c:numRef>
              <c:f>Sheet1!$B$2:$B$10</c:f>
              <c:numCache>
                <c:formatCode>General</c:formatCode>
                <c:ptCount val="9"/>
                <c:pt idx="0">
                  <c:v>64</c:v>
                </c:pt>
                <c:pt idx="1">
                  <c:v>14</c:v>
                </c:pt>
                <c:pt idx="2">
                  <c:v>12</c:v>
                </c:pt>
                <c:pt idx="3">
                  <c:v>12</c:v>
                </c:pt>
                <c:pt idx="4">
                  <c:v>7</c:v>
                </c:pt>
                <c:pt idx="5">
                  <c:v>6</c:v>
                </c:pt>
                <c:pt idx="6">
                  <c:v>2</c:v>
                </c:pt>
                <c:pt idx="7">
                  <c:v>2</c:v>
                </c:pt>
                <c:pt idx="8">
                  <c:v>1</c:v>
                </c:pt>
              </c:numCache>
            </c:numRef>
          </c:val>
          <c:extLst>
            <c:ext xmlns:c16="http://schemas.microsoft.com/office/drawing/2014/chart" uri="{C3380CC4-5D6E-409C-BE32-E72D297353CC}">
              <c16:uniqueId val="{00000000-ED85-424A-9847-D8695FDBA6E0}"/>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B2140"/>
                </a:solidFill>
                <a:latin typeface="Courier New"/>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1B2140"/>
                </a:solidFill>
                <a:latin typeface="Arial"/>
              </a:defRPr>
            </a:pPr>
            <a:r>
              <a:rPr lang="sv-SE" sz="1100" b="0" i="0" u="none" strike="noStrike">
                <a:solidFill>
                  <a:srgbClr val="1B2140"/>
                </a:solidFill>
                <a:latin typeface="Arial"/>
              </a:rPr>
              <a:t>Rata-rata skor terbaik lintas 5 reseptor (kcal/mol)</a:t>
            </a:r>
          </a:p>
        </c:rich>
      </c:tx>
      <c:overlay val="0"/>
    </c:title>
    <c:autoTitleDeleted val="0"/>
    <c:plotArea>
      <c:layout/>
      <c:barChart>
        <c:barDir val="bar"/>
        <c:grouping val="clustered"/>
        <c:varyColors val="0"/>
        <c:ser>
          <c:idx val="0"/>
          <c:order val="0"/>
          <c:tx>
            <c:strRef>
              <c:f>Sheet1!$B$1</c:f>
              <c:strCache>
                <c:ptCount val="1"/>
                <c:pt idx="0">
                  <c:v>−skor</c:v>
                </c:pt>
              </c:strCache>
            </c:strRef>
          </c:tx>
          <c:spPr>
            <a:solidFill>
              <a:srgbClr val="3C71E8"/>
            </a:solidFill>
            <a:effectLst/>
          </c:spPr>
          <c:invertIfNegative val="0"/>
          <c:dLbls>
            <c:numFmt formatCode="&quot;−&quot;0.00" sourceLinked="0"/>
            <c:spPr>
              <a:noFill/>
              <a:ln>
                <a:noFill/>
              </a:ln>
              <a:effectLst/>
            </c:spPr>
            <c:txPr>
              <a:bodyPr/>
              <a:lstStyle/>
              <a:p>
                <a:pPr>
                  <a:defRPr sz="1000" b="0" i="0" u="none" strike="noStrike">
                    <a:solidFill>
                      <a:srgbClr val="1B214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berberine</c:v>
                </c:pt>
                <c:pt idx="1">
                  <c:v>emodin</c:v>
                </c:pt>
                <c:pt idx="2">
                  <c:v>curcumin</c:v>
                </c:pt>
                <c:pt idx="3">
                  <c:v>luteolin</c:v>
                </c:pt>
                <c:pt idx="4">
                  <c:v>piperine</c:v>
                </c:pt>
                <c:pt idx="5">
                  <c:v>omeprazole</c:v>
                </c:pt>
                <c:pt idx="6">
                  <c:v>naproxen</c:v>
                </c:pt>
                <c:pt idx="7">
                  <c:v>aspirin</c:v>
                </c:pt>
                <c:pt idx="8">
                  <c:v>caffeine</c:v>
                </c:pt>
                <c:pt idx="9">
                  <c:v>paracetamol</c:v>
                </c:pt>
              </c:strCache>
            </c:strRef>
          </c:cat>
          <c:val>
            <c:numRef>
              <c:f>Sheet1!$B$2:$B$11</c:f>
              <c:numCache>
                <c:formatCode>General</c:formatCode>
                <c:ptCount val="10"/>
                <c:pt idx="0">
                  <c:v>9.7759999999999998</c:v>
                </c:pt>
                <c:pt idx="1">
                  <c:v>9.7360000000000007</c:v>
                </c:pt>
                <c:pt idx="2">
                  <c:v>9.6720000000000006</c:v>
                </c:pt>
                <c:pt idx="3">
                  <c:v>9.4629999999999992</c:v>
                </c:pt>
                <c:pt idx="4">
                  <c:v>9.0939999999999994</c:v>
                </c:pt>
                <c:pt idx="5">
                  <c:v>8.7439999999999998</c:v>
                </c:pt>
                <c:pt idx="6">
                  <c:v>8.4019999999999992</c:v>
                </c:pt>
                <c:pt idx="7">
                  <c:v>6.61</c:v>
                </c:pt>
                <c:pt idx="8">
                  <c:v>6.4359999999999999</c:v>
                </c:pt>
                <c:pt idx="9">
                  <c:v>6.12</c:v>
                </c:pt>
              </c:numCache>
            </c:numRef>
          </c:val>
          <c:extLst>
            <c:ext xmlns:c16="http://schemas.microsoft.com/office/drawing/2014/chart" uri="{C3380CC4-5D6E-409C-BE32-E72D297353CC}">
              <c16:uniqueId val="{00000000-E937-469A-9FB9-E8E0B20BCB65}"/>
            </c:ext>
          </c:extLst>
        </c:ser>
        <c:dLbls>
          <c:showLegendKey val="0"/>
          <c:showVal val="1"/>
          <c:showCatName val="0"/>
          <c:showSerName val="0"/>
          <c:showPercent val="0"/>
          <c:showBubbleSize val="0"/>
        </c:dLbls>
        <c:gapWidth val="3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B214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1B2140"/>
                </a:solidFill>
                <a:latin typeface="Arial"/>
              </a:defRPr>
            </a:pPr>
            <a:r>
              <a:rPr lang="en-US" sz="1150" b="0" i="0" u="none" strike="noStrike">
                <a:solidFill>
                  <a:srgbClr val="1B2140"/>
                </a:solidFill>
                <a:latin typeface="Arial"/>
              </a:rPr>
              <a:t>Jumlah tes per file, 12 terbanyak dari 58 file</a:t>
            </a:r>
          </a:p>
        </c:rich>
      </c:tx>
      <c:overlay val="0"/>
    </c:title>
    <c:autoTitleDeleted val="0"/>
    <c:plotArea>
      <c:layout/>
      <c:barChart>
        <c:barDir val="bar"/>
        <c:grouping val="clustered"/>
        <c:varyColors val="0"/>
        <c:ser>
          <c:idx val="0"/>
          <c:order val="0"/>
          <c:tx>
            <c:strRef>
              <c:f>Sheet1!$B$1</c:f>
              <c:strCache>
                <c:ptCount val="1"/>
                <c:pt idx="0">
                  <c:v>Tes</c:v>
                </c:pt>
              </c:strCache>
            </c:strRef>
          </c:tx>
          <c:spPr>
            <a:solidFill>
              <a:srgbClr val="3C71E8"/>
            </a:solidFill>
            <a:effectLst/>
          </c:spPr>
          <c:invertIfNegative val="0"/>
          <c:dLbls>
            <c:numFmt formatCode="#,##0" sourceLinked="0"/>
            <c:spPr>
              <a:noFill/>
              <a:ln>
                <a:noFill/>
              </a:ln>
              <a:effectLst/>
            </c:spPr>
            <c:txPr>
              <a:bodyPr/>
              <a:lstStyle/>
              <a:p>
                <a:pPr>
                  <a:defRPr sz="1050" b="0" i="0" u="none" strike="noStrike">
                    <a:solidFill>
                      <a:srgbClr val="1B214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name_sanitizer</c:v>
                </c:pt>
                <c:pt idx="1">
                  <c:v>native</c:v>
                </c:pt>
                <c:pt idx="2">
                  <c:v>cli</c:v>
                </c:pt>
                <c:pt idx="3">
                  <c:v>filename_safety</c:v>
                </c:pt>
                <c:pt idx="4">
                  <c:v>gcms_readers</c:v>
                </c:pt>
                <c:pt idx="5">
                  <c:v>heatmap</c:v>
                </c:pt>
                <c:pt idx="6">
                  <c:v>interaction_pipeline</c:v>
                </c:pt>
                <c:pt idx="7">
                  <c:v>charts</c:v>
                </c:pt>
                <c:pt idx="8">
                  <c:v>gcms_analysis</c:v>
                </c:pt>
                <c:pt idx="9">
                  <c:v>pca</c:v>
                </c:pt>
                <c:pt idx="10">
                  <c:v>resume</c:v>
                </c:pt>
                <c:pt idx="11">
                  <c:v>biovia_gui</c:v>
                </c:pt>
              </c:strCache>
            </c:strRef>
          </c:cat>
          <c:val>
            <c:numRef>
              <c:f>Sheet1!$B$2:$B$13</c:f>
              <c:numCache>
                <c:formatCode>0</c:formatCode>
                <c:ptCount val="12"/>
                <c:pt idx="0">
                  <c:v>48</c:v>
                </c:pt>
                <c:pt idx="1">
                  <c:v>44</c:v>
                </c:pt>
                <c:pt idx="2">
                  <c:v>36</c:v>
                </c:pt>
                <c:pt idx="3">
                  <c:v>35</c:v>
                </c:pt>
                <c:pt idx="4">
                  <c:v>35</c:v>
                </c:pt>
                <c:pt idx="5">
                  <c:v>31</c:v>
                </c:pt>
                <c:pt idx="6">
                  <c:v>31</c:v>
                </c:pt>
                <c:pt idx="7">
                  <c:v>28</c:v>
                </c:pt>
                <c:pt idx="8">
                  <c:v>26</c:v>
                </c:pt>
                <c:pt idx="9">
                  <c:v>22</c:v>
                </c:pt>
                <c:pt idx="10">
                  <c:v>22</c:v>
                </c:pt>
                <c:pt idx="11">
                  <c:v>21</c:v>
                </c:pt>
              </c:numCache>
            </c:numRef>
          </c:val>
          <c:extLst>
            <c:ext xmlns:c16="http://schemas.microsoft.com/office/drawing/2014/chart" uri="{C3380CC4-5D6E-409C-BE32-E72D297353CC}">
              <c16:uniqueId val="{00000000-695C-47FF-8CA0-AE5BAE8966B1}"/>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B214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2872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menit] Selamat datang. Workshop ini membahas in silico penemuan obat lewat satu project Python, chemflow. Tujuan sesi: peserta paham alur skrining virtual, bisa menjalankan chemflow dari dua file Excel, dan bisa menafsirkan keluarannya secara kritis. Semua contoh hasil di deck berasal dari satu run demonstrasi nyata: 10 ligan, 5 reseptor, 2 replikat.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menit] Total sekitar 120 menit: teori 50 menit (bagian A sampai C), praktik 45 menit, diskusi 25 menit. Minta peserta memeriksa lebih dulu bahwa Python dan OpenBabel terpasang; langkahnya ada di slide 28. Tekankan bahwa kita akan membaca hasil secara kritis, bukan sekadar menjalankan program.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menit] Corong penemuan obat menyempit di tiap tahap. In silico membantu memilih senyawa mana yang layak dibawa ke uji laboratorium. Ada empat keluarga metode: docking, prediksi ADMET, kemometrik atau QSAR, dan dinamika molekul. chemflow mencakup docking, ADMET, dan analisis kemometrik (PCA dan HCA untuk deskriptor senyawa; PCA, HCA, PLS-DA, dan uji statistik untuk data GC-MS). QSAR dan dinamika molekul di luar cakupan. Hindari menyebut angka biaya atau waktu tanpa sumber.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menit] Kolom kiri adalah alur yang umum dilakukan bila tiap langkah memakai aplikasi terpisah. Setiap perpindahan format dan salin-tempel adalah titik kesalahan. chemflow menyatukan seluruhnya dalam satu perintah dengan dua file Excel sebagai input. Nilai tambahnya bukan hanya kecepatan tetapi keterulangan: log dan Excel hasil mencatat apa yang terjadi. Bila terminal tertutup atau proses terhenti, chemflow resume --output melanjutkan dari titik terakhir tanpa mengulang tahap yang sudah selesai.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menit] Angka di kartu atas dihitung dari repositori: 73 file Python dengan 15.261 baris sumber. 832 tes (dari 58 file tes), dan 120 aturan klasifikasi ADMET. Enam kemampuan utama ada di bawahnya. Semua hasil yang kita lihat nanti berasal dari satu run demonstrasi: 10 ligan, 5 reseptor, 2 replikat, total 100 docking dalam kira-kira 13 menit di satu laptop. Run demonstrasi dibuat dengan versi sebelum ligan native ikut di-dock, sebelum fitur resume, dan sebelum RMSD dihitung in place. Grafik RMSD di deck sudah dihitung ulang dari pose demonstrasi yang sama. Similaritas kini jalan otomatis dari docking di Windows bila BIOVIA terdeteksi, dengan mouse dan keyboard dikunci selama ekspor. Versi 2.0 juga menambah analisis GC-MS opsional (appendix A10 dan A11).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menit] Python dipilih karena hampir semua komponen tersedia sebagai pustaka atau bisa dipanggil sebagai proses. RDKit mengurus kimia, OpenBabel dan Vina dipanggil sebagai program luar, pandas dan openpyxl mengurus Excel, scikit-learn dan scipy mengurus statistik multivariat, matplotlib membuat grafik. Catatan praktis: pin versi hanya batas bawah, jadi untuk publikasi sebaiknya catat versi terpasang. Paket lxml terdaftar di dependensi tetapi tidak diimpor di kode.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menit] Lapisan atas tipis: CLI hanya membentuk PipelineConfig. Pipeline adalah orkestrator yang memanggil modul domain satu per satu. Prinsip yang penting untuk diteladani: konfigurasi tunggal yang tervalidasi, fail-soft per item, injeksi dependensi supaya bisa dites tanpa alat eksternal, dan tabel aturan tunggal untuk ADMET. Karena CLI dan library memakai basis kode yang sama, apa yang bisa dilakukan di terminal juga bisa dilakukan dari skrip atau notebook. Paket gcms berdiri sendiri: dipanggil sebagai tahap opsional atau lewat chemflow gcms, tanpa bergantung pada tahap docking.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menit] Ini urutan tahap persis seperti di Pipeline.run(). Tiap kotak menunjuk modul yang bertanggung jawab. Perhatikan dua hal: pertama, seluruh tahap sekuensial, bahkan docking berjalan satu per satu, sehingga waktu total bertambah linear dengan jumlah pasangan. Kedua, tiap item yang selesai ditulis sebagai checkpoint atomik: bila proses terhenti (Ctrl+C, terminal tertutup, komputer mati), chemflow resume --output melanjutkan dari titik terakhir dan hanya mengulang docking yang belum selesai. Di run demonstrasi, 100 docking selesai dalam ±8 menit dan seluruh pipeline dalam 13 menit. Kotak 8 kini mencakup docking ligan native sebagai pembanding, lalu RMSD-nya. Setelah tahap 12, bila Windows dan BIOVIA terdeteksi (atau --similarity dipakai), chemflow mengekspor interaksi tiap kompleks lewat GUI BIOVIA dengan mouse dan keyboard dikunci, lalu menghitung similaritas terhadap native (appendix A9). Bila --gcms diberikan, analisis GC-MS berjalan lebih dulu sebagai tahap opsional (appendix A10).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menit] Hanya dua file yang perlu disiapkan. File ligan boleh hanya berisi nama senyawa, SMILES dicari otomatis di PubChem. File reseptor berisi kode PDB dan, sebaiknya, koordinat serta ukuran gridbox. Perintah chemflow receptor-config membantu menyusun file reseptor secara interaktif. Kolom group opsional tetapi diperlukan agar PCA dan HCA berjalan, karena keduanya membutuhkan minimal dua kelompok. Senyawa yang sama boleh muncul di beberapa grup. ADMET dikirim sekali lalu disalin ke tiap grup, dan analitik memperlakukan tiap kemunculan sebagai ligan tersendiri.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menit] Di run demonstrasi, sepuluh nama senyawa dicari di PubChem dalam kira-kira 11 detik. Log menampilkan SMILES yang diperoleh. Peringatan: chemflow mengambil hasil pertama untuk nama itu tanpa pemeriksaan struktur, jadi nama yang ambigu perlu diperiksa manual. Aturan nama file penting di Windows karena batas 260 karakter path; chemflow memendekkan nama ligan bila folder output sudah dalam.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menit] Urutan tahap ligan. Poin teknis yang sering ditanyakan: konformasi 3D dibuat dengan ETKDG, seed dikunci 42 sehingga hasil deterministik, lalu diminimisasi dengan MMFF94 dan jatuh ke UFF bila parameter MMFF94 tidak tersedia. Penulisan PDBQT diserahkan ke OpenBabel yang membangun pohon torsi. Catatan jujur: chemflow tidak melakukan pemodelan protonasi atau enumerasi tautomer. Muatan Gasteiger kini dihitung OpenBabel lewat --partialcharge gasteiger saat konversi PDBQT. Run demonstrasi dibuat dengan versi lama yang menulis muatan 0,000; uji ulang membuktikan skor dan pose identik karena fungsi skor Vina tidak memakai muatan parsial.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menit] Satu file PDB dari RCSB menghasilkan dua keluaran. Jalur docking menghasilkan PDBQT rigid dengan hidrogen polar, muatan, dan tipe atom AutoDock. Jalur merge menghasilkan PDB bersih tanpa hidrogen, dipakai hanya untuk menggabungkan pose terbaik. Pemisahan ini disengaja agar kompleks yang dibuka di PyMOL tidak berisi hidrogen dan muatan tambahan. Residu termodifikasi seperti MSE dipertahankan lewat pemeriksaan struktural (ada atom N, CA, C), bukan daftar nama. Fallback aromatisitas menangani kasus histidin netral seperti pada 1FKB.</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menit] Muatan parsial reseptor ditetapkan lewat pencarian residu dan nama atom pada tabel. Meski modulnya bernama Kollman, nilai backbone berasal dari keluarga AMBER (Cornell dkk. 1995). Cakupan tabel terbatas pada backbone dan beberapa rantai samping bermuatan; sisanya 0,0. Ini kelemahan yang sadar diambil karena fungsi skor Vina tidak memakai elektrostatika Coulomb. Bila pengguna beralih ke perangkat lunak lain yang memakai muatan, tabel ini perlu diganti. Tipe atom AutoDock4 ditetapkan dari aromatisitas dan lingkungan ikatan RDKit.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menit] Gridbox menentukan di mana Vina mencari. chemflow menghitungnya dari ligan native di struktur kristal: pusat adalah rata-rata koordinat atom ligan, ukuran adalah sisi bounding-box terpanjang ditambah 8 Å, minimal 18 Å dan maksimal 30 Å untuk usulan otomatis. Tabel di kanan adalah gridbox nyata dari run demonstrasi. Untuk memulai tanpa menebak koordinat, jalankan chemflow receptor-config yang menanyakan kode PDB lalu ligan native. Kode PDB yang sama di beberapa baris menghasilkan docking multi-situs. Bila Excel tidak memuat ukuran, ukuran kotak diambil dari native: pada mode interaktif dari ligan yang dipilih, pada mode Excel dari native terdekat pusat kotak (dalam 8 Å). Opsi --default-box-size (20 Å) hanya menjadi cadangan bila tidak ada native, dan --box-padding mengubah ruang gerak 8 Å.</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menit] Vina tidak perlu dipasang: chemflow mengunduh biner yang cocok dengan sistem operasi dan arsitektur dari GitHub Releases, menyimpannya di folder cache di dalam folder output, lalu menjalankannya lewat path absolut. Parameter yang paling berpengaruh adalah exhaustiveness: makin besar makin teliti dan makin lama. Nilai bawaan 8; demonstrasi memakai 16. Skor Vina adalah estimasi empiris dalam kcal/mol, bukan energi bebas terukur. Catatan keamanan: biner diunduh tanpa pemeriksaan checksum.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menit] Matriks docking adalah loop tiga tingkat: reseptor, ligan, replikat. Di demonstrasi ada 5 reseptor, 10 ligan, 2 replikat sehingga 100 run, semuanya sukses, dan seluruh docking memakan sekitar 8 menit. Seed replikat mengikuti seed dasar ditambah nomor replikat minus satu; bila seed tidak diberikan, tiap run memakai seed acak. Simpangan baku yang dilaporkan adalah simpangan baku populasi (ddof nol), yang cenderung meremehkan sebaran pada n kecil seperti dua replikat. Peta warna di kiri dibuat dari nilai skor terbaik nyata per pasangan. Ligan native ikut di matriks yang sama sebagai grup Native, dengan parameter dan replikat identik. Tiap run yang selesai menulis repNN.json, sehingga resume melewati run yang sukses dan mengulang run yang gagal atau terputus.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menit] Validasi redocking menjawab pertanyaan: dapatkah protokol docking ini menemukan kembali pose ligan yang sudah diketahui dari kristal? Ligan native diambil dari struktur, SMILES-nya diambil dari templat RCSB agar orde ikatan benar, lalu di-dock di gridbox yang sama sebagai bagian matriks docking, dengan parameter dan replikat yang sama seperti ligan uji; RMSD dihitung dari pose terbaik. RMSD dihitung in place dengan rdMolAlign.CalcRMS, tanpa superposisi ulang, sehingga pose yang bergeser di kantong ikat ikut terhitung. Grafik memperlihatkan RMSD in place tiap reseptor, dihitung ulang dari pose redocking demonstrasi: 1UWH 0,61 Å, 4EY7 0,83 Å, 1HCK 2,73 Å, 1EVE 2,19 Å, dan 1HSG 10,52 Å. Dengan metode lama (best-fit: superposisi dulu) nilainya 0,41; 0,76; 2,08; 1,87; dan 4,04 Å, tampak lebih baik karena bentuk ikut dicocokkan. Hasil 1HSG kemungkinan terkait ligan besar yang fleksibel; itu hipotesis, bukan temuan.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menit] Ada dua jalur ADMET. Jalur A memakai scraper: chemflow membuka halaman ADMETLab 3.0, mengambil token CSRF, mengirim SMILES per batch, lalu mengunduh CSV hasilnya, dengan retry bila server sibuk. Jalur B memakai file unduhan sendiri lewat --admet-file, pemetaan barisnya posisional sehingga urutan baris harus sama dengan urutan ligan di Excel. Situs itu pihak ketiga: SMILES dikirim ke server luar, jadi untuk struktur rahasia gunakan jalur B atau --no-admet. Sitasi yang benar untuk ADMETlab 3.0 adalah Fu dkk. 2024, Nucleic Acids Research 52(W1). Senyawa yang sama di beberapa grup hanya dikirim sekali (deduplikasi lewat SMILES kanonik), lalu hasilnya disalin ke tiap ligan menurut indeksnya, karena ADMETLab3 tidak menggabungkan duplikat sendiri. Hasil per SMILES disimpan di _state/admet_cache.json sehingga resume tidak mengirim ulang. Ligan native ikut diprediksi ADMET-nya.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menit] Semua ambang ADMET tinggal di satu tabel RULES. Tabel itu dipakai untuk tiga hal sekaligus: mewarnai sel di Excel, menghitung skor kategori untuk radar, dan menghasilkan sheet legenda ambang. Mayoritas aturan (64 dari 120) bertipe tiered: probabilitas yang dipotong di 0,3 dan 0,7. Untuk endpoint yang dokumentasi ADMETLab tidak memberi skala keputusan khusus, chemflow memakai pita umum itu dengan asumsi bahwa probabilitas rendah berarti baik. Ini asumsi yang perlu disebutkan bila hasil ADMET dipakai dalam publikasi.</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menit] Lipinski Rule of Five satu-satunya perhitungan sifat fisikokimia yang dijalankan lokal; sisanya datang dari ADMETLab. Empat deskriptor RDKit dihitung dari mol yang sudah dinetralkan. Sebuah senyawa lolos bila melanggar paling banyak satu dari empat batas. Empat deskriptor yang sama juga menjadi fitur untuk PCA, HCA, dan heatmap fisikokimia. Semua ligan demonstrasi lolos, tetapi ingat bahwa Ro5 adalah panduan absorpsi oral, bukan ukuran aktivitas. Ligan native ikut dihitung Lipinski-nya dan tampil sebagai baris pembanding.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menit] Merge menghasilkan file kompleks yang bisa dibuka di PyMOL atau BIOVIA Discovery Studio. Reseptor yang dipakai wajib versi bersih tanpa hidrogen dan muatan. Setiap kompleks disertai file JSON kecil di sebelahnya yang mencatat chain dan nama residu ligan, dipakai modul similaritas agar tidak perlu mem-parse ulang PDB. Mode best hanya menulis pose terbaik per pasangan, mode all menulis semua pose semua replikat; di demonstrasi terbentuk 181 file per reseptor, yaitu 10 ligan kali 2 replikat kali 9 pose ditambah satu referensi native. Perhatikan nama residu tiga huruf turunan nama ligan bisa bertabrakan dengan nama residu standar, misalnya aspirin menjadi ASP. Hasil docking ligan native tidak ikut di-merge, karena namanya akan bentrok dengan kompleks kristal referensi NATIVE_&lt;label&gt;_complex.pdb.</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menit] Semua keluaran ada di satu folder. Yang paling sering dibuka: hasil_chemflow.xlsx dan folder analytics. Perhatikan penamaan kunci reseptor dengan akhiran R001, R002, dan seterusnya; akhiran ini selalu ada, bukan hanya untuk docking multi-situs, dan berbeda dengan penulisan di sebagian dokumentasi. Sheet Excel ditulis kondisional sehingga run tanpa ADMET tidak memiliki sheet ADMET dan Legenda ADMET. Run versi terbaru menambah kolom group pada sheet hasil, kolom tipe (uji atau native) pada Ringkasan Ligan, kolom delta_vs_native pada Statistik Replikasi, serta sheet Ringkasan per Grup dan Docking per Grup. Folder _state/ menyimpan config, salinan Excel input, dan checkpoint untuk resume.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menit] Heatmap di kiri adalah keluaran langsung chemflow: baris reseptor, kolom ligan, warna skor Vina terbaik dari dua replikat. Grafik batang di kanan dibuat ulang dari Excel hasil supaya bisa disunting: rata-rata skor terbaik tiap ligan lintas lima reseptor; panjang batang adalah besar skor, nilai aslinya negatif. Pasangan terbaik adalah curcumin dengan 4EY7. Peringatan penafsiran: tiga ligan bermassa terkecil memiliki skor terlemah, pola yang lazim pada fungsi skor empiris. Skor ini estimasi, bukan afinitas eksperimen, dan tidak menyimpulkan apa pun tentang aktivitas biologis. Versi terbaru menambah kolom Native (ref) pada heatmap dan memecah heatmap yang terlalu besar menjadi beberapa bagian (_partNNofMM) dengan skala warna yang sama; batasnya --plot-max-rows dan --plot-max-cols.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menit] Radar gabungan meringkas tiap ligan dalam satu bentuk. Sumbu ΔG docking, MW, LogP, HBD, HBA dinormalisasi min-max lintas ligan lalu dibalik, sehingga arah ke luar selalu berarti lebih baik; skor kategori ADMET sudah berskala nol sampai satu dan dipakai apa adanya. Batang bertumpuk menampilkan persentase ligan yang baik, sedang, atau buruk untuk tiap parameter. Judul dan label grafik ditulis dalam bahasa Indonesia; untuk naskah berbahasa Inggris grafik perlu dirender ulang. Ligan native ikut sebagai seri putus-putus yang disematkan di setiap bagian radar, dan radar dibatasi 8 ligan per halaman. Grafik per grup ada di appendix A8.</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menit] PCA dan HCA memakai matriks deskriptor yang sama: MW, LogP, HBD, HBA, setelah standardisasi z-score. PCA menunjukkan sumbu variansi utama; tiga komponen pertama menjelaskan hampir seluruh variansi karena hanya ada empat fitur. Elips kepercayaan 95 persen digambar per kelompok bila ada minimal tiga titik. Gaya grafik mengikuti kemometrik di jurnal (Aghoutane dkk. 2023): warna menandai seri, bentuk penanda menandai kelas, elips per kelas, grid putus-putus, dan sumbu berlabel persen variansi. ChemometricPCA juga menerima seri dan penskalaan pareto atau center. HCA memakai linkage Ward dengan jarak Euclidean. Pada data demonstrasi kelompok obat sintetis dan senyawa alami bercampur, yang menunjukkan bahwa empat deskriptor ini tidak memisahkan asal senyawa. Untuk analisis yang lebih bermakna, fitur perlu diperluas; kelas ExtendedDescriptors sudah ada tetapi belum terhubung ke pipeline. Karena ligan native menjadi grup Native, PCA dan HCA kini juga bisa berjalan pada studi yang hanya punya satu grup ligan uji.</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menit] Analisis ini opsional. Ia membandingkan pola kontak residu antara ligan uji dan ligan native memakai tabel interaksi BIOVIA Discovery Studio, mengikuti Pratama dkk. 2021. Tabel diekspor otomatis lewat GUI BIOVIA (otomatis pada chemflow run bila BIOVIA terdeteksi, atau chemflow interactions untuk folder yang sudah ada) di Windows, atau dibuat manual; chemflow similarity tetap bisa dijalankan sendiri. Rumusnya rata-rata dua rasio: berapa banyak residu native yang juga dikontak ligan uji, dan berapa banyak pasangan residu-tipe interaksi yang sama. Dua catatan penafsiran: ukurannya asimetris sehingga kontak ekstra pada ligan uji tidak dihukum, dan identitas residu tidak memuat chain. ΔG referensi kini berasal dari replikat terbaik docking native dengan parameter yang sama, sehingga sebanding dengan ligan uji. Diagram kuadran adalah konsep; tidak ada data BIOVIA pada run demonstrasi.</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menit] Semua grafik memakai satu modul gaya. Palet kategorikal Okabe-Ito dipilih karena tetap terbedakan bagi pembaca dengan buta warna. Resolusi bawaan 300 dpi; tambahkan svg dan pdf untuk naskah jurnal. Gaya diterapkan lewat rc_context sehingga tidak mengubah pengaturan matplotlib pemanggil. Catatan: teks di dalam grafik berbahasa Indonesia dan sebagian ditulis langsung di kode, jadi untuk naskah berbahasa Inggris perlu penyesuaian.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menit, praktik] Minta peserta menjalankan tiga langkah ini. Setelah pip install, pasang OpenBabel; cara termudah lewat conda-forge. Lalu jalankan chemflow init: perintah ini membuat tiga berkas templat Excel sekaligus menampilkan laporan kesiapan mesin. Tanda OK berarti siap; !! berarti ada yang perlu dilakukan. Laporan di layar adalah keluaran nyata dari mesin pengembang, tempat OpenBabel memang belum ada di PATH, sehingga run memakai --openbabel-path. Peserta yang jaringannya terbatas dapat memakai --admet-file atau --no-admet nanti.</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praktik] Alur kerja yang disarankan: pertama receptor-config bila gridbox belum diketahui, lalu run dengan validasi RMSD, lalu similaritas bila punya berkas BIOVIA. Panel kanan adalah cuplikan nyata chemflow.log dari run demonstrasi: pembacaan Excel, resolusi PubChem, penyiapan ligan dan reseptor, docking pertama sampai ke-100, ekspor Excel, dan analitik, total sekitar 13 menit. Jalankan run kecil dulu, misalnya tiga ligan dan satu reseptor, agar peserta melihat seluruh tahap tanpa menunggu lama. Bila run terhenti di tengah jalan (Ctrl+C, terminal tertutup, komputer mati), jalankan chemflow resume --output hasil/ dan pipeline melanjutkan dari titik terakhir. Similaritas berjalan sendiri pada chemflow run bila Windows dan BIOVIA terdeteksi (--no-similarity mematikan). Mouse dan keyboard dikunci selama ekspor, sekitar 20 detik per kompleks; tekan Esc tiga kali untuk membatalkan. Untuk analisis GC-MS tanpa docking, jalankan chemflow gcms dengan --data dan --output.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menit] Ini lembar acuan cepat untuk sesi praktik. Kolom kiri berisi opsi yang paling sering dipakai; kolom kanan gejala yang paling sering muncul beserta solusinya, diambil dari README dan diverifikasi ke kode. Satu perilaku yang mengejutkan: --keep-waters saja tidak mempertahankan air karena air termasuk HETATM yang dibuang oleh langkah penghapusan ligan hetero, jadi harus dipasangkan dengan --keep-hetero-ligands. Untuk daftar opsi lengkap lihat appendix.</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menit, praktik] Semua yang dilakukan CLI juga bisa dilakukan dari skrip atau notebook. Pipeline penuh cukup dua baris. Untuk kebutuhan khusus, komponen tunggal bisa dipakai langsung, misalnya menghitung Lipinski satu senyawa atau mengklasifikasikan satu nilai ADMET. Dua catatan pemakaian: run() mengembalikan 0 walau tidak ada docking yang berhasil sehingga hasil perlu diperiksa dari log; dan mengimpor chemflow memaksa backend matplotlib menjadi Agg, yang perlu diperhatikan di notebook interaktif. Melanjutkan run yang terhenti dari kode: Pipeline(RunState('hasil').load_config(), resume=True).run(). Ctrl+C membuat run() mengembalikan 130 dan mencetak perintah resume.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menit] Ada 832 tes dari 58 file yang berjalan sekitar 76 detik tanpa jaringan, OpenBabel, atau Vina. Ini dimungkinkan oleh injeksi dependensi dan kelas palsu buatan sendiri. Batasannya perlu jujur: tes plot hanya memeriksa file terbentuk dan tidak kosong, dan tidak ada uji regresi visual; test_pipeline_smoke menguji bagian-bagian pipeline tetapi tidak menjalankan seluruh alur dengan alat sungguhan. Run penuh diuji lewat CLI secara manual, seperti run demonstrasi di deck ini. Tes resume dan native menjalankan tahap-tahap pipeline dengan runner dan preparer palsu, termasuk skenario Ctrl+C. Otomasi GUI BIOVIA diuji dengan runtime dan kontrol tiruan; ekspor pada BIOVIA sungguhan diuji langsung secara manual.</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menit] Enam keterbatasan ilmiah yang perlu disampaikan bila hasil dipakai dalam publikasi. Pertama RMSD validasi dihitung in place, sehingga ketat terhadap ligan besar dan fleksibel dan perlu dibaca bersama skor dan pose. Kedua skor Vina adalah estimasi empiris. Ketiga model reseptor sederhana: kaku, tanpa air, tanpa pemodelan protonasi. Keempat ADMET adalah prediksi dari model pihak ketiga dan sebagian ambangnya adalah asumsi umum. Kelima ukuran similaritas punya bias tertentu. Keenam ruang kimia dalam PCA dan HCA hanya empat deskriptor. Saran pelaporan di bawah membantu pembaca menilai hasil.</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menit] Enam catatan teknis dan keamanan. Yang paling penting bagi pengguna: jalur ADMET lewat scraper mengirim SMILES ke server pihak ketiga dan memverifikasi TLS dimatikan secara bawaan; untuk data rahasia pakai --admet-file atau --no-admet. Biner Vina diunduh tanpa pemeriksaan checksum. Eksekusi serial berarti run besar lama, tetapi checkpoint dan chemflow resume mencegah pengulangan dari nol. Kode keluar 0 tidak menjamin ada hasil. Semua ini bersifat versi 2.0.0 dan bisa diperbaiki bertahap.</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menit] Semua sitasi diverifikasi terhadap sumber daring sebelum dimasukkan. Catatan: kode dan README chemflow kini merujuk ADMETlab 3.0 ke Fu dkk. 2024 (sebelumnya keliru memakai Xiong dkk. 2021, makalah ADMETlab 2.0) dan muatan AMBER ke Cornell dkk. 1995.</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termasuk tanya jawab] Empat pesan pokok. Satu, seluruh alur in silico bisa diotomasi dari dua Excel. Dua, validasi dan ADMET memberi konteks tetapi skor docking tetap estimasi. Tiga, keluaran dirancang siap dipakai untuk publikasi. Empat, baca hasil secara kritis. Buka sesi tanya jawab; ajak peserta mencoba run kecil sendiri setelah sesi.</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Aturan ADMET dengan batas numerik: 23 di kategori Fisikokimia, 2 di Absorpsi, 3 di Distribusi, 2 di Ekskresi. Ambang mengikuti dokumentasi ADMETLab dan rujukan yang tercantum di sheet Legenda ADMET pada Excel hasil.</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Kelompok aturan berbasis probabilitas (tiered) dan berbasis peringatan substruktur (alert). Untuk endpoint tanpa skala keputusan khusus, chemflow memakai pita umum 0,3 dan 0,7 dengan asumsi probabilitas rendah berarti baik; BCRP dan HLM stability memakai arah terbalik.</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Daftar lengkap opsi chemflow run dikelompokkan seperti di cli.py, dengan nilai bawaan. Opsi --verbose saat ini tidak berpengaruh; log level diatur lewat --log-level. Subperintah resume hanya memerlukan --output; semua setelan lain dibaca dari _state/config.json dan sebagian boleh diganti lewat opsi yang tersedia.</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Cuplikan file PDBQT nyata dari run demonstrasi. Reseptor ditulis oleh chemflow sendiri dengan kolom muatan dan tipe atom AutoDock. Ligan ditulis OpenBabel dengan pohon torsi. Kolom muatan ligan bernilai 0,000 karena run demonstrasi memakai versi lama; versi sekarang mengisinya dengan muatan Gasteiger dari OpenBabel. Vina tidak memakai muatan.</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Skema kolom setiap sheet, diambil dari Excel hasil run demonstrasi. Kolom ADMET mengikuti header CSV ADMETLab3 apa adanya sehingga bisa berubah bila layanan mengubah format. Sheet Ringkasan per Grup dan Docking per Grup hanya ditulis bila ada data grup. Grup Native berisi ligan native hasil docking ulang sebagai pembanding.</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Peta modul dan tanggung jawab masing-masing, berguna bagi peserta yang ingin membaca atau memperluas kode.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Mekanisme resume. Setiap item yang selesai ditulis sebagai checkpoint atomik (file sementara lalu os.replace), disimpan dengan path relatif terhadap folder hasil. Folder _state/ berisi config.json, progress.json, salinan Excel input, dan cache ADMET per SMILES. Perintah chemflow resume --output membaca konfigurasi dari sana. Run Vina yang sukses dilewati, yang gagal atau terputus diulang; kompleks dianggap selesai bila PDB dan sidecar JSON ada. Ctrl+C membuat run() mengembalikan 130 dan mematikan proses Vina anak. Hanya folder yang dibuat versi ini yang bisa dilanjutkan.</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Ringkasan fitur pembanding native dan analitik per grup. Ligan native dideteksi dari struktur kristal, di-dock ulang sebagai grup Native, dan ikut semua analitik sehingga ADMET, ΔG, dan properti bisa dibandingkan langsung. Plot per grup memperlihatkan pada grup mana ADMET atau docking lebih baik atau lebih buruk. Senyawa yang sama di beberapa grup dianggap ligan terpisah di analitik, tetapi ADMET-nya dikirim sekali. Bila jumlah ligan atau reseptor besar, setiap plot otomatis dipecah menjadi beberapa bagian dengan skala yang sama supaya label tetap terbaca. Grup Native memakai warna berbeda dan garis putus-putus sebagai acuan.</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Ekspor interaksi otomatis dari BIOVIA Discovery Studio. Pada Windows dengan BIOVIA terdeteksi (atau dengan --similarity), setelah analitik chemflow membuka BIOVIA, membuka tiap kompleks di complexes/, menyimpan diagram 2D dan tabel Non-bond ke interaksi/, lalu menghitung similaritas terhadap ligan native. Instalasi dideteksi otomatis dari registry dan Program Files, tahun terbaru dipilih. Galat lisensi saat BIOVIA dibuka dari Python disebabkan PATH: Windows menambahkan nilai Path dari kunci App Paths hanya saat aplikasi dibuka lewat shell, dan chemflow menambahkannya sendiri. Kontrol dicari lewat pohon UI, bukan koordinat. Hanya Windows. Mouse dan keyboard dikunci lewat hook input tingkat rendah (input hasil suntikan otomasi tetap lewat); Esc tiga kali membatalkan, dan kunci lepas sendiri bila otomasi macet lebih dari 2 menit.</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Analisis GC-MS baru di versi 2.0, opsional dan berdiri sendiri. Gaya PCA mengikuti Aghoutane dkk. 2023 (Micromachines 14:524), tetapi chemflow melangkah lebih jauh dari plot: RT dikoreksi satuannya, sinyal dikoreksi baseline dan diselaraskan, puncak dideteksi dan dikelompokkan antar sampel, lalu diuji dengan statistik univariat berkoreksi FDR dan model terawasi yang divalidasi silang dengan uji permutasi. Skrining alergen memakai 24 dari 26 alergen wewangian UE (dua ekstrak lumut bukan senyawa tunggal). Persen luas puncak bukan konsentrasi, dan ambang pelabelan UE butuh kuantifikasi dengan standar.</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Ilustrasi keluaran analisis GC-MS memakai data sintetis yang dibuat untuk tes: dua kelas (asli dan tiruan), dua seri (Melati dan Mawar), tiga ulangan. Kelas tiruan sengaja diberi puncak 12,0 menit yang jauh lebih tinggi dan puncak penanda 16,0 menit, sehingga PC1 memisahkannya. Warna menandai seri dan bentuk penanda menandai kelas seperti pada gaya jurnal; elips 95 persen per kelas dibedakan lewat gaya garis karena warna sudah dipakai seri. Ini bukan hasil pengukuran, jadi jangan menarik kesimpulan kimia darinya.</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4.png"/><Relationship Id="rId8" Type="http://schemas.openxmlformats.org/officeDocument/2006/relationships/image" Target="../media/image9.png"/><Relationship Id="rId9" Type="http://schemas.openxmlformats.org/officeDocument/2006/relationships/image" Target="../media/image20.png"/><Relationship Id="rId10"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1.png"/><Relationship Id="rId4" Type="http://schemas.openxmlformats.org/officeDocument/2006/relationships/image" Target="../media/image13.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chart" Target="../charts/char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chart" Target="../charts/char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9.png"/><Relationship Id="rId4" Type="http://schemas.openxmlformats.org/officeDocument/2006/relationships/chart" Target="../charts/char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0.png"/><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2.png"/><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chart" Target="../charts/char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9.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4.png"/><Relationship Id="rId8"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6.png"/><Relationship Id="rId4" Type="http://schemas.openxmlformats.org/officeDocument/2006/relationships/image" Target="../media/image1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12.png"/><Relationship Id="rId8" Type="http://schemas.openxmlformats.org/officeDocument/2006/relationships/image" Target="../media/image4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3.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41.png"/><Relationship Id="rId7" Type="http://schemas.openxmlformats.org/officeDocument/2006/relationships/image" Target="../media/image20.png"/><Relationship Id="rId8" Type="http://schemas.openxmlformats.org/officeDocument/2006/relationships/image" Target="../media/image2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5.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23.png"/><Relationship Id="rId8" Type="http://schemas.openxmlformats.org/officeDocument/2006/relationships/image" Target="../media/image3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21.png"/><Relationship Id="rId4" Type="http://schemas.openxmlformats.org/officeDocument/2006/relationships/image" Target="../media/image13.png"/><Relationship Id="rId5" Type="http://schemas.openxmlformats.org/officeDocument/2006/relationships/image" Target="../media/image23.png"/><Relationship Id="rId6" Type="http://schemas.openxmlformats.org/officeDocument/2006/relationships/image" Target="../media/image12.png"/><Relationship Id="rId7" Type="http://schemas.openxmlformats.org/officeDocument/2006/relationships/image" Target="../media/image41.png"/><Relationship Id="rId8"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21.png"/><Relationship Id="rId5" Type="http://schemas.openxmlformats.org/officeDocument/2006/relationships/image" Target="../media/image23.png"/><Relationship Id="rId6" Type="http://schemas.openxmlformats.org/officeDocument/2006/relationships/image" Target="../media/image13.png"/><Relationship Id="rId7" Type="http://schemas.openxmlformats.org/officeDocument/2006/relationships/image" Target="../media/image41.png"/><Relationship Id="rId8"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A3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75004" cy="256032"/>
          </a:xfrm>
          <a:prstGeom prst="roundRect">
            <a:avLst>
              <a:gd name="adj" fmla="val 50000"/>
            </a:avLst>
          </a:prstGeom>
          <a:solidFill>
            <a:srgbClr val="1C2757"/>
          </a:solidFill>
          <a:ln/>
        </p:spPr>
        <p:txBody>
          <a:bodyPr wrap="square" lIns="0" tIns="0" rIns="0" bIns="0" rtlCol="0" anchor="ctr"/>
          <a:lstStyle/>
          <a:p>
            <a:pPr marL="0" indent="0" algn="ctr">
              <a:buNone/>
            </a:pPr>
            <a:r>
              <a:rPr lang="en-US" sz="1000" b="1" dirty="0">
                <a:solidFill>
                  <a:srgbClr val="C9D3FF"/>
                </a:solidFill>
                <a:latin typeface="Calibri" pitchFamily="34" charset="0"/>
                <a:ea typeface="Calibri" pitchFamily="34" charset="-122"/>
                <a:cs typeface="Calibri" pitchFamily="34" charset="-120"/>
              </a:rPr>
              <a:t>A · PEMBUKA</a:t>
            </a:r>
            <a:endParaRPr lang="en-US" sz="1000" dirty="0"/>
          </a:p>
        </p:txBody>
      </p:sp>
      <p:sp>
        <p:nvSpPr>
          <p:cNvPr id="3" name="Text 1"/>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C9D3FF"/>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4" name="Text 2"/>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C9D3FF"/>
                </a:solidFill>
                <a:latin typeface="Calibri" pitchFamily="34" charset="0"/>
                <a:ea typeface="Calibri" pitchFamily="34" charset="-122"/>
                <a:cs typeface="Calibri" pitchFamily="34" charset="-120"/>
              </a:rPr>
              <a:t>1</a:t>
            </a:r>
            <a:endParaRPr lang="en-US" sz="1000" dirty="0"/>
          </a:p>
        </p:txBody>
      </p:sp>
      <p:sp>
        <p:nvSpPr>
          <p:cNvPr id="5" name="Text 3"/>
          <p:cNvSpPr txBox="1"/>
          <p:nvPr/>
        </p:nvSpPr>
        <p:spPr>
          <a:xfrm>
            <a:off x="822960" y="1371600"/>
            <a:ext cx="6400800" cy="1005840"/>
          </a:xfrm>
          <a:prstGeom prst="rect">
            <a:avLst/>
          </a:prstGeom>
          <a:noFill/>
          <a:ln/>
        </p:spPr>
        <p:txBody>
          <a:bodyPr wrap="square" lIns="0" tIns="0" rIns="0" bIns="0" rtlCol="0" anchor="t"/>
          <a:lstStyle/>
          <a:p>
            <a:pPr marL="0" indent="0">
              <a:buNone/>
            </a:pPr>
            <a:r>
              <a:rPr lang="en-US" sz="6600" b="1" dirty="0">
                <a:solidFill>
                  <a:srgbClr val="FFFFFF"/>
                </a:solidFill>
                <a:latin typeface="Cambria" pitchFamily="34" charset="0"/>
                <a:ea typeface="Cambria" pitchFamily="34" charset="-122"/>
                <a:cs typeface="Cambria" pitchFamily="34" charset="-120"/>
              </a:rPr>
              <a:t>chemflow</a:t>
            </a:r>
            <a:endParaRPr lang="en-US" sz="6600" dirty="0"/>
          </a:p>
        </p:txBody>
      </p:sp>
      <p:sp>
        <p:nvSpPr>
          <p:cNvPr id="6" name="Text 4"/>
          <p:cNvSpPr txBox="1"/>
          <p:nvPr/>
        </p:nvSpPr>
        <p:spPr>
          <a:xfrm>
            <a:off x="822960" y="2941975"/>
            <a:ext cx="6583680" cy="1097280"/>
          </a:xfrm>
          <a:prstGeom prst="rect">
            <a:avLst/>
          </a:prstGeom>
          <a:noFill/>
          <a:ln/>
        </p:spPr>
        <p:txBody>
          <a:bodyPr wrap="square" lIns="0" tIns="0" rIns="0" bIns="0" rtlCol="0" anchor="t"/>
          <a:lstStyle/>
          <a:p>
            <a:pPr marL="0" indent="0">
              <a:buNone/>
            </a:pPr>
            <a:r>
              <a:rPr lang="en-US" sz="3000" b="1" dirty="0">
                <a:solidFill>
                  <a:srgbClr val="C9D3FF"/>
                </a:solidFill>
                <a:latin typeface="Cambria" pitchFamily="34" charset="0"/>
                <a:ea typeface="Cambria" pitchFamily="34" charset="-122"/>
                <a:cs typeface="Cambria" pitchFamily="34" charset="-120"/>
              </a:rPr>
              <a:t>Skrining Virtual Otomatis</a:t>
            </a:r>
            <a:endParaRPr lang="en-US" sz="3000" dirty="0"/>
          </a:p>
          <a:p>
            <a:pPr marL="0" indent="0">
              <a:buNone/>
            </a:pPr>
            <a:r>
              <a:rPr lang="en-US" sz="3000" b="1" dirty="0">
                <a:solidFill>
                  <a:srgbClr val="C9D3FF"/>
                </a:solidFill>
                <a:latin typeface="Cambria" pitchFamily="34" charset="0"/>
                <a:ea typeface="Cambria" pitchFamily="34" charset="-122"/>
                <a:cs typeface="Cambria" pitchFamily="34" charset="-120"/>
              </a:rPr>
              <a:t>dengan Python</a:t>
            </a:r>
            <a:endParaRPr lang="en-US" sz="3000" dirty="0"/>
          </a:p>
        </p:txBody>
      </p:sp>
      <p:sp>
        <p:nvSpPr>
          <p:cNvPr id="8" name="Text 6"/>
          <p:cNvSpPr txBox="1"/>
          <p:nvPr/>
        </p:nvSpPr>
        <p:spPr>
          <a:xfrm>
            <a:off x="822960" y="4846320"/>
            <a:ext cx="5486400" cy="320040"/>
          </a:xfrm>
          <a:prstGeom prst="rect">
            <a:avLst/>
          </a:prstGeom>
          <a:noFill/>
          <a:ln/>
        </p:spPr>
        <p:txBody>
          <a:bodyPr wrap="square" lIns="0" tIns="0" rIns="0" bIns="0"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Arif Maulana Azis</a:t>
            </a:r>
            <a:endParaRPr lang="en-US" sz="1800" dirty="0"/>
          </a:p>
        </p:txBody>
      </p:sp>
      <p:sp>
        <p:nvSpPr>
          <p:cNvPr id="9" name="Text 7"/>
          <p:cNvSpPr txBox="1"/>
          <p:nvPr/>
        </p:nvSpPr>
        <p:spPr>
          <a:xfrm>
            <a:off x="822960" y="5193792"/>
            <a:ext cx="6400800" cy="274320"/>
          </a:xfrm>
          <a:prstGeom prst="rect">
            <a:avLst/>
          </a:prstGeom>
          <a:noFill/>
          <a:ln/>
        </p:spPr>
        <p:txBody>
          <a:bodyPr wrap="square" lIns="0" tIns="0" rIns="0" bIns="0" rtlCol="0" anchor="t"/>
          <a:lstStyle/>
          <a:p>
            <a:pPr marL="0" indent="0">
              <a:buNone/>
            </a:pPr>
            <a:r>
              <a:rPr lang="en-US" sz="1200" dirty="0">
                <a:solidFill>
                  <a:srgbClr val="C9D3FF"/>
                </a:solidFill>
                <a:latin typeface="Calibri" pitchFamily="34" charset="0"/>
                <a:ea typeface="Calibri" pitchFamily="34" charset="-122"/>
                <a:cs typeface="Calibri" pitchFamily="34" charset="-120"/>
              </a:rPr>
              <a:t>v2.0.0  ·  Lisensi MIT  ·  github.com/Arifmaulanaazis/chemflow</a:t>
            </a:r>
            <a:endParaRPr lang="en-US" sz="1200" dirty="0"/>
          </a:p>
        </p:txBody>
      </p:sp>
      <p:sp>
        <p:nvSpPr>
          <p:cNvPr id="10" name="Text 8"/>
          <p:cNvSpPr txBox="1"/>
          <p:nvPr/>
        </p:nvSpPr>
        <p:spPr>
          <a:xfrm>
            <a:off x="822960" y="5760720"/>
            <a:ext cx="1175004" cy="292608"/>
          </a:xfrm>
          <a:prstGeom prst="roundRect">
            <a:avLst>
              <a:gd name="adj" fmla="val 43750"/>
            </a:avLst>
          </a:prstGeom>
          <a:solidFill>
            <a:srgbClr val="1C2757"/>
          </a:solidFill>
          <a:ln/>
        </p:spPr>
        <p:txBody>
          <a:bodyPr wrap="square" lIns="0" tIns="0" rIns="0" bIns="0" rtlCol="0" anchor="ctr"/>
          <a:lstStyle/>
          <a:p>
            <a:pPr marL="0" indent="0" algn="ctr">
              <a:buNone/>
            </a:pPr>
            <a:r>
              <a:rPr lang="en-US" sz="1100" b="1" dirty="0">
                <a:solidFill>
                  <a:srgbClr val="C9D3FF"/>
                </a:solidFill>
                <a:latin typeface="Calibri" pitchFamily="34" charset="0"/>
                <a:ea typeface="Calibri" pitchFamily="34" charset="-122"/>
                <a:cs typeface="Calibri" pitchFamily="34" charset="-120"/>
              </a:rPr>
              <a:t>Python 3.9+</a:t>
            </a:r>
            <a:endParaRPr lang="en-US" sz="1100" dirty="0"/>
          </a:p>
        </p:txBody>
      </p:sp>
      <p:sp>
        <p:nvSpPr>
          <p:cNvPr id="11" name="Text 9"/>
          <p:cNvSpPr txBox="1"/>
          <p:nvPr/>
        </p:nvSpPr>
        <p:spPr>
          <a:xfrm>
            <a:off x="2107692" y="5760720"/>
            <a:ext cx="708660" cy="292608"/>
          </a:xfrm>
          <a:prstGeom prst="roundRect">
            <a:avLst>
              <a:gd name="adj" fmla="val 43750"/>
            </a:avLst>
          </a:prstGeom>
          <a:solidFill>
            <a:srgbClr val="1C2757"/>
          </a:solidFill>
          <a:ln/>
        </p:spPr>
        <p:txBody>
          <a:bodyPr wrap="square" lIns="0" tIns="0" rIns="0" bIns="0" rtlCol="0" anchor="ctr"/>
          <a:lstStyle/>
          <a:p>
            <a:pPr marL="0" indent="0" algn="ctr">
              <a:buNone/>
            </a:pPr>
            <a:r>
              <a:rPr lang="en-US" sz="1100" b="1" dirty="0">
                <a:solidFill>
                  <a:srgbClr val="C9D3FF"/>
                </a:solidFill>
                <a:latin typeface="Calibri" pitchFamily="34" charset="0"/>
                <a:ea typeface="Calibri" pitchFamily="34" charset="-122"/>
                <a:cs typeface="Calibri" pitchFamily="34" charset="-120"/>
              </a:rPr>
              <a:t>RDKit</a:t>
            </a:r>
            <a:endParaRPr lang="en-US" sz="1100" dirty="0"/>
          </a:p>
        </p:txBody>
      </p:sp>
      <p:sp>
        <p:nvSpPr>
          <p:cNvPr id="12" name="Text 10"/>
          <p:cNvSpPr txBox="1"/>
          <p:nvPr/>
        </p:nvSpPr>
        <p:spPr>
          <a:xfrm>
            <a:off x="2926080" y="5760720"/>
            <a:ext cx="1330452" cy="292608"/>
          </a:xfrm>
          <a:prstGeom prst="roundRect">
            <a:avLst>
              <a:gd name="adj" fmla="val 43750"/>
            </a:avLst>
          </a:prstGeom>
          <a:solidFill>
            <a:srgbClr val="1C2757"/>
          </a:solidFill>
          <a:ln/>
        </p:spPr>
        <p:txBody>
          <a:bodyPr wrap="square" lIns="0" tIns="0" rIns="0" bIns="0" rtlCol="0" anchor="ctr"/>
          <a:lstStyle/>
          <a:p>
            <a:pPr marL="0" indent="0" algn="ctr">
              <a:buNone/>
            </a:pPr>
            <a:r>
              <a:rPr lang="en-US" sz="1100" b="1" dirty="0">
                <a:solidFill>
                  <a:srgbClr val="C9D3FF"/>
                </a:solidFill>
                <a:latin typeface="Calibri" pitchFamily="34" charset="0"/>
                <a:ea typeface="Calibri" pitchFamily="34" charset="-122"/>
                <a:cs typeface="Calibri" pitchFamily="34" charset="-120"/>
              </a:rPr>
              <a:t>AutoDock Vina</a:t>
            </a:r>
            <a:endParaRPr lang="en-US" sz="1100" dirty="0"/>
          </a:p>
        </p:txBody>
      </p:sp>
      <p:sp>
        <p:nvSpPr>
          <p:cNvPr id="13" name="Text 11"/>
          <p:cNvSpPr txBox="1"/>
          <p:nvPr/>
        </p:nvSpPr>
        <p:spPr>
          <a:xfrm>
            <a:off x="4366260" y="5760720"/>
            <a:ext cx="1019556" cy="292608"/>
          </a:xfrm>
          <a:prstGeom prst="roundRect">
            <a:avLst>
              <a:gd name="adj" fmla="val 43750"/>
            </a:avLst>
          </a:prstGeom>
          <a:solidFill>
            <a:srgbClr val="1C2757"/>
          </a:solidFill>
          <a:ln/>
        </p:spPr>
        <p:txBody>
          <a:bodyPr wrap="square" lIns="0" tIns="0" rIns="0" bIns="0" rtlCol="0" anchor="ctr"/>
          <a:lstStyle/>
          <a:p>
            <a:pPr marL="0" indent="0" algn="ctr">
              <a:buNone/>
            </a:pPr>
            <a:r>
              <a:rPr lang="en-US" sz="1100" b="1" dirty="0">
                <a:solidFill>
                  <a:srgbClr val="C9D3FF"/>
                </a:solidFill>
                <a:latin typeface="Calibri" pitchFamily="34" charset="0"/>
                <a:ea typeface="Calibri" pitchFamily="34" charset="-122"/>
                <a:cs typeface="Calibri" pitchFamily="34" charset="-120"/>
              </a:rPr>
              <a:t>OpenBabel</a:t>
            </a:r>
            <a:endParaRPr lang="en-US" sz="1100" dirty="0"/>
          </a:p>
        </p:txBody>
      </p:sp>
      <p:sp>
        <p:nvSpPr>
          <p:cNvPr id="14" name="Text 12"/>
          <p:cNvSpPr txBox="1"/>
          <p:nvPr/>
        </p:nvSpPr>
        <p:spPr>
          <a:xfrm>
            <a:off x="5495544" y="5760720"/>
            <a:ext cx="1252728" cy="292608"/>
          </a:xfrm>
          <a:prstGeom prst="roundRect">
            <a:avLst>
              <a:gd name="adj" fmla="val 43750"/>
            </a:avLst>
          </a:prstGeom>
          <a:solidFill>
            <a:srgbClr val="1C2757"/>
          </a:solidFill>
          <a:ln/>
        </p:spPr>
        <p:txBody>
          <a:bodyPr wrap="square" lIns="0" tIns="0" rIns="0" bIns="0" rtlCol="0" anchor="ctr"/>
          <a:lstStyle/>
          <a:p>
            <a:pPr marL="0" indent="0" algn="ctr">
              <a:buNone/>
            </a:pPr>
            <a:r>
              <a:rPr lang="en-US" sz="1100" b="1" dirty="0">
                <a:solidFill>
                  <a:srgbClr val="C9D3FF"/>
                </a:solidFill>
                <a:latin typeface="Calibri" pitchFamily="34" charset="0"/>
                <a:ea typeface="Calibri" pitchFamily="34" charset="-122"/>
                <a:cs typeface="Calibri" pitchFamily="34" charset="-120"/>
              </a:rPr>
              <a:t>ADMETLab 3.0</a:t>
            </a:r>
            <a:endParaRPr lang="en-US" sz="1100" dirty="0"/>
          </a:p>
        </p:txBody>
      </p:sp>
      <p:pic>
        <p:nvPicPr>
          <p:cNvPr id="15" name="Image 0" descr="Logo chemflow: labu Erlenmeyer dengan dua simpul molekul"/>
          <p:cNvPicPr>
            <a:picLocks noChangeAspect="1"/>
          </p:cNvPicPr>
          <p:nvPr/>
        </p:nvPicPr>
        <p:blipFill>
          <a:blip r:embed="rId3"/>
          <a:stretch>
            <a:fillRect/>
          </a:stretch>
        </p:blipFill>
        <p:spPr>
          <a:xfrm>
            <a:off x="7635240" y="1234440"/>
            <a:ext cx="4023360" cy="40233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75004"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A · PEMBUKA</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Agenda: dari konsep in silico sampai menjalankan chemflow sendiri</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2</a:t>
            </a:r>
            <a:endParaRPr lang="en-US" sz="1000" dirty="0"/>
          </a:p>
        </p:txBody>
      </p:sp>
      <p:sp>
        <p:nvSpPr>
          <p:cNvPr id="6" name="Shape 4"/>
          <p:cNvSpPr/>
          <p:nvPr/>
        </p:nvSpPr>
        <p:spPr>
          <a:xfrm>
            <a:off x="548640" y="1691640"/>
            <a:ext cx="6583680" cy="786384"/>
          </a:xfrm>
          <a:prstGeom prst="roundRect">
            <a:avLst>
              <a:gd name="adj" fmla="val 13953"/>
            </a:avLst>
          </a:prstGeom>
          <a:solidFill>
            <a:srgbClr val="E8EDFC"/>
          </a:solidFill>
          <a:ln w="9525">
            <a:solidFill>
              <a:srgbClr val="E8EDFC"/>
            </a:solidFill>
            <a:prstDash val="solid"/>
          </a:ln>
        </p:spPr>
        <p:txBody>
          <a:bodyPr/>
          <a:p/>
        </p:txBody>
      </p:sp>
      <p:sp>
        <p:nvSpPr>
          <p:cNvPr id="7" name="Shape 5"/>
          <p:cNvSpPr/>
          <p:nvPr/>
        </p:nvSpPr>
        <p:spPr>
          <a:xfrm>
            <a:off x="731520" y="1865376"/>
            <a:ext cx="438912" cy="438912"/>
          </a:xfrm>
          <a:prstGeom prst="ellipse">
            <a:avLst/>
          </a:prstGeom>
          <a:solidFill>
            <a:srgbClr val="3C71E8"/>
          </a:solidFill>
          <a:ln w="12700">
            <a:solidFill>
              <a:srgbClr val="3C71E8"/>
            </a:solidFill>
            <a:prstDash val="solid"/>
          </a:ln>
        </p:spPr>
        <p:txBody>
          <a:bodyPr/>
          <a:p/>
        </p:txBody>
      </p:sp>
      <p:pic>
        <p:nvPicPr>
          <p:cNvPr id="8" name="Image 0" descr="Lightbulb"/>
          <p:cNvPicPr>
            <a:picLocks noChangeAspect="1"/>
          </p:cNvPicPr>
          <p:nvPr/>
        </p:nvPicPr>
        <p:blipFill>
          <a:blip r:embed="rId3"/>
          <a:stretch>
            <a:fillRect/>
          </a:stretch>
        </p:blipFill>
        <p:spPr>
          <a:xfrm>
            <a:off x="841248" y="1975104"/>
            <a:ext cx="219456" cy="219456"/>
          </a:xfrm>
          <a:prstGeom prst="rect">
            <a:avLst/>
          </a:prstGeom>
        </p:spPr>
      </p:pic>
      <p:sp>
        <p:nvSpPr>
          <p:cNvPr id="9" name="Text 6"/>
          <p:cNvSpPr txBox="1"/>
          <p:nvPr/>
        </p:nvSpPr>
        <p:spPr>
          <a:xfrm>
            <a:off x="1325880" y="1801368"/>
            <a:ext cx="4480560" cy="292608"/>
          </a:xfrm>
          <a:prstGeom prst="rect">
            <a:avLst/>
          </a:prstGeom>
          <a:noFill/>
          <a:ln/>
        </p:spPr>
        <p:txBody>
          <a:bodyPr wrap="square" lIns="0" tIns="0" rIns="0" bIns="0" rtlCol="0" anchor="t"/>
          <a:lstStyle/>
          <a:p>
            <a:pPr marL="0" indent="0">
              <a:buNone/>
            </a:pPr>
            <a:r>
              <a:rPr lang="en-US" sz="1600" b="1" dirty="0">
                <a:solidFill>
                  <a:srgbClr val="1B2140"/>
                </a:solidFill>
                <a:latin typeface="Calibri" pitchFamily="34" charset="0"/>
                <a:ea typeface="Calibri" pitchFamily="34" charset="-122"/>
                <a:cs typeface="Calibri" pitchFamily="34" charset="-120"/>
              </a:rPr>
              <a:t>A · Pembuka</a:t>
            </a:r>
            <a:endParaRPr lang="en-US" sz="1600" dirty="0"/>
          </a:p>
        </p:txBody>
      </p:sp>
      <p:sp>
        <p:nvSpPr>
          <p:cNvPr id="10" name="Text 7"/>
          <p:cNvSpPr txBox="1"/>
          <p:nvPr/>
        </p:nvSpPr>
        <p:spPr>
          <a:xfrm>
            <a:off x="1325880" y="2103120"/>
            <a:ext cx="4480560" cy="27432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Mengapa in silico dan apa itu chemflow</a:t>
            </a:r>
            <a:endParaRPr lang="en-US" sz="1200" dirty="0"/>
          </a:p>
        </p:txBody>
      </p:sp>
      <p:sp>
        <p:nvSpPr>
          <p:cNvPr id="12" name="Shape 9"/>
          <p:cNvSpPr/>
          <p:nvPr/>
        </p:nvSpPr>
        <p:spPr>
          <a:xfrm>
            <a:off x="548640" y="2606040"/>
            <a:ext cx="6583680" cy="786384"/>
          </a:xfrm>
          <a:prstGeom prst="roundRect">
            <a:avLst>
              <a:gd name="adj" fmla="val 13953"/>
            </a:avLst>
          </a:prstGeom>
          <a:solidFill>
            <a:srgbClr val="E8EDFC"/>
          </a:solidFill>
          <a:ln w="9525">
            <a:solidFill>
              <a:srgbClr val="E8EDFC"/>
            </a:solidFill>
            <a:prstDash val="solid"/>
          </a:ln>
        </p:spPr>
        <p:txBody>
          <a:bodyPr/>
          <a:p/>
        </p:txBody>
      </p:sp>
      <p:sp>
        <p:nvSpPr>
          <p:cNvPr id="13" name="Shape 10"/>
          <p:cNvSpPr/>
          <p:nvPr/>
        </p:nvSpPr>
        <p:spPr>
          <a:xfrm>
            <a:off x="731520" y="2779776"/>
            <a:ext cx="438912" cy="438912"/>
          </a:xfrm>
          <a:prstGeom prst="ellipse">
            <a:avLst/>
          </a:prstGeom>
          <a:solidFill>
            <a:srgbClr val="3C71E8"/>
          </a:solidFill>
          <a:ln w="12700">
            <a:solidFill>
              <a:srgbClr val="3C71E8"/>
            </a:solidFill>
            <a:prstDash val="solid"/>
          </a:ln>
        </p:spPr>
        <p:txBody>
          <a:bodyPr/>
          <a:p/>
        </p:txBody>
      </p:sp>
      <p:pic>
        <p:nvPicPr>
          <p:cNvPr id="14" name="Image 1" descr="Python"/>
          <p:cNvPicPr>
            <a:picLocks noChangeAspect="1"/>
          </p:cNvPicPr>
          <p:nvPr/>
        </p:nvPicPr>
        <p:blipFill>
          <a:blip r:embed="rId4"/>
          <a:stretch>
            <a:fillRect/>
          </a:stretch>
        </p:blipFill>
        <p:spPr>
          <a:xfrm>
            <a:off x="841248" y="2889504"/>
            <a:ext cx="219456" cy="219456"/>
          </a:xfrm>
          <a:prstGeom prst="rect">
            <a:avLst/>
          </a:prstGeom>
        </p:spPr>
      </p:pic>
      <p:sp>
        <p:nvSpPr>
          <p:cNvPr id="15" name="Text 11"/>
          <p:cNvSpPr txBox="1"/>
          <p:nvPr/>
        </p:nvSpPr>
        <p:spPr>
          <a:xfrm>
            <a:off x="1325880" y="2715768"/>
            <a:ext cx="4480560" cy="292608"/>
          </a:xfrm>
          <a:prstGeom prst="rect">
            <a:avLst/>
          </a:prstGeom>
          <a:noFill/>
          <a:ln/>
        </p:spPr>
        <p:txBody>
          <a:bodyPr wrap="square" lIns="0" tIns="0" rIns="0" bIns="0" rtlCol="0" anchor="t"/>
          <a:lstStyle/>
          <a:p>
            <a:pPr marL="0" indent="0">
              <a:buNone/>
            </a:pPr>
            <a:r>
              <a:rPr lang="en-US" sz="1600" b="1" dirty="0">
                <a:solidFill>
                  <a:srgbClr val="1B2140"/>
                </a:solidFill>
                <a:latin typeface="Calibri" pitchFamily="34" charset="0"/>
                <a:ea typeface="Calibri" pitchFamily="34" charset="-122"/>
                <a:cs typeface="Calibri" pitchFamily="34" charset="-120"/>
              </a:rPr>
              <a:t>B · Python dan arsitektur</a:t>
            </a:r>
            <a:endParaRPr lang="en-US" sz="1600" dirty="0"/>
          </a:p>
        </p:txBody>
      </p:sp>
      <p:sp>
        <p:nvSpPr>
          <p:cNvPr id="16" name="Text 12"/>
          <p:cNvSpPr txBox="1"/>
          <p:nvPr/>
        </p:nvSpPr>
        <p:spPr>
          <a:xfrm>
            <a:off x="1325880" y="3017520"/>
            <a:ext cx="4480560" cy="27432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Ekosistem dan desain paket</a:t>
            </a:r>
            <a:endParaRPr lang="en-US" sz="1200" dirty="0"/>
          </a:p>
        </p:txBody>
      </p:sp>
      <p:sp>
        <p:nvSpPr>
          <p:cNvPr id="18" name="Shape 14"/>
          <p:cNvSpPr/>
          <p:nvPr/>
        </p:nvSpPr>
        <p:spPr>
          <a:xfrm>
            <a:off x="548640" y="3520440"/>
            <a:ext cx="6583680" cy="786384"/>
          </a:xfrm>
          <a:prstGeom prst="roundRect">
            <a:avLst>
              <a:gd name="adj" fmla="val 13953"/>
            </a:avLst>
          </a:prstGeom>
          <a:solidFill>
            <a:srgbClr val="E8EDFC"/>
          </a:solidFill>
          <a:ln w="9525">
            <a:solidFill>
              <a:srgbClr val="E8EDFC"/>
            </a:solidFill>
            <a:prstDash val="solid"/>
          </a:ln>
        </p:spPr>
        <p:txBody>
          <a:bodyPr/>
          <a:p/>
        </p:txBody>
      </p:sp>
      <p:sp>
        <p:nvSpPr>
          <p:cNvPr id="19" name="Shape 15"/>
          <p:cNvSpPr/>
          <p:nvPr/>
        </p:nvSpPr>
        <p:spPr>
          <a:xfrm>
            <a:off x="731520" y="3694176"/>
            <a:ext cx="438912" cy="438912"/>
          </a:xfrm>
          <a:prstGeom prst="ellipse">
            <a:avLst/>
          </a:prstGeom>
          <a:solidFill>
            <a:srgbClr val="3C71E8"/>
          </a:solidFill>
          <a:ln w="12700">
            <a:solidFill>
              <a:srgbClr val="3C71E8"/>
            </a:solidFill>
            <a:prstDash val="solid"/>
          </a:ln>
        </p:spPr>
        <p:txBody>
          <a:bodyPr/>
          <a:p/>
        </p:txBody>
      </p:sp>
      <p:pic>
        <p:nvPicPr>
          <p:cNvPr id="20" name="Image 2" descr="ProjectDiagram"/>
          <p:cNvPicPr>
            <a:picLocks noChangeAspect="1"/>
          </p:cNvPicPr>
          <p:nvPr/>
        </p:nvPicPr>
        <p:blipFill>
          <a:blip r:embed="rId5"/>
          <a:stretch>
            <a:fillRect/>
          </a:stretch>
        </p:blipFill>
        <p:spPr>
          <a:xfrm>
            <a:off x="841248" y="3803904"/>
            <a:ext cx="219456" cy="219456"/>
          </a:xfrm>
          <a:prstGeom prst="rect">
            <a:avLst/>
          </a:prstGeom>
        </p:spPr>
      </p:pic>
      <p:sp>
        <p:nvSpPr>
          <p:cNvPr id="21" name="Text 16"/>
          <p:cNvSpPr txBox="1"/>
          <p:nvPr/>
        </p:nvSpPr>
        <p:spPr>
          <a:xfrm>
            <a:off x="1325880" y="3630168"/>
            <a:ext cx="4480560" cy="292608"/>
          </a:xfrm>
          <a:prstGeom prst="rect">
            <a:avLst/>
          </a:prstGeom>
          <a:noFill/>
          <a:ln/>
        </p:spPr>
        <p:txBody>
          <a:bodyPr wrap="square" lIns="0" tIns="0" rIns="0" bIns="0" rtlCol="0" anchor="t"/>
          <a:lstStyle/>
          <a:p>
            <a:pPr marL="0" indent="0">
              <a:buNone/>
            </a:pPr>
            <a:r>
              <a:rPr lang="en-US" sz="1600" b="1" dirty="0">
                <a:solidFill>
                  <a:srgbClr val="1B2140"/>
                </a:solidFill>
                <a:latin typeface="Calibri" pitchFamily="34" charset="0"/>
                <a:ea typeface="Calibri" pitchFamily="34" charset="-122"/>
                <a:cs typeface="Calibri" pitchFamily="34" charset="-120"/>
              </a:rPr>
              <a:t>C · Pipeline in silico</a:t>
            </a:r>
            <a:endParaRPr lang="en-US" sz="1600" dirty="0"/>
          </a:p>
        </p:txBody>
      </p:sp>
      <p:sp>
        <p:nvSpPr>
          <p:cNvPr id="22" name="Text 17"/>
          <p:cNvSpPr txBox="1"/>
          <p:nvPr/>
        </p:nvSpPr>
        <p:spPr>
          <a:xfrm>
            <a:off x="1325880" y="3931920"/>
            <a:ext cx="4480560" cy="27432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12 tahap, metode, rumus, analitik</a:t>
            </a:r>
            <a:endParaRPr lang="en-US" sz="1200" dirty="0"/>
          </a:p>
        </p:txBody>
      </p:sp>
      <p:sp>
        <p:nvSpPr>
          <p:cNvPr id="24" name="Shape 19"/>
          <p:cNvSpPr/>
          <p:nvPr/>
        </p:nvSpPr>
        <p:spPr>
          <a:xfrm>
            <a:off x="548640" y="4434840"/>
            <a:ext cx="6583680" cy="786384"/>
          </a:xfrm>
          <a:prstGeom prst="roundRect">
            <a:avLst>
              <a:gd name="adj" fmla="val 13953"/>
            </a:avLst>
          </a:prstGeom>
          <a:solidFill>
            <a:srgbClr val="E8EDFC"/>
          </a:solidFill>
          <a:ln w="9525">
            <a:solidFill>
              <a:srgbClr val="E8EDFC"/>
            </a:solidFill>
            <a:prstDash val="solid"/>
          </a:ln>
        </p:spPr>
        <p:txBody>
          <a:bodyPr/>
          <a:p/>
        </p:txBody>
      </p:sp>
      <p:sp>
        <p:nvSpPr>
          <p:cNvPr id="25" name="Shape 20"/>
          <p:cNvSpPr/>
          <p:nvPr/>
        </p:nvSpPr>
        <p:spPr>
          <a:xfrm>
            <a:off x="731520" y="4608576"/>
            <a:ext cx="438912" cy="438912"/>
          </a:xfrm>
          <a:prstGeom prst="ellipse">
            <a:avLst/>
          </a:prstGeom>
          <a:solidFill>
            <a:srgbClr val="3C71E8"/>
          </a:solidFill>
          <a:ln w="12700">
            <a:solidFill>
              <a:srgbClr val="3C71E8"/>
            </a:solidFill>
            <a:prstDash val="solid"/>
          </a:ln>
        </p:spPr>
        <p:txBody>
          <a:bodyPr/>
          <a:p/>
        </p:txBody>
      </p:sp>
      <p:pic>
        <p:nvPicPr>
          <p:cNvPr id="26" name="Image 3" descr="Terminal"/>
          <p:cNvPicPr>
            <a:picLocks noChangeAspect="1"/>
          </p:cNvPicPr>
          <p:nvPr/>
        </p:nvPicPr>
        <p:blipFill>
          <a:blip r:embed="rId6"/>
          <a:stretch>
            <a:fillRect/>
          </a:stretch>
        </p:blipFill>
        <p:spPr>
          <a:xfrm>
            <a:off x="841248" y="4718304"/>
            <a:ext cx="219456" cy="219456"/>
          </a:xfrm>
          <a:prstGeom prst="rect">
            <a:avLst/>
          </a:prstGeom>
        </p:spPr>
      </p:pic>
      <p:sp>
        <p:nvSpPr>
          <p:cNvPr id="27" name="Text 21"/>
          <p:cNvSpPr txBox="1"/>
          <p:nvPr/>
        </p:nvSpPr>
        <p:spPr>
          <a:xfrm>
            <a:off x="1325880" y="4544568"/>
            <a:ext cx="4480560" cy="292608"/>
          </a:xfrm>
          <a:prstGeom prst="rect">
            <a:avLst/>
          </a:prstGeom>
          <a:noFill/>
          <a:ln/>
        </p:spPr>
        <p:txBody>
          <a:bodyPr wrap="square" lIns="0" tIns="0" rIns="0" bIns="0" rtlCol="0" anchor="t"/>
          <a:lstStyle/>
          <a:p>
            <a:pPr marL="0" indent="0">
              <a:buNone/>
            </a:pPr>
            <a:r>
              <a:rPr lang="en-US" sz="1600" b="1" dirty="0">
                <a:solidFill>
                  <a:srgbClr val="1B2140"/>
                </a:solidFill>
                <a:latin typeface="Calibri" pitchFamily="34" charset="0"/>
                <a:ea typeface="Calibri" pitchFamily="34" charset="-122"/>
                <a:cs typeface="Calibri" pitchFamily="34" charset="-120"/>
              </a:rPr>
              <a:t>D · Praktik</a:t>
            </a:r>
            <a:endParaRPr lang="en-US" sz="1600" dirty="0"/>
          </a:p>
        </p:txBody>
      </p:sp>
      <p:sp>
        <p:nvSpPr>
          <p:cNvPr id="28" name="Text 22"/>
          <p:cNvSpPr txBox="1"/>
          <p:nvPr/>
        </p:nvSpPr>
        <p:spPr>
          <a:xfrm>
            <a:off x="1325880" y="4846320"/>
            <a:ext cx="4480560" cy="27432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Instalasi, run, opsi, library</a:t>
            </a:r>
            <a:endParaRPr lang="en-US" sz="1200" dirty="0"/>
          </a:p>
        </p:txBody>
      </p:sp>
      <p:sp>
        <p:nvSpPr>
          <p:cNvPr id="30" name="Shape 24"/>
          <p:cNvSpPr/>
          <p:nvPr/>
        </p:nvSpPr>
        <p:spPr>
          <a:xfrm>
            <a:off x="548640" y="5349240"/>
            <a:ext cx="6583680" cy="786384"/>
          </a:xfrm>
          <a:prstGeom prst="roundRect">
            <a:avLst>
              <a:gd name="adj" fmla="val 13953"/>
            </a:avLst>
          </a:prstGeom>
          <a:solidFill>
            <a:srgbClr val="E8EDFC"/>
          </a:solidFill>
          <a:ln w="9525">
            <a:solidFill>
              <a:srgbClr val="E8EDFC"/>
            </a:solidFill>
            <a:prstDash val="solid"/>
          </a:ln>
        </p:spPr>
        <p:txBody>
          <a:bodyPr/>
          <a:p/>
        </p:txBody>
      </p:sp>
      <p:sp>
        <p:nvSpPr>
          <p:cNvPr id="31" name="Shape 25"/>
          <p:cNvSpPr/>
          <p:nvPr/>
        </p:nvSpPr>
        <p:spPr>
          <a:xfrm>
            <a:off x="731520" y="5522976"/>
            <a:ext cx="438912" cy="438912"/>
          </a:xfrm>
          <a:prstGeom prst="ellipse">
            <a:avLst/>
          </a:prstGeom>
          <a:solidFill>
            <a:srgbClr val="3C71E8"/>
          </a:solidFill>
          <a:ln w="12700">
            <a:solidFill>
              <a:srgbClr val="3C71E8"/>
            </a:solidFill>
            <a:prstDash val="solid"/>
          </a:ln>
        </p:spPr>
        <p:txBody>
          <a:bodyPr/>
          <a:p/>
        </p:txBody>
      </p:sp>
      <p:pic>
        <p:nvPicPr>
          <p:cNvPr id="32" name="Image 4" descr="BalanceScale"/>
          <p:cNvPicPr>
            <a:picLocks noChangeAspect="1"/>
          </p:cNvPicPr>
          <p:nvPr/>
        </p:nvPicPr>
        <p:blipFill>
          <a:blip r:embed="rId7"/>
          <a:stretch>
            <a:fillRect/>
          </a:stretch>
        </p:blipFill>
        <p:spPr>
          <a:xfrm>
            <a:off x="841248" y="5632704"/>
            <a:ext cx="219456" cy="219456"/>
          </a:xfrm>
          <a:prstGeom prst="rect">
            <a:avLst/>
          </a:prstGeom>
        </p:spPr>
      </p:pic>
      <p:sp>
        <p:nvSpPr>
          <p:cNvPr id="33" name="Text 26"/>
          <p:cNvSpPr txBox="1"/>
          <p:nvPr/>
        </p:nvSpPr>
        <p:spPr>
          <a:xfrm>
            <a:off x="1325880" y="5458968"/>
            <a:ext cx="4480560" cy="292608"/>
          </a:xfrm>
          <a:prstGeom prst="rect">
            <a:avLst/>
          </a:prstGeom>
          <a:noFill/>
          <a:ln/>
        </p:spPr>
        <p:txBody>
          <a:bodyPr wrap="square" lIns="0" tIns="0" rIns="0" bIns="0" rtlCol="0" anchor="t"/>
          <a:lstStyle/>
          <a:p>
            <a:pPr marL="0" indent="0">
              <a:buNone/>
            </a:pPr>
            <a:r>
              <a:rPr lang="en-US" sz="1600" b="1" dirty="0">
                <a:solidFill>
                  <a:srgbClr val="1B2140"/>
                </a:solidFill>
                <a:latin typeface="Calibri" pitchFamily="34" charset="0"/>
                <a:ea typeface="Calibri" pitchFamily="34" charset="-122"/>
                <a:cs typeface="Calibri" pitchFamily="34" charset="-120"/>
              </a:rPr>
              <a:t>E · Diskusi dan penutup</a:t>
            </a:r>
            <a:endParaRPr lang="en-US" sz="1600" dirty="0"/>
          </a:p>
        </p:txBody>
      </p:sp>
      <p:sp>
        <p:nvSpPr>
          <p:cNvPr id="34" name="Text 27"/>
          <p:cNvSpPr txBox="1"/>
          <p:nvPr/>
        </p:nvSpPr>
        <p:spPr>
          <a:xfrm>
            <a:off x="1325880" y="5760720"/>
            <a:ext cx="4480560" cy="27432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Keterbatasan, referensi, tanya jawab</a:t>
            </a:r>
            <a:endParaRPr lang="en-US" sz="1200" dirty="0"/>
          </a:p>
        </p:txBody>
      </p:sp>
      <p:sp>
        <p:nvSpPr>
          <p:cNvPr id="36" name="Shape 29"/>
          <p:cNvSpPr/>
          <p:nvPr/>
        </p:nvSpPr>
        <p:spPr>
          <a:xfrm>
            <a:off x="7406640" y="1691640"/>
            <a:ext cx="4233672" cy="2834640"/>
          </a:xfrm>
          <a:prstGeom prst="roundRect">
            <a:avLst>
              <a:gd name="adj" fmla="val 3871"/>
            </a:avLst>
          </a:prstGeom>
          <a:solidFill>
            <a:srgbClr val="EDE7FC"/>
          </a:solidFill>
          <a:ln w="9525">
            <a:solidFill>
              <a:srgbClr val="EDE7FC"/>
            </a:solidFill>
            <a:prstDash val="solid"/>
          </a:ln>
        </p:spPr>
        <p:txBody>
          <a:bodyPr/>
          <a:p/>
        </p:txBody>
      </p:sp>
      <p:sp>
        <p:nvSpPr>
          <p:cNvPr id="37" name="Text 30"/>
          <p:cNvSpPr txBox="1"/>
          <p:nvPr/>
        </p:nvSpPr>
        <p:spPr>
          <a:xfrm>
            <a:off x="7635240" y="1828800"/>
            <a:ext cx="3749040" cy="274320"/>
          </a:xfrm>
          <a:prstGeom prst="rect">
            <a:avLst/>
          </a:prstGeom>
          <a:noFill/>
          <a:ln/>
        </p:spPr>
        <p:txBody>
          <a:bodyPr wrap="square" lIns="0" tIns="0" rIns="0" bIns="0" rtlCol="0" anchor="t"/>
          <a:lstStyle/>
          <a:p>
            <a:pPr marL="0" indent="0">
              <a:buNone/>
            </a:pPr>
            <a:r>
              <a:rPr lang="en-US" sz="1600" b="1" dirty="0">
                <a:solidFill>
                  <a:srgbClr val="1B2140"/>
                </a:solidFill>
                <a:latin typeface="Calibri" pitchFamily="34" charset="0"/>
                <a:ea typeface="Calibri" pitchFamily="34" charset="-122"/>
                <a:cs typeface="Calibri" pitchFamily="34" charset="-120"/>
              </a:rPr>
              <a:t>Tujuan belajar</a:t>
            </a:r>
            <a:endParaRPr lang="en-US" sz="1600" dirty="0"/>
          </a:p>
        </p:txBody>
      </p:sp>
      <p:sp>
        <p:nvSpPr>
          <p:cNvPr id="38" name="Text 31"/>
          <p:cNvSpPr txBox="1"/>
          <p:nvPr/>
        </p:nvSpPr>
        <p:spPr>
          <a:xfrm>
            <a:off x="7635240" y="2212848"/>
            <a:ext cx="3794760" cy="219456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B2140"/>
                </a:solidFill>
                <a:latin typeface="Calibri" pitchFamily="34" charset="0"/>
                <a:ea typeface="Calibri" pitchFamily="34" charset="-122"/>
                <a:cs typeface="Calibri" pitchFamily="34" charset="-120"/>
              </a:rPr>
              <a:t>Menjelaskan alur virtual screening: preparasi, docking, ADMET, validasi</a:t>
            </a:r>
            <a:endParaRPr lang="en-US" sz="1300" dirty="0"/>
          </a:p>
          <a:p>
            <a:pPr marL="177800" indent="-177800">
              <a:spcAft>
                <a:spcPts val="500"/>
              </a:spcAft>
              <a:buSzPct val="100000"/>
              <a:buChar char="•"/>
            </a:pPr>
            <a:r>
              <a:rPr lang="en-US" sz="1300" dirty="0">
                <a:solidFill>
                  <a:srgbClr val="1B2140"/>
                </a:solidFill>
                <a:latin typeface="Calibri" pitchFamily="34" charset="0"/>
                <a:ea typeface="Calibri" pitchFamily="34" charset="-122"/>
                <a:cs typeface="Calibri" pitchFamily="34" charset="-120"/>
              </a:rPr>
              <a:t>Membaca keluaran chemflow secara kritis</a:t>
            </a:r>
            <a:endParaRPr lang="en-US" sz="1300" dirty="0"/>
          </a:p>
          <a:p>
            <a:pPr marL="177800" indent="-177800">
              <a:spcAft>
                <a:spcPts val="500"/>
              </a:spcAft>
              <a:buSzPct val="100000"/>
              <a:buChar char="•"/>
            </a:pPr>
            <a:r>
              <a:rPr lang="en-US" sz="1300" dirty="0">
                <a:solidFill>
                  <a:srgbClr val="1B2140"/>
                </a:solidFill>
                <a:latin typeface="Calibri" pitchFamily="34" charset="0"/>
                <a:ea typeface="Calibri" pitchFamily="34" charset="-122"/>
                <a:cs typeface="Calibri" pitchFamily="34" charset="-120"/>
              </a:rPr>
              <a:t>Menjalankan pipeline dari dua file Excel</a:t>
            </a:r>
            <a:endParaRPr lang="en-US" sz="1300" dirty="0"/>
          </a:p>
          <a:p>
            <a:pPr marL="177800" indent="-177800">
              <a:spcAft>
                <a:spcPts val="500"/>
              </a:spcAft>
              <a:buSzPct val="100000"/>
              <a:buChar char="•"/>
            </a:pPr>
            <a:r>
              <a:rPr lang="en-US" sz="1300" dirty="0">
                <a:solidFill>
                  <a:srgbClr val="1B2140"/>
                </a:solidFill>
                <a:latin typeface="Calibri" pitchFamily="34" charset="0"/>
                <a:ea typeface="Calibri" pitchFamily="34" charset="-122"/>
                <a:cs typeface="Calibri" pitchFamily="34" charset="-120"/>
              </a:rPr>
              <a:t>Mengenali keterbatasan sebelum menarik kesimpulan</a:t>
            </a:r>
            <a:endParaRPr lang="en-US" sz="1300" dirty="0"/>
          </a:p>
        </p:txBody>
      </p:sp>
      <p:sp>
        <p:nvSpPr>
          <p:cNvPr id="39" name="Shape 32"/>
          <p:cNvSpPr/>
          <p:nvPr/>
        </p:nvSpPr>
        <p:spPr>
          <a:xfrm>
            <a:off x="7406640" y="4709160"/>
            <a:ext cx="4233672" cy="1463040"/>
          </a:xfrm>
          <a:prstGeom prst="roundRect">
            <a:avLst>
              <a:gd name="adj" fmla="val 7500"/>
            </a:avLst>
          </a:prstGeom>
          <a:solidFill>
            <a:srgbClr val="E8EDFC"/>
          </a:solidFill>
          <a:ln w="9525">
            <a:solidFill>
              <a:srgbClr val="E8EDFC"/>
            </a:solidFill>
            <a:prstDash val="solid"/>
          </a:ln>
        </p:spPr>
        <p:txBody>
          <a:bodyPr/>
          <a:p/>
        </p:txBody>
      </p:sp>
      <p:sp>
        <p:nvSpPr>
          <p:cNvPr id="40" name="Text 33"/>
          <p:cNvSpPr txBox="1"/>
          <p:nvPr/>
        </p:nvSpPr>
        <p:spPr>
          <a:xfrm>
            <a:off x="7635240" y="4828032"/>
            <a:ext cx="3749040" cy="274320"/>
          </a:xfrm>
          <a:prstGeom prst="rect">
            <a:avLst/>
          </a:prstGeom>
          <a:noFill/>
          <a:ln/>
        </p:spPr>
        <p:txBody>
          <a:bodyPr wrap="square" lIns="0" tIns="0" rIns="0" bIns="0" rtlCol="0" anchor="t"/>
          <a:lstStyle/>
          <a:p>
            <a:pPr marL="0" indent="0">
              <a:buNone/>
            </a:pPr>
            <a:r>
              <a:rPr lang="en-US" sz="1600" b="1" dirty="0">
                <a:solidFill>
                  <a:srgbClr val="1B2140"/>
                </a:solidFill>
                <a:latin typeface="Calibri" pitchFamily="34" charset="0"/>
                <a:ea typeface="Calibri" pitchFamily="34" charset="-122"/>
                <a:cs typeface="Calibri" pitchFamily="34" charset="-120"/>
              </a:rPr>
              <a:t>Prasyarat</a:t>
            </a:r>
            <a:endParaRPr lang="en-US" sz="1600" dirty="0"/>
          </a:p>
        </p:txBody>
      </p:sp>
      <p:sp>
        <p:nvSpPr>
          <p:cNvPr id="41" name="Text 34"/>
          <p:cNvSpPr txBox="1"/>
          <p:nvPr/>
        </p:nvSpPr>
        <p:spPr>
          <a:xfrm>
            <a:off x="7635240" y="5166360"/>
            <a:ext cx="3794760" cy="914400"/>
          </a:xfrm>
          <a:prstGeom prst="rect">
            <a:avLst/>
          </a:prstGeom>
          <a:noFill/>
          <a:ln/>
        </p:spPr>
        <p:txBody>
          <a:bodyPr wrap="square" lIns="0" tIns="0" rIns="0" bIns="0" rtlCol="0" anchor="t"/>
          <a:lstStyle/>
          <a:p>
            <a:pPr marL="0" indent="0">
              <a:buNone/>
            </a:pPr>
            <a:r>
              <a:rPr lang="en-US" sz="1300" dirty="0">
                <a:solidFill>
                  <a:srgbClr val="1B2140"/>
                </a:solidFill>
                <a:latin typeface="Calibri" pitchFamily="34" charset="0"/>
                <a:ea typeface="Calibri" pitchFamily="34" charset="-122"/>
                <a:cs typeface="Calibri" pitchFamily="34" charset="-120"/>
              </a:rPr>
              <a:t>Python 3.9 atau lebih baru, OpenBabel, koneksi internet, dan Excel atau LibreOffice Calc. Tidak perlu pengalaman docking.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75004"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A · PEMBUKA</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In silico memangkas daftar kandidat sebelum masuk laboratorium</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3</a:t>
            </a:r>
            <a:endParaRPr lang="en-US" sz="1000" dirty="0"/>
          </a:p>
        </p:txBody>
      </p:sp>
      <p:sp>
        <p:nvSpPr>
          <p:cNvPr id="6" name="Shape 4"/>
          <p:cNvSpPr/>
          <p:nvPr/>
        </p:nvSpPr>
        <p:spPr>
          <a:xfrm>
            <a:off x="548640" y="1737360"/>
            <a:ext cx="4846320" cy="868680"/>
          </a:xfrm>
          <a:prstGeom prst="roundRect">
            <a:avLst>
              <a:gd name="adj" fmla="val 12632"/>
            </a:avLst>
          </a:prstGeom>
          <a:solidFill>
            <a:srgbClr val="E8EDFC"/>
          </a:solidFill>
          <a:ln w="12700">
            <a:solidFill>
              <a:srgbClr val="E8EDFC"/>
            </a:solidFill>
            <a:prstDash val="solid"/>
          </a:ln>
        </p:spPr>
        <p:txBody>
          <a:bodyPr/>
          <a:p/>
        </p:txBody>
      </p:sp>
      <p:sp>
        <p:nvSpPr>
          <p:cNvPr id="7" name="Text 5"/>
          <p:cNvSpPr txBox="1"/>
          <p:nvPr/>
        </p:nvSpPr>
        <p:spPr>
          <a:xfrm>
            <a:off x="548640" y="1828800"/>
            <a:ext cx="4846320" cy="365760"/>
          </a:xfrm>
          <a:prstGeom prst="rect">
            <a:avLst/>
          </a:prstGeom>
          <a:noFill/>
          <a:ln/>
        </p:spPr>
        <p:txBody>
          <a:bodyPr wrap="square" lIns="0" tIns="0" rIns="0" bIns="0" rtlCol="0" anchor="t"/>
          <a:lstStyle/>
          <a:p>
            <a:pPr marL="0" indent="0" algn="ctr">
              <a:buNone/>
            </a:pPr>
            <a:r>
              <a:rPr lang="en-US" sz="1800" b="1" dirty="0">
                <a:solidFill>
                  <a:srgbClr val="1B2140"/>
                </a:solidFill>
                <a:latin typeface="Cambria" pitchFamily="34" charset="0"/>
                <a:ea typeface="Cambria" pitchFamily="34" charset="-122"/>
                <a:cs typeface="Cambria" pitchFamily="34" charset="-120"/>
              </a:rPr>
              <a:t>Target</a:t>
            </a:r>
            <a:endParaRPr lang="en-US" sz="1800" dirty="0"/>
          </a:p>
        </p:txBody>
      </p:sp>
      <p:sp>
        <p:nvSpPr>
          <p:cNvPr id="8" name="Text 6"/>
          <p:cNvSpPr txBox="1"/>
          <p:nvPr/>
        </p:nvSpPr>
        <p:spPr>
          <a:xfrm>
            <a:off x="640080" y="2194560"/>
            <a:ext cx="4663440" cy="320040"/>
          </a:xfrm>
          <a:prstGeom prst="rect">
            <a:avLst/>
          </a:prstGeom>
          <a:noFill/>
          <a:ln/>
        </p:spPr>
        <p:txBody>
          <a:bodyPr wrap="square" lIns="0" tIns="0" rIns="0" bIns="0" rtlCol="0" anchor="t"/>
          <a:lstStyle/>
          <a:p>
            <a:pPr marL="0" indent="0" algn="ctr">
              <a:buNone/>
            </a:pPr>
            <a:r>
              <a:rPr lang="en-US" sz="1100" dirty="0">
                <a:solidFill>
                  <a:srgbClr val="5B6480"/>
                </a:solidFill>
                <a:latin typeface="Calibri" pitchFamily="34" charset="0"/>
                <a:ea typeface="Calibri" pitchFamily="34" charset="-122"/>
                <a:cs typeface="Calibri" pitchFamily="34" charset="-120"/>
              </a:rPr>
              <a:t>Identifikasi dan validasi protein sasaran</a:t>
            </a:r>
            <a:endParaRPr lang="en-US" sz="1100" dirty="0"/>
          </a:p>
        </p:txBody>
      </p:sp>
      <p:sp>
        <p:nvSpPr>
          <p:cNvPr id="9" name="Shape 7"/>
          <p:cNvSpPr/>
          <p:nvPr/>
        </p:nvSpPr>
        <p:spPr>
          <a:xfrm>
            <a:off x="2971800" y="2606040"/>
            <a:ext cx="0" cy="182880"/>
          </a:xfrm>
          <a:prstGeom prst="line">
            <a:avLst/>
          </a:prstGeom>
          <a:noFill/>
          <a:ln w="15875">
            <a:solidFill>
              <a:srgbClr val="5B6480"/>
            </a:solidFill>
            <a:prstDash val="solid"/>
            <a:tailEnd type="triangle"/>
          </a:ln>
        </p:spPr>
        <p:txBody>
          <a:bodyPr/>
          <a:p/>
        </p:txBody>
      </p:sp>
      <p:sp>
        <p:nvSpPr>
          <p:cNvPr id="10" name="Shape 8"/>
          <p:cNvSpPr/>
          <p:nvPr/>
        </p:nvSpPr>
        <p:spPr>
          <a:xfrm>
            <a:off x="914400" y="2788920"/>
            <a:ext cx="4114800" cy="868680"/>
          </a:xfrm>
          <a:prstGeom prst="roundRect">
            <a:avLst>
              <a:gd name="adj" fmla="val 12632"/>
            </a:avLst>
          </a:prstGeom>
          <a:solidFill>
            <a:srgbClr val="3C71E8"/>
          </a:solidFill>
          <a:ln w="12700">
            <a:solidFill>
              <a:srgbClr val="3C71E8"/>
            </a:solidFill>
            <a:prstDash val="solid"/>
          </a:ln>
        </p:spPr>
        <p:txBody>
          <a:bodyPr/>
          <a:p/>
        </p:txBody>
      </p:sp>
      <p:sp>
        <p:nvSpPr>
          <p:cNvPr id="11" name="Text 9"/>
          <p:cNvSpPr txBox="1"/>
          <p:nvPr/>
        </p:nvSpPr>
        <p:spPr>
          <a:xfrm>
            <a:off x="914400" y="2880360"/>
            <a:ext cx="4114800" cy="365760"/>
          </a:xfrm>
          <a:prstGeom prst="rect">
            <a:avLst/>
          </a:prstGeom>
          <a:noFill/>
          <a:ln/>
        </p:spPr>
        <p:txBody>
          <a:bodyPr wrap="square" lIns="0" tIns="0" rIns="0" bIns="0" rtlCol="0" anchor="t"/>
          <a:lstStyle/>
          <a:p>
            <a:pPr marL="0" indent="0" algn="ctr">
              <a:buNone/>
            </a:pPr>
            <a:r>
              <a:rPr lang="en-US" sz="1800" b="1" dirty="0">
                <a:solidFill>
                  <a:srgbClr val="FFFFFF"/>
                </a:solidFill>
                <a:latin typeface="Cambria" pitchFamily="34" charset="0"/>
                <a:ea typeface="Cambria" pitchFamily="34" charset="-122"/>
                <a:cs typeface="Cambria" pitchFamily="34" charset="-120"/>
              </a:rPr>
              <a:t>Hit</a:t>
            </a:r>
            <a:endParaRPr lang="en-US" sz="1800" dirty="0"/>
          </a:p>
        </p:txBody>
      </p:sp>
      <p:sp>
        <p:nvSpPr>
          <p:cNvPr id="12" name="Text 10"/>
          <p:cNvSpPr txBox="1"/>
          <p:nvPr/>
        </p:nvSpPr>
        <p:spPr>
          <a:xfrm>
            <a:off x="1005840" y="3246120"/>
            <a:ext cx="3931920" cy="320040"/>
          </a:xfrm>
          <a:prstGeom prst="rect">
            <a:avLst/>
          </a:prstGeom>
          <a:noFill/>
          <a:ln/>
        </p:spPr>
        <p:txBody>
          <a:bodyPr wrap="square" lIns="0" tIns="0" rIns="0" bIns="0"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Skrining senyawa, termasuk virtual screening</a:t>
            </a:r>
            <a:endParaRPr lang="en-US" sz="1100" dirty="0"/>
          </a:p>
        </p:txBody>
      </p:sp>
      <p:sp>
        <p:nvSpPr>
          <p:cNvPr id="13" name="Shape 11"/>
          <p:cNvSpPr/>
          <p:nvPr/>
        </p:nvSpPr>
        <p:spPr>
          <a:xfrm>
            <a:off x="2971800" y="3657600"/>
            <a:ext cx="0" cy="182880"/>
          </a:xfrm>
          <a:prstGeom prst="line">
            <a:avLst/>
          </a:prstGeom>
          <a:noFill/>
          <a:ln w="15875">
            <a:solidFill>
              <a:srgbClr val="5B6480"/>
            </a:solidFill>
            <a:prstDash val="solid"/>
            <a:tailEnd type="triangle"/>
          </a:ln>
        </p:spPr>
        <p:txBody>
          <a:bodyPr/>
          <a:p/>
        </p:txBody>
      </p:sp>
      <p:sp>
        <p:nvSpPr>
          <p:cNvPr id="14" name="Shape 12"/>
          <p:cNvSpPr/>
          <p:nvPr/>
        </p:nvSpPr>
        <p:spPr>
          <a:xfrm>
            <a:off x="1280160" y="3840480"/>
            <a:ext cx="3383280" cy="868680"/>
          </a:xfrm>
          <a:prstGeom prst="roundRect">
            <a:avLst>
              <a:gd name="adj" fmla="val 12632"/>
            </a:avLst>
          </a:prstGeom>
          <a:solidFill>
            <a:srgbClr val="E8EDFC"/>
          </a:solidFill>
          <a:ln w="12700">
            <a:solidFill>
              <a:srgbClr val="E8EDFC"/>
            </a:solidFill>
            <a:prstDash val="solid"/>
          </a:ln>
        </p:spPr>
        <p:txBody>
          <a:bodyPr/>
          <a:p/>
        </p:txBody>
      </p:sp>
      <p:sp>
        <p:nvSpPr>
          <p:cNvPr id="15" name="Text 13"/>
          <p:cNvSpPr txBox="1"/>
          <p:nvPr/>
        </p:nvSpPr>
        <p:spPr>
          <a:xfrm>
            <a:off x="1280160" y="3931920"/>
            <a:ext cx="3383280" cy="365760"/>
          </a:xfrm>
          <a:prstGeom prst="rect">
            <a:avLst/>
          </a:prstGeom>
          <a:noFill/>
          <a:ln/>
        </p:spPr>
        <p:txBody>
          <a:bodyPr wrap="square" lIns="0" tIns="0" rIns="0" bIns="0" rtlCol="0" anchor="t"/>
          <a:lstStyle/>
          <a:p>
            <a:pPr marL="0" indent="0" algn="ctr">
              <a:buNone/>
            </a:pPr>
            <a:r>
              <a:rPr lang="en-US" sz="1800" b="1" dirty="0">
                <a:solidFill>
                  <a:srgbClr val="1B2140"/>
                </a:solidFill>
                <a:latin typeface="Cambria" pitchFamily="34" charset="0"/>
                <a:ea typeface="Cambria" pitchFamily="34" charset="-122"/>
                <a:cs typeface="Cambria" pitchFamily="34" charset="-120"/>
              </a:rPr>
              <a:t>Lead</a:t>
            </a:r>
            <a:endParaRPr lang="en-US" sz="1800" dirty="0"/>
          </a:p>
        </p:txBody>
      </p:sp>
      <p:sp>
        <p:nvSpPr>
          <p:cNvPr id="16" name="Text 14"/>
          <p:cNvSpPr txBox="1"/>
          <p:nvPr/>
        </p:nvSpPr>
        <p:spPr>
          <a:xfrm>
            <a:off x="1371600" y="4297680"/>
            <a:ext cx="3200400" cy="320040"/>
          </a:xfrm>
          <a:prstGeom prst="rect">
            <a:avLst/>
          </a:prstGeom>
          <a:noFill/>
          <a:ln/>
        </p:spPr>
        <p:txBody>
          <a:bodyPr wrap="square" lIns="0" tIns="0" rIns="0" bIns="0" rtlCol="0" anchor="t"/>
          <a:lstStyle/>
          <a:p>
            <a:pPr marL="0" indent="0" algn="ctr">
              <a:buNone/>
            </a:pPr>
            <a:r>
              <a:rPr lang="en-US" sz="1100" dirty="0">
                <a:solidFill>
                  <a:srgbClr val="5B6480"/>
                </a:solidFill>
                <a:latin typeface="Calibri" pitchFamily="34" charset="0"/>
                <a:ea typeface="Calibri" pitchFamily="34" charset="-122"/>
                <a:cs typeface="Calibri" pitchFamily="34" charset="-120"/>
              </a:rPr>
              <a:t>Optimasi struktur dan sifat</a:t>
            </a:r>
            <a:endParaRPr lang="en-US" sz="1100" dirty="0"/>
          </a:p>
        </p:txBody>
      </p:sp>
      <p:sp>
        <p:nvSpPr>
          <p:cNvPr id="17" name="Shape 15"/>
          <p:cNvSpPr/>
          <p:nvPr/>
        </p:nvSpPr>
        <p:spPr>
          <a:xfrm>
            <a:off x="2971800" y="4709160"/>
            <a:ext cx="0" cy="182880"/>
          </a:xfrm>
          <a:prstGeom prst="line">
            <a:avLst/>
          </a:prstGeom>
          <a:noFill/>
          <a:ln w="15875">
            <a:solidFill>
              <a:srgbClr val="5B6480"/>
            </a:solidFill>
            <a:prstDash val="solid"/>
            <a:tailEnd type="triangle"/>
          </a:ln>
        </p:spPr>
        <p:txBody>
          <a:bodyPr/>
          <a:p/>
        </p:txBody>
      </p:sp>
      <p:sp>
        <p:nvSpPr>
          <p:cNvPr id="18" name="Shape 16"/>
          <p:cNvSpPr/>
          <p:nvPr/>
        </p:nvSpPr>
        <p:spPr>
          <a:xfrm>
            <a:off x="1645920" y="4892040"/>
            <a:ext cx="2651760" cy="868680"/>
          </a:xfrm>
          <a:prstGeom prst="roundRect">
            <a:avLst>
              <a:gd name="adj" fmla="val 12632"/>
            </a:avLst>
          </a:prstGeom>
          <a:solidFill>
            <a:srgbClr val="E8EDFC"/>
          </a:solidFill>
          <a:ln w="12700">
            <a:solidFill>
              <a:srgbClr val="E8EDFC"/>
            </a:solidFill>
            <a:prstDash val="solid"/>
          </a:ln>
        </p:spPr>
        <p:txBody>
          <a:bodyPr/>
          <a:p/>
        </p:txBody>
      </p:sp>
      <p:sp>
        <p:nvSpPr>
          <p:cNvPr id="19" name="Text 17"/>
          <p:cNvSpPr txBox="1"/>
          <p:nvPr/>
        </p:nvSpPr>
        <p:spPr>
          <a:xfrm>
            <a:off x="1645920" y="4983480"/>
            <a:ext cx="2651760" cy="365760"/>
          </a:xfrm>
          <a:prstGeom prst="rect">
            <a:avLst/>
          </a:prstGeom>
          <a:noFill/>
          <a:ln/>
        </p:spPr>
        <p:txBody>
          <a:bodyPr wrap="square" lIns="0" tIns="0" rIns="0" bIns="0" rtlCol="0" anchor="t"/>
          <a:lstStyle/>
          <a:p>
            <a:pPr marL="0" indent="0" algn="ctr">
              <a:buNone/>
            </a:pPr>
            <a:r>
              <a:rPr lang="en-US" sz="1800" b="1" dirty="0">
                <a:solidFill>
                  <a:srgbClr val="1B2140"/>
                </a:solidFill>
                <a:latin typeface="Cambria" pitchFamily="34" charset="0"/>
                <a:ea typeface="Cambria" pitchFamily="34" charset="-122"/>
                <a:cs typeface="Cambria" pitchFamily="34" charset="-120"/>
              </a:rPr>
              <a:t>Praklinik</a:t>
            </a:r>
            <a:endParaRPr lang="en-US" sz="1800" dirty="0"/>
          </a:p>
        </p:txBody>
      </p:sp>
      <p:sp>
        <p:nvSpPr>
          <p:cNvPr id="20" name="Text 18"/>
          <p:cNvSpPr txBox="1"/>
          <p:nvPr/>
        </p:nvSpPr>
        <p:spPr>
          <a:xfrm>
            <a:off x="1737360" y="5349240"/>
            <a:ext cx="2468880" cy="320040"/>
          </a:xfrm>
          <a:prstGeom prst="rect">
            <a:avLst/>
          </a:prstGeom>
          <a:noFill/>
          <a:ln/>
        </p:spPr>
        <p:txBody>
          <a:bodyPr wrap="square" lIns="0" tIns="0" rIns="0" bIns="0" rtlCol="0" anchor="t"/>
          <a:lstStyle/>
          <a:p>
            <a:pPr marL="0" indent="0" algn="ctr">
              <a:buNone/>
            </a:pPr>
            <a:r>
              <a:rPr lang="en-US" sz="1100" dirty="0">
                <a:solidFill>
                  <a:srgbClr val="5B6480"/>
                </a:solidFill>
                <a:latin typeface="Calibri" pitchFamily="34" charset="0"/>
                <a:ea typeface="Calibri" pitchFamily="34" charset="-122"/>
                <a:cs typeface="Calibri" pitchFamily="34" charset="-120"/>
              </a:rPr>
              <a:t>Uji laboratorium dan hewan</a:t>
            </a:r>
            <a:endParaRPr lang="en-US" sz="1100" dirty="0"/>
          </a:p>
        </p:txBody>
      </p:sp>
      <p:sp>
        <p:nvSpPr>
          <p:cNvPr id="21" name="Text 19"/>
          <p:cNvSpPr txBox="1"/>
          <p:nvPr/>
        </p:nvSpPr>
        <p:spPr>
          <a:xfrm>
            <a:off x="685800" y="5989320"/>
            <a:ext cx="4572000" cy="274320"/>
          </a:xfrm>
          <a:prstGeom prst="roundRect">
            <a:avLst>
              <a:gd name="adj" fmla="val 46667"/>
            </a:avLst>
          </a:prstGeom>
          <a:solidFill>
            <a:srgbClr val="EDE7FC"/>
          </a:solidFill>
          <a:ln/>
        </p:spPr>
        <p:txBody>
          <a:bodyPr wrap="square" lIns="0" tIns="0" rIns="0" bIns="0" rtlCol="0" anchor="ctr"/>
          <a:lstStyle/>
          <a:p>
            <a:pPr marL="0" indent="0" algn="ctr">
              <a:buNone/>
            </a:pPr>
            <a:r>
              <a:rPr lang="en-US" sz="1100" b="1" dirty="0">
                <a:solidFill>
                  <a:srgbClr val="8E70EB"/>
                </a:solidFill>
                <a:latin typeface="Calibri" pitchFamily="34" charset="0"/>
                <a:ea typeface="Calibri" pitchFamily="34" charset="-122"/>
                <a:cs typeface="Calibri" pitchFamily="34" charset="-120"/>
              </a:rPr>
              <a:t>Blok biru: tahap kerja chemflow (skrining virtual)</a:t>
            </a:r>
            <a:endParaRPr lang="en-US" sz="1100" dirty="0"/>
          </a:p>
        </p:txBody>
      </p:sp>
      <p:sp>
        <p:nvSpPr>
          <p:cNvPr id="22" name="Shape 20"/>
          <p:cNvSpPr/>
          <p:nvPr/>
        </p:nvSpPr>
        <p:spPr>
          <a:xfrm>
            <a:off x="5989320" y="1737360"/>
            <a:ext cx="2724912" cy="2103120"/>
          </a:xfrm>
          <a:prstGeom prst="roundRect">
            <a:avLst>
              <a:gd name="adj" fmla="val 5217"/>
            </a:avLst>
          </a:prstGeom>
          <a:solidFill>
            <a:srgbClr val="E8EDFC"/>
          </a:solidFill>
          <a:ln w="9525">
            <a:solidFill>
              <a:srgbClr val="E8EDFC"/>
            </a:solidFill>
            <a:prstDash val="solid"/>
          </a:ln>
        </p:spPr>
        <p:txBody>
          <a:bodyPr/>
          <a:p/>
        </p:txBody>
      </p:sp>
      <p:sp>
        <p:nvSpPr>
          <p:cNvPr id="23" name="Shape 21"/>
          <p:cNvSpPr/>
          <p:nvPr/>
        </p:nvSpPr>
        <p:spPr>
          <a:xfrm>
            <a:off x="6172200" y="1920240"/>
            <a:ext cx="502920" cy="502920"/>
          </a:xfrm>
          <a:prstGeom prst="ellipse">
            <a:avLst/>
          </a:prstGeom>
          <a:solidFill>
            <a:srgbClr val="3C71E8"/>
          </a:solidFill>
          <a:ln w="12700">
            <a:solidFill>
              <a:srgbClr val="3C71E8"/>
            </a:solidFill>
            <a:prstDash val="solid"/>
          </a:ln>
        </p:spPr>
        <p:txBody>
          <a:bodyPr/>
          <a:p/>
        </p:txBody>
      </p:sp>
      <p:pic>
        <p:nvPicPr>
          <p:cNvPr id="24" name="Image 0" descr="Cube"/>
          <p:cNvPicPr>
            <a:picLocks noChangeAspect="1"/>
          </p:cNvPicPr>
          <p:nvPr/>
        </p:nvPicPr>
        <p:blipFill>
          <a:blip r:embed="rId3"/>
          <a:stretch>
            <a:fillRect/>
          </a:stretch>
        </p:blipFill>
        <p:spPr>
          <a:xfrm>
            <a:off x="6297930" y="2045970"/>
            <a:ext cx="251460" cy="251460"/>
          </a:xfrm>
          <a:prstGeom prst="rect">
            <a:avLst/>
          </a:prstGeom>
        </p:spPr>
      </p:pic>
      <p:sp>
        <p:nvSpPr>
          <p:cNvPr id="25" name="Text 22"/>
          <p:cNvSpPr txBox="1"/>
          <p:nvPr/>
        </p:nvSpPr>
        <p:spPr>
          <a:xfrm>
            <a:off x="6172200" y="2542032"/>
            <a:ext cx="2377440" cy="292608"/>
          </a:xfrm>
          <a:prstGeom prst="rect">
            <a:avLst/>
          </a:prstGeom>
          <a:noFill/>
          <a:ln/>
        </p:spPr>
        <p:txBody>
          <a:bodyPr wrap="square" lIns="0" tIns="0" rIns="0" bIns="0" rtlCol="0" anchor="t"/>
          <a:lstStyle/>
          <a:p>
            <a:pPr marL="0" indent="0">
              <a:buNone/>
            </a:pPr>
            <a:r>
              <a:rPr lang="en-US" sz="1500" b="1" dirty="0">
                <a:solidFill>
                  <a:srgbClr val="1B2140"/>
                </a:solidFill>
                <a:latin typeface="Calibri" pitchFamily="34" charset="0"/>
                <a:ea typeface="Calibri" pitchFamily="34" charset="-122"/>
                <a:cs typeface="Calibri" pitchFamily="34" charset="-120"/>
              </a:rPr>
              <a:t>Docking</a:t>
            </a:r>
            <a:endParaRPr lang="en-US" sz="1500" dirty="0"/>
          </a:p>
        </p:txBody>
      </p:sp>
      <p:sp>
        <p:nvSpPr>
          <p:cNvPr id="26" name="Text 23"/>
          <p:cNvSpPr txBox="1"/>
          <p:nvPr/>
        </p:nvSpPr>
        <p:spPr>
          <a:xfrm>
            <a:off x="6172200" y="2852928"/>
            <a:ext cx="2377440" cy="640080"/>
          </a:xfrm>
          <a:prstGeom prst="rect">
            <a:avLst/>
          </a:prstGeom>
          <a:noFill/>
          <a:ln/>
        </p:spPr>
        <p:txBody>
          <a:bodyPr wrap="square" lIns="0" tIns="0" rIns="0" bIns="0" rtlCol="0" anchor="t"/>
          <a:lstStyle/>
          <a:p>
            <a:pPr marL="0" indent="0">
              <a:buNone/>
            </a:pPr>
            <a:r>
              <a:rPr lang="en-US" sz="1150" dirty="0">
                <a:solidFill>
                  <a:srgbClr val="5B6480"/>
                </a:solidFill>
                <a:latin typeface="Calibri" pitchFamily="34" charset="0"/>
                <a:ea typeface="Calibri" pitchFamily="34" charset="-122"/>
                <a:cs typeface="Calibri" pitchFamily="34" charset="-120"/>
              </a:rPr>
              <a:t>Memprediksi pose dan skor ikatan ligan pada protein.</a:t>
            </a:r>
            <a:endParaRPr lang="en-US" sz="1150" dirty="0"/>
          </a:p>
        </p:txBody>
      </p:sp>
      <p:sp>
        <p:nvSpPr>
          <p:cNvPr id="27" name="Text 24"/>
          <p:cNvSpPr txBox="1"/>
          <p:nvPr/>
        </p:nvSpPr>
        <p:spPr>
          <a:xfrm>
            <a:off x="6172200" y="3474720"/>
            <a:ext cx="1175004" cy="237744"/>
          </a:xfrm>
          <a:prstGeom prst="roundRect">
            <a:avLst>
              <a:gd name="adj" fmla="val 53846"/>
            </a:avLst>
          </a:prstGeom>
          <a:solidFill>
            <a:srgbClr val="FFFFFF"/>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di chemflow</a:t>
            </a:r>
            <a:endParaRPr lang="en-US" sz="1000" dirty="0"/>
          </a:p>
        </p:txBody>
      </p:sp>
      <p:sp>
        <p:nvSpPr>
          <p:cNvPr id="28" name="Shape 25"/>
          <p:cNvSpPr/>
          <p:nvPr/>
        </p:nvSpPr>
        <p:spPr>
          <a:xfrm>
            <a:off x="8851392" y="1737360"/>
            <a:ext cx="2724912" cy="2103120"/>
          </a:xfrm>
          <a:prstGeom prst="roundRect">
            <a:avLst>
              <a:gd name="adj" fmla="val 5217"/>
            </a:avLst>
          </a:prstGeom>
          <a:solidFill>
            <a:srgbClr val="E8EDFC"/>
          </a:solidFill>
          <a:ln w="9525">
            <a:solidFill>
              <a:srgbClr val="E8EDFC"/>
            </a:solidFill>
            <a:prstDash val="solid"/>
          </a:ln>
        </p:spPr>
        <p:txBody>
          <a:bodyPr/>
          <a:p/>
        </p:txBody>
      </p:sp>
      <p:sp>
        <p:nvSpPr>
          <p:cNvPr id="29" name="Shape 26"/>
          <p:cNvSpPr/>
          <p:nvPr/>
        </p:nvSpPr>
        <p:spPr>
          <a:xfrm>
            <a:off x="9034272" y="1920240"/>
            <a:ext cx="502920" cy="502920"/>
          </a:xfrm>
          <a:prstGeom prst="ellipse">
            <a:avLst/>
          </a:prstGeom>
          <a:solidFill>
            <a:srgbClr val="3C71E8"/>
          </a:solidFill>
          <a:ln w="12700">
            <a:solidFill>
              <a:srgbClr val="3C71E8"/>
            </a:solidFill>
            <a:prstDash val="solid"/>
          </a:ln>
        </p:spPr>
        <p:txBody>
          <a:bodyPr/>
          <a:p/>
        </p:txBody>
      </p:sp>
      <p:pic>
        <p:nvPicPr>
          <p:cNvPr id="30" name="Image 1" descr="Pills"/>
          <p:cNvPicPr>
            <a:picLocks noChangeAspect="1"/>
          </p:cNvPicPr>
          <p:nvPr/>
        </p:nvPicPr>
        <p:blipFill>
          <a:blip r:embed="rId4"/>
          <a:stretch>
            <a:fillRect/>
          </a:stretch>
        </p:blipFill>
        <p:spPr>
          <a:xfrm>
            <a:off x="9160002" y="2045970"/>
            <a:ext cx="251460" cy="251460"/>
          </a:xfrm>
          <a:prstGeom prst="rect">
            <a:avLst/>
          </a:prstGeom>
        </p:spPr>
      </p:pic>
      <p:sp>
        <p:nvSpPr>
          <p:cNvPr id="31" name="Text 27"/>
          <p:cNvSpPr txBox="1"/>
          <p:nvPr/>
        </p:nvSpPr>
        <p:spPr>
          <a:xfrm>
            <a:off x="9034272" y="2542032"/>
            <a:ext cx="2377440" cy="292608"/>
          </a:xfrm>
          <a:prstGeom prst="rect">
            <a:avLst/>
          </a:prstGeom>
          <a:noFill/>
          <a:ln/>
        </p:spPr>
        <p:txBody>
          <a:bodyPr wrap="square" lIns="0" tIns="0" rIns="0" bIns="0" rtlCol="0" anchor="t"/>
          <a:lstStyle/>
          <a:p>
            <a:pPr marL="0" indent="0">
              <a:buNone/>
            </a:pPr>
            <a:r>
              <a:rPr lang="en-US" sz="1500" b="1" dirty="0">
                <a:solidFill>
                  <a:srgbClr val="1B2140"/>
                </a:solidFill>
                <a:latin typeface="Calibri" pitchFamily="34" charset="0"/>
                <a:ea typeface="Calibri" pitchFamily="34" charset="-122"/>
                <a:cs typeface="Calibri" pitchFamily="34" charset="-120"/>
              </a:rPr>
              <a:t>ADMET</a:t>
            </a:r>
            <a:endParaRPr lang="en-US" sz="1500" dirty="0"/>
          </a:p>
        </p:txBody>
      </p:sp>
      <p:sp>
        <p:nvSpPr>
          <p:cNvPr id="32" name="Text 28"/>
          <p:cNvSpPr txBox="1"/>
          <p:nvPr/>
        </p:nvSpPr>
        <p:spPr>
          <a:xfrm>
            <a:off x="9034272" y="2852928"/>
            <a:ext cx="2377440" cy="640080"/>
          </a:xfrm>
          <a:prstGeom prst="rect">
            <a:avLst/>
          </a:prstGeom>
          <a:noFill/>
          <a:ln/>
        </p:spPr>
        <p:txBody>
          <a:bodyPr wrap="square" lIns="0" tIns="0" rIns="0" bIns="0" rtlCol="0" anchor="t"/>
          <a:lstStyle/>
          <a:p>
            <a:pPr marL="0" indent="0">
              <a:buNone/>
            </a:pPr>
            <a:r>
              <a:rPr lang="en-US" sz="1150" dirty="0">
                <a:solidFill>
                  <a:srgbClr val="5B6480"/>
                </a:solidFill>
                <a:latin typeface="Calibri" pitchFamily="34" charset="0"/>
                <a:ea typeface="Calibri" pitchFamily="34" charset="-122"/>
                <a:cs typeface="Calibri" pitchFamily="34" charset="-120"/>
              </a:rPr>
              <a:t>Memprediksi penyerapan, distribusi, metabolisme, ekskresi, toksisitas.</a:t>
            </a:r>
            <a:endParaRPr lang="en-US" sz="1150" dirty="0"/>
          </a:p>
        </p:txBody>
      </p:sp>
      <p:sp>
        <p:nvSpPr>
          <p:cNvPr id="33" name="Text 29"/>
          <p:cNvSpPr txBox="1"/>
          <p:nvPr/>
        </p:nvSpPr>
        <p:spPr>
          <a:xfrm>
            <a:off x="9034272" y="3474720"/>
            <a:ext cx="1175004" cy="237744"/>
          </a:xfrm>
          <a:prstGeom prst="roundRect">
            <a:avLst>
              <a:gd name="adj" fmla="val 53846"/>
            </a:avLst>
          </a:prstGeom>
          <a:solidFill>
            <a:srgbClr val="FFFFFF"/>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di chemflow</a:t>
            </a:r>
            <a:endParaRPr lang="en-US" sz="1000" dirty="0"/>
          </a:p>
        </p:txBody>
      </p:sp>
      <p:sp>
        <p:nvSpPr>
          <p:cNvPr id="34" name="Shape 30"/>
          <p:cNvSpPr/>
          <p:nvPr/>
        </p:nvSpPr>
        <p:spPr>
          <a:xfrm>
            <a:off x="5989320" y="3977640"/>
            <a:ext cx="2724912" cy="2103120"/>
          </a:xfrm>
          <a:prstGeom prst="roundRect">
            <a:avLst>
              <a:gd name="adj" fmla="val 5217"/>
            </a:avLst>
          </a:prstGeom>
          <a:solidFill>
            <a:srgbClr val="E8EDFC"/>
          </a:solidFill>
          <a:ln w="9525">
            <a:solidFill>
              <a:srgbClr val="E8EDFC"/>
            </a:solidFill>
            <a:prstDash val="solid"/>
          </a:ln>
        </p:spPr>
        <p:txBody>
          <a:bodyPr/>
          <a:p/>
        </p:txBody>
      </p:sp>
      <p:sp>
        <p:nvSpPr>
          <p:cNvPr id="35" name="Shape 31"/>
          <p:cNvSpPr/>
          <p:nvPr/>
        </p:nvSpPr>
        <p:spPr>
          <a:xfrm>
            <a:off x="6172200" y="4160520"/>
            <a:ext cx="502920" cy="502920"/>
          </a:xfrm>
          <a:prstGeom prst="ellipse">
            <a:avLst/>
          </a:prstGeom>
          <a:solidFill>
            <a:srgbClr val="8E70EB"/>
          </a:solidFill>
          <a:ln w="12700">
            <a:solidFill>
              <a:srgbClr val="8E70EB"/>
            </a:solidFill>
            <a:prstDash val="solid"/>
          </a:ln>
        </p:spPr>
        <p:txBody>
          <a:bodyPr/>
          <a:p/>
        </p:txBody>
      </p:sp>
      <p:pic>
        <p:nvPicPr>
          <p:cNvPr id="36" name="Image 2" descr="ChartBar"/>
          <p:cNvPicPr>
            <a:picLocks noChangeAspect="1"/>
          </p:cNvPicPr>
          <p:nvPr/>
        </p:nvPicPr>
        <p:blipFill>
          <a:blip r:embed="rId5"/>
          <a:stretch>
            <a:fillRect/>
          </a:stretch>
        </p:blipFill>
        <p:spPr>
          <a:xfrm>
            <a:off x="6297930" y="4286250"/>
            <a:ext cx="251460" cy="251460"/>
          </a:xfrm>
          <a:prstGeom prst="rect">
            <a:avLst/>
          </a:prstGeom>
        </p:spPr>
      </p:pic>
      <p:sp>
        <p:nvSpPr>
          <p:cNvPr id="37" name="Text 32"/>
          <p:cNvSpPr txBox="1"/>
          <p:nvPr/>
        </p:nvSpPr>
        <p:spPr>
          <a:xfrm>
            <a:off x="6172200" y="4782312"/>
            <a:ext cx="2377440" cy="292608"/>
          </a:xfrm>
          <a:prstGeom prst="rect">
            <a:avLst/>
          </a:prstGeom>
          <a:noFill/>
          <a:ln/>
        </p:spPr>
        <p:txBody>
          <a:bodyPr wrap="square" lIns="0" tIns="0" rIns="0" bIns="0" rtlCol="0" anchor="t"/>
          <a:lstStyle/>
          <a:p>
            <a:pPr marL="0" indent="0">
              <a:buNone/>
            </a:pPr>
            <a:r>
              <a:rPr lang="en-US" sz="1500" b="1" dirty="0">
                <a:solidFill>
                  <a:srgbClr val="1B2140"/>
                </a:solidFill>
                <a:latin typeface="Calibri" pitchFamily="34" charset="0"/>
                <a:ea typeface="Calibri" pitchFamily="34" charset="-122"/>
                <a:cs typeface="Calibri" pitchFamily="34" charset="-120"/>
              </a:rPr>
              <a:t>Kemometrik dan QSAR</a:t>
            </a:r>
            <a:endParaRPr lang="en-US" sz="1500" dirty="0"/>
          </a:p>
        </p:txBody>
      </p:sp>
      <p:sp>
        <p:nvSpPr>
          <p:cNvPr id="38" name="Text 33"/>
          <p:cNvSpPr txBox="1"/>
          <p:nvPr/>
        </p:nvSpPr>
        <p:spPr>
          <a:xfrm>
            <a:off x="6172200" y="5093208"/>
            <a:ext cx="2377440" cy="640080"/>
          </a:xfrm>
          <a:prstGeom prst="rect">
            <a:avLst/>
          </a:prstGeom>
          <a:noFill/>
          <a:ln/>
        </p:spPr>
        <p:txBody>
          <a:bodyPr wrap="square" lIns="0" tIns="0" rIns="0" bIns="0" rtlCol="0" anchor="t"/>
          <a:lstStyle/>
          <a:p>
            <a:pPr marL="0" indent="0">
              <a:buNone/>
            </a:pPr>
            <a:r>
              <a:rPr lang="en-US" sz="1150" dirty="0">
                <a:solidFill>
                  <a:srgbClr val="5B6480"/>
                </a:solidFill>
                <a:latin typeface="Calibri" pitchFamily="34" charset="0"/>
                <a:ea typeface="Calibri" pitchFamily="34" charset="-122"/>
                <a:cs typeface="Calibri" pitchFamily="34" charset="-120"/>
              </a:rPr>
              <a:t>PCA, HCA, dan PLS-DA (GC-MS); QSAR menghubungkan struktur dan aktivitas.</a:t>
            </a:r>
            <a:endParaRPr lang="en-US" sz="1150" dirty="0"/>
          </a:p>
        </p:txBody>
      </p:sp>
      <p:sp>
        <p:nvSpPr>
          <p:cNvPr id="39" name="Text 34"/>
          <p:cNvSpPr txBox="1"/>
          <p:nvPr/>
        </p:nvSpPr>
        <p:spPr>
          <a:xfrm>
            <a:off x="6172200" y="5715000"/>
            <a:ext cx="1563624" cy="237744"/>
          </a:xfrm>
          <a:prstGeom prst="roundRect">
            <a:avLst>
              <a:gd name="adj" fmla="val 53846"/>
            </a:avLst>
          </a:prstGeom>
          <a:solidFill>
            <a:srgbClr val="FFFFFF"/>
          </a:solidFill>
          <a:ln/>
        </p:spPr>
        <p:txBody>
          <a:bodyPr wrap="square" lIns="0" tIns="0" rIns="0" bIns="0" rtlCol="0" anchor="ctr"/>
          <a:lstStyle/>
          <a:p>
            <a:pPr marL="0" indent="0" algn="ctr">
              <a:buNone/>
            </a:pPr>
            <a:r>
              <a:rPr lang="en-US" sz="1000" b="1" dirty="0">
                <a:solidFill>
                  <a:srgbClr val="8E70EB"/>
                </a:solidFill>
                <a:latin typeface="Calibri" pitchFamily="34" charset="0"/>
                <a:ea typeface="Calibri" pitchFamily="34" charset="-122"/>
                <a:cs typeface="Calibri" pitchFamily="34" charset="-120"/>
              </a:rPr>
              <a:t>tanpa QSAR</a:t>
            </a:r>
            <a:endParaRPr lang="en-US" sz="1000" dirty="0"/>
          </a:p>
        </p:txBody>
      </p:sp>
      <p:sp>
        <p:nvSpPr>
          <p:cNvPr id="40" name="Shape 35"/>
          <p:cNvSpPr/>
          <p:nvPr/>
        </p:nvSpPr>
        <p:spPr>
          <a:xfrm>
            <a:off x="8851392" y="3977640"/>
            <a:ext cx="2724912" cy="2103120"/>
          </a:xfrm>
          <a:prstGeom prst="roundRect">
            <a:avLst>
              <a:gd name="adj" fmla="val 5217"/>
            </a:avLst>
          </a:prstGeom>
          <a:solidFill>
            <a:srgbClr val="E8EDFC"/>
          </a:solidFill>
          <a:ln w="9525">
            <a:solidFill>
              <a:srgbClr val="E8EDFC"/>
            </a:solidFill>
            <a:prstDash val="solid"/>
          </a:ln>
        </p:spPr>
        <p:txBody>
          <a:bodyPr/>
          <a:p/>
        </p:txBody>
      </p:sp>
      <p:sp>
        <p:nvSpPr>
          <p:cNvPr id="41" name="Shape 36"/>
          <p:cNvSpPr/>
          <p:nvPr/>
        </p:nvSpPr>
        <p:spPr>
          <a:xfrm>
            <a:off x="9034272" y="4160520"/>
            <a:ext cx="502920" cy="502920"/>
          </a:xfrm>
          <a:prstGeom prst="ellipse">
            <a:avLst/>
          </a:prstGeom>
          <a:solidFill>
            <a:srgbClr val="5B6480"/>
          </a:solidFill>
          <a:ln w="12700">
            <a:solidFill>
              <a:srgbClr val="5B6480"/>
            </a:solidFill>
            <a:prstDash val="solid"/>
          </a:ln>
        </p:spPr>
        <p:txBody>
          <a:bodyPr/>
          <a:p/>
        </p:txBody>
      </p:sp>
      <p:pic>
        <p:nvPicPr>
          <p:cNvPr id="42" name="Image 3" descr="Dna"/>
          <p:cNvPicPr>
            <a:picLocks noChangeAspect="1"/>
          </p:cNvPicPr>
          <p:nvPr/>
        </p:nvPicPr>
        <p:blipFill>
          <a:blip r:embed="rId6"/>
          <a:stretch>
            <a:fillRect/>
          </a:stretch>
        </p:blipFill>
        <p:spPr>
          <a:xfrm>
            <a:off x="9160002" y="4286250"/>
            <a:ext cx="251460" cy="251460"/>
          </a:xfrm>
          <a:prstGeom prst="rect">
            <a:avLst/>
          </a:prstGeom>
        </p:spPr>
      </p:pic>
      <p:sp>
        <p:nvSpPr>
          <p:cNvPr id="43" name="Text 37"/>
          <p:cNvSpPr txBox="1"/>
          <p:nvPr/>
        </p:nvSpPr>
        <p:spPr>
          <a:xfrm>
            <a:off x="9034272" y="4782312"/>
            <a:ext cx="2377440" cy="292608"/>
          </a:xfrm>
          <a:prstGeom prst="rect">
            <a:avLst/>
          </a:prstGeom>
          <a:noFill/>
          <a:ln/>
        </p:spPr>
        <p:txBody>
          <a:bodyPr wrap="square" lIns="0" tIns="0" rIns="0" bIns="0" rtlCol="0" anchor="t"/>
          <a:lstStyle/>
          <a:p>
            <a:pPr marL="0" indent="0">
              <a:buNone/>
            </a:pPr>
            <a:r>
              <a:rPr lang="en-US" sz="1500" b="1" dirty="0">
                <a:solidFill>
                  <a:srgbClr val="1B2140"/>
                </a:solidFill>
                <a:latin typeface="Calibri" pitchFamily="34" charset="0"/>
                <a:ea typeface="Calibri" pitchFamily="34" charset="-122"/>
                <a:cs typeface="Calibri" pitchFamily="34" charset="-120"/>
              </a:rPr>
              <a:t>Dinamika molekul</a:t>
            </a:r>
            <a:endParaRPr lang="en-US" sz="1500" dirty="0"/>
          </a:p>
        </p:txBody>
      </p:sp>
      <p:sp>
        <p:nvSpPr>
          <p:cNvPr id="44" name="Text 38"/>
          <p:cNvSpPr txBox="1"/>
          <p:nvPr/>
        </p:nvSpPr>
        <p:spPr>
          <a:xfrm>
            <a:off x="9034272" y="5093208"/>
            <a:ext cx="2377440" cy="640080"/>
          </a:xfrm>
          <a:prstGeom prst="rect">
            <a:avLst/>
          </a:prstGeom>
          <a:noFill/>
          <a:ln/>
        </p:spPr>
        <p:txBody>
          <a:bodyPr wrap="square" lIns="0" tIns="0" rIns="0" bIns="0" rtlCol="0" anchor="t"/>
          <a:lstStyle/>
          <a:p>
            <a:pPr marL="0" indent="0">
              <a:buNone/>
            </a:pPr>
            <a:r>
              <a:rPr lang="en-US" sz="1150" dirty="0">
                <a:solidFill>
                  <a:srgbClr val="5B6480"/>
                </a:solidFill>
                <a:latin typeface="Calibri" pitchFamily="34" charset="0"/>
                <a:ea typeface="Calibri" pitchFamily="34" charset="-122"/>
                <a:cs typeface="Calibri" pitchFamily="34" charset="-120"/>
              </a:rPr>
              <a:t>Menguji kestabilan kompleks dari waktu ke waktu.</a:t>
            </a:r>
            <a:endParaRPr lang="en-US" sz="1150" dirty="0"/>
          </a:p>
        </p:txBody>
      </p:sp>
      <p:sp>
        <p:nvSpPr>
          <p:cNvPr id="45" name="Text 39"/>
          <p:cNvSpPr txBox="1"/>
          <p:nvPr/>
        </p:nvSpPr>
        <p:spPr>
          <a:xfrm>
            <a:off x="9034272" y="5715000"/>
            <a:ext cx="1485900" cy="237744"/>
          </a:xfrm>
          <a:prstGeom prst="roundRect">
            <a:avLst>
              <a:gd name="adj" fmla="val 53846"/>
            </a:avLst>
          </a:prstGeom>
          <a:solidFill>
            <a:srgbClr val="FFFFFF"/>
          </a:solidFill>
          <a:ln/>
        </p:spPr>
        <p:txBody>
          <a:bodyPr wrap="square" lIns="0" tIns="0" rIns="0" bIns="0" rtlCol="0" anchor="ctr"/>
          <a:lstStyle/>
          <a:p>
            <a:pPr marL="0" indent="0" algn="ctr">
              <a:buNone/>
            </a:pPr>
            <a:r>
              <a:rPr lang="en-US" sz="1000" b="1" dirty="0">
                <a:solidFill>
                  <a:srgbClr val="5B6480"/>
                </a:solidFill>
                <a:latin typeface="Calibri" pitchFamily="34" charset="0"/>
                <a:ea typeface="Calibri" pitchFamily="34" charset="-122"/>
                <a:cs typeface="Calibri" pitchFamily="34" charset="-120"/>
              </a:rPr>
              <a:t>di luar cakupan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75004"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A · PEMBUKA</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Alur manual terpecah di banyak alat; chemflow menyatukannya</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4</a:t>
            </a:r>
            <a:endParaRPr lang="en-US" sz="1000" dirty="0"/>
          </a:p>
        </p:txBody>
      </p:sp>
      <p:sp>
        <p:nvSpPr>
          <p:cNvPr id="6" name="Shape 4"/>
          <p:cNvSpPr/>
          <p:nvPr/>
        </p:nvSpPr>
        <p:spPr>
          <a:xfrm>
            <a:off x="548640" y="1691640"/>
            <a:ext cx="5394960" cy="4480560"/>
          </a:xfrm>
          <a:prstGeom prst="roundRect">
            <a:avLst>
              <a:gd name="adj" fmla="val 2449"/>
            </a:avLst>
          </a:prstGeom>
          <a:solidFill>
            <a:srgbClr val="F9E3D8"/>
          </a:solidFill>
          <a:ln w="9525">
            <a:solidFill>
              <a:srgbClr val="F9E3D8"/>
            </a:solidFill>
            <a:prstDash val="solid"/>
          </a:ln>
        </p:spPr>
        <p:txBody>
          <a:bodyPr/>
          <a:lstStyle/>
          <a:p>
            <a:endParaRPr/>
          </a:p>
        </p:txBody>
      </p:sp>
      <p:sp>
        <p:nvSpPr>
          <p:cNvPr id="7" name="Text 5"/>
          <p:cNvSpPr txBox="1"/>
          <p:nvPr/>
        </p:nvSpPr>
        <p:spPr>
          <a:xfrm>
            <a:off x="822960" y="1828800"/>
            <a:ext cx="4572000" cy="320040"/>
          </a:xfrm>
          <a:prstGeom prst="rect">
            <a:avLst/>
          </a:prstGeom>
          <a:noFill/>
          <a:ln/>
        </p:spPr>
        <p:txBody>
          <a:bodyPr wrap="square" lIns="0" tIns="0" rIns="0" bIns="0" rtlCol="0" anchor="t"/>
          <a:lstStyle/>
          <a:p>
            <a:pPr marL="0" indent="0">
              <a:buNone/>
            </a:pPr>
            <a:r>
              <a:rPr lang="en-US" sz="1800" b="1" dirty="0">
                <a:solidFill>
                  <a:srgbClr val="D55E00"/>
                </a:solidFill>
                <a:latin typeface="Calibri" pitchFamily="34" charset="0"/>
                <a:ea typeface="Calibri" pitchFamily="34" charset="-122"/>
                <a:cs typeface="Calibri" pitchFamily="34" charset="-120"/>
              </a:rPr>
              <a:t>Alur manual</a:t>
            </a:r>
            <a:endParaRPr lang="en-US" sz="1800" dirty="0"/>
          </a:p>
        </p:txBody>
      </p:sp>
      <p:sp>
        <p:nvSpPr>
          <p:cNvPr id="8" name="Shape 6"/>
          <p:cNvSpPr/>
          <p:nvPr/>
        </p:nvSpPr>
        <p:spPr>
          <a:xfrm>
            <a:off x="822960" y="2313432"/>
            <a:ext cx="310896" cy="310896"/>
          </a:xfrm>
          <a:prstGeom prst="ellipse">
            <a:avLst/>
          </a:prstGeom>
          <a:solidFill>
            <a:srgbClr val="D55E00"/>
          </a:solidFill>
          <a:ln w="12700">
            <a:solidFill>
              <a:srgbClr val="D55E00"/>
            </a:solidFill>
            <a:prstDash val="solid"/>
          </a:ln>
        </p:spPr>
        <p:txBody>
          <a:bodyPr/>
          <a:lstStyle/>
          <a:p>
            <a:endParaRPr/>
          </a:p>
        </p:txBody>
      </p:sp>
      <p:sp>
        <p:nvSpPr>
          <p:cNvPr id="9" name="Text 7"/>
          <p:cNvSpPr txBox="1"/>
          <p:nvPr/>
        </p:nvSpPr>
        <p:spPr>
          <a:xfrm>
            <a:off x="822960" y="2313432"/>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txBox="1"/>
          <p:nvPr/>
        </p:nvSpPr>
        <p:spPr>
          <a:xfrm>
            <a:off x="1280160" y="2286000"/>
            <a:ext cx="4480560" cy="365760"/>
          </a:xfrm>
          <a:prstGeom prst="rect">
            <a:avLst/>
          </a:prstGeom>
          <a:noFill/>
          <a:ln/>
        </p:spPr>
        <p:txBody>
          <a:bodyPr wrap="square" lIns="0" tIns="0" rIns="0" bIns="0" rtlCol="0" anchor="ctr"/>
          <a:lstStyle/>
          <a:p>
            <a:pPr marL="0" indent="0">
              <a:buNone/>
            </a:pPr>
            <a:r>
              <a:rPr lang="en-US" sz="1350" dirty="0">
                <a:solidFill>
                  <a:srgbClr val="1B2140"/>
                </a:solidFill>
                <a:latin typeface="Calibri" pitchFamily="34" charset="0"/>
                <a:ea typeface="Calibri" pitchFamily="34" charset="-122"/>
                <a:cs typeface="Calibri" pitchFamily="34" charset="-120"/>
              </a:rPr>
              <a:t>Cari SMILES di situs web</a:t>
            </a:r>
            <a:endParaRPr lang="en-US" sz="1350" dirty="0"/>
          </a:p>
        </p:txBody>
      </p:sp>
      <p:sp>
        <p:nvSpPr>
          <p:cNvPr id="11" name="Shape 9"/>
          <p:cNvSpPr/>
          <p:nvPr/>
        </p:nvSpPr>
        <p:spPr>
          <a:xfrm>
            <a:off x="822960" y="2770632"/>
            <a:ext cx="310896" cy="310896"/>
          </a:xfrm>
          <a:prstGeom prst="ellipse">
            <a:avLst/>
          </a:prstGeom>
          <a:solidFill>
            <a:srgbClr val="D55E00"/>
          </a:solidFill>
          <a:ln w="12700">
            <a:solidFill>
              <a:srgbClr val="D55E00"/>
            </a:solidFill>
            <a:prstDash val="solid"/>
          </a:ln>
        </p:spPr>
        <p:txBody>
          <a:bodyPr/>
          <a:lstStyle/>
          <a:p>
            <a:endParaRPr/>
          </a:p>
        </p:txBody>
      </p:sp>
      <p:sp>
        <p:nvSpPr>
          <p:cNvPr id="12" name="Text 10"/>
          <p:cNvSpPr txBox="1"/>
          <p:nvPr/>
        </p:nvSpPr>
        <p:spPr>
          <a:xfrm>
            <a:off x="822960" y="2770632"/>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txBox="1"/>
          <p:nvPr/>
        </p:nvSpPr>
        <p:spPr>
          <a:xfrm>
            <a:off x="1280160" y="2743200"/>
            <a:ext cx="4480560" cy="365760"/>
          </a:xfrm>
          <a:prstGeom prst="rect">
            <a:avLst/>
          </a:prstGeom>
          <a:noFill/>
          <a:ln/>
        </p:spPr>
        <p:txBody>
          <a:bodyPr wrap="square" lIns="0" tIns="0" rIns="0" bIns="0" rtlCol="0" anchor="ctr"/>
          <a:lstStyle/>
          <a:p>
            <a:pPr marL="0" indent="0">
              <a:buNone/>
            </a:pPr>
            <a:r>
              <a:rPr lang="en-US" sz="1350" dirty="0">
                <a:solidFill>
                  <a:srgbClr val="1B2140"/>
                </a:solidFill>
                <a:latin typeface="Calibri" pitchFamily="34" charset="0"/>
                <a:ea typeface="Calibri" pitchFamily="34" charset="-122"/>
                <a:cs typeface="Calibri" pitchFamily="34" charset="-120"/>
              </a:rPr>
              <a:t>Siapkan ligan: konversi format, minimisasi</a:t>
            </a:r>
            <a:endParaRPr lang="en-US" sz="1350" dirty="0"/>
          </a:p>
        </p:txBody>
      </p:sp>
      <p:sp>
        <p:nvSpPr>
          <p:cNvPr id="14" name="Shape 12"/>
          <p:cNvSpPr/>
          <p:nvPr/>
        </p:nvSpPr>
        <p:spPr>
          <a:xfrm>
            <a:off x="822960" y="3227832"/>
            <a:ext cx="310896" cy="310896"/>
          </a:xfrm>
          <a:prstGeom prst="ellipse">
            <a:avLst/>
          </a:prstGeom>
          <a:solidFill>
            <a:srgbClr val="D55E00"/>
          </a:solidFill>
          <a:ln w="12700">
            <a:solidFill>
              <a:srgbClr val="D55E00"/>
            </a:solidFill>
            <a:prstDash val="solid"/>
          </a:ln>
        </p:spPr>
        <p:txBody>
          <a:bodyPr/>
          <a:lstStyle/>
          <a:p>
            <a:endParaRPr/>
          </a:p>
        </p:txBody>
      </p:sp>
      <p:sp>
        <p:nvSpPr>
          <p:cNvPr id="15" name="Text 13"/>
          <p:cNvSpPr txBox="1"/>
          <p:nvPr/>
        </p:nvSpPr>
        <p:spPr>
          <a:xfrm>
            <a:off x="822960" y="3227832"/>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txBox="1"/>
          <p:nvPr/>
        </p:nvSpPr>
        <p:spPr>
          <a:xfrm>
            <a:off x="1280160" y="3200400"/>
            <a:ext cx="4480560" cy="365760"/>
          </a:xfrm>
          <a:prstGeom prst="rect">
            <a:avLst/>
          </a:prstGeom>
          <a:noFill/>
          <a:ln/>
        </p:spPr>
        <p:txBody>
          <a:bodyPr wrap="square" lIns="0" tIns="0" rIns="0" bIns="0" rtlCol="0" anchor="ctr"/>
          <a:lstStyle/>
          <a:p>
            <a:pPr marL="0" indent="0">
              <a:buNone/>
            </a:pPr>
            <a:r>
              <a:rPr lang="en-US" sz="1350" dirty="0">
                <a:solidFill>
                  <a:srgbClr val="1B2140"/>
                </a:solidFill>
                <a:latin typeface="Calibri" pitchFamily="34" charset="0"/>
                <a:ea typeface="Calibri" pitchFamily="34" charset="-122"/>
                <a:cs typeface="Calibri" pitchFamily="34" charset="-120"/>
              </a:rPr>
              <a:t>Siapkan protein: bersihkan, tambah H, muatan</a:t>
            </a:r>
            <a:endParaRPr lang="en-US" sz="1350" dirty="0"/>
          </a:p>
        </p:txBody>
      </p:sp>
      <p:sp>
        <p:nvSpPr>
          <p:cNvPr id="17" name="Shape 15"/>
          <p:cNvSpPr/>
          <p:nvPr/>
        </p:nvSpPr>
        <p:spPr>
          <a:xfrm>
            <a:off x="822960" y="3685032"/>
            <a:ext cx="310896" cy="310896"/>
          </a:xfrm>
          <a:prstGeom prst="ellipse">
            <a:avLst/>
          </a:prstGeom>
          <a:solidFill>
            <a:srgbClr val="D55E00"/>
          </a:solidFill>
          <a:ln w="12700">
            <a:solidFill>
              <a:srgbClr val="D55E00"/>
            </a:solidFill>
            <a:prstDash val="solid"/>
          </a:ln>
        </p:spPr>
        <p:txBody>
          <a:bodyPr/>
          <a:lstStyle/>
          <a:p>
            <a:endParaRPr/>
          </a:p>
        </p:txBody>
      </p:sp>
      <p:sp>
        <p:nvSpPr>
          <p:cNvPr id="18" name="Text 16"/>
          <p:cNvSpPr txBox="1"/>
          <p:nvPr/>
        </p:nvSpPr>
        <p:spPr>
          <a:xfrm>
            <a:off x="822960" y="3685032"/>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9" name="Text 17"/>
          <p:cNvSpPr txBox="1"/>
          <p:nvPr/>
        </p:nvSpPr>
        <p:spPr>
          <a:xfrm>
            <a:off x="1280160" y="3657600"/>
            <a:ext cx="4480560" cy="365760"/>
          </a:xfrm>
          <a:prstGeom prst="rect">
            <a:avLst/>
          </a:prstGeom>
          <a:noFill/>
          <a:ln/>
        </p:spPr>
        <p:txBody>
          <a:bodyPr wrap="square" lIns="0" tIns="0" rIns="0" bIns="0" rtlCol="0" anchor="ctr"/>
          <a:lstStyle/>
          <a:p>
            <a:pPr marL="0" indent="0">
              <a:buNone/>
            </a:pPr>
            <a:r>
              <a:rPr lang="en-US" sz="1350" dirty="0">
                <a:solidFill>
                  <a:srgbClr val="1B2140"/>
                </a:solidFill>
                <a:latin typeface="Calibri" pitchFamily="34" charset="0"/>
                <a:ea typeface="Calibri" pitchFamily="34" charset="-122"/>
                <a:cs typeface="Calibri" pitchFamily="34" charset="-120"/>
              </a:rPr>
              <a:t>Tentukan gridbox dengan tangan</a:t>
            </a:r>
            <a:endParaRPr lang="en-US" sz="1350" dirty="0"/>
          </a:p>
        </p:txBody>
      </p:sp>
      <p:sp>
        <p:nvSpPr>
          <p:cNvPr id="20" name="Shape 18"/>
          <p:cNvSpPr/>
          <p:nvPr/>
        </p:nvSpPr>
        <p:spPr>
          <a:xfrm>
            <a:off x="822960" y="4142232"/>
            <a:ext cx="310896" cy="310896"/>
          </a:xfrm>
          <a:prstGeom prst="ellipse">
            <a:avLst/>
          </a:prstGeom>
          <a:solidFill>
            <a:srgbClr val="D55E00"/>
          </a:solidFill>
          <a:ln w="12700">
            <a:solidFill>
              <a:srgbClr val="D55E00"/>
            </a:solidFill>
            <a:prstDash val="solid"/>
          </a:ln>
        </p:spPr>
        <p:txBody>
          <a:bodyPr/>
          <a:lstStyle/>
          <a:p>
            <a:endParaRPr/>
          </a:p>
        </p:txBody>
      </p:sp>
      <p:sp>
        <p:nvSpPr>
          <p:cNvPr id="21" name="Text 19"/>
          <p:cNvSpPr txBox="1"/>
          <p:nvPr/>
        </p:nvSpPr>
        <p:spPr>
          <a:xfrm>
            <a:off x="822960" y="4142232"/>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2" name="Text 20"/>
          <p:cNvSpPr txBox="1"/>
          <p:nvPr/>
        </p:nvSpPr>
        <p:spPr>
          <a:xfrm>
            <a:off x="1280160" y="4114800"/>
            <a:ext cx="4480560" cy="365760"/>
          </a:xfrm>
          <a:prstGeom prst="rect">
            <a:avLst/>
          </a:prstGeom>
          <a:noFill/>
          <a:ln/>
        </p:spPr>
        <p:txBody>
          <a:bodyPr wrap="square" lIns="0" tIns="0" rIns="0" bIns="0" rtlCol="0" anchor="ctr"/>
          <a:lstStyle/>
          <a:p>
            <a:pPr marL="0" indent="0">
              <a:buNone/>
            </a:pPr>
            <a:r>
              <a:rPr lang="en-US" sz="1350" dirty="0">
                <a:solidFill>
                  <a:srgbClr val="1B2140"/>
                </a:solidFill>
                <a:latin typeface="Calibri" pitchFamily="34" charset="0"/>
                <a:ea typeface="Calibri" pitchFamily="34" charset="-122"/>
                <a:cs typeface="Calibri" pitchFamily="34" charset="-120"/>
              </a:rPr>
              <a:t>Jalankan docking satu per satu</a:t>
            </a:r>
            <a:endParaRPr lang="en-US" sz="1350" dirty="0"/>
          </a:p>
        </p:txBody>
      </p:sp>
      <p:sp>
        <p:nvSpPr>
          <p:cNvPr id="23" name="Shape 21"/>
          <p:cNvSpPr/>
          <p:nvPr/>
        </p:nvSpPr>
        <p:spPr>
          <a:xfrm>
            <a:off x="822960" y="4599432"/>
            <a:ext cx="310896" cy="310896"/>
          </a:xfrm>
          <a:prstGeom prst="ellipse">
            <a:avLst/>
          </a:prstGeom>
          <a:solidFill>
            <a:srgbClr val="D55E00"/>
          </a:solidFill>
          <a:ln w="12700">
            <a:solidFill>
              <a:srgbClr val="D55E00"/>
            </a:solidFill>
            <a:prstDash val="solid"/>
          </a:ln>
        </p:spPr>
        <p:txBody>
          <a:bodyPr/>
          <a:lstStyle/>
          <a:p>
            <a:endParaRPr/>
          </a:p>
        </p:txBody>
      </p:sp>
      <p:sp>
        <p:nvSpPr>
          <p:cNvPr id="24" name="Text 22"/>
          <p:cNvSpPr txBox="1"/>
          <p:nvPr/>
        </p:nvSpPr>
        <p:spPr>
          <a:xfrm>
            <a:off x="822960" y="4599432"/>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5" name="Text 23"/>
          <p:cNvSpPr txBox="1"/>
          <p:nvPr/>
        </p:nvSpPr>
        <p:spPr>
          <a:xfrm>
            <a:off x="1280160" y="4572000"/>
            <a:ext cx="4480560" cy="365760"/>
          </a:xfrm>
          <a:prstGeom prst="rect">
            <a:avLst/>
          </a:prstGeom>
          <a:noFill/>
          <a:ln/>
        </p:spPr>
        <p:txBody>
          <a:bodyPr wrap="square" lIns="0" tIns="0" rIns="0" bIns="0" rtlCol="0" anchor="ctr"/>
          <a:lstStyle/>
          <a:p>
            <a:pPr marL="0" indent="0">
              <a:buNone/>
            </a:pPr>
            <a:r>
              <a:rPr lang="en-US" sz="1350" dirty="0">
                <a:solidFill>
                  <a:srgbClr val="1B2140"/>
                </a:solidFill>
                <a:latin typeface="Calibri" pitchFamily="34" charset="0"/>
                <a:ea typeface="Calibri" pitchFamily="34" charset="-122"/>
                <a:cs typeface="Calibri" pitchFamily="34" charset="-120"/>
              </a:rPr>
              <a:t>Salin skor ke spreadsheet</a:t>
            </a:r>
            <a:endParaRPr lang="en-US" sz="1350" dirty="0"/>
          </a:p>
        </p:txBody>
      </p:sp>
      <p:sp>
        <p:nvSpPr>
          <p:cNvPr id="26" name="Shape 24"/>
          <p:cNvSpPr/>
          <p:nvPr/>
        </p:nvSpPr>
        <p:spPr>
          <a:xfrm>
            <a:off x="822960" y="5056632"/>
            <a:ext cx="310896" cy="310896"/>
          </a:xfrm>
          <a:prstGeom prst="ellipse">
            <a:avLst/>
          </a:prstGeom>
          <a:solidFill>
            <a:srgbClr val="D55E00"/>
          </a:solidFill>
          <a:ln w="12700">
            <a:solidFill>
              <a:srgbClr val="D55E00"/>
            </a:solidFill>
            <a:prstDash val="solid"/>
          </a:ln>
        </p:spPr>
        <p:txBody>
          <a:bodyPr/>
          <a:lstStyle/>
          <a:p>
            <a:endParaRPr/>
          </a:p>
        </p:txBody>
      </p:sp>
      <p:sp>
        <p:nvSpPr>
          <p:cNvPr id="27" name="Text 25"/>
          <p:cNvSpPr txBox="1"/>
          <p:nvPr/>
        </p:nvSpPr>
        <p:spPr>
          <a:xfrm>
            <a:off x="822960" y="5056632"/>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8" name="Text 26"/>
          <p:cNvSpPr txBox="1"/>
          <p:nvPr/>
        </p:nvSpPr>
        <p:spPr>
          <a:xfrm>
            <a:off x="1280160" y="5029200"/>
            <a:ext cx="4480560" cy="365760"/>
          </a:xfrm>
          <a:prstGeom prst="rect">
            <a:avLst/>
          </a:prstGeom>
          <a:noFill/>
          <a:ln/>
        </p:spPr>
        <p:txBody>
          <a:bodyPr wrap="square" lIns="0" tIns="0" rIns="0" bIns="0" rtlCol="0" anchor="ctr"/>
          <a:lstStyle/>
          <a:p>
            <a:pPr marL="0" indent="0">
              <a:buNone/>
            </a:pPr>
            <a:r>
              <a:rPr lang="en-US" sz="1350" dirty="0">
                <a:solidFill>
                  <a:srgbClr val="1B2140"/>
                </a:solidFill>
                <a:latin typeface="Calibri" pitchFamily="34" charset="0"/>
                <a:ea typeface="Calibri" pitchFamily="34" charset="-122"/>
                <a:cs typeface="Calibri" pitchFamily="34" charset="-120"/>
              </a:rPr>
              <a:t>Buka situs ADMET, salin hasil</a:t>
            </a:r>
            <a:endParaRPr lang="en-US" sz="1350" dirty="0"/>
          </a:p>
        </p:txBody>
      </p:sp>
      <p:sp>
        <p:nvSpPr>
          <p:cNvPr id="29" name="Shape 27"/>
          <p:cNvSpPr/>
          <p:nvPr/>
        </p:nvSpPr>
        <p:spPr>
          <a:xfrm>
            <a:off x="822960" y="5513832"/>
            <a:ext cx="310896" cy="310896"/>
          </a:xfrm>
          <a:prstGeom prst="ellipse">
            <a:avLst/>
          </a:prstGeom>
          <a:solidFill>
            <a:srgbClr val="D55E00"/>
          </a:solidFill>
          <a:ln w="12700">
            <a:solidFill>
              <a:srgbClr val="D55E00"/>
            </a:solidFill>
            <a:prstDash val="solid"/>
          </a:ln>
        </p:spPr>
        <p:txBody>
          <a:bodyPr/>
          <a:lstStyle/>
          <a:p>
            <a:endParaRPr/>
          </a:p>
        </p:txBody>
      </p:sp>
      <p:sp>
        <p:nvSpPr>
          <p:cNvPr id="30" name="Text 28"/>
          <p:cNvSpPr txBox="1"/>
          <p:nvPr/>
        </p:nvSpPr>
        <p:spPr>
          <a:xfrm>
            <a:off x="822960" y="5513832"/>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1" name="Text 29"/>
          <p:cNvSpPr txBox="1"/>
          <p:nvPr/>
        </p:nvSpPr>
        <p:spPr>
          <a:xfrm>
            <a:off x="1280160" y="5486400"/>
            <a:ext cx="4480560" cy="365760"/>
          </a:xfrm>
          <a:prstGeom prst="rect">
            <a:avLst/>
          </a:prstGeom>
          <a:noFill/>
          <a:ln/>
        </p:spPr>
        <p:txBody>
          <a:bodyPr wrap="square" lIns="0" tIns="0" rIns="0" bIns="0" rtlCol="0" anchor="ctr"/>
          <a:lstStyle/>
          <a:p>
            <a:pPr marL="0" indent="0">
              <a:buNone/>
            </a:pPr>
            <a:r>
              <a:rPr lang="en-US" sz="1350" dirty="0">
                <a:solidFill>
                  <a:srgbClr val="1B2140"/>
                </a:solidFill>
                <a:latin typeface="Calibri" pitchFamily="34" charset="0"/>
                <a:ea typeface="Calibri" pitchFamily="34" charset="-122"/>
                <a:cs typeface="Calibri" pitchFamily="34" charset="-120"/>
              </a:rPr>
              <a:t>Buat grafik dan tabel sendiri</a:t>
            </a:r>
            <a:endParaRPr lang="en-US" sz="1350" dirty="0"/>
          </a:p>
        </p:txBody>
      </p:sp>
      <p:sp>
        <p:nvSpPr>
          <p:cNvPr id="32" name="Shape 30"/>
          <p:cNvSpPr/>
          <p:nvPr/>
        </p:nvSpPr>
        <p:spPr>
          <a:xfrm>
            <a:off x="6172200" y="1691640"/>
            <a:ext cx="5468112" cy="4480560"/>
          </a:xfrm>
          <a:prstGeom prst="roundRect">
            <a:avLst>
              <a:gd name="adj" fmla="val 2449"/>
            </a:avLst>
          </a:prstGeom>
          <a:solidFill>
            <a:srgbClr val="E8EDFC"/>
          </a:solidFill>
          <a:ln w="9525">
            <a:solidFill>
              <a:srgbClr val="E8EDFC"/>
            </a:solidFill>
            <a:prstDash val="solid"/>
          </a:ln>
        </p:spPr>
        <p:txBody>
          <a:bodyPr/>
          <a:lstStyle/>
          <a:p>
            <a:endParaRPr/>
          </a:p>
        </p:txBody>
      </p:sp>
      <p:sp>
        <p:nvSpPr>
          <p:cNvPr id="33" name="Text 31"/>
          <p:cNvSpPr txBox="1"/>
          <p:nvPr/>
        </p:nvSpPr>
        <p:spPr>
          <a:xfrm>
            <a:off x="6446520" y="1828800"/>
            <a:ext cx="4572000" cy="320040"/>
          </a:xfrm>
          <a:prstGeom prst="rect">
            <a:avLst/>
          </a:prstGeom>
          <a:noFill/>
          <a:ln/>
        </p:spPr>
        <p:txBody>
          <a:bodyPr wrap="square" lIns="0" tIns="0" rIns="0" bIns="0" rtlCol="0" anchor="t"/>
          <a:lstStyle/>
          <a:p>
            <a:pPr marL="0" indent="0">
              <a:buNone/>
            </a:pPr>
            <a:r>
              <a:rPr lang="en-US" sz="1800" b="1" dirty="0">
                <a:solidFill>
                  <a:srgbClr val="3C71E8"/>
                </a:solidFill>
                <a:latin typeface="Calibri" pitchFamily="34" charset="0"/>
                <a:ea typeface="Calibri" pitchFamily="34" charset="-122"/>
                <a:cs typeface="Calibri" pitchFamily="34" charset="-120"/>
              </a:rPr>
              <a:t>Dengan chemflow</a:t>
            </a:r>
            <a:endParaRPr lang="en-US" sz="1800" dirty="0"/>
          </a:p>
        </p:txBody>
      </p:sp>
      <p:sp>
        <p:nvSpPr>
          <p:cNvPr id="34" name="Text 32"/>
          <p:cNvSpPr txBox="1"/>
          <p:nvPr/>
        </p:nvSpPr>
        <p:spPr>
          <a:xfrm>
            <a:off x="6446520" y="2286000"/>
            <a:ext cx="4937760" cy="1325880"/>
          </a:xfrm>
          <a:prstGeom prst="roundRect">
            <a:avLst>
              <a:gd name="adj" fmla="val 6897"/>
            </a:avLst>
          </a:prstGeom>
          <a:solidFill>
            <a:srgbClr val="0E1533"/>
          </a:solidFill>
          <a:ln/>
        </p:spPr>
        <p:txBody>
          <a:bodyPr wrap="square" lIns="127000" tIns="127000" rIns="127000" bIns="127000" rtlCol="0" anchor="t"/>
          <a:lstStyle/>
          <a:p>
            <a:pPr marL="0" indent="0">
              <a:spcAft>
                <a:spcPts val="100"/>
              </a:spcAft>
              <a:buNone/>
            </a:pPr>
            <a:r>
              <a:rPr lang="en-US" sz="1250" dirty="0">
                <a:solidFill>
                  <a:srgbClr val="DCE4FF"/>
                </a:solidFill>
                <a:latin typeface="Courier New" pitchFamily="34" charset="0"/>
                <a:ea typeface="Courier New" pitchFamily="34" charset="-122"/>
                <a:cs typeface="Courier New" pitchFamily="34" charset="-120"/>
              </a:rPr>
              <a:t>python -m chemflow run \</a:t>
            </a:r>
            <a:endParaRPr lang="en-US" sz="1250" dirty="0"/>
          </a:p>
          <a:p>
            <a:pPr marL="0" indent="0">
              <a:spcAft>
                <a:spcPts val="100"/>
              </a:spcAft>
              <a:buNone/>
            </a:pPr>
            <a:r>
              <a:rPr lang="en-US" sz="1250" dirty="0">
                <a:solidFill>
                  <a:srgbClr val="DCE4FF"/>
                </a:solidFill>
                <a:latin typeface="Courier New" pitchFamily="34" charset="0"/>
                <a:ea typeface="Courier New" pitchFamily="34" charset="-122"/>
                <a:cs typeface="Courier New" pitchFamily="34" charset="-120"/>
              </a:rPr>
              <a:t>  --ligands ligan.xlsx \</a:t>
            </a:r>
            <a:endParaRPr lang="en-US" sz="1250" dirty="0"/>
          </a:p>
          <a:p>
            <a:pPr marL="0" indent="0">
              <a:spcAft>
                <a:spcPts val="100"/>
              </a:spcAft>
              <a:buNone/>
            </a:pPr>
            <a:r>
              <a:rPr lang="en-US" sz="1250" dirty="0">
                <a:solidFill>
                  <a:srgbClr val="DCE4FF"/>
                </a:solidFill>
                <a:latin typeface="Courier New" pitchFamily="34" charset="0"/>
                <a:ea typeface="Courier New" pitchFamily="34" charset="-122"/>
                <a:cs typeface="Courier New" pitchFamily="34" charset="-120"/>
              </a:rPr>
              <a:t>  --receptors reseptor.xlsx \</a:t>
            </a:r>
            <a:endParaRPr lang="en-US" sz="1250" dirty="0"/>
          </a:p>
          <a:p>
            <a:pPr marL="0" indent="0">
              <a:spcAft>
                <a:spcPts val="100"/>
              </a:spcAft>
              <a:buNone/>
            </a:pPr>
            <a:r>
              <a:rPr lang="en-US" sz="1250" dirty="0">
                <a:solidFill>
                  <a:srgbClr val="DCE4FF"/>
                </a:solidFill>
                <a:latin typeface="Courier New" pitchFamily="34" charset="0"/>
                <a:ea typeface="Courier New" pitchFamily="34" charset="-122"/>
                <a:cs typeface="Courier New" pitchFamily="34" charset="-120"/>
              </a:rPr>
              <a:t>  --run-rmsd-validation</a:t>
            </a:r>
            <a:endParaRPr lang="en-US" sz="1250" dirty="0"/>
          </a:p>
        </p:txBody>
      </p:sp>
      <p:sp>
        <p:nvSpPr>
          <p:cNvPr id="35" name="Shape 33"/>
          <p:cNvSpPr/>
          <p:nvPr/>
        </p:nvSpPr>
        <p:spPr>
          <a:xfrm>
            <a:off x="6446520" y="3931920"/>
            <a:ext cx="502920" cy="502920"/>
          </a:xfrm>
          <a:prstGeom prst="ellipse">
            <a:avLst/>
          </a:prstGeom>
          <a:solidFill>
            <a:srgbClr val="3C71E8"/>
          </a:solidFill>
          <a:ln w="12700">
            <a:solidFill>
              <a:srgbClr val="3C71E8"/>
            </a:solidFill>
            <a:prstDash val="solid"/>
          </a:ln>
        </p:spPr>
        <p:txBody>
          <a:bodyPr/>
          <a:lstStyle/>
          <a:p>
            <a:endParaRPr/>
          </a:p>
        </p:txBody>
      </p:sp>
      <p:pic>
        <p:nvPicPr>
          <p:cNvPr id="36" name="Image 0" descr="SyncAlt"/>
          <p:cNvPicPr>
            <a:picLocks noChangeAspect="1"/>
          </p:cNvPicPr>
          <p:nvPr/>
        </p:nvPicPr>
        <p:blipFill>
          <a:blip r:embed="rId3"/>
          <a:stretch>
            <a:fillRect/>
          </a:stretch>
        </p:blipFill>
        <p:spPr>
          <a:xfrm>
            <a:off x="6572250" y="4057650"/>
            <a:ext cx="251460" cy="251460"/>
          </a:xfrm>
          <a:prstGeom prst="rect">
            <a:avLst/>
          </a:prstGeom>
        </p:spPr>
      </p:pic>
      <p:sp>
        <p:nvSpPr>
          <p:cNvPr id="37" name="Text 34"/>
          <p:cNvSpPr txBox="1"/>
          <p:nvPr/>
        </p:nvSpPr>
        <p:spPr>
          <a:xfrm>
            <a:off x="7132320" y="3913632"/>
            <a:ext cx="4297680" cy="274320"/>
          </a:xfrm>
          <a:prstGeom prst="rect">
            <a:avLst/>
          </a:prstGeom>
          <a:noFill/>
          <a:ln/>
        </p:spPr>
        <p:txBody>
          <a:bodyPr wrap="square" lIns="0" tIns="0" rIns="0" bIns="0" rtlCol="0" anchor="t"/>
          <a:lstStyle/>
          <a:p>
            <a:pPr marL="0" indent="0">
              <a:buNone/>
            </a:pPr>
            <a:r>
              <a:rPr lang="en-US" sz="1450" b="1" dirty="0">
                <a:solidFill>
                  <a:srgbClr val="1B2140"/>
                </a:solidFill>
                <a:latin typeface="Calibri" pitchFamily="34" charset="0"/>
                <a:ea typeface="Calibri" pitchFamily="34" charset="-122"/>
                <a:cs typeface="Calibri" pitchFamily="34" charset="-120"/>
              </a:rPr>
              <a:t>Dapat diulang</a:t>
            </a:r>
            <a:endParaRPr lang="en-US" sz="1450" dirty="0"/>
          </a:p>
        </p:txBody>
      </p:sp>
      <p:sp>
        <p:nvSpPr>
          <p:cNvPr id="38" name="Text 35"/>
          <p:cNvSpPr txBox="1"/>
          <p:nvPr/>
        </p:nvSpPr>
        <p:spPr>
          <a:xfrm>
            <a:off x="7132320" y="4206240"/>
            <a:ext cx="4297680" cy="27432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Seed, konfigurasi, dan Excel tersimpan; run terhenti bisa dilanjutkan</a:t>
            </a:r>
            <a:endParaRPr lang="en-US" sz="1200" dirty="0"/>
          </a:p>
        </p:txBody>
      </p:sp>
      <p:sp>
        <p:nvSpPr>
          <p:cNvPr id="39" name="Shape 36"/>
          <p:cNvSpPr/>
          <p:nvPr/>
        </p:nvSpPr>
        <p:spPr>
          <a:xfrm>
            <a:off x="6446520" y="4663440"/>
            <a:ext cx="502920" cy="502920"/>
          </a:xfrm>
          <a:prstGeom prst="ellipse">
            <a:avLst/>
          </a:prstGeom>
          <a:solidFill>
            <a:srgbClr val="3C71E8"/>
          </a:solidFill>
          <a:ln w="12700">
            <a:solidFill>
              <a:srgbClr val="3C71E8"/>
            </a:solidFill>
            <a:prstDash val="solid"/>
          </a:ln>
        </p:spPr>
        <p:txBody>
          <a:bodyPr/>
          <a:lstStyle/>
          <a:p>
            <a:endParaRPr/>
          </a:p>
        </p:txBody>
      </p:sp>
      <p:pic>
        <p:nvPicPr>
          <p:cNvPr id="40" name="Image 1" descr="FileCode"/>
          <p:cNvPicPr>
            <a:picLocks noChangeAspect="1"/>
          </p:cNvPicPr>
          <p:nvPr/>
        </p:nvPicPr>
        <p:blipFill>
          <a:blip r:embed="rId4"/>
          <a:stretch>
            <a:fillRect/>
          </a:stretch>
        </p:blipFill>
        <p:spPr>
          <a:xfrm>
            <a:off x="6572250" y="4789170"/>
            <a:ext cx="251460" cy="251460"/>
          </a:xfrm>
          <a:prstGeom prst="rect">
            <a:avLst/>
          </a:prstGeom>
        </p:spPr>
      </p:pic>
      <p:sp>
        <p:nvSpPr>
          <p:cNvPr id="41" name="Text 37"/>
          <p:cNvSpPr txBox="1"/>
          <p:nvPr/>
        </p:nvSpPr>
        <p:spPr>
          <a:xfrm>
            <a:off x="7132320" y="4645152"/>
            <a:ext cx="4297680" cy="274320"/>
          </a:xfrm>
          <a:prstGeom prst="rect">
            <a:avLst/>
          </a:prstGeom>
          <a:noFill/>
          <a:ln/>
        </p:spPr>
        <p:txBody>
          <a:bodyPr wrap="square" lIns="0" tIns="0" rIns="0" bIns="0" rtlCol="0" anchor="t"/>
          <a:lstStyle/>
          <a:p>
            <a:pPr marL="0" indent="0">
              <a:buNone/>
            </a:pPr>
            <a:r>
              <a:rPr lang="en-US" sz="1450" b="1" dirty="0">
                <a:solidFill>
                  <a:srgbClr val="1B2140"/>
                </a:solidFill>
                <a:latin typeface="Calibri" pitchFamily="34" charset="0"/>
                <a:ea typeface="Calibri" pitchFamily="34" charset="-122"/>
                <a:cs typeface="Calibri" pitchFamily="34" charset="-120"/>
              </a:rPr>
              <a:t>Terdokumentasi</a:t>
            </a:r>
            <a:endParaRPr lang="en-US" sz="1450" dirty="0"/>
          </a:p>
        </p:txBody>
      </p:sp>
      <p:sp>
        <p:nvSpPr>
          <p:cNvPr id="42" name="Text 38"/>
          <p:cNvSpPr txBox="1"/>
          <p:nvPr/>
        </p:nvSpPr>
        <p:spPr>
          <a:xfrm>
            <a:off x="7132320" y="4937760"/>
            <a:ext cx="4297680" cy="27432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chemflow.log mencatat setiap tahap</a:t>
            </a:r>
            <a:endParaRPr lang="en-US" sz="1200" dirty="0"/>
          </a:p>
        </p:txBody>
      </p:sp>
      <p:sp>
        <p:nvSpPr>
          <p:cNvPr id="43" name="Shape 39"/>
          <p:cNvSpPr/>
          <p:nvPr/>
        </p:nvSpPr>
        <p:spPr>
          <a:xfrm>
            <a:off x="6446520" y="5394960"/>
            <a:ext cx="502920" cy="502920"/>
          </a:xfrm>
          <a:prstGeom prst="ellipse">
            <a:avLst/>
          </a:prstGeom>
          <a:solidFill>
            <a:srgbClr val="3C71E8"/>
          </a:solidFill>
          <a:ln w="12700">
            <a:solidFill>
              <a:srgbClr val="3C71E8"/>
            </a:solidFill>
            <a:prstDash val="solid"/>
          </a:ln>
        </p:spPr>
        <p:txBody>
          <a:bodyPr/>
          <a:lstStyle/>
          <a:p>
            <a:endParaRPr/>
          </a:p>
        </p:txBody>
      </p:sp>
      <p:pic>
        <p:nvPicPr>
          <p:cNvPr id="44" name="Image 2" descr="ShieldAlt"/>
          <p:cNvPicPr>
            <a:picLocks noChangeAspect="1"/>
          </p:cNvPicPr>
          <p:nvPr/>
        </p:nvPicPr>
        <p:blipFill>
          <a:blip r:embed="rId5"/>
          <a:stretch>
            <a:fillRect/>
          </a:stretch>
        </p:blipFill>
        <p:spPr>
          <a:xfrm>
            <a:off x="6572250" y="5520690"/>
            <a:ext cx="251460" cy="251460"/>
          </a:xfrm>
          <a:prstGeom prst="rect">
            <a:avLst/>
          </a:prstGeom>
        </p:spPr>
      </p:pic>
      <p:sp>
        <p:nvSpPr>
          <p:cNvPr id="45" name="Text 40"/>
          <p:cNvSpPr txBox="1"/>
          <p:nvPr/>
        </p:nvSpPr>
        <p:spPr>
          <a:xfrm>
            <a:off x="7132320" y="5376672"/>
            <a:ext cx="4297680" cy="274320"/>
          </a:xfrm>
          <a:prstGeom prst="rect">
            <a:avLst/>
          </a:prstGeom>
          <a:noFill/>
          <a:ln/>
        </p:spPr>
        <p:txBody>
          <a:bodyPr wrap="square" lIns="0" tIns="0" rIns="0" bIns="0" rtlCol="0" anchor="t"/>
          <a:lstStyle/>
          <a:p>
            <a:pPr marL="0" indent="0">
              <a:buNone/>
            </a:pPr>
            <a:r>
              <a:rPr lang="en-US" sz="1450" b="1" dirty="0">
                <a:solidFill>
                  <a:srgbClr val="1B2140"/>
                </a:solidFill>
                <a:latin typeface="Calibri" pitchFamily="34" charset="0"/>
                <a:ea typeface="Calibri" pitchFamily="34" charset="-122"/>
                <a:cs typeface="Calibri" pitchFamily="34" charset="-120"/>
              </a:rPr>
              <a:t>Fail-soft</a:t>
            </a:r>
            <a:endParaRPr lang="en-US" sz="1450" dirty="0"/>
          </a:p>
        </p:txBody>
      </p:sp>
      <p:sp>
        <p:nvSpPr>
          <p:cNvPr id="46" name="Text 41"/>
          <p:cNvSpPr txBox="1"/>
          <p:nvPr/>
        </p:nvSpPr>
        <p:spPr>
          <a:xfrm>
            <a:off x="7132320" y="5669280"/>
            <a:ext cx="4297680" cy="27432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Satu ligan gagal, sisanya tetap diproses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75004"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A · PEMBUKA</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chemflow sekilas: satu paket, satu perintah, siap publikasi</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5</a:t>
            </a:r>
            <a:endParaRPr lang="en-US" sz="1000" dirty="0"/>
          </a:p>
        </p:txBody>
      </p:sp>
      <p:sp>
        <p:nvSpPr>
          <p:cNvPr id="6" name="Shape 4"/>
          <p:cNvSpPr/>
          <p:nvPr/>
        </p:nvSpPr>
        <p:spPr>
          <a:xfrm>
            <a:off x="548640" y="1691640"/>
            <a:ext cx="1691640" cy="1325880"/>
          </a:xfrm>
          <a:prstGeom prst="roundRect">
            <a:avLst>
              <a:gd name="adj" fmla="val 8276"/>
            </a:avLst>
          </a:prstGeom>
          <a:solidFill>
            <a:srgbClr val="E8EDFC"/>
          </a:solidFill>
          <a:ln w="9525">
            <a:solidFill>
              <a:srgbClr val="E8EDFC"/>
            </a:solidFill>
            <a:prstDash val="solid"/>
          </a:ln>
        </p:spPr>
        <p:txBody>
          <a:bodyPr/>
          <a:lstStyle/>
          <a:p>
            <a:endParaRPr/>
          </a:p>
        </p:txBody>
      </p:sp>
      <p:sp>
        <p:nvSpPr>
          <p:cNvPr id="7" name="Text 5"/>
          <p:cNvSpPr txBox="1"/>
          <p:nvPr/>
        </p:nvSpPr>
        <p:spPr>
          <a:xfrm>
            <a:off x="548640" y="1819656"/>
            <a:ext cx="1691640" cy="662940"/>
          </a:xfrm>
          <a:prstGeom prst="rect">
            <a:avLst/>
          </a:prstGeom>
          <a:noFill/>
          <a:ln/>
        </p:spPr>
        <p:txBody>
          <a:bodyPr wrap="square" lIns="0" tIns="0" rIns="0" bIns="0" rtlCol="0" anchor="ctr"/>
          <a:lstStyle/>
          <a:p>
            <a:pPr marL="0" indent="0" algn="ctr">
              <a:buNone/>
            </a:pPr>
            <a:r>
              <a:rPr lang="en-US" sz="3000" b="1" dirty="0">
                <a:solidFill>
                  <a:srgbClr val="3C71E8"/>
                </a:solidFill>
                <a:latin typeface="Cambria" pitchFamily="34" charset="0"/>
                <a:ea typeface="Cambria" pitchFamily="34" charset="-122"/>
                <a:cs typeface="Cambria" pitchFamily="34" charset="-120"/>
              </a:rPr>
              <a:t>2.0.0</a:t>
            </a:r>
            <a:endParaRPr lang="en-US" sz="3000" dirty="0"/>
          </a:p>
        </p:txBody>
      </p:sp>
      <p:sp>
        <p:nvSpPr>
          <p:cNvPr id="8" name="Text 6"/>
          <p:cNvSpPr txBox="1"/>
          <p:nvPr/>
        </p:nvSpPr>
        <p:spPr>
          <a:xfrm>
            <a:off x="640080" y="2460650"/>
            <a:ext cx="1508760" cy="477317"/>
          </a:xfrm>
          <a:prstGeom prst="rect">
            <a:avLst/>
          </a:prstGeom>
          <a:noFill/>
          <a:ln/>
        </p:spPr>
        <p:txBody>
          <a:bodyPr wrap="square" lIns="0" tIns="0" rIns="0" bIns="0" rtlCol="0" anchor="t"/>
          <a:lstStyle/>
          <a:p>
            <a:pPr marL="0" indent="0" algn="ctr">
              <a:buNone/>
            </a:pPr>
            <a:r>
              <a:rPr lang="en-US" sz="1100" dirty="0">
                <a:solidFill>
                  <a:srgbClr val="5B6480"/>
                </a:solidFill>
                <a:latin typeface="Calibri" pitchFamily="34" charset="0"/>
                <a:ea typeface="Calibri" pitchFamily="34" charset="-122"/>
                <a:cs typeface="Calibri" pitchFamily="34" charset="-120"/>
              </a:rPr>
              <a:t>Versi</a:t>
            </a:r>
            <a:endParaRPr lang="en-US" sz="1100" dirty="0"/>
          </a:p>
        </p:txBody>
      </p:sp>
      <p:sp>
        <p:nvSpPr>
          <p:cNvPr id="9" name="Shape 7"/>
          <p:cNvSpPr/>
          <p:nvPr/>
        </p:nvSpPr>
        <p:spPr>
          <a:xfrm>
            <a:off x="2423160" y="1691640"/>
            <a:ext cx="1691640" cy="1325880"/>
          </a:xfrm>
          <a:prstGeom prst="roundRect">
            <a:avLst>
              <a:gd name="adj" fmla="val 8276"/>
            </a:avLst>
          </a:prstGeom>
          <a:solidFill>
            <a:srgbClr val="E8EDFC"/>
          </a:solidFill>
          <a:ln w="9525">
            <a:solidFill>
              <a:srgbClr val="E8EDFC"/>
            </a:solidFill>
            <a:prstDash val="solid"/>
          </a:ln>
        </p:spPr>
        <p:txBody>
          <a:bodyPr/>
          <a:lstStyle/>
          <a:p>
            <a:endParaRPr/>
          </a:p>
        </p:txBody>
      </p:sp>
      <p:sp>
        <p:nvSpPr>
          <p:cNvPr id="10" name="Text 8"/>
          <p:cNvSpPr txBox="1"/>
          <p:nvPr/>
        </p:nvSpPr>
        <p:spPr>
          <a:xfrm>
            <a:off x="2423160" y="1819656"/>
            <a:ext cx="1691640" cy="662940"/>
          </a:xfrm>
          <a:prstGeom prst="rect">
            <a:avLst/>
          </a:prstGeom>
          <a:noFill/>
          <a:ln/>
        </p:spPr>
        <p:txBody>
          <a:bodyPr wrap="square" lIns="0" tIns="0" rIns="0" bIns="0" rtlCol="0" anchor="ctr"/>
          <a:lstStyle/>
          <a:p>
            <a:pPr marL="0" indent="0" algn="ctr">
              <a:buNone/>
            </a:pPr>
            <a:r>
              <a:rPr lang="en-US" sz="3000" b="1" dirty="0">
                <a:solidFill>
                  <a:srgbClr val="3C71E8"/>
                </a:solidFill>
                <a:latin typeface="Cambria" pitchFamily="34" charset="0"/>
                <a:ea typeface="Cambria" pitchFamily="34" charset="-122"/>
                <a:cs typeface="Cambria" pitchFamily="34" charset="-120"/>
              </a:rPr>
              <a:t>15,3 rb</a:t>
            </a:r>
            <a:endParaRPr lang="en-US" sz="3000" dirty="0"/>
          </a:p>
        </p:txBody>
      </p:sp>
      <p:sp>
        <p:nvSpPr>
          <p:cNvPr id="11" name="Text 9"/>
          <p:cNvSpPr txBox="1"/>
          <p:nvPr/>
        </p:nvSpPr>
        <p:spPr>
          <a:xfrm>
            <a:off x="2514600" y="2460650"/>
            <a:ext cx="1508760" cy="477317"/>
          </a:xfrm>
          <a:prstGeom prst="rect">
            <a:avLst/>
          </a:prstGeom>
          <a:noFill/>
          <a:ln/>
        </p:spPr>
        <p:txBody>
          <a:bodyPr wrap="square" lIns="0" tIns="0" rIns="0" bIns="0" rtlCol="0" anchor="t"/>
          <a:lstStyle/>
          <a:p>
            <a:pPr marL="0" indent="0" algn="ctr">
              <a:buNone/>
            </a:pPr>
            <a:r>
              <a:rPr lang="en-US" sz="1100" dirty="0">
                <a:solidFill>
                  <a:srgbClr val="5B6480"/>
                </a:solidFill>
                <a:latin typeface="Calibri" pitchFamily="34" charset="0"/>
                <a:ea typeface="Calibri" pitchFamily="34" charset="-122"/>
                <a:cs typeface="Calibri" pitchFamily="34" charset="-120"/>
              </a:rPr>
              <a:t>Baris kode sumber, 73 modul</a:t>
            </a:r>
            <a:endParaRPr lang="en-US" sz="1100" dirty="0"/>
          </a:p>
        </p:txBody>
      </p:sp>
      <p:sp>
        <p:nvSpPr>
          <p:cNvPr id="12" name="Shape 10"/>
          <p:cNvSpPr/>
          <p:nvPr/>
        </p:nvSpPr>
        <p:spPr>
          <a:xfrm>
            <a:off x="4297680" y="1691640"/>
            <a:ext cx="1691640" cy="1325880"/>
          </a:xfrm>
          <a:prstGeom prst="roundRect">
            <a:avLst>
              <a:gd name="adj" fmla="val 8276"/>
            </a:avLst>
          </a:prstGeom>
          <a:solidFill>
            <a:srgbClr val="E8EDFC"/>
          </a:solidFill>
          <a:ln w="9525">
            <a:solidFill>
              <a:srgbClr val="E8EDFC"/>
            </a:solidFill>
            <a:prstDash val="solid"/>
          </a:ln>
        </p:spPr>
        <p:txBody>
          <a:bodyPr/>
          <a:lstStyle/>
          <a:p>
            <a:endParaRPr/>
          </a:p>
        </p:txBody>
      </p:sp>
      <p:sp>
        <p:nvSpPr>
          <p:cNvPr id="13" name="Text 11"/>
          <p:cNvSpPr txBox="1"/>
          <p:nvPr/>
        </p:nvSpPr>
        <p:spPr>
          <a:xfrm>
            <a:off x="4297680" y="1819656"/>
            <a:ext cx="1691640" cy="662940"/>
          </a:xfrm>
          <a:prstGeom prst="rect">
            <a:avLst/>
          </a:prstGeom>
          <a:noFill/>
          <a:ln/>
        </p:spPr>
        <p:txBody>
          <a:bodyPr wrap="square" lIns="0" tIns="0" rIns="0" bIns="0" rtlCol="0" anchor="ctr"/>
          <a:lstStyle/>
          <a:p>
            <a:pPr marL="0" indent="0" algn="ctr">
              <a:buNone/>
            </a:pPr>
            <a:r>
              <a:rPr lang="en-US" sz="3000" b="1" dirty="0">
                <a:solidFill>
                  <a:srgbClr val="3C71E8"/>
                </a:solidFill>
                <a:latin typeface="Cambria" pitchFamily="34" charset="0"/>
                <a:ea typeface="Cambria" pitchFamily="34" charset="-122"/>
                <a:cs typeface="Cambria" pitchFamily="34" charset="-120"/>
              </a:rPr>
              <a:t>832</a:t>
            </a:r>
            <a:endParaRPr lang="en-US" sz="3000" dirty="0"/>
          </a:p>
        </p:txBody>
      </p:sp>
      <p:sp>
        <p:nvSpPr>
          <p:cNvPr id="14" name="Text 12"/>
          <p:cNvSpPr txBox="1"/>
          <p:nvPr/>
        </p:nvSpPr>
        <p:spPr>
          <a:xfrm>
            <a:off x="4389120" y="2460650"/>
            <a:ext cx="1508760" cy="477317"/>
          </a:xfrm>
          <a:prstGeom prst="rect">
            <a:avLst/>
          </a:prstGeom>
          <a:noFill/>
          <a:ln/>
        </p:spPr>
        <p:txBody>
          <a:bodyPr wrap="square" lIns="0" tIns="0" rIns="0" bIns="0" rtlCol="0" anchor="t"/>
          <a:lstStyle/>
          <a:p>
            <a:pPr marL="0" indent="0" algn="ctr">
              <a:buNone/>
            </a:pPr>
            <a:r>
              <a:rPr lang="en-US" sz="1100" dirty="0">
                <a:solidFill>
                  <a:srgbClr val="5B6480"/>
                </a:solidFill>
                <a:latin typeface="Calibri" pitchFamily="34" charset="0"/>
                <a:ea typeface="Calibri" pitchFamily="34" charset="-122"/>
                <a:cs typeface="Calibri" pitchFamily="34" charset="-120"/>
              </a:rPr>
              <a:t>Tes unit lulus</a:t>
            </a:r>
            <a:endParaRPr lang="en-US" sz="1100" dirty="0"/>
          </a:p>
        </p:txBody>
      </p:sp>
      <p:sp>
        <p:nvSpPr>
          <p:cNvPr id="15" name="Shape 13"/>
          <p:cNvSpPr/>
          <p:nvPr/>
        </p:nvSpPr>
        <p:spPr>
          <a:xfrm>
            <a:off x="6172200" y="1691640"/>
            <a:ext cx="1691640" cy="1325880"/>
          </a:xfrm>
          <a:prstGeom prst="roundRect">
            <a:avLst>
              <a:gd name="adj" fmla="val 8276"/>
            </a:avLst>
          </a:prstGeom>
          <a:solidFill>
            <a:srgbClr val="E8EDFC"/>
          </a:solidFill>
          <a:ln w="9525">
            <a:solidFill>
              <a:srgbClr val="E8EDFC"/>
            </a:solidFill>
            <a:prstDash val="solid"/>
          </a:ln>
        </p:spPr>
        <p:txBody>
          <a:bodyPr/>
          <a:lstStyle/>
          <a:p>
            <a:endParaRPr/>
          </a:p>
        </p:txBody>
      </p:sp>
      <p:sp>
        <p:nvSpPr>
          <p:cNvPr id="16" name="Text 14"/>
          <p:cNvSpPr txBox="1"/>
          <p:nvPr/>
        </p:nvSpPr>
        <p:spPr>
          <a:xfrm>
            <a:off x="6172200" y="1819656"/>
            <a:ext cx="1691640" cy="662940"/>
          </a:xfrm>
          <a:prstGeom prst="rect">
            <a:avLst/>
          </a:prstGeom>
          <a:noFill/>
          <a:ln/>
        </p:spPr>
        <p:txBody>
          <a:bodyPr wrap="square" lIns="0" tIns="0" rIns="0" bIns="0" rtlCol="0" anchor="ctr"/>
          <a:lstStyle/>
          <a:p>
            <a:pPr marL="0" indent="0" algn="ctr">
              <a:buNone/>
            </a:pPr>
            <a:r>
              <a:rPr lang="en-US" sz="3000" b="1" dirty="0">
                <a:solidFill>
                  <a:srgbClr val="3C71E8"/>
                </a:solidFill>
                <a:latin typeface="Cambria" pitchFamily="34" charset="0"/>
                <a:ea typeface="Cambria" pitchFamily="34" charset="-122"/>
                <a:cs typeface="Cambria" pitchFamily="34" charset="-120"/>
              </a:rPr>
              <a:t>120</a:t>
            </a:r>
            <a:endParaRPr lang="en-US" sz="3000" dirty="0"/>
          </a:p>
        </p:txBody>
      </p:sp>
      <p:sp>
        <p:nvSpPr>
          <p:cNvPr id="17" name="Text 15"/>
          <p:cNvSpPr txBox="1"/>
          <p:nvPr/>
        </p:nvSpPr>
        <p:spPr>
          <a:xfrm>
            <a:off x="6263640" y="2460650"/>
            <a:ext cx="1508760" cy="477317"/>
          </a:xfrm>
          <a:prstGeom prst="rect">
            <a:avLst/>
          </a:prstGeom>
          <a:noFill/>
          <a:ln/>
        </p:spPr>
        <p:txBody>
          <a:bodyPr wrap="square" lIns="0" tIns="0" rIns="0" bIns="0" rtlCol="0" anchor="t"/>
          <a:lstStyle/>
          <a:p>
            <a:pPr marL="0" indent="0" algn="ctr">
              <a:buNone/>
            </a:pPr>
            <a:r>
              <a:rPr lang="en-US" sz="1100" dirty="0">
                <a:solidFill>
                  <a:srgbClr val="5B6480"/>
                </a:solidFill>
                <a:latin typeface="Calibri" pitchFamily="34" charset="0"/>
                <a:ea typeface="Calibri" pitchFamily="34" charset="-122"/>
                <a:cs typeface="Calibri" pitchFamily="34" charset="-120"/>
              </a:rPr>
              <a:t>Aturan klasifikasi ADMET</a:t>
            </a:r>
            <a:endParaRPr lang="en-US" sz="1100" dirty="0"/>
          </a:p>
        </p:txBody>
      </p:sp>
      <p:sp>
        <p:nvSpPr>
          <p:cNvPr id="18" name="Shape 16"/>
          <p:cNvSpPr/>
          <p:nvPr/>
        </p:nvSpPr>
        <p:spPr>
          <a:xfrm>
            <a:off x="8046720" y="1691640"/>
            <a:ext cx="1691640" cy="1325880"/>
          </a:xfrm>
          <a:prstGeom prst="roundRect">
            <a:avLst>
              <a:gd name="adj" fmla="val 8276"/>
            </a:avLst>
          </a:prstGeom>
          <a:solidFill>
            <a:srgbClr val="E8EDFC"/>
          </a:solidFill>
          <a:ln w="9525">
            <a:solidFill>
              <a:srgbClr val="E8EDFC"/>
            </a:solidFill>
            <a:prstDash val="solid"/>
          </a:ln>
        </p:spPr>
        <p:txBody>
          <a:bodyPr/>
          <a:lstStyle/>
          <a:p>
            <a:endParaRPr/>
          </a:p>
        </p:txBody>
      </p:sp>
      <p:sp>
        <p:nvSpPr>
          <p:cNvPr id="19" name="Text 17"/>
          <p:cNvSpPr txBox="1"/>
          <p:nvPr/>
        </p:nvSpPr>
        <p:spPr>
          <a:xfrm>
            <a:off x="8046720" y="1819656"/>
            <a:ext cx="1691640" cy="662940"/>
          </a:xfrm>
          <a:prstGeom prst="rect">
            <a:avLst/>
          </a:prstGeom>
          <a:noFill/>
          <a:ln/>
        </p:spPr>
        <p:txBody>
          <a:bodyPr wrap="square" lIns="0" tIns="0" rIns="0" bIns="0" rtlCol="0" anchor="ctr"/>
          <a:lstStyle/>
          <a:p>
            <a:pPr marL="0" indent="0" algn="ctr">
              <a:buNone/>
            </a:pPr>
            <a:r>
              <a:rPr lang="en-US" sz="3000" b="1" dirty="0">
                <a:solidFill>
                  <a:srgbClr val="3C71E8"/>
                </a:solidFill>
                <a:latin typeface="Cambria" pitchFamily="34" charset="0"/>
                <a:ea typeface="Cambria" pitchFamily="34" charset="-122"/>
                <a:cs typeface="Cambria" pitchFamily="34" charset="-120"/>
              </a:rPr>
              <a:t>3.9+</a:t>
            </a:r>
            <a:endParaRPr lang="en-US" sz="3000" dirty="0"/>
          </a:p>
        </p:txBody>
      </p:sp>
      <p:sp>
        <p:nvSpPr>
          <p:cNvPr id="20" name="Text 18"/>
          <p:cNvSpPr txBox="1"/>
          <p:nvPr/>
        </p:nvSpPr>
        <p:spPr>
          <a:xfrm>
            <a:off x="8138160" y="2460650"/>
            <a:ext cx="1508760" cy="477317"/>
          </a:xfrm>
          <a:prstGeom prst="rect">
            <a:avLst/>
          </a:prstGeom>
          <a:noFill/>
          <a:ln/>
        </p:spPr>
        <p:txBody>
          <a:bodyPr wrap="square" lIns="0" tIns="0" rIns="0" bIns="0" rtlCol="0" anchor="t"/>
          <a:lstStyle/>
          <a:p>
            <a:pPr marL="0" indent="0" algn="ctr">
              <a:buNone/>
            </a:pPr>
            <a:r>
              <a:rPr lang="en-US" sz="1100" dirty="0">
                <a:solidFill>
                  <a:srgbClr val="5B6480"/>
                </a:solidFill>
                <a:latin typeface="Calibri" pitchFamily="34" charset="0"/>
                <a:ea typeface="Calibri" pitchFamily="34" charset="-122"/>
                <a:cs typeface="Calibri" pitchFamily="34" charset="-120"/>
              </a:rPr>
              <a:t>Versi Python</a:t>
            </a:r>
            <a:endParaRPr lang="en-US" sz="1100" dirty="0"/>
          </a:p>
        </p:txBody>
      </p:sp>
      <p:sp>
        <p:nvSpPr>
          <p:cNvPr id="21" name="Shape 19"/>
          <p:cNvSpPr/>
          <p:nvPr/>
        </p:nvSpPr>
        <p:spPr>
          <a:xfrm>
            <a:off x="9921240" y="1691640"/>
            <a:ext cx="1691640" cy="1325880"/>
          </a:xfrm>
          <a:prstGeom prst="roundRect">
            <a:avLst>
              <a:gd name="adj" fmla="val 8276"/>
            </a:avLst>
          </a:prstGeom>
          <a:solidFill>
            <a:srgbClr val="E8EDFC"/>
          </a:solidFill>
          <a:ln w="9525">
            <a:solidFill>
              <a:srgbClr val="E8EDFC"/>
            </a:solidFill>
            <a:prstDash val="solid"/>
          </a:ln>
        </p:spPr>
        <p:txBody>
          <a:bodyPr/>
          <a:lstStyle/>
          <a:p>
            <a:endParaRPr/>
          </a:p>
        </p:txBody>
      </p:sp>
      <p:sp>
        <p:nvSpPr>
          <p:cNvPr id="22" name="Text 20"/>
          <p:cNvSpPr txBox="1"/>
          <p:nvPr/>
        </p:nvSpPr>
        <p:spPr>
          <a:xfrm>
            <a:off x="9921240" y="1819656"/>
            <a:ext cx="1691640" cy="662940"/>
          </a:xfrm>
          <a:prstGeom prst="rect">
            <a:avLst/>
          </a:prstGeom>
          <a:noFill/>
          <a:ln/>
        </p:spPr>
        <p:txBody>
          <a:bodyPr wrap="square" lIns="0" tIns="0" rIns="0" bIns="0" rtlCol="0" anchor="ctr"/>
          <a:lstStyle/>
          <a:p>
            <a:pPr marL="0" indent="0" algn="ctr">
              <a:buNone/>
            </a:pPr>
            <a:r>
              <a:rPr lang="en-US" sz="3000" b="1" dirty="0">
                <a:solidFill>
                  <a:srgbClr val="3C71E8"/>
                </a:solidFill>
                <a:latin typeface="Cambria" pitchFamily="34" charset="0"/>
                <a:ea typeface="Cambria" pitchFamily="34" charset="-122"/>
                <a:cs typeface="Cambria" pitchFamily="34" charset="-120"/>
              </a:rPr>
              <a:t>MIT</a:t>
            </a:r>
            <a:endParaRPr lang="en-US" sz="3000" dirty="0"/>
          </a:p>
        </p:txBody>
      </p:sp>
      <p:sp>
        <p:nvSpPr>
          <p:cNvPr id="23" name="Text 21"/>
          <p:cNvSpPr txBox="1"/>
          <p:nvPr/>
        </p:nvSpPr>
        <p:spPr>
          <a:xfrm>
            <a:off x="10012680" y="2460650"/>
            <a:ext cx="1508760" cy="477317"/>
          </a:xfrm>
          <a:prstGeom prst="rect">
            <a:avLst/>
          </a:prstGeom>
          <a:noFill/>
          <a:ln/>
        </p:spPr>
        <p:txBody>
          <a:bodyPr wrap="square" lIns="0" tIns="0" rIns="0" bIns="0" rtlCol="0" anchor="t"/>
          <a:lstStyle/>
          <a:p>
            <a:pPr marL="0" indent="0" algn="ctr">
              <a:buNone/>
            </a:pPr>
            <a:r>
              <a:rPr lang="en-US" sz="1100" dirty="0">
                <a:solidFill>
                  <a:srgbClr val="5B6480"/>
                </a:solidFill>
                <a:latin typeface="Calibri" pitchFamily="34" charset="0"/>
                <a:ea typeface="Calibri" pitchFamily="34" charset="-122"/>
                <a:cs typeface="Calibri" pitchFamily="34" charset="-120"/>
              </a:rPr>
              <a:t>Lisensi</a:t>
            </a:r>
            <a:endParaRPr lang="en-US" sz="1100" dirty="0"/>
          </a:p>
        </p:txBody>
      </p:sp>
      <p:sp>
        <p:nvSpPr>
          <p:cNvPr id="24" name="Shape 22"/>
          <p:cNvSpPr/>
          <p:nvPr/>
        </p:nvSpPr>
        <p:spPr>
          <a:xfrm>
            <a:off x="548640" y="3291840"/>
            <a:ext cx="3611880" cy="1234440"/>
          </a:xfrm>
          <a:prstGeom prst="roundRect">
            <a:avLst>
              <a:gd name="adj" fmla="val 8889"/>
            </a:avLst>
          </a:prstGeom>
          <a:solidFill>
            <a:srgbClr val="E8EDFC"/>
          </a:solidFill>
          <a:ln w="9525">
            <a:solidFill>
              <a:srgbClr val="E8EDFC"/>
            </a:solidFill>
            <a:prstDash val="solid"/>
          </a:ln>
        </p:spPr>
        <p:txBody>
          <a:bodyPr/>
          <a:lstStyle/>
          <a:p>
            <a:endParaRPr/>
          </a:p>
        </p:txBody>
      </p:sp>
      <p:sp>
        <p:nvSpPr>
          <p:cNvPr id="25" name="Shape 23"/>
          <p:cNvSpPr/>
          <p:nvPr/>
        </p:nvSpPr>
        <p:spPr>
          <a:xfrm>
            <a:off x="731520" y="3657600"/>
            <a:ext cx="502920" cy="502920"/>
          </a:xfrm>
          <a:prstGeom prst="ellipse">
            <a:avLst/>
          </a:prstGeom>
          <a:solidFill>
            <a:srgbClr val="3C71E8"/>
          </a:solidFill>
          <a:ln w="12700">
            <a:solidFill>
              <a:srgbClr val="3C71E8"/>
            </a:solidFill>
            <a:prstDash val="solid"/>
          </a:ln>
        </p:spPr>
        <p:txBody>
          <a:bodyPr/>
          <a:lstStyle/>
          <a:p>
            <a:endParaRPr/>
          </a:p>
        </p:txBody>
      </p:sp>
      <p:pic>
        <p:nvPicPr>
          <p:cNvPr id="26" name="Image 0" descr="Flask"/>
          <p:cNvPicPr>
            <a:picLocks noChangeAspect="1"/>
          </p:cNvPicPr>
          <p:nvPr/>
        </p:nvPicPr>
        <p:blipFill>
          <a:blip r:embed="rId3"/>
          <a:stretch>
            <a:fillRect/>
          </a:stretch>
        </p:blipFill>
        <p:spPr>
          <a:xfrm>
            <a:off x="857250" y="3783330"/>
            <a:ext cx="251460" cy="251460"/>
          </a:xfrm>
          <a:prstGeom prst="rect">
            <a:avLst/>
          </a:prstGeom>
        </p:spPr>
      </p:pic>
      <p:sp>
        <p:nvSpPr>
          <p:cNvPr id="27" name="Text 24"/>
          <p:cNvSpPr txBox="1"/>
          <p:nvPr/>
        </p:nvSpPr>
        <p:spPr>
          <a:xfrm>
            <a:off x="1417320" y="3447288"/>
            <a:ext cx="2606040" cy="274320"/>
          </a:xfrm>
          <a:prstGeom prst="rect">
            <a:avLst/>
          </a:prstGeom>
          <a:noFill/>
          <a:ln/>
        </p:spPr>
        <p:txBody>
          <a:bodyPr wrap="square" lIns="0" tIns="0" rIns="0" bIns="0" rtlCol="0" anchor="t"/>
          <a:lstStyle/>
          <a:p>
            <a:pPr marL="0" indent="0">
              <a:buNone/>
            </a:pPr>
            <a:r>
              <a:rPr lang="en-US" sz="1500" b="1" dirty="0">
                <a:solidFill>
                  <a:srgbClr val="1B2140"/>
                </a:solidFill>
                <a:latin typeface="Calibri" pitchFamily="34" charset="0"/>
                <a:ea typeface="Calibri" pitchFamily="34" charset="-122"/>
                <a:cs typeface="Calibri" pitchFamily="34" charset="-120"/>
              </a:rPr>
              <a:t>Preparasi</a:t>
            </a:r>
            <a:endParaRPr lang="en-US" sz="1500" dirty="0"/>
          </a:p>
        </p:txBody>
      </p:sp>
      <p:sp>
        <p:nvSpPr>
          <p:cNvPr id="28" name="Text 25"/>
          <p:cNvSpPr txBox="1"/>
          <p:nvPr/>
        </p:nvSpPr>
        <p:spPr>
          <a:xfrm>
            <a:off x="1417320" y="3749040"/>
            <a:ext cx="2606040" cy="73152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Ligan dari SMILES atau nama senyawa; reseptor dari kode PDB</a:t>
            </a:r>
            <a:endParaRPr lang="en-US" sz="1200" dirty="0"/>
          </a:p>
        </p:txBody>
      </p:sp>
      <p:sp>
        <p:nvSpPr>
          <p:cNvPr id="29" name="Shape 26"/>
          <p:cNvSpPr/>
          <p:nvPr/>
        </p:nvSpPr>
        <p:spPr>
          <a:xfrm>
            <a:off x="4297680" y="3291840"/>
            <a:ext cx="3611880" cy="1234440"/>
          </a:xfrm>
          <a:prstGeom prst="roundRect">
            <a:avLst>
              <a:gd name="adj" fmla="val 8889"/>
            </a:avLst>
          </a:prstGeom>
          <a:solidFill>
            <a:srgbClr val="E8EDFC"/>
          </a:solidFill>
          <a:ln w="9525">
            <a:solidFill>
              <a:srgbClr val="E8EDFC"/>
            </a:solidFill>
            <a:prstDash val="solid"/>
          </a:ln>
        </p:spPr>
        <p:txBody>
          <a:bodyPr/>
          <a:lstStyle/>
          <a:p>
            <a:endParaRPr/>
          </a:p>
        </p:txBody>
      </p:sp>
      <p:sp>
        <p:nvSpPr>
          <p:cNvPr id="30" name="Shape 27"/>
          <p:cNvSpPr/>
          <p:nvPr/>
        </p:nvSpPr>
        <p:spPr>
          <a:xfrm>
            <a:off x="4480560" y="3657600"/>
            <a:ext cx="502920" cy="502920"/>
          </a:xfrm>
          <a:prstGeom prst="ellipse">
            <a:avLst/>
          </a:prstGeom>
          <a:solidFill>
            <a:srgbClr val="8E70EB"/>
          </a:solidFill>
          <a:ln w="12700">
            <a:solidFill>
              <a:srgbClr val="8E70EB"/>
            </a:solidFill>
            <a:prstDash val="solid"/>
          </a:ln>
        </p:spPr>
        <p:txBody>
          <a:bodyPr/>
          <a:lstStyle/>
          <a:p>
            <a:endParaRPr/>
          </a:p>
        </p:txBody>
      </p:sp>
      <p:pic>
        <p:nvPicPr>
          <p:cNvPr id="31" name="Image 1" descr="Bullseye"/>
          <p:cNvPicPr>
            <a:picLocks noChangeAspect="1"/>
          </p:cNvPicPr>
          <p:nvPr/>
        </p:nvPicPr>
        <p:blipFill>
          <a:blip r:embed="rId4"/>
          <a:stretch>
            <a:fillRect/>
          </a:stretch>
        </p:blipFill>
        <p:spPr>
          <a:xfrm>
            <a:off x="4606290" y="3783330"/>
            <a:ext cx="251460" cy="251460"/>
          </a:xfrm>
          <a:prstGeom prst="rect">
            <a:avLst/>
          </a:prstGeom>
        </p:spPr>
      </p:pic>
      <p:sp>
        <p:nvSpPr>
          <p:cNvPr id="32" name="Text 28"/>
          <p:cNvSpPr txBox="1"/>
          <p:nvPr/>
        </p:nvSpPr>
        <p:spPr>
          <a:xfrm>
            <a:off x="5166360" y="3447288"/>
            <a:ext cx="2606040" cy="274320"/>
          </a:xfrm>
          <a:prstGeom prst="rect">
            <a:avLst/>
          </a:prstGeom>
          <a:noFill/>
          <a:ln/>
        </p:spPr>
        <p:txBody>
          <a:bodyPr wrap="square" lIns="0" tIns="0" rIns="0" bIns="0" rtlCol="0" anchor="t"/>
          <a:lstStyle/>
          <a:p>
            <a:pPr marL="0" indent="0">
              <a:buNone/>
            </a:pPr>
            <a:r>
              <a:rPr lang="en-US" sz="1500" b="1" dirty="0">
                <a:solidFill>
                  <a:srgbClr val="1B2140"/>
                </a:solidFill>
                <a:latin typeface="Calibri" pitchFamily="34" charset="0"/>
                <a:ea typeface="Calibri" pitchFamily="34" charset="-122"/>
                <a:cs typeface="Calibri" pitchFamily="34" charset="-120"/>
              </a:rPr>
              <a:t>Docking</a:t>
            </a:r>
            <a:endParaRPr lang="en-US" sz="1500" dirty="0"/>
          </a:p>
        </p:txBody>
      </p:sp>
      <p:sp>
        <p:nvSpPr>
          <p:cNvPr id="33" name="Text 29"/>
          <p:cNvSpPr txBox="1"/>
          <p:nvPr/>
        </p:nvSpPr>
        <p:spPr>
          <a:xfrm>
            <a:off x="5166360" y="3749040"/>
            <a:ext cx="2606040" cy="73152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AutoDock Vina, multi-reseptor, multi-situs, replikasi, resume</a:t>
            </a:r>
            <a:endParaRPr lang="en-US" sz="1200" dirty="0"/>
          </a:p>
        </p:txBody>
      </p:sp>
      <p:sp>
        <p:nvSpPr>
          <p:cNvPr id="34" name="Shape 30"/>
          <p:cNvSpPr/>
          <p:nvPr/>
        </p:nvSpPr>
        <p:spPr>
          <a:xfrm>
            <a:off x="8046720" y="3291840"/>
            <a:ext cx="3611880" cy="1234440"/>
          </a:xfrm>
          <a:prstGeom prst="roundRect">
            <a:avLst>
              <a:gd name="adj" fmla="val 8889"/>
            </a:avLst>
          </a:prstGeom>
          <a:solidFill>
            <a:srgbClr val="E8EDFC"/>
          </a:solidFill>
          <a:ln w="9525">
            <a:solidFill>
              <a:srgbClr val="E8EDFC"/>
            </a:solidFill>
            <a:prstDash val="solid"/>
          </a:ln>
        </p:spPr>
        <p:txBody>
          <a:bodyPr/>
          <a:lstStyle/>
          <a:p>
            <a:endParaRPr/>
          </a:p>
        </p:txBody>
      </p:sp>
      <p:sp>
        <p:nvSpPr>
          <p:cNvPr id="35" name="Shape 31"/>
          <p:cNvSpPr/>
          <p:nvPr/>
        </p:nvSpPr>
        <p:spPr>
          <a:xfrm>
            <a:off x="8229600" y="3657600"/>
            <a:ext cx="502920" cy="502920"/>
          </a:xfrm>
          <a:prstGeom prst="ellipse">
            <a:avLst/>
          </a:prstGeom>
          <a:solidFill>
            <a:srgbClr val="3C71E8"/>
          </a:solidFill>
          <a:ln w="12700">
            <a:solidFill>
              <a:srgbClr val="3C71E8"/>
            </a:solidFill>
            <a:prstDash val="solid"/>
          </a:ln>
        </p:spPr>
        <p:txBody>
          <a:bodyPr/>
          <a:lstStyle/>
          <a:p>
            <a:endParaRPr/>
          </a:p>
        </p:txBody>
      </p:sp>
      <p:pic>
        <p:nvPicPr>
          <p:cNvPr id="36" name="Image 2" descr="CheckCircle"/>
          <p:cNvPicPr>
            <a:picLocks noChangeAspect="1"/>
          </p:cNvPicPr>
          <p:nvPr/>
        </p:nvPicPr>
        <p:blipFill>
          <a:blip r:embed="rId5"/>
          <a:stretch>
            <a:fillRect/>
          </a:stretch>
        </p:blipFill>
        <p:spPr>
          <a:xfrm>
            <a:off x="8355330" y="3783330"/>
            <a:ext cx="251460" cy="251460"/>
          </a:xfrm>
          <a:prstGeom prst="rect">
            <a:avLst/>
          </a:prstGeom>
        </p:spPr>
      </p:pic>
      <p:sp>
        <p:nvSpPr>
          <p:cNvPr id="37" name="Text 32"/>
          <p:cNvSpPr txBox="1"/>
          <p:nvPr/>
        </p:nvSpPr>
        <p:spPr>
          <a:xfrm>
            <a:off x="8915400" y="3447288"/>
            <a:ext cx="2606040" cy="274320"/>
          </a:xfrm>
          <a:prstGeom prst="rect">
            <a:avLst/>
          </a:prstGeom>
          <a:noFill/>
          <a:ln/>
        </p:spPr>
        <p:txBody>
          <a:bodyPr wrap="square" lIns="0" tIns="0" rIns="0" bIns="0" rtlCol="0" anchor="t"/>
          <a:lstStyle/>
          <a:p>
            <a:pPr marL="0" indent="0">
              <a:buNone/>
            </a:pPr>
            <a:r>
              <a:rPr lang="en-US" sz="1500" b="1" dirty="0">
                <a:solidFill>
                  <a:srgbClr val="1B2140"/>
                </a:solidFill>
                <a:latin typeface="Calibri" pitchFamily="34" charset="0"/>
                <a:ea typeface="Calibri" pitchFamily="34" charset="-122"/>
                <a:cs typeface="Calibri" pitchFamily="34" charset="-120"/>
              </a:rPr>
              <a:t>Validasi</a:t>
            </a:r>
            <a:endParaRPr lang="en-US" sz="1500" dirty="0"/>
          </a:p>
        </p:txBody>
      </p:sp>
      <p:sp>
        <p:nvSpPr>
          <p:cNvPr id="38" name="Text 33"/>
          <p:cNvSpPr txBox="1"/>
          <p:nvPr/>
        </p:nvSpPr>
        <p:spPr>
          <a:xfrm>
            <a:off x="8915400" y="3749040"/>
            <a:ext cx="2606040" cy="73152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Native di-dock sebagai pembanding; RMSD in place</a:t>
            </a:r>
            <a:endParaRPr lang="en-US" sz="1200" dirty="0"/>
          </a:p>
        </p:txBody>
      </p:sp>
      <p:sp>
        <p:nvSpPr>
          <p:cNvPr id="39" name="Shape 34"/>
          <p:cNvSpPr/>
          <p:nvPr/>
        </p:nvSpPr>
        <p:spPr>
          <a:xfrm>
            <a:off x="548640" y="4663440"/>
            <a:ext cx="3611880" cy="1234440"/>
          </a:xfrm>
          <a:prstGeom prst="roundRect">
            <a:avLst>
              <a:gd name="adj" fmla="val 8889"/>
            </a:avLst>
          </a:prstGeom>
          <a:solidFill>
            <a:srgbClr val="E8EDFC"/>
          </a:solidFill>
          <a:ln w="9525">
            <a:solidFill>
              <a:srgbClr val="E8EDFC"/>
            </a:solidFill>
            <a:prstDash val="solid"/>
          </a:ln>
        </p:spPr>
        <p:txBody>
          <a:bodyPr/>
          <a:lstStyle/>
          <a:p>
            <a:endParaRPr/>
          </a:p>
        </p:txBody>
      </p:sp>
      <p:sp>
        <p:nvSpPr>
          <p:cNvPr id="40" name="Shape 35"/>
          <p:cNvSpPr/>
          <p:nvPr/>
        </p:nvSpPr>
        <p:spPr>
          <a:xfrm>
            <a:off x="731520" y="5029200"/>
            <a:ext cx="502920" cy="502920"/>
          </a:xfrm>
          <a:prstGeom prst="ellipse">
            <a:avLst/>
          </a:prstGeom>
          <a:solidFill>
            <a:srgbClr val="8E70EB"/>
          </a:solidFill>
          <a:ln w="12700">
            <a:solidFill>
              <a:srgbClr val="8E70EB"/>
            </a:solidFill>
            <a:prstDash val="solid"/>
          </a:ln>
        </p:spPr>
        <p:txBody>
          <a:bodyPr/>
          <a:lstStyle/>
          <a:p>
            <a:endParaRPr/>
          </a:p>
        </p:txBody>
      </p:sp>
      <p:pic>
        <p:nvPicPr>
          <p:cNvPr id="41" name="Image 3" descr="Pills"/>
          <p:cNvPicPr>
            <a:picLocks noChangeAspect="1"/>
          </p:cNvPicPr>
          <p:nvPr/>
        </p:nvPicPr>
        <p:blipFill>
          <a:blip r:embed="rId6"/>
          <a:stretch>
            <a:fillRect/>
          </a:stretch>
        </p:blipFill>
        <p:spPr>
          <a:xfrm>
            <a:off x="857250" y="5154930"/>
            <a:ext cx="251460" cy="251460"/>
          </a:xfrm>
          <a:prstGeom prst="rect">
            <a:avLst/>
          </a:prstGeom>
        </p:spPr>
      </p:pic>
      <p:sp>
        <p:nvSpPr>
          <p:cNvPr id="42" name="Text 36"/>
          <p:cNvSpPr txBox="1"/>
          <p:nvPr/>
        </p:nvSpPr>
        <p:spPr>
          <a:xfrm>
            <a:off x="1417320" y="4818888"/>
            <a:ext cx="2606040" cy="274320"/>
          </a:xfrm>
          <a:prstGeom prst="rect">
            <a:avLst/>
          </a:prstGeom>
          <a:noFill/>
          <a:ln/>
        </p:spPr>
        <p:txBody>
          <a:bodyPr wrap="square" lIns="0" tIns="0" rIns="0" bIns="0" rtlCol="0" anchor="t"/>
          <a:lstStyle/>
          <a:p>
            <a:pPr marL="0" indent="0">
              <a:buNone/>
            </a:pPr>
            <a:r>
              <a:rPr lang="en-US" sz="1500" b="1" dirty="0">
                <a:solidFill>
                  <a:srgbClr val="1B2140"/>
                </a:solidFill>
                <a:latin typeface="Calibri" pitchFamily="34" charset="0"/>
                <a:ea typeface="Calibri" pitchFamily="34" charset="-122"/>
                <a:cs typeface="Calibri" pitchFamily="34" charset="-120"/>
              </a:rPr>
              <a:t>ADMET</a:t>
            </a:r>
            <a:endParaRPr lang="en-US" sz="1500" dirty="0"/>
          </a:p>
        </p:txBody>
      </p:sp>
      <p:sp>
        <p:nvSpPr>
          <p:cNvPr id="43" name="Text 37"/>
          <p:cNvSpPr txBox="1"/>
          <p:nvPr/>
        </p:nvSpPr>
        <p:spPr>
          <a:xfrm>
            <a:off x="1417320" y="5120640"/>
            <a:ext cx="2606040" cy="73152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ADMETLab3 otomatis atau dari file unduhan</a:t>
            </a:r>
            <a:endParaRPr lang="en-US" sz="1200" dirty="0"/>
          </a:p>
        </p:txBody>
      </p:sp>
      <p:sp>
        <p:nvSpPr>
          <p:cNvPr id="44" name="Shape 38"/>
          <p:cNvSpPr/>
          <p:nvPr/>
        </p:nvSpPr>
        <p:spPr>
          <a:xfrm>
            <a:off x="4297680" y="4663440"/>
            <a:ext cx="3611880" cy="1234440"/>
          </a:xfrm>
          <a:prstGeom prst="roundRect">
            <a:avLst>
              <a:gd name="adj" fmla="val 8889"/>
            </a:avLst>
          </a:prstGeom>
          <a:solidFill>
            <a:srgbClr val="E8EDFC"/>
          </a:solidFill>
          <a:ln w="9525">
            <a:solidFill>
              <a:srgbClr val="E8EDFC"/>
            </a:solidFill>
            <a:prstDash val="solid"/>
          </a:ln>
        </p:spPr>
        <p:txBody>
          <a:bodyPr/>
          <a:lstStyle/>
          <a:p>
            <a:endParaRPr/>
          </a:p>
        </p:txBody>
      </p:sp>
      <p:sp>
        <p:nvSpPr>
          <p:cNvPr id="45" name="Shape 39"/>
          <p:cNvSpPr/>
          <p:nvPr/>
        </p:nvSpPr>
        <p:spPr>
          <a:xfrm>
            <a:off x="4480560" y="5029200"/>
            <a:ext cx="502920" cy="502920"/>
          </a:xfrm>
          <a:prstGeom prst="ellipse">
            <a:avLst/>
          </a:prstGeom>
          <a:solidFill>
            <a:srgbClr val="3C71E8"/>
          </a:solidFill>
          <a:ln w="12700">
            <a:solidFill>
              <a:srgbClr val="3C71E8"/>
            </a:solidFill>
            <a:prstDash val="solid"/>
          </a:ln>
        </p:spPr>
        <p:txBody>
          <a:bodyPr/>
          <a:lstStyle/>
          <a:p>
            <a:endParaRPr/>
          </a:p>
        </p:txBody>
      </p:sp>
      <p:pic>
        <p:nvPicPr>
          <p:cNvPr id="46" name="Image 4" descr="ChartBar"/>
          <p:cNvPicPr>
            <a:picLocks noChangeAspect="1"/>
          </p:cNvPicPr>
          <p:nvPr/>
        </p:nvPicPr>
        <p:blipFill>
          <a:blip r:embed="rId7"/>
          <a:stretch>
            <a:fillRect/>
          </a:stretch>
        </p:blipFill>
        <p:spPr>
          <a:xfrm>
            <a:off x="4606290" y="5154930"/>
            <a:ext cx="251460" cy="251460"/>
          </a:xfrm>
          <a:prstGeom prst="rect">
            <a:avLst/>
          </a:prstGeom>
        </p:spPr>
      </p:pic>
      <p:sp>
        <p:nvSpPr>
          <p:cNvPr id="47" name="Text 40"/>
          <p:cNvSpPr txBox="1"/>
          <p:nvPr/>
        </p:nvSpPr>
        <p:spPr>
          <a:xfrm>
            <a:off x="5166360" y="4818888"/>
            <a:ext cx="2606040" cy="274320"/>
          </a:xfrm>
          <a:prstGeom prst="rect">
            <a:avLst/>
          </a:prstGeom>
          <a:noFill/>
          <a:ln/>
        </p:spPr>
        <p:txBody>
          <a:bodyPr wrap="square" lIns="0" tIns="0" rIns="0" bIns="0" rtlCol="0" anchor="t"/>
          <a:lstStyle/>
          <a:p>
            <a:pPr marL="0" indent="0">
              <a:buNone/>
            </a:pPr>
            <a:r>
              <a:rPr lang="en-US" sz="1500" b="1" dirty="0">
                <a:solidFill>
                  <a:srgbClr val="1B2140"/>
                </a:solidFill>
                <a:latin typeface="Calibri" pitchFamily="34" charset="0"/>
                <a:ea typeface="Calibri" pitchFamily="34" charset="-122"/>
                <a:cs typeface="Calibri" pitchFamily="34" charset="-120"/>
              </a:rPr>
              <a:t>Analitik</a:t>
            </a:r>
            <a:endParaRPr lang="en-US" sz="1500" dirty="0"/>
          </a:p>
        </p:txBody>
      </p:sp>
      <p:sp>
        <p:nvSpPr>
          <p:cNvPr id="48" name="Text 41"/>
          <p:cNvSpPr txBox="1"/>
          <p:nvPr/>
        </p:nvSpPr>
        <p:spPr>
          <a:xfrm>
            <a:off x="5166360" y="5120640"/>
            <a:ext cx="2606040" cy="73152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Bar, radar, heatmap, PCA gaya jurnal, HCA, per grup; 300 dpi</a:t>
            </a:r>
            <a:endParaRPr lang="en-US" sz="1200" dirty="0"/>
          </a:p>
        </p:txBody>
      </p:sp>
      <p:sp>
        <p:nvSpPr>
          <p:cNvPr id="49" name="Shape 42"/>
          <p:cNvSpPr/>
          <p:nvPr/>
        </p:nvSpPr>
        <p:spPr>
          <a:xfrm>
            <a:off x="8046720" y="4663440"/>
            <a:ext cx="3611880" cy="1234440"/>
          </a:xfrm>
          <a:prstGeom prst="roundRect">
            <a:avLst>
              <a:gd name="adj" fmla="val 8889"/>
            </a:avLst>
          </a:prstGeom>
          <a:solidFill>
            <a:srgbClr val="E8EDFC"/>
          </a:solidFill>
          <a:ln w="9525">
            <a:solidFill>
              <a:srgbClr val="E8EDFC"/>
            </a:solidFill>
            <a:prstDash val="solid"/>
          </a:ln>
        </p:spPr>
        <p:txBody>
          <a:bodyPr/>
          <a:lstStyle/>
          <a:p>
            <a:endParaRPr/>
          </a:p>
        </p:txBody>
      </p:sp>
      <p:sp>
        <p:nvSpPr>
          <p:cNvPr id="50" name="Shape 43"/>
          <p:cNvSpPr/>
          <p:nvPr/>
        </p:nvSpPr>
        <p:spPr>
          <a:xfrm>
            <a:off x="8229600" y="5029200"/>
            <a:ext cx="502920" cy="502920"/>
          </a:xfrm>
          <a:prstGeom prst="ellipse">
            <a:avLst/>
          </a:prstGeom>
          <a:solidFill>
            <a:srgbClr val="8E70EB"/>
          </a:solidFill>
          <a:ln w="12700">
            <a:solidFill>
              <a:srgbClr val="8E70EB"/>
            </a:solidFill>
            <a:prstDash val="solid"/>
          </a:ln>
        </p:spPr>
        <p:txBody>
          <a:bodyPr/>
          <a:lstStyle/>
          <a:p>
            <a:endParaRPr/>
          </a:p>
        </p:txBody>
      </p:sp>
      <p:pic>
        <p:nvPicPr>
          <p:cNvPr id="51" name="Image 5" descr="ProjectDiagram"/>
          <p:cNvPicPr>
            <a:picLocks noChangeAspect="1"/>
          </p:cNvPicPr>
          <p:nvPr/>
        </p:nvPicPr>
        <p:blipFill>
          <a:blip r:embed="rId8"/>
          <a:stretch>
            <a:fillRect/>
          </a:stretch>
        </p:blipFill>
        <p:spPr>
          <a:xfrm>
            <a:off x="8355330" y="5154930"/>
            <a:ext cx="251460" cy="251460"/>
          </a:xfrm>
          <a:prstGeom prst="rect">
            <a:avLst/>
          </a:prstGeom>
        </p:spPr>
      </p:pic>
      <p:sp>
        <p:nvSpPr>
          <p:cNvPr id="52" name="Text 44"/>
          <p:cNvSpPr txBox="1"/>
          <p:nvPr/>
        </p:nvSpPr>
        <p:spPr>
          <a:xfrm>
            <a:off x="8915400" y="4818888"/>
            <a:ext cx="2606040" cy="274320"/>
          </a:xfrm>
          <a:prstGeom prst="rect">
            <a:avLst/>
          </a:prstGeom>
          <a:noFill/>
          <a:ln/>
        </p:spPr>
        <p:txBody>
          <a:bodyPr wrap="square" lIns="0" tIns="0" rIns="0" bIns="0" rtlCol="0" anchor="t"/>
          <a:lstStyle/>
          <a:p>
            <a:pPr marL="0" indent="0">
              <a:buNone/>
            </a:pPr>
            <a:r>
              <a:rPr lang="en-US" sz="1500" b="1" dirty="0">
                <a:solidFill>
                  <a:srgbClr val="1B2140"/>
                </a:solidFill>
                <a:latin typeface="Calibri" pitchFamily="34" charset="0"/>
                <a:ea typeface="Calibri" pitchFamily="34" charset="-122"/>
                <a:cs typeface="Calibri" pitchFamily="34" charset="-120"/>
              </a:rPr>
              <a:t>Similaritas</a:t>
            </a:r>
            <a:endParaRPr lang="en-US" sz="1500" dirty="0"/>
          </a:p>
        </p:txBody>
      </p:sp>
      <p:sp>
        <p:nvSpPr>
          <p:cNvPr id="53" name="Text 45"/>
          <p:cNvSpPr txBox="1"/>
          <p:nvPr/>
        </p:nvSpPr>
        <p:spPr>
          <a:xfrm>
            <a:off x="8915400" y="5120640"/>
            <a:ext cx="2606040" cy="73152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Pola interaksi terhadap native; BIOVIA otomatis di Windows</a:t>
            </a:r>
            <a:endParaRPr lang="en-US" sz="1200" dirty="0"/>
          </a:p>
        </p:txBody>
      </p:sp>
      <p:sp>
        <p:nvSpPr>
          <p:cNvPr id="54" name="Text 46"/>
          <p:cNvSpPr txBox="1"/>
          <p:nvPr/>
        </p:nvSpPr>
        <p:spPr>
          <a:xfrm>
            <a:off x="548640" y="6053328"/>
            <a:ext cx="11064240" cy="365760"/>
          </a:xfrm>
          <a:prstGeom prst="rect">
            <a:avLst/>
          </a:prstGeom>
          <a:noFill/>
          <a:ln/>
        </p:spPr>
        <p:txBody>
          <a:bodyPr wrap="square" lIns="0" tIns="0" rIns="0" bIns="0" rtlCol="0" anchor="t"/>
          <a:lstStyle/>
          <a:p>
            <a:pPr marL="0" indent="0" algn="l">
              <a:buNone/>
            </a:pPr>
            <a:r>
              <a:rPr lang="en-US" sz="1000" dirty="0">
                <a:solidFill>
                  <a:srgbClr val="5B6480"/>
                </a:solidFill>
                <a:latin typeface="Calibri" pitchFamily="34" charset="0"/>
                <a:ea typeface="Calibri" pitchFamily="34" charset="-122"/>
                <a:cs typeface="Calibri" pitchFamily="34" charset="-120"/>
              </a:rPr>
              <a:t>Run demonstrasi di deck ini: 10 ligan × 5 reseptor × 2 replikat = 100 docking dalam ±13 menit (Vina 1.2.7, exhaustiveness 16).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2263140"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B · PYTHON DAN ARSITEKTUR</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Ekosistem Python menutup seluruh rantai in silico</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6</a:t>
            </a:r>
            <a:endParaRPr lang="en-US" sz="1000" dirty="0"/>
          </a:p>
        </p:txBody>
      </p:sp>
      <p:sp>
        <p:nvSpPr>
          <p:cNvPr id="6" name="Shape 4"/>
          <p:cNvSpPr/>
          <p:nvPr/>
        </p:nvSpPr>
        <p:spPr>
          <a:xfrm>
            <a:off x="548640" y="1691640"/>
            <a:ext cx="2651760" cy="1965960"/>
          </a:xfrm>
          <a:prstGeom prst="roundRect">
            <a:avLst>
              <a:gd name="adj" fmla="val 5581"/>
            </a:avLst>
          </a:prstGeom>
          <a:solidFill>
            <a:srgbClr val="E8EDFC"/>
          </a:solidFill>
          <a:ln w="9525">
            <a:solidFill>
              <a:srgbClr val="E8EDFC"/>
            </a:solidFill>
            <a:prstDash val="solid"/>
          </a:ln>
        </p:spPr>
        <p:txBody>
          <a:bodyPr/>
          <a:p/>
        </p:txBody>
      </p:sp>
      <p:sp>
        <p:nvSpPr>
          <p:cNvPr id="7" name="Shape 5"/>
          <p:cNvSpPr/>
          <p:nvPr/>
        </p:nvSpPr>
        <p:spPr>
          <a:xfrm>
            <a:off x="731520" y="1856232"/>
            <a:ext cx="475488" cy="475488"/>
          </a:xfrm>
          <a:prstGeom prst="ellipse">
            <a:avLst/>
          </a:prstGeom>
          <a:solidFill>
            <a:srgbClr val="3C71E8"/>
          </a:solidFill>
          <a:ln w="12700">
            <a:solidFill>
              <a:srgbClr val="3C71E8"/>
            </a:solidFill>
            <a:prstDash val="solid"/>
          </a:ln>
        </p:spPr>
        <p:txBody>
          <a:bodyPr/>
          <a:p/>
        </p:txBody>
      </p:sp>
      <p:pic>
        <p:nvPicPr>
          <p:cNvPr id="8" name="Image 0" descr="Flask"/>
          <p:cNvPicPr>
            <a:picLocks noChangeAspect="1"/>
          </p:cNvPicPr>
          <p:nvPr/>
        </p:nvPicPr>
        <p:blipFill>
          <a:blip r:embed="rId3"/>
          <a:stretch>
            <a:fillRect/>
          </a:stretch>
        </p:blipFill>
        <p:spPr>
          <a:xfrm>
            <a:off x="850392" y="1975104"/>
            <a:ext cx="237744" cy="237744"/>
          </a:xfrm>
          <a:prstGeom prst="rect">
            <a:avLst/>
          </a:prstGeom>
        </p:spPr>
      </p:pic>
      <p:sp>
        <p:nvSpPr>
          <p:cNvPr id="9" name="Text 6"/>
          <p:cNvSpPr txBox="1"/>
          <p:nvPr/>
        </p:nvSpPr>
        <p:spPr>
          <a:xfrm>
            <a:off x="731520" y="2423160"/>
            <a:ext cx="2331720" cy="274320"/>
          </a:xfrm>
          <a:prstGeom prst="rect">
            <a:avLst/>
          </a:prstGeom>
          <a:noFill/>
          <a:ln/>
        </p:spPr>
        <p:txBody>
          <a:bodyPr wrap="square" lIns="0" tIns="0" rIns="0" bIns="0" rtlCol="0" anchor="t"/>
          <a:lstStyle/>
          <a:p>
            <a:pPr marL="0" indent="0">
              <a:buNone/>
            </a:pPr>
            <a:r>
              <a:rPr lang="en-US" sz="1400" b="1" dirty="0">
                <a:solidFill>
                  <a:srgbClr val="1B2140"/>
                </a:solidFill>
                <a:latin typeface="Calibri" pitchFamily="34" charset="0"/>
                <a:ea typeface="Calibri" pitchFamily="34" charset="-122"/>
                <a:cs typeface="Calibri" pitchFamily="34" charset="-120"/>
              </a:rPr>
              <a:t>RDKit</a:t>
            </a:r>
            <a:endParaRPr lang="en-US" sz="1400" dirty="0"/>
          </a:p>
        </p:txBody>
      </p:sp>
      <p:sp>
        <p:nvSpPr>
          <p:cNvPr id="10" name="Text 7"/>
          <p:cNvSpPr txBox="1"/>
          <p:nvPr/>
        </p:nvSpPr>
        <p:spPr>
          <a:xfrm>
            <a:off x="731520" y="2715768"/>
            <a:ext cx="2331720" cy="566928"/>
          </a:xfrm>
          <a:prstGeom prst="rect">
            <a:avLst/>
          </a:prstGeom>
          <a:noFill/>
          <a:ln/>
        </p:spPr>
        <p:txBody>
          <a:bodyPr wrap="square" lIns="0" tIns="0" rIns="0" bIns="0" rtlCol="0" anchor="t"/>
          <a:lstStyle/>
          <a:p>
            <a:pPr marL="0" indent="0">
              <a:buNone/>
            </a:pPr>
            <a:r>
              <a:rPr lang="en-US" sz="1100" dirty="0">
                <a:solidFill>
                  <a:srgbClr val="5B6480"/>
                </a:solidFill>
                <a:latin typeface="Calibri" pitchFamily="34" charset="0"/>
                <a:ea typeface="Calibri" pitchFamily="34" charset="-122"/>
                <a:cs typeface="Calibri" pitchFamily="34" charset="-120"/>
              </a:rPr>
              <a:t>Kemoinformatika: SMILES, konformasi 3D, MMFF94, deskriptor</a:t>
            </a:r>
            <a:endParaRPr lang="en-US" sz="1100" dirty="0"/>
          </a:p>
        </p:txBody>
      </p:sp>
      <p:sp>
        <p:nvSpPr>
          <p:cNvPr id="11" name="Text 8"/>
          <p:cNvSpPr txBox="1"/>
          <p:nvPr/>
        </p:nvSpPr>
        <p:spPr>
          <a:xfrm>
            <a:off x="731520" y="3319272"/>
            <a:ext cx="960120" cy="219456"/>
          </a:xfrm>
          <a:prstGeom prst="roundRect">
            <a:avLst>
              <a:gd name="adj" fmla="val 58333"/>
            </a:avLst>
          </a:prstGeom>
          <a:solidFill>
            <a:srgbClr val="FFFFFF"/>
          </a:solidFill>
          <a:ln/>
        </p:spPr>
        <p:txBody>
          <a:bodyPr wrap="square" lIns="0" tIns="0" rIns="0" bIns="0" rtlCol="0" anchor="ctr"/>
          <a:lstStyle/>
          <a:p>
            <a:pPr marL="0" indent="0" algn="ctr">
              <a:buNone/>
            </a:pPr>
            <a:r>
              <a:rPr lang="en-US" sz="950" b="1" dirty="0">
                <a:solidFill>
                  <a:srgbClr val="3C71E8"/>
                </a:solidFill>
                <a:latin typeface="Calibri" pitchFamily="34" charset="0"/>
                <a:ea typeface="Calibri" pitchFamily="34" charset="-122"/>
                <a:cs typeface="Calibri" pitchFamily="34" charset="-120"/>
              </a:rPr>
              <a:t>≥ 2023.9.1</a:t>
            </a:r>
            <a:endParaRPr lang="en-US" sz="950" dirty="0"/>
          </a:p>
        </p:txBody>
      </p:sp>
      <p:sp>
        <p:nvSpPr>
          <p:cNvPr id="12" name="Shape 9"/>
          <p:cNvSpPr/>
          <p:nvPr/>
        </p:nvSpPr>
        <p:spPr>
          <a:xfrm>
            <a:off x="3355848" y="1691640"/>
            <a:ext cx="2651760" cy="1965960"/>
          </a:xfrm>
          <a:prstGeom prst="roundRect">
            <a:avLst>
              <a:gd name="adj" fmla="val 5581"/>
            </a:avLst>
          </a:prstGeom>
          <a:solidFill>
            <a:srgbClr val="E8EDFC"/>
          </a:solidFill>
          <a:ln w="9525">
            <a:solidFill>
              <a:srgbClr val="E8EDFC"/>
            </a:solidFill>
            <a:prstDash val="solid"/>
          </a:ln>
        </p:spPr>
        <p:txBody>
          <a:bodyPr/>
          <a:p/>
        </p:txBody>
      </p:sp>
      <p:sp>
        <p:nvSpPr>
          <p:cNvPr id="13" name="Shape 10"/>
          <p:cNvSpPr/>
          <p:nvPr/>
        </p:nvSpPr>
        <p:spPr>
          <a:xfrm>
            <a:off x="3538728" y="1856232"/>
            <a:ext cx="475488" cy="475488"/>
          </a:xfrm>
          <a:prstGeom prst="ellipse">
            <a:avLst/>
          </a:prstGeom>
          <a:solidFill>
            <a:srgbClr val="8E70EB"/>
          </a:solidFill>
          <a:ln w="12700">
            <a:solidFill>
              <a:srgbClr val="8E70EB"/>
            </a:solidFill>
            <a:prstDash val="solid"/>
          </a:ln>
        </p:spPr>
        <p:txBody>
          <a:bodyPr/>
          <a:p/>
        </p:txBody>
      </p:sp>
      <p:pic>
        <p:nvPicPr>
          <p:cNvPr id="14" name="Image 1" descr="ExchangeAlt"/>
          <p:cNvPicPr>
            <a:picLocks noChangeAspect="1"/>
          </p:cNvPicPr>
          <p:nvPr/>
        </p:nvPicPr>
        <p:blipFill>
          <a:blip r:embed="rId4"/>
          <a:stretch>
            <a:fillRect/>
          </a:stretch>
        </p:blipFill>
        <p:spPr>
          <a:xfrm>
            <a:off x="3657600" y="1975104"/>
            <a:ext cx="237744" cy="237744"/>
          </a:xfrm>
          <a:prstGeom prst="rect">
            <a:avLst/>
          </a:prstGeom>
        </p:spPr>
      </p:pic>
      <p:sp>
        <p:nvSpPr>
          <p:cNvPr id="15" name="Text 11"/>
          <p:cNvSpPr txBox="1"/>
          <p:nvPr/>
        </p:nvSpPr>
        <p:spPr>
          <a:xfrm>
            <a:off x="3538728" y="2423160"/>
            <a:ext cx="2331720" cy="274320"/>
          </a:xfrm>
          <a:prstGeom prst="rect">
            <a:avLst/>
          </a:prstGeom>
          <a:noFill/>
          <a:ln/>
        </p:spPr>
        <p:txBody>
          <a:bodyPr wrap="square" lIns="0" tIns="0" rIns="0" bIns="0" rtlCol="0" anchor="t"/>
          <a:lstStyle/>
          <a:p>
            <a:pPr marL="0" indent="0">
              <a:buNone/>
            </a:pPr>
            <a:r>
              <a:rPr lang="en-US" sz="1400" b="1" dirty="0">
                <a:solidFill>
                  <a:srgbClr val="1B2140"/>
                </a:solidFill>
                <a:latin typeface="Calibri" pitchFamily="34" charset="0"/>
                <a:ea typeface="Calibri" pitchFamily="34" charset="-122"/>
                <a:cs typeface="Calibri" pitchFamily="34" charset="-120"/>
              </a:rPr>
              <a:t>Open Babel</a:t>
            </a:r>
            <a:endParaRPr lang="en-US" sz="1400" dirty="0"/>
          </a:p>
        </p:txBody>
      </p:sp>
      <p:sp>
        <p:nvSpPr>
          <p:cNvPr id="16" name="Text 12"/>
          <p:cNvSpPr txBox="1"/>
          <p:nvPr/>
        </p:nvSpPr>
        <p:spPr>
          <a:xfrm>
            <a:off x="3538728" y="2715768"/>
            <a:ext cx="2331720" cy="566928"/>
          </a:xfrm>
          <a:prstGeom prst="rect">
            <a:avLst/>
          </a:prstGeom>
          <a:noFill/>
          <a:ln/>
        </p:spPr>
        <p:txBody>
          <a:bodyPr wrap="square" lIns="0" tIns="0" rIns="0" bIns="0" rtlCol="0" anchor="t"/>
          <a:lstStyle/>
          <a:p>
            <a:pPr marL="0" indent="0">
              <a:buNone/>
            </a:pPr>
            <a:r>
              <a:rPr lang="en-US" sz="1100" dirty="0">
                <a:solidFill>
                  <a:srgbClr val="5B6480"/>
                </a:solidFill>
                <a:latin typeface="Calibri" pitchFamily="34" charset="0"/>
                <a:ea typeface="Calibri" pitchFamily="34" charset="-122"/>
                <a:cs typeface="Calibri" pitchFamily="34" charset="-120"/>
              </a:rPr>
              <a:t>Konversi PDB ke PDBQT lewat subprocess. Bukan paket pip</a:t>
            </a:r>
            <a:endParaRPr lang="en-US" sz="1100" dirty="0"/>
          </a:p>
        </p:txBody>
      </p:sp>
      <p:sp>
        <p:nvSpPr>
          <p:cNvPr id="17" name="Text 13"/>
          <p:cNvSpPr txBox="1"/>
          <p:nvPr/>
        </p:nvSpPr>
        <p:spPr>
          <a:xfrm>
            <a:off x="3538728" y="3319272"/>
            <a:ext cx="1303020" cy="219456"/>
          </a:xfrm>
          <a:prstGeom prst="roundRect">
            <a:avLst>
              <a:gd name="adj" fmla="val 58333"/>
            </a:avLst>
          </a:prstGeom>
          <a:solidFill>
            <a:srgbClr val="FFFFFF"/>
          </a:solidFill>
          <a:ln/>
        </p:spPr>
        <p:txBody>
          <a:bodyPr wrap="square" lIns="0" tIns="0" rIns="0" bIns="0" rtlCol="0" anchor="ctr"/>
          <a:lstStyle/>
          <a:p>
            <a:pPr marL="0" indent="0" algn="ctr">
              <a:buNone/>
            </a:pPr>
            <a:r>
              <a:rPr lang="en-US" sz="950" b="1" dirty="0">
                <a:solidFill>
                  <a:srgbClr val="8E70EB"/>
                </a:solidFill>
                <a:latin typeface="Calibri" pitchFamily="34" charset="0"/>
                <a:ea typeface="Calibri" pitchFamily="34" charset="-122"/>
                <a:cs typeface="Calibri" pitchFamily="34" charset="-120"/>
              </a:rPr>
              <a:t>biner eksternal</a:t>
            </a:r>
            <a:endParaRPr lang="en-US" sz="950" dirty="0"/>
          </a:p>
        </p:txBody>
      </p:sp>
      <p:sp>
        <p:nvSpPr>
          <p:cNvPr id="18" name="Shape 14"/>
          <p:cNvSpPr/>
          <p:nvPr/>
        </p:nvSpPr>
        <p:spPr>
          <a:xfrm>
            <a:off x="6163056" y="1691640"/>
            <a:ext cx="2651760" cy="1965960"/>
          </a:xfrm>
          <a:prstGeom prst="roundRect">
            <a:avLst>
              <a:gd name="adj" fmla="val 5581"/>
            </a:avLst>
          </a:prstGeom>
          <a:solidFill>
            <a:srgbClr val="E8EDFC"/>
          </a:solidFill>
          <a:ln w="9525">
            <a:solidFill>
              <a:srgbClr val="E8EDFC"/>
            </a:solidFill>
            <a:prstDash val="solid"/>
          </a:ln>
        </p:spPr>
        <p:txBody>
          <a:bodyPr/>
          <a:p/>
        </p:txBody>
      </p:sp>
      <p:sp>
        <p:nvSpPr>
          <p:cNvPr id="19" name="Shape 15"/>
          <p:cNvSpPr/>
          <p:nvPr/>
        </p:nvSpPr>
        <p:spPr>
          <a:xfrm>
            <a:off x="6345936" y="1856232"/>
            <a:ext cx="475488" cy="475488"/>
          </a:xfrm>
          <a:prstGeom prst="ellipse">
            <a:avLst/>
          </a:prstGeom>
          <a:solidFill>
            <a:srgbClr val="3C71E8"/>
          </a:solidFill>
          <a:ln w="12700">
            <a:solidFill>
              <a:srgbClr val="3C71E8"/>
            </a:solidFill>
            <a:prstDash val="solid"/>
          </a:ln>
        </p:spPr>
        <p:txBody>
          <a:bodyPr/>
          <a:p/>
        </p:txBody>
      </p:sp>
      <p:pic>
        <p:nvPicPr>
          <p:cNvPr id="20" name="Image 2" descr="FileExcel"/>
          <p:cNvPicPr>
            <a:picLocks noChangeAspect="1"/>
          </p:cNvPicPr>
          <p:nvPr/>
        </p:nvPicPr>
        <p:blipFill>
          <a:blip r:embed="rId5"/>
          <a:stretch>
            <a:fillRect/>
          </a:stretch>
        </p:blipFill>
        <p:spPr>
          <a:xfrm>
            <a:off x="6464808" y="1975104"/>
            <a:ext cx="237744" cy="237744"/>
          </a:xfrm>
          <a:prstGeom prst="rect">
            <a:avLst/>
          </a:prstGeom>
        </p:spPr>
      </p:pic>
      <p:sp>
        <p:nvSpPr>
          <p:cNvPr id="21" name="Text 16"/>
          <p:cNvSpPr txBox="1"/>
          <p:nvPr/>
        </p:nvSpPr>
        <p:spPr>
          <a:xfrm>
            <a:off x="6345936" y="2423160"/>
            <a:ext cx="2331720" cy="274320"/>
          </a:xfrm>
          <a:prstGeom prst="rect">
            <a:avLst/>
          </a:prstGeom>
          <a:noFill/>
          <a:ln/>
        </p:spPr>
        <p:txBody>
          <a:bodyPr wrap="square" lIns="0" tIns="0" rIns="0" bIns="0" rtlCol="0" anchor="t"/>
          <a:lstStyle/>
          <a:p>
            <a:pPr marL="0" indent="0">
              <a:buNone/>
            </a:pPr>
            <a:r>
              <a:rPr lang="en-US" sz="1400" b="1" dirty="0">
                <a:solidFill>
                  <a:srgbClr val="1B2140"/>
                </a:solidFill>
                <a:latin typeface="Calibri" pitchFamily="34" charset="0"/>
                <a:ea typeface="Calibri" pitchFamily="34" charset="-122"/>
                <a:cs typeface="Calibri" pitchFamily="34" charset="-120"/>
              </a:rPr>
              <a:t>pandas · openpyxl</a:t>
            </a:r>
            <a:endParaRPr lang="en-US" sz="1400" dirty="0"/>
          </a:p>
        </p:txBody>
      </p:sp>
      <p:sp>
        <p:nvSpPr>
          <p:cNvPr id="22" name="Text 17"/>
          <p:cNvSpPr txBox="1"/>
          <p:nvPr/>
        </p:nvSpPr>
        <p:spPr>
          <a:xfrm>
            <a:off x="6345936" y="2715768"/>
            <a:ext cx="2331720" cy="566928"/>
          </a:xfrm>
          <a:prstGeom prst="rect">
            <a:avLst/>
          </a:prstGeom>
          <a:noFill/>
          <a:ln/>
        </p:spPr>
        <p:txBody>
          <a:bodyPr wrap="square" lIns="0" tIns="0" rIns="0" bIns="0" rtlCol="0" anchor="t"/>
          <a:lstStyle/>
          <a:p>
            <a:pPr marL="0" indent="0">
              <a:buNone/>
            </a:pPr>
            <a:r>
              <a:rPr lang="en-US" sz="1100" dirty="0">
                <a:solidFill>
                  <a:srgbClr val="5B6480"/>
                </a:solidFill>
                <a:latin typeface="Calibri" pitchFamily="34" charset="0"/>
                <a:ea typeface="Calibri" pitchFamily="34" charset="-122"/>
                <a:cs typeface="Calibri" pitchFamily="34" charset="-120"/>
              </a:rPr>
              <a:t>Baca Excel input, tulis workbook hasil berwarna</a:t>
            </a:r>
            <a:endParaRPr lang="en-US" sz="1100" dirty="0"/>
          </a:p>
        </p:txBody>
      </p:sp>
      <p:sp>
        <p:nvSpPr>
          <p:cNvPr id="23" name="Text 18"/>
          <p:cNvSpPr txBox="1"/>
          <p:nvPr/>
        </p:nvSpPr>
        <p:spPr>
          <a:xfrm>
            <a:off x="6345936" y="3319272"/>
            <a:ext cx="1165860" cy="219456"/>
          </a:xfrm>
          <a:prstGeom prst="roundRect">
            <a:avLst>
              <a:gd name="adj" fmla="val 58333"/>
            </a:avLst>
          </a:prstGeom>
          <a:solidFill>
            <a:srgbClr val="FFFFFF"/>
          </a:solidFill>
          <a:ln/>
        </p:spPr>
        <p:txBody>
          <a:bodyPr wrap="square" lIns="0" tIns="0" rIns="0" bIns="0" rtlCol="0" anchor="ctr"/>
          <a:lstStyle/>
          <a:p>
            <a:pPr marL="0" indent="0" algn="ctr">
              <a:buNone/>
            </a:pPr>
            <a:r>
              <a:rPr lang="en-US" sz="950" b="1" dirty="0">
                <a:solidFill>
                  <a:srgbClr val="3C71E8"/>
                </a:solidFill>
                <a:latin typeface="Calibri" pitchFamily="34" charset="0"/>
                <a:ea typeface="Calibri" pitchFamily="34" charset="-122"/>
                <a:cs typeface="Calibri" pitchFamily="34" charset="-120"/>
              </a:rPr>
              <a:t>≥ 2.0 · ≥ 3.1</a:t>
            </a:r>
            <a:endParaRPr lang="en-US" sz="950" dirty="0"/>
          </a:p>
        </p:txBody>
      </p:sp>
      <p:sp>
        <p:nvSpPr>
          <p:cNvPr id="24" name="Shape 19"/>
          <p:cNvSpPr/>
          <p:nvPr/>
        </p:nvSpPr>
        <p:spPr>
          <a:xfrm>
            <a:off x="8970264" y="1691640"/>
            <a:ext cx="2651760" cy="1965960"/>
          </a:xfrm>
          <a:prstGeom prst="roundRect">
            <a:avLst>
              <a:gd name="adj" fmla="val 5581"/>
            </a:avLst>
          </a:prstGeom>
          <a:solidFill>
            <a:srgbClr val="E8EDFC"/>
          </a:solidFill>
          <a:ln w="9525">
            <a:solidFill>
              <a:srgbClr val="E8EDFC"/>
            </a:solidFill>
            <a:prstDash val="solid"/>
          </a:ln>
        </p:spPr>
        <p:txBody>
          <a:bodyPr/>
          <a:p/>
        </p:txBody>
      </p:sp>
      <p:sp>
        <p:nvSpPr>
          <p:cNvPr id="25" name="Shape 20"/>
          <p:cNvSpPr/>
          <p:nvPr/>
        </p:nvSpPr>
        <p:spPr>
          <a:xfrm>
            <a:off x="9153144" y="1856232"/>
            <a:ext cx="475488" cy="475488"/>
          </a:xfrm>
          <a:prstGeom prst="ellipse">
            <a:avLst/>
          </a:prstGeom>
          <a:solidFill>
            <a:srgbClr val="8E70EB"/>
          </a:solidFill>
          <a:ln w="12700">
            <a:solidFill>
              <a:srgbClr val="8E70EB"/>
            </a:solidFill>
            <a:prstDash val="solid"/>
          </a:ln>
        </p:spPr>
        <p:txBody>
          <a:bodyPr/>
          <a:p/>
        </p:txBody>
      </p:sp>
      <p:pic>
        <p:nvPicPr>
          <p:cNvPr id="26" name="Image 3" descr="CloudDownloadAlt"/>
          <p:cNvPicPr>
            <a:picLocks noChangeAspect="1"/>
          </p:cNvPicPr>
          <p:nvPr/>
        </p:nvPicPr>
        <p:blipFill>
          <a:blip r:embed="rId6"/>
          <a:stretch>
            <a:fillRect/>
          </a:stretch>
        </p:blipFill>
        <p:spPr>
          <a:xfrm>
            <a:off x="9272016" y="1975104"/>
            <a:ext cx="237744" cy="237744"/>
          </a:xfrm>
          <a:prstGeom prst="rect">
            <a:avLst/>
          </a:prstGeom>
        </p:spPr>
      </p:pic>
      <p:sp>
        <p:nvSpPr>
          <p:cNvPr id="27" name="Text 21"/>
          <p:cNvSpPr txBox="1"/>
          <p:nvPr/>
        </p:nvSpPr>
        <p:spPr>
          <a:xfrm>
            <a:off x="9153144" y="2423160"/>
            <a:ext cx="2331720" cy="274320"/>
          </a:xfrm>
          <a:prstGeom prst="rect">
            <a:avLst/>
          </a:prstGeom>
          <a:noFill/>
          <a:ln/>
        </p:spPr>
        <p:txBody>
          <a:bodyPr wrap="square" lIns="0" tIns="0" rIns="0" bIns="0" rtlCol="0" anchor="t"/>
          <a:lstStyle/>
          <a:p>
            <a:pPr marL="0" indent="0">
              <a:buNone/>
            </a:pPr>
            <a:r>
              <a:rPr lang="en-US" sz="1400" b="1" dirty="0">
                <a:solidFill>
                  <a:srgbClr val="1B2140"/>
                </a:solidFill>
                <a:latin typeface="Calibri" pitchFamily="34" charset="0"/>
                <a:ea typeface="Calibri" pitchFamily="34" charset="-122"/>
                <a:cs typeface="Calibri" pitchFamily="34" charset="-120"/>
              </a:rPr>
              <a:t>requests · bs4 · pubchempy</a:t>
            </a:r>
            <a:endParaRPr lang="en-US" sz="1400" dirty="0"/>
          </a:p>
        </p:txBody>
      </p:sp>
      <p:sp>
        <p:nvSpPr>
          <p:cNvPr id="28" name="Text 22"/>
          <p:cNvSpPr txBox="1"/>
          <p:nvPr/>
        </p:nvSpPr>
        <p:spPr>
          <a:xfrm>
            <a:off x="9153144" y="2715768"/>
            <a:ext cx="2331720" cy="566928"/>
          </a:xfrm>
          <a:prstGeom prst="rect">
            <a:avLst/>
          </a:prstGeom>
          <a:noFill/>
          <a:ln/>
        </p:spPr>
        <p:txBody>
          <a:bodyPr wrap="square" lIns="0" tIns="0" rIns="0" bIns="0" rtlCol="0" anchor="t"/>
          <a:lstStyle/>
          <a:p>
            <a:pPr marL="0" indent="0">
              <a:buNone/>
            </a:pPr>
            <a:r>
              <a:rPr lang="en-US" sz="1100" dirty="0">
                <a:solidFill>
                  <a:srgbClr val="5B6480"/>
                </a:solidFill>
                <a:latin typeface="Calibri" pitchFamily="34" charset="0"/>
                <a:ea typeface="Calibri" pitchFamily="34" charset="-122"/>
                <a:cs typeface="Calibri" pitchFamily="34" charset="-120"/>
              </a:rPr>
              <a:t>RCSB, PubChem, ADMETLab3, GitHub Releases</a:t>
            </a:r>
            <a:endParaRPr lang="en-US" sz="1100" dirty="0"/>
          </a:p>
        </p:txBody>
      </p:sp>
      <p:sp>
        <p:nvSpPr>
          <p:cNvPr id="29" name="Text 23"/>
          <p:cNvSpPr txBox="1"/>
          <p:nvPr/>
        </p:nvSpPr>
        <p:spPr>
          <a:xfrm>
            <a:off x="9153144" y="3319272"/>
            <a:ext cx="1988820" cy="219456"/>
          </a:xfrm>
          <a:prstGeom prst="roundRect">
            <a:avLst>
              <a:gd name="adj" fmla="val 58333"/>
            </a:avLst>
          </a:prstGeom>
          <a:solidFill>
            <a:srgbClr val="FFFFFF"/>
          </a:solidFill>
          <a:ln/>
        </p:spPr>
        <p:txBody>
          <a:bodyPr wrap="square" lIns="0" tIns="0" rIns="0" bIns="0" rtlCol="0" anchor="ctr"/>
          <a:lstStyle/>
          <a:p>
            <a:pPr marL="0" indent="0" algn="ctr">
              <a:buNone/>
            </a:pPr>
            <a:r>
              <a:rPr lang="en-US" sz="950" b="1" dirty="0">
                <a:solidFill>
                  <a:srgbClr val="8E70EB"/>
                </a:solidFill>
                <a:latin typeface="Calibri" pitchFamily="34" charset="0"/>
                <a:ea typeface="Calibri" pitchFamily="34" charset="-122"/>
                <a:cs typeface="Calibri" pitchFamily="34" charset="-120"/>
              </a:rPr>
              <a:t>≥ 2.31 · ≥ 4.12 · ≥ 1.0.4</a:t>
            </a:r>
            <a:endParaRPr lang="en-US" sz="950" dirty="0"/>
          </a:p>
        </p:txBody>
      </p:sp>
      <p:sp>
        <p:nvSpPr>
          <p:cNvPr id="30" name="Shape 24"/>
          <p:cNvSpPr/>
          <p:nvPr/>
        </p:nvSpPr>
        <p:spPr>
          <a:xfrm>
            <a:off x="548640" y="3794760"/>
            <a:ext cx="2651760" cy="1965960"/>
          </a:xfrm>
          <a:prstGeom prst="roundRect">
            <a:avLst>
              <a:gd name="adj" fmla="val 5581"/>
            </a:avLst>
          </a:prstGeom>
          <a:solidFill>
            <a:srgbClr val="E8EDFC"/>
          </a:solidFill>
          <a:ln w="9525">
            <a:solidFill>
              <a:srgbClr val="E8EDFC"/>
            </a:solidFill>
            <a:prstDash val="solid"/>
          </a:ln>
        </p:spPr>
        <p:txBody>
          <a:bodyPr/>
          <a:p/>
        </p:txBody>
      </p:sp>
      <p:sp>
        <p:nvSpPr>
          <p:cNvPr id="31" name="Shape 25"/>
          <p:cNvSpPr/>
          <p:nvPr/>
        </p:nvSpPr>
        <p:spPr>
          <a:xfrm>
            <a:off x="731520" y="3959352"/>
            <a:ext cx="475488" cy="475488"/>
          </a:xfrm>
          <a:prstGeom prst="ellipse">
            <a:avLst/>
          </a:prstGeom>
          <a:solidFill>
            <a:srgbClr val="3C71E8"/>
          </a:solidFill>
          <a:ln w="12700">
            <a:solidFill>
              <a:srgbClr val="3C71E8"/>
            </a:solidFill>
            <a:prstDash val="solid"/>
          </a:ln>
        </p:spPr>
        <p:txBody>
          <a:bodyPr/>
          <a:p/>
        </p:txBody>
      </p:sp>
      <p:pic>
        <p:nvPicPr>
          <p:cNvPr id="32" name="Image 4" descr="ProjectDiagram"/>
          <p:cNvPicPr>
            <a:picLocks noChangeAspect="1"/>
          </p:cNvPicPr>
          <p:nvPr/>
        </p:nvPicPr>
        <p:blipFill>
          <a:blip r:embed="rId7"/>
          <a:stretch>
            <a:fillRect/>
          </a:stretch>
        </p:blipFill>
        <p:spPr>
          <a:xfrm>
            <a:off x="850392" y="4078224"/>
            <a:ext cx="237744" cy="237744"/>
          </a:xfrm>
          <a:prstGeom prst="rect">
            <a:avLst/>
          </a:prstGeom>
        </p:spPr>
      </p:pic>
      <p:sp>
        <p:nvSpPr>
          <p:cNvPr id="33" name="Text 26"/>
          <p:cNvSpPr txBox="1"/>
          <p:nvPr/>
        </p:nvSpPr>
        <p:spPr>
          <a:xfrm>
            <a:off x="731520" y="4526280"/>
            <a:ext cx="2331720" cy="274320"/>
          </a:xfrm>
          <a:prstGeom prst="rect">
            <a:avLst/>
          </a:prstGeom>
          <a:noFill/>
          <a:ln/>
        </p:spPr>
        <p:txBody>
          <a:bodyPr wrap="square" lIns="0" tIns="0" rIns="0" bIns="0" rtlCol="0" anchor="t"/>
          <a:lstStyle/>
          <a:p>
            <a:pPr marL="0" indent="0">
              <a:buNone/>
            </a:pPr>
            <a:r>
              <a:rPr lang="en-US" sz="1400" b="1" dirty="0">
                <a:solidFill>
                  <a:srgbClr val="1B2140"/>
                </a:solidFill>
                <a:latin typeface="Calibri" pitchFamily="34" charset="0"/>
                <a:ea typeface="Calibri" pitchFamily="34" charset="-122"/>
                <a:cs typeface="Calibri" pitchFamily="34" charset="-120"/>
              </a:rPr>
              <a:t>scikit-learn · scipy</a:t>
            </a:r>
            <a:endParaRPr lang="en-US" sz="1400" dirty="0"/>
          </a:p>
        </p:txBody>
      </p:sp>
      <p:sp>
        <p:nvSpPr>
          <p:cNvPr id="34" name="Text 27"/>
          <p:cNvSpPr txBox="1"/>
          <p:nvPr/>
        </p:nvSpPr>
        <p:spPr>
          <a:xfrm>
            <a:off x="731520" y="4818888"/>
            <a:ext cx="2331720" cy="566928"/>
          </a:xfrm>
          <a:prstGeom prst="rect">
            <a:avLst/>
          </a:prstGeom>
          <a:noFill/>
          <a:ln/>
        </p:spPr>
        <p:txBody>
          <a:bodyPr wrap="square" lIns="0" tIns="0" rIns="0" bIns="0" rtlCol="0" anchor="t"/>
          <a:lstStyle/>
          <a:p>
            <a:pPr marL="0" indent="0">
              <a:buNone/>
            </a:pPr>
            <a:r>
              <a:rPr lang="en-US" sz="1100" dirty="0">
                <a:solidFill>
                  <a:srgbClr val="5B6480"/>
                </a:solidFill>
                <a:latin typeface="Calibri" pitchFamily="34" charset="0"/>
                <a:ea typeface="Calibri" pitchFamily="34" charset="-122"/>
                <a:cs typeface="Calibri" pitchFamily="34" charset="-120"/>
              </a:rPr>
              <a:t>PCA dan linkage Ward untuk kemometrik</a:t>
            </a:r>
            <a:endParaRPr lang="en-US" sz="1100" dirty="0"/>
          </a:p>
        </p:txBody>
      </p:sp>
      <p:sp>
        <p:nvSpPr>
          <p:cNvPr id="35" name="Text 28"/>
          <p:cNvSpPr txBox="1"/>
          <p:nvPr/>
        </p:nvSpPr>
        <p:spPr>
          <a:xfrm>
            <a:off x="731520" y="5422392"/>
            <a:ext cx="1234440" cy="219456"/>
          </a:xfrm>
          <a:prstGeom prst="roundRect">
            <a:avLst>
              <a:gd name="adj" fmla="val 58333"/>
            </a:avLst>
          </a:prstGeom>
          <a:solidFill>
            <a:srgbClr val="FFFFFF"/>
          </a:solidFill>
          <a:ln/>
        </p:spPr>
        <p:txBody>
          <a:bodyPr wrap="square" lIns="0" tIns="0" rIns="0" bIns="0" rtlCol="0" anchor="ctr"/>
          <a:lstStyle/>
          <a:p>
            <a:pPr marL="0" indent="0" algn="ctr">
              <a:buNone/>
            </a:pPr>
            <a:r>
              <a:rPr lang="en-US" sz="950" b="1" dirty="0">
                <a:solidFill>
                  <a:srgbClr val="3C71E8"/>
                </a:solidFill>
                <a:latin typeface="Calibri" pitchFamily="34" charset="0"/>
                <a:ea typeface="Calibri" pitchFamily="34" charset="-122"/>
                <a:cs typeface="Calibri" pitchFamily="34" charset="-120"/>
              </a:rPr>
              <a:t>≥ 1.3 · ≥ 1.10</a:t>
            </a:r>
            <a:endParaRPr lang="en-US" sz="950" dirty="0"/>
          </a:p>
        </p:txBody>
      </p:sp>
      <p:sp>
        <p:nvSpPr>
          <p:cNvPr id="36" name="Shape 29"/>
          <p:cNvSpPr/>
          <p:nvPr/>
        </p:nvSpPr>
        <p:spPr>
          <a:xfrm>
            <a:off x="3355848" y="3794760"/>
            <a:ext cx="2651760" cy="1965960"/>
          </a:xfrm>
          <a:prstGeom prst="roundRect">
            <a:avLst>
              <a:gd name="adj" fmla="val 5581"/>
            </a:avLst>
          </a:prstGeom>
          <a:solidFill>
            <a:srgbClr val="E8EDFC"/>
          </a:solidFill>
          <a:ln w="9525">
            <a:solidFill>
              <a:srgbClr val="E8EDFC"/>
            </a:solidFill>
            <a:prstDash val="solid"/>
          </a:ln>
        </p:spPr>
        <p:txBody>
          <a:bodyPr/>
          <a:p/>
        </p:txBody>
      </p:sp>
      <p:sp>
        <p:nvSpPr>
          <p:cNvPr id="37" name="Shape 30"/>
          <p:cNvSpPr/>
          <p:nvPr/>
        </p:nvSpPr>
        <p:spPr>
          <a:xfrm>
            <a:off x="3538728" y="3959352"/>
            <a:ext cx="475488" cy="475488"/>
          </a:xfrm>
          <a:prstGeom prst="ellipse">
            <a:avLst/>
          </a:prstGeom>
          <a:solidFill>
            <a:srgbClr val="8E70EB"/>
          </a:solidFill>
          <a:ln w="12700">
            <a:solidFill>
              <a:srgbClr val="8E70EB"/>
            </a:solidFill>
            <a:prstDash val="solid"/>
          </a:ln>
        </p:spPr>
        <p:txBody>
          <a:bodyPr/>
          <a:p/>
        </p:txBody>
      </p:sp>
      <p:pic>
        <p:nvPicPr>
          <p:cNvPr id="38" name="Image 5" descr="ChartBar"/>
          <p:cNvPicPr>
            <a:picLocks noChangeAspect="1"/>
          </p:cNvPicPr>
          <p:nvPr/>
        </p:nvPicPr>
        <p:blipFill>
          <a:blip r:embed="rId8"/>
          <a:stretch>
            <a:fillRect/>
          </a:stretch>
        </p:blipFill>
        <p:spPr>
          <a:xfrm>
            <a:off x="3657600" y="4078224"/>
            <a:ext cx="237744" cy="237744"/>
          </a:xfrm>
          <a:prstGeom prst="rect">
            <a:avLst/>
          </a:prstGeom>
        </p:spPr>
      </p:pic>
      <p:sp>
        <p:nvSpPr>
          <p:cNvPr id="39" name="Text 31"/>
          <p:cNvSpPr txBox="1"/>
          <p:nvPr/>
        </p:nvSpPr>
        <p:spPr>
          <a:xfrm>
            <a:off x="3538728" y="4526280"/>
            <a:ext cx="2331720" cy="274320"/>
          </a:xfrm>
          <a:prstGeom prst="rect">
            <a:avLst/>
          </a:prstGeom>
          <a:noFill/>
          <a:ln/>
        </p:spPr>
        <p:txBody>
          <a:bodyPr wrap="square" lIns="0" tIns="0" rIns="0" bIns="0" rtlCol="0" anchor="t"/>
          <a:lstStyle/>
          <a:p>
            <a:pPr marL="0" indent="0">
              <a:buNone/>
            </a:pPr>
            <a:r>
              <a:rPr lang="en-US" sz="1400" b="1" dirty="0">
                <a:solidFill>
                  <a:srgbClr val="1B2140"/>
                </a:solidFill>
                <a:latin typeface="Calibri" pitchFamily="34" charset="0"/>
                <a:ea typeface="Calibri" pitchFamily="34" charset="-122"/>
                <a:cs typeface="Calibri" pitchFamily="34" charset="-120"/>
              </a:rPr>
              <a:t>matplotlib · numpy</a:t>
            </a:r>
            <a:endParaRPr lang="en-US" sz="1400" dirty="0"/>
          </a:p>
        </p:txBody>
      </p:sp>
      <p:sp>
        <p:nvSpPr>
          <p:cNvPr id="40" name="Text 32"/>
          <p:cNvSpPr txBox="1"/>
          <p:nvPr/>
        </p:nvSpPr>
        <p:spPr>
          <a:xfrm>
            <a:off x="3538728" y="4818888"/>
            <a:ext cx="2331720" cy="566928"/>
          </a:xfrm>
          <a:prstGeom prst="rect">
            <a:avLst/>
          </a:prstGeom>
          <a:noFill/>
          <a:ln/>
        </p:spPr>
        <p:txBody>
          <a:bodyPr wrap="square" lIns="0" tIns="0" rIns="0" bIns="0" rtlCol="0" anchor="t"/>
          <a:lstStyle/>
          <a:p>
            <a:pPr marL="0" indent="0">
              <a:buNone/>
            </a:pPr>
            <a:r>
              <a:rPr lang="en-US" sz="1100" dirty="0">
                <a:solidFill>
                  <a:srgbClr val="5B6480"/>
                </a:solidFill>
                <a:latin typeface="Calibri" pitchFamily="34" charset="0"/>
                <a:ea typeface="Calibri" pitchFamily="34" charset="-122"/>
                <a:cs typeface="Calibri" pitchFamily="34" charset="-120"/>
              </a:rPr>
              <a:t>Grafik 300 dpi dengan backend Agg</a:t>
            </a:r>
            <a:endParaRPr lang="en-US" sz="1100" dirty="0"/>
          </a:p>
        </p:txBody>
      </p:sp>
      <p:sp>
        <p:nvSpPr>
          <p:cNvPr id="41" name="Text 33"/>
          <p:cNvSpPr txBox="1"/>
          <p:nvPr/>
        </p:nvSpPr>
        <p:spPr>
          <a:xfrm>
            <a:off x="3538728" y="5422392"/>
            <a:ext cx="1234440" cy="219456"/>
          </a:xfrm>
          <a:prstGeom prst="roundRect">
            <a:avLst>
              <a:gd name="adj" fmla="val 58333"/>
            </a:avLst>
          </a:prstGeom>
          <a:solidFill>
            <a:srgbClr val="FFFFFF"/>
          </a:solidFill>
          <a:ln/>
        </p:spPr>
        <p:txBody>
          <a:bodyPr wrap="square" lIns="0" tIns="0" rIns="0" bIns="0" rtlCol="0" anchor="ctr"/>
          <a:lstStyle/>
          <a:p>
            <a:pPr marL="0" indent="0" algn="ctr">
              <a:buNone/>
            </a:pPr>
            <a:r>
              <a:rPr lang="en-US" sz="950" b="1" dirty="0">
                <a:solidFill>
                  <a:srgbClr val="8E70EB"/>
                </a:solidFill>
                <a:latin typeface="Calibri" pitchFamily="34" charset="0"/>
                <a:ea typeface="Calibri" pitchFamily="34" charset="-122"/>
                <a:cs typeface="Calibri" pitchFamily="34" charset="-120"/>
              </a:rPr>
              <a:t>≥ 3.7 · ≥ 1.24</a:t>
            </a:r>
            <a:endParaRPr lang="en-US" sz="950" dirty="0"/>
          </a:p>
        </p:txBody>
      </p:sp>
      <p:sp>
        <p:nvSpPr>
          <p:cNvPr id="42" name="Shape 34"/>
          <p:cNvSpPr/>
          <p:nvPr/>
        </p:nvSpPr>
        <p:spPr>
          <a:xfrm>
            <a:off x="6163056" y="3794760"/>
            <a:ext cx="2651760" cy="1965960"/>
          </a:xfrm>
          <a:prstGeom prst="roundRect">
            <a:avLst>
              <a:gd name="adj" fmla="val 5581"/>
            </a:avLst>
          </a:prstGeom>
          <a:solidFill>
            <a:srgbClr val="E8EDFC"/>
          </a:solidFill>
          <a:ln w="9525">
            <a:solidFill>
              <a:srgbClr val="E8EDFC"/>
            </a:solidFill>
            <a:prstDash val="solid"/>
          </a:ln>
        </p:spPr>
        <p:txBody>
          <a:bodyPr/>
          <a:p/>
        </p:txBody>
      </p:sp>
      <p:sp>
        <p:nvSpPr>
          <p:cNvPr id="43" name="Shape 35"/>
          <p:cNvSpPr/>
          <p:nvPr/>
        </p:nvSpPr>
        <p:spPr>
          <a:xfrm>
            <a:off x="6345936" y="3959352"/>
            <a:ext cx="475488" cy="475488"/>
          </a:xfrm>
          <a:prstGeom prst="ellipse">
            <a:avLst/>
          </a:prstGeom>
          <a:solidFill>
            <a:srgbClr val="3C71E8"/>
          </a:solidFill>
          <a:ln w="12700">
            <a:solidFill>
              <a:srgbClr val="3C71E8"/>
            </a:solidFill>
            <a:prstDash val="solid"/>
          </a:ln>
        </p:spPr>
        <p:txBody>
          <a:bodyPr/>
          <a:p/>
        </p:txBody>
      </p:sp>
      <p:pic>
        <p:nvPicPr>
          <p:cNvPr id="44" name="Image 6" descr="Tasks"/>
          <p:cNvPicPr>
            <a:picLocks noChangeAspect="1"/>
          </p:cNvPicPr>
          <p:nvPr/>
        </p:nvPicPr>
        <p:blipFill>
          <a:blip r:embed="rId9"/>
          <a:stretch>
            <a:fillRect/>
          </a:stretch>
        </p:blipFill>
        <p:spPr>
          <a:xfrm>
            <a:off x="6464808" y="4078224"/>
            <a:ext cx="237744" cy="237744"/>
          </a:xfrm>
          <a:prstGeom prst="rect">
            <a:avLst/>
          </a:prstGeom>
        </p:spPr>
      </p:pic>
      <p:sp>
        <p:nvSpPr>
          <p:cNvPr id="45" name="Text 36"/>
          <p:cNvSpPr txBox="1"/>
          <p:nvPr/>
        </p:nvSpPr>
        <p:spPr>
          <a:xfrm>
            <a:off x="6345936" y="4526280"/>
            <a:ext cx="2331720" cy="274320"/>
          </a:xfrm>
          <a:prstGeom prst="rect">
            <a:avLst/>
          </a:prstGeom>
          <a:noFill/>
          <a:ln/>
        </p:spPr>
        <p:txBody>
          <a:bodyPr wrap="square" lIns="0" tIns="0" rIns="0" bIns="0" rtlCol="0" anchor="t"/>
          <a:lstStyle/>
          <a:p>
            <a:pPr marL="0" indent="0">
              <a:buNone/>
            </a:pPr>
            <a:r>
              <a:rPr lang="en-US" sz="1400" b="1" dirty="0">
                <a:solidFill>
                  <a:srgbClr val="1B2140"/>
                </a:solidFill>
                <a:latin typeface="Calibri" pitchFamily="34" charset="0"/>
                <a:ea typeface="Calibri" pitchFamily="34" charset="-122"/>
                <a:cs typeface="Calibri" pitchFamily="34" charset="-120"/>
              </a:rPr>
              <a:t>tqdm</a:t>
            </a:r>
            <a:endParaRPr lang="en-US" sz="1400" dirty="0"/>
          </a:p>
        </p:txBody>
      </p:sp>
      <p:sp>
        <p:nvSpPr>
          <p:cNvPr id="46" name="Text 37"/>
          <p:cNvSpPr txBox="1"/>
          <p:nvPr/>
        </p:nvSpPr>
        <p:spPr>
          <a:xfrm>
            <a:off x="6345936" y="4818888"/>
            <a:ext cx="2331720" cy="566928"/>
          </a:xfrm>
          <a:prstGeom prst="rect">
            <a:avLst/>
          </a:prstGeom>
          <a:noFill/>
          <a:ln/>
        </p:spPr>
        <p:txBody>
          <a:bodyPr wrap="square" lIns="0" tIns="0" rIns="0" bIns="0" rtlCol="0" anchor="t"/>
          <a:lstStyle/>
          <a:p>
            <a:pPr marL="0" indent="0">
              <a:buNone/>
            </a:pPr>
            <a:r>
              <a:rPr lang="en-US" sz="1100" dirty="0">
                <a:solidFill>
                  <a:srgbClr val="5B6480"/>
                </a:solidFill>
                <a:latin typeface="Calibri" pitchFamily="34" charset="0"/>
                <a:ea typeface="Calibri" pitchFamily="34" charset="-122"/>
                <a:cs typeface="Calibri" pitchFamily="34" charset="-120"/>
              </a:rPr>
              <a:t>Progress bar per tahap panjang</a:t>
            </a:r>
            <a:endParaRPr lang="en-US" sz="1100" dirty="0"/>
          </a:p>
        </p:txBody>
      </p:sp>
      <p:sp>
        <p:nvSpPr>
          <p:cNvPr id="47" name="Text 38"/>
          <p:cNvSpPr txBox="1"/>
          <p:nvPr/>
        </p:nvSpPr>
        <p:spPr>
          <a:xfrm>
            <a:off x="6345936" y="5422392"/>
            <a:ext cx="914400" cy="219456"/>
          </a:xfrm>
          <a:prstGeom prst="roundRect">
            <a:avLst>
              <a:gd name="adj" fmla="val 58333"/>
            </a:avLst>
          </a:prstGeom>
          <a:solidFill>
            <a:srgbClr val="FFFFFF"/>
          </a:solidFill>
          <a:ln/>
        </p:spPr>
        <p:txBody>
          <a:bodyPr wrap="square" lIns="0" tIns="0" rIns="0" bIns="0" rtlCol="0" anchor="ctr"/>
          <a:lstStyle/>
          <a:p>
            <a:pPr marL="0" indent="0" algn="ctr">
              <a:buNone/>
            </a:pPr>
            <a:r>
              <a:rPr lang="en-US" sz="950" b="1" dirty="0">
                <a:solidFill>
                  <a:srgbClr val="3C71E8"/>
                </a:solidFill>
                <a:latin typeface="Calibri" pitchFamily="34" charset="0"/>
                <a:ea typeface="Calibri" pitchFamily="34" charset="-122"/>
                <a:cs typeface="Calibri" pitchFamily="34" charset="-120"/>
              </a:rPr>
              <a:t>≥ 4.66</a:t>
            </a:r>
            <a:endParaRPr lang="en-US" sz="950" dirty="0"/>
          </a:p>
        </p:txBody>
      </p:sp>
      <p:sp>
        <p:nvSpPr>
          <p:cNvPr id="48" name="Shape 39"/>
          <p:cNvSpPr/>
          <p:nvPr/>
        </p:nvSpPr>
        <p:spPr>
          <a:xfrm>
            <a:off x="8970264" y="3794760"/>
            <a:ext cx="2651760" cy="1965960"/>
          </a:xfrm>
          <a:prstGeom prst="roundRect">
            <a:avLst>
              <a:gd name="adj" fmla="val 5581"/>
            </a:avLst>
          </a:prstGeom>
          <a:solidFill>
            <a:srgbClr val="E8EDFC"/>
          </a:solidFill>
          <a:ln w="9525">
            <a:solidFill>
              <a:srgbClr val="E8EDFC"/>
            </a:solidFill>
            <a:prstDash val="solid"/>
          </a:ln>
        </p:spPr>
        <p:txBody>
          <a:bodyPr/>
          <a:p/>
        </p:txBody>
      </p:sp>
      <p:sp>
        <p:nvSpPr>
          <p:cNvPr id="49" name="Shape 40"/>
          <p:cNvSpPr/>
          <p:nvPr/>
        </p:nvSpPr>
        <p:spPr>
          <a:xfrm>
            <a:off x="9153144" y="3959352"/>
            <a:ext cx="475488" cy="475488"/>
          </a:xfrm>
          <a:prstGeom prst="ellipse">
            <a:avLst/>
          </a:prstGeom>
          <a:solidFill>
            <a:srgbClr val="8E70EB"/>
          </a:solidFill>
          <a:ln w="12700">
            <a:solidFill>
              <a:srgbClr val="8E70EB"/>
            </a:solidFill>
            <a:prstDash val="solid"/>
          </a:ln>
        </p:spPr>
        <p:txBody>
          <a:bodyPr/>
          <a:p/>
        </p:txBody>
      </p:sp>
      <p:pic>
        <p:nvPicPr>
          <p:cNvPr id="50" name="Image 7" descr="Bullseye"/>
          <p:cNvPicPr>
            <a:picLocks noChangeAspect="1"/>
          </p:cNvPicPr>
          <p:nvPr/>
        </p:nvPicPr>
        <p:blipFill>
          <a:blip r:embed="rId10"/>
          <a:stretch>
            <a:fillRect/>
          </a:stretch>
        </p:blipFill>
        <p:spPr>
          <a:xfrm>
            <a:off x="9272016" y="4078224"/>
            <a:ext cx="237744" cy="237744"/>
          </a:xfrm>
          <a:prstGeom prst="rect">
            <a:avLst/>
          </a:prstGeom>
        </p:spPr>
      </p:pic>
      <p:sp>
        <p:nvSpPr>
          <p:cNvPr id="51" name="Text 41"/>
          <p:cNvSpPr txBox="1"/>
          <p:nvPr/>
        </p:nvSpPr>
        <p:spPr>
          <a:xfrm>
            <a:off x="9153144" y="4526280"/>
            <a:ext cx="2331720" cy="274320"/>
          </a:xfrm>
          <a:prstGeom prst="rect">
            <a:avLst/>
          </a:prstGeom>
          <a:noFill/>
          <a:ln/>
        </p:spPr>
        <p:txBody>
          <a:bodyPr wrap="square" lIns="0" tIns="0" rIns="0" bIns="0" rtlCol="0" anchor="t"/>
          <a:lstStyle/>
          <a:p>
            <a:pPr marL="0" indent="0">
              <a:buNone/>
            </a:pPr>
            <a:r>
              <a:rPr lang="en-US" sz="1400" b="1" dirty="0">
                <a:solidFill>
                  <a:srgbClr val="1B2140"/>
                </a:solidFill>
                <a:latin typeface="Calibri" pitchFamily="34" charset="0"/>
                <a:ea typeface="Calibri" pitchFamily="34" charset="-122"/>
                <a:cs typeface="Calibri" pitchFamily="34" charset="-120"/>
              </a:rPr>
              <a:t>AutoDock Vina</a:t>
            </a:r>
            <a:endParaRPr lang="en-US" sz="1400" dirty="0"/>
          </a:p>
        </p:txBody>
      </p:sp>
      <p:sp>
        <p:nvSpPr>
          <p:cNvPr id="52" name="Text 42"/>
          <p:cNvSpPr txBox="1"/>
          <p:nvPr/>
        </p:nvSpPr>
        <p:spPr>
          <a:xfrm>
            <a:off x="9153144" y="4818888"/>
            <a:ext cx="2331720" cy="566928"/>
          </a:xfrm>
          <a:prstGeom prst="rect">
            <a:avLst/>
          </a:prstGeom>
          <a:noFill/>
          <a:ln/>
        </p:spPr>
        <p:txBody>
          <a:bodyPr wrap="square" lIns="0" tIns="0" rIns="0" bIns="0" rtlCol="0" anchor="t"/>
          <a:lstStyle/>
          <a:p>
            <a:pPr marL="0" indent="0">
              <a:buNone/>
            </a:pPr>
            <a:r>
              <a:rPr lang="en-US" sz="1100" dirty="0">
                <a:solidFill>
                  <a:srgbClr val="5B6480"/>
                </a:solidFill>
                <a:latin typeface="Calibri" pitchFamily="34" charset="0"/>
                <a:ea typeface="Calibri" pitchFamily="34" charset="-122"/>
                <a:cs typeface="Calibri" pitchFamily="34" charset="-120"/>
              </a:rPr>
              <a:t>Biner eksternal, diunduh otomatis. Demo memakai 1.2.7</a:t>
            </a:r>
            <a:endParaRPr lang="en-US" sz="1100" dirty="0"/>
          </a:p>
        </p:txBody>
      </p:sp>
      <p:sp>
        <p:nvSpPr>
          <p:cNvPr id="53" name="Text 43"/>
          <p:cNvSpPr txBox="1"/>
          <p:nvPr/>
        </p:nvSpPr>
        <p:spPr>
          <a:xfrm>
            <a:off x="9153144" y="5422392"/>
            <a:ext cx="1303020" cy="219456"/>
          </a:xfrm>
          <a:prstGeom prst="roundRect">
            <a:avLst>
              <a:gd name="adj" fmla="val 58333"/>
            </a:avLst>
          </a:prstGeom>
          <a:solidFill>
            <a:srgbClr val="FFFFFF"/>
          </a:solidFill>
          <a:ln/>
        </p:spPr>
        <p:txBody>
          <a:bodyPr wrap="square" lIns="0" tIns="0" rIns="0" bIns="0" rtlCol="0" anchor="ctr"/>
          <a:lstStyle/>
          <a:p>
            <a:pPr marL="0" indent="0" algn="ctr">
              <a:buNone/>
            </a:pPr>
            <a:r>
              <a:rPr lang="en-US" sz="950" b="1" dirty="0">
                <a:solidFill>
                  <a:srgbClr val="8E70EB"/>
                </a:solidFill>
                <a:latin typeface="Calibri" pitchFamily="34" charset="0"/>
                <a:ea typeface="Calibri" pitchFamily="34" charset="-122"/>
                <a:cs typeface="Calibri" pitchFamily="34" charset="-120"/>
              </a:rPr>
              <a:t>bukan paket pip</a:t>
            </a:r>
            <a:endParaRPr lang="en-US" sz="950" dirty="0"/>
          </a:p>
        </p:txBody>
      </p:sp>
      <p:sp>
        <p:nvSpPr>
          <p:cNvPr id="54" name="Text 44"/>
          <p:cNvSpPr txBox="1"/>
          <p:nvPr/>
        </p:nvSpPr>
        <p:spPr>
          <a:xfrm>
            <a:off x="548640" y="5989320"/>
            <a:ext cx="11064240" cy="365760"/>
          </a:xfrm>
          <a:prstGeom prst="rect">
            <a:avLst/>
          </a:prstGeom>
          <a:noFill/>
          <a:ln/>
        </p:spPr>
        <p:txBody>
          <a:bodyPr wrap="square" lIns="0" tIns="0" rIns="0" bIns="0" rtlCol="0" anchor="t"/>
          <a:lstStyle/>
          <a:p>
            <a:pPr marL="0" indent="0" algn="l">
              <a:buNone/>
            </a:pPr>
            <a:r>
              <a:rPr lang="en-US" sz="1000" dirty="0">
                <a:solidFill>
                  <a:srgbClr val="5B6480"/>
                </a:solidFill>
                <a:latin typeface="Calibri" pitchFamily="34" charset="0"/>
                <a:ea typeface="Calibri" pitchFamily="34" charset="-122"/>
                <a:cs typeface="Calibri" pitchFamily="34" charset="-120"/>
              </a:rPr>
              <a:t>Versi = batas bawah di pyproject.toml. Tanpa batas atas dan tanpa lock file, jadi hasil bisa bergeser antar versi pustaka.</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2263140"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B · PYTHON DAN ARSITEKTUR</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Arsitektur berlapis: CLI tipis, orkestrator, modul domain</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7</a:t>
            </a:r>
            <a:endParaRPr lang="en-US" sz="1000" dirty="0"/>
          </a:p>
        </p:txBody>
      </p:sp>
      <p:sp>
        <p:nvSpPr>
          <p:cNvPr id="6" name="Shape 4"/>
          <p:cNvSpPr/>
          <p:nvPr/>
        </p:nvSpPr>
        <p:spPr>
          <a:xfrm>
            <a:off x="548640" y="1691640"/>
            <a:ext cx="5486400" cy="731520"/>
          </a:xfrm>
          <a:prstGeom prst="roundRect">
            <a:avLst>
              <a:gd name="adj" fmla="val 15000"/>
            </a:avLst>
          </a:prstGeom>
          <a:solidFill>
            <a:srgbClr val="3C71E8"/>
          </a:solidFill>
          <a:ln w="9525">
            <a:solidFill>
              <a:srgbClr val="3C71E8"/>
            </a:solidFill>
            <a:prstDash val="solid"/>
          </a:ln>
        </p:spPr>
        <p:txBody>
          <a:bodyPr/>
          <a:lstStyle/>
          <a:p>
            <a:endParaRPr/>
          </a:p>
        </p:txBody>
      </p:sp>
      <p:sp>
        <p:nvSpPr>
          <p:cNvPr id="7" name="Text 5"/>
          <p:cNvSpPr txBox="1"/>
          <p:nvPr/>
        </p:nvSpPr>
        <p:spPr>
          <a:xfrm>
            <a:off x="777240" y="1764792"/>
            <a:ext cx="5029200" cy="292608"/>
          </a:xfrm>
          <a:prstGeom prst="rect">
            <a:avLst/>
          </a:prstGeom>
          <a:noFill/>
          <a:ln/>
        </p:spPr>
        <p:txBody>
          <a:bodyPr wrap="square" lIns="0" tIns="0" rIns="0" bIns="0" rtlCol="0" anchor="t"/>
          <a:lstStyle/>
          <a:p>
            <a:pPr marL="0" indent="0">
              <a:buNone/>
            </a:pPr>
            <a:r>
              <a:rPr lang="en-US" sz="1300" b="1" dirty="0">
                <a:solidFill>
                  <a:srgbClr val="FFFFFF"/>
                </a:solidFill>
                <a:latin typeface="Courier New" pitchFamily="34" charset="0"/>
                <a:ea typeface="Courier New" pitchFamily="34" charset="-122"/>
                <a:cs typeface="Courier New" pitchFamily="34" charset="-120"/>
              </a:rPr>
              <a:t>cli.py dan config.py</a:t>
            </a:r>
            <a:endParaRPr lang="en-US" sz="1300" dirty="0"/>
          </a:p>
        </p:txBody>
      </p:sp>
      <p:sp>
        <p:nvSpPr>
          <p:cNvPr id="8" name="Text 6"/>
          <p:cNvSpPr txBox="1"/>
          <p:nvPr/>
        </p:nvSpPr>
        <p:spPr>
          <a:xfrm>
            <a:off x="777240" y="2075688"/>
            <a:ext cx="5120640" cy="274320"/>
          </a:xfrm>
          <a:prstGeom prst="rect">
            <a:avLst/>
          </a:prstGeom>
          <a:noFill/>
          <a:ln/>
        </p:spPr>
        <p:txBody>
          <a:bodyPr wrap="square" lIns="0" tIns="0" rIns="0" bIns="0" rtlCol="0" anchor="t"/>
          <a:lstStyle/>
          <a:p>
            <a:pPr marL="0" indent="0">
              <a:buNone/>
            </a:pPr>
            <a:r>
              <a:rPr lang="en-US" sz="1150" dirty="0">
                <a:solidFill>
                  <a:srgbClr val="FFFFFF"/>
                </a:solidFill>
                <a:latin typeface="Calibri" pitchFamily="34" charset="0"/>
                <a:ea typeface="Calibri" pitchFamily="34" charset="-122"/>
                <a:cs typeface="Calibri" pitchFamily="34" charset="-120"/>
              </a:rPr>
              <a:t>argparse membentuk PipelineConfig (dataclass, validasi di __post_init__)</a:t>
            </a:r>
            <a:endParaRPr lang="en-US" sz="1150" dirty="0"/>
          </a:p>
        </p:txBody>
      </p:sp>
      <p:sp>
        <p:nvSpPr>
          <p:cNvPr id="9" name="Shape 7"/>
          <p:cNvSpPr/>
          <p:nvPr/>
        </p:nvSpPr>
        <p:spPr>
          <a:xfrm>
            <a:off x="3291840" y="2423160"/>
            <a:ext cx="0" cy="228600"/>
          </a:xfrm>
          <a:prstGeom prst="line">
            <a:avLst/>
          </a:prstGeom>
          <a:noFill/>
          <a:ln w="19050">
            <a:solidFill>
              <a:srgbClr val="5B6480"/>
            </a:solidFill>
            <a:prstDash val="solid"/>
            <a:tailEnd type="triangle"/>
          </a:ln>
        </p:spPr>
        <p:txBody>
          <a:bodyPr/>
          <a:lstStyle/>
          <a:p>
            <a:endParaRPr/>
          </a:p>
        </p:txBody>
      </p:sp>
      <p:sp>
        <p:nvSpPr>
          <p:cNvPr id="10" name="Shape 8"/>
          <p:cNvSpPr/>
          <p:nvPr/>
        </p:nvSpPr>
        <p:spPr>
          <a:xfrm>
            <a:off x="548640" y="2651760"/>
            <a:ext cx="5486400" cy="731520"/>
          </a:xfrm>
          <a:prstGeom prst="roundRect">
            <a:avLst>
              <a:gd name="adj" fmla="val 15000"/>
            </a:avLst>
          </a:prstGeom>
          <a:solidFill>
            <a:srgbClr val="8E70EB"/>
          </a:solidFill>
          <a:ln w="9525">
            <a:solidFill>
              <a:srgbClr val="8E70EB"/>
            </a:solidFill>
            <a:prstDash val="solid"/>
          </a:ln>
        </p:spPr>
        <p:txBody>
          <a:bodyPr/>
          <a:lstStyle/>
          <a:p>
            <a:endParaRPr/>
          </a:p>
        </p:txBody>
      </p:sp>
      <p:sp>
        <p:nvSpPr>
          <p:cNvPr id="11" name="Text 9"/>
          <p:cNvSpPr txBox="1"/>
          <p:nvPr/>
        </p:nvSpPr>
        <p:spPr>
          <a:xfrm>
            <a:off x="777240" y="2724912"/>
            <a:ext cx="5029200" cy="292608"/>
          </a:xfrm>
          <a:prstGeom prst="rect">
            <a:avLst/>
          </a:prstGeom>
          <a:noFill/>
          <a:ln/>
        </p:spPr>
        <p:txBody>
          <a:bodyPr wrap="square" lIns="0" tIns="0" rIns="0" bIns="0" rtlCol="0" anchor="t"/>
          <a:lstStyle/>
          <a:p>
            <a:pPr marL="0" indent="0">
              <a:buNone/>
            </a:pPr>
            <a:r>
              <a:rPr lang="en-US" sz="1300" b="1" dirty="0">
                <a:solidFill>
                  <a:srgbClr val="FFFFFF"/>
                </a:solidFill>
                <a:latin typeface="Courier New" pitchFamily="34" charset="0"/>
                <a:ea typeface="Courier New" pitchFamily="34" charset="-122"/>
                <a:cs typeface="Courier New" pitchFamily="34" charset="-120"/>
              </a:rPr>
              <a:t>pipeline.py dan Pipeline.run()</a:t>
            </a:r>
            <a:endParaRPr lang="en-US" sz="1300" dirty="0"/>
          </a:p>
        </p:txBody>
      </p:sp>
      <p:sp>
        <p:nvSpPr>
          <p:cNvPr id="12" name="Text 10"/>
          <p:cNvSpPr txBox="1"/>
          <p:nvPr/>
        </p:nvSpPr>
        <p:spPr>
          <a:xfrm>
            <a:off x="777240" y="3035808"/>
            <a:ext cx="5120640" cy="274320"/>
          </a:xfrm>
          <a:prstGeom prst="rect">
            <a:avLst/>
          </a:prstGeom>
          <a:noFill/>
          <a:ln/>
        </p:spPr>
        <p:txBody>
          <a:bodyPr wrap="square" lIns="0" tIns="0" rIns="0" bIns="0" rtlCol="0" anchor="t"/>
          <a:lstStyle/>
          <a:p>
            <a:pPr marL="0" indent="0">
              <a:buNone/>
            </a:pPr>
            <a:r>
              <a:rPr lang="en-US" sz="1150" dirty="0">
                <a:solidFill>
                  <a:srgbClr val="FFFFFF"/>
                </a:solidFill>
                <a:latin typeface="Calibri" pitchFamily="34" charset="0"/>
                <a:ea typeface="Calibri" pitchFamily="34" charset="-122"/>
                <a:cs typeface="Calibri" pitchFamily="34" charset="-120"/>
              </a:rPr>
              <a:t>12 tahap berurutan; checkpoint per item; error dicatat, bukan menghentikan run</a:t>
            </a:r>
            <a:endParaRPr lang="en-US" sz="1150" dirty="0"/>
          </a:p>
        </p:txBody>
      </p:sp>
      <p:sp>
        <p:nvSpPr>
          <p:cNvPr id="13" name="Shape 11"/>
          <p:cNvSpPr/>
          <p:nvPr/>
        </p:nvSpPr>
        <p:spPr>
          <a:xfrm>
            <a:off x="3291840" y="3383280"/>
            <a:ext cx="0" cy="228600"/>
          </a:xfrm>
          <a:prstGeom prst="line">
            <a:avLst/>
          </a:prstGeom>
          <a:noFill/>
          <a:ln w="19050">
            <a:solidFill>
              <a:srgbClr val="5B6480"/>
            </a:solidFill>
            <a:prstDash val="solid"/>
            <a:tailEnd type="triangle"/>
          </a:ln>
        </p:spPr>
        <p:txBody>
          <a:bodyPr/>
          <a:lstStyle/>
          <a:p>
            <a:endParaRPr/>
          </a:p>
        </p:txBody>
      </p:sp>
      <p:sp>
        <p:nvSpPr>
          <p:cNvPr id="14" name="Shape 12"/>
          <p:cNvSpPr/>
          <p:nvPr/>
        </p:nvSpPr>
        <p:spPr>
          <a:xfrm>
            <a:off x="548640" y="3611880"/>
            <a:ext cx="1298448" cy="1234440"/>
          </a:xfrm>
          <a:prstGeom prst="roundRect">
            <a:avLst>
              <a:gd name="adj" fmla="val 8889"/>
            </a:avLst>
          </a:prstGeom>
          <a:solidFill>
            <a:srgbClr val="E8EDFC"/>
          </a:solidFill>
          <a:ln w="9525">
            <a:solidFill>
              <a:srgbClr val="E8EDFC"/>
            </a:solidFill>
            <a:prstDash val="solid"/>
          </a:ln>
        </p:spPr>
        <p:txBody>
          <a:bodyPr/>
          <a:lstStyle/>
          <a:p>
            <a:endParaRPr/>
          </a:p>
        </p:txBody>
      </p:sp>
      <p:sp>
        <p:nvSpPr>
          <p:cNvPr id="15" name="Text 13"/>
          <p:cNvSpPr txBox="1"/>
          <p:nvPr/>
        </p:nvSpPr>
        <p:spPr>
          <a:xfrm>
            <a:off x="640080" y="3703320"/>
            <a:ext cx="1143000" cy="274320"/>
          </a:xfrm>
          <a:prstGeom prst="rect">
            <a:avLst/>
          </a:prstGeom>
          <a:noFill/>
          <a:ln/>
        </p:spPr>
        <p:txBody>
          <a:bodyPr wrap="square" lIns="0" tIns="0" rIns="0" bIns="0" rtlCol="0" anchor="t"/>
          <a:lstStyle/>
          <a:p>
            <a:pPr marL="0" indent="0">
              <a:buNone/>
            </a:pPr>
            <a:r>
              <a:rPr lang="en-US" sz="1250" b="1" dirty="0">
                <a:solidFill>
                  <a:srgbClr val="3C71E8"/>
                </a:solidFill>
                <a:latin typeface="Courier New" pitchFamily="34" charset="0"/>
                <a:ea typeface="Courier New" pitchFamily="34" charset="-122"/>
                <a:cs typeface="Courier New" pitchFamily="34" charset="-120"/>
              </a:rPr>
              <a:t>chem</a:t>
            </a:r>
            <a:endParaRPr lang="en-US" sz="1250" dirty="0"/>
          </a:p>
        </p:txBody>
      </p:sp>
      <p:sp>
        <p:nvSpPr>
          <p:cNvPr id="16" name="Text 14"/>
          <p:cNvSpPr txBox="1"/>
          <p:nvPr/>
        </p:nvSpPr>
        <p:spPr>
          <a:xfrm>
            <a:off x="640080" y="4023360"/>
            <a:ext cx="1143000" cy="777240"/>
          </a:xfrm>
          <a:prstGeom prst="rect">
            <a:avLst/>
          </a:prstGeom>
          <a:noFill/>
          <a:ln/>
        </p:spPr>
        <p:txBody>
          <a:bodyPr wrap="square" lIns="0" tIns="0" rIns="0" bIns="0" rtlCol="0" anchor="t"/>
          <a:lstStyle/>
          <a:p>
            <a:pPr marL="0" indent="0">
              <a:buNone/>
            </a:pPr>
            <a:r>
              <a:rPr lang="en-US" sz="1050" dirty="0">
                <a:solidFill>
                  <a:srgbClr val="5B6480"/>
                </a:solidFill>
                <a:latin typeface="Calibri" pitchFamily="34" charset="0"/>
                <a:ea typeface="Calibri" pitchFamily="34" charset="-122"/>
                <a:cs typeface="Calibri" pitchFamily="34" charset="-120"/>
              </a:rPr>
              <a:t>ligan, reseptor, muatan, deskriptor</a:t>
            </a:r>
            <a:endParaRPr lang="en-US" sz="1050" dirty="0"/>
          </a:p>
        </p:txBody>
      </p:sp>
      <p:sp>
        <p:nvSpPr>
          <p:cNvPr id="17" name="Shape 15"/>
          <p:cNvSpPr/>
          <p:nvPr/>
        </p:nvSpPr>
        <p:spPr>
          <a:xfrm>
            <a:off x="1920240" y="3611880"/>
            <a:ext cx="1298448" cy="1234440"/>
          </a:xfrm>
          <a:prstGeom prst="roundRect">
            <a:avLst>
              <a:gd name="adj" fmla="val 8889"/>
            </a:avLst>
          </a:prstGeom>
          <a:solidFill>
            <a:srgbClr val="E8EDFC"/>
          </a:solidFill>
          <a:ln w="9525">
            <a:solidFill>
              <a:srgbClr val="E8EDFC"/>
            </a:solidFill>
            <a:prstDash val="solid"/>
          </a:ln>
        </p:spPr>
        <p:txBody>
          <a:bodyPr/>
          <a:lstStyle/>
          <a:p>
            <a:endParaRPr/>
          </a:p>
        </p:txBody>
      </p:sp>
      <p:sp>
        <p:nvSpPr>
          <p:cNvPr id="18" name="Text 16"/>
          <p:cNvSpPr txBox="1"/>
          <p:nvPr/>
        </p:nvSpPr>
        <p:spPr>
          <a:xfrm>
            <a:off x="2011680" y="3703320"/>
            <a:ext cx="1143000" cy="274320"/>
          </a:xfrm>
          <a:prstGeom prst="rect">
            <a:avLst/>
          </a:prstGeom>
          <a:noFill/>
          <a:ln/>
        </p:spPr>
        <p:txBody>
          <a:bodyPr wrap="square" lIns="0" tIns="0" rIns="0" bIns="0" rtlCol="0" anchor="t"/>
          <a:lstStyle/>
          <a:p>
            <a:pPr marL="0" indent="0">
              <a:buNone/>
            </a:pPr>
            <a:r>
              <a:rPr lang="en-US" sz="1250" b="1" dirty="0">
                <a:solidFill>
                  <a:srgbClr val="3C71E8"/>
                </a:solidFill>
                <a:latin typeface="Courier New" pitchFamily="34" charset="0"/>
                <a:ea typeface="Courier New" pitchFamily="34" charset="-122"/>
                <a:cs typeface="Courier New" pitchFamily="34" charset="-120"/>
              </a:rPr>
              <a:t>io</a:t>
            </a:r>
            <a:endParaRPr lang="en-US" sz="1250" dirty="0"/>
          </a:p>
        </p:txBody>
      </p:sp>
      <p:sp>
        <p:nvSpPr>
          <p:cNvPr id="19" name="Text 17"/>
          <p:cNvSpPr txBox="1"/>
          <p:nvPr/>
        </p:nvSpPr>
        <p:spPr>
          <a:xfrm>
            <a:off x="2011680" y="4023360"/>
            <a:ext cx="1143000" cy="777240"/>
          </a:xfrm>
          <a:prstGeom prst="rect">
            <a:avLst/>
          </a:prstGeom>
          <a:noFill/>
          <a:ln/>
        </p:spPr>
        <p:txBody>
          <a:bodyPr wrap="square" lIns="0" tIns="0" rIns="0" bIns="0" rtlCol="0" anchor="t"/>
          <a:lstStyle/>
          <a:p>
            <a:pPr marL="0" indent="0">
              <a:buNone/>
            </a:pPr>
            <a:r>
              <a:rPr lang="en-US" sz="1050" dirty="0">
                <a:solidFill>
                  <a:srgbClr val="5B6480"/>
                </a:solidFill>
                <a:latin typeface="Calibri" pitchFamily="34" charset="0"/>
                <a:ea typeface="Calibri" pitchFamily="34" charset="-122"/>
                <a:cs typeface="Calibri" pitchFamily="34" charset="-120"/>
              </a:rPr>
              <a:t>Excel, RCSB, PDBQT, hasil</a:t>
            </a:r>
            <a:endParaRPr lang="en-US" sz="1050" dirty="0"/>
          </a:p>
        </p:txBody>
      </p:sp>
      <p:sp>
        <p:nvSpPr>
          <p:cNvPr id="20" name="Shape 18"/>
          <p:cNvSpPr/>
          <p:nvPr/>
        </p:nvSpPr>
        <p:spPr>
          <a:xfrm>
            <a:off x="3291840" y="3611880"/>
            <a:ext cx="1298448" cy="1234440"/>
          </a:xfrm>
          <a:prstGeom prst="roundRect">
            <a:avLst>
              <a:gd name="adj" fmla="val 8889"/>
            </a:avLst>
          </a:prstGeom>
          <a:solidFill>
            <a:srgbClr val="E8EDFC"/>
          </a:solidFill>
          <a:ln w="9525">
            <a:solidFill>
              <a:srgbClr val="E8EDFC"/>
            </a:solidFill>
            <a:prstDash val="solid"/>
          </a:ln>
        </p:spPr>
        <p:txBody>
          <a:bodyPr/>
          <a:lstStyle/>
          <a:p>
            <a:endParaRPr/>
          </a:p>
        </p:txBody>
      </p:sp>
      <p:sp>
        <p:nvSpPr>
          <p:cNvPr id="21" name="Text 19"/>
          <p:cNvSpPr txBox="1"/>
          <p:nvPr/>
        </p:nvSpPr>
        <p:spPr>
          <a:xfrm>
            <a:off x="3383280" y="3703320"/>
            <a:ext cx="1143000" cy="274320"/>
          </a:xfrm>
          <a:prstGeom prst="rect">
            <a:avLst/>
          </a:prstGeom>
          <a:noFill/>
          <a:ln/>
        </p:spPr>
        <p:txBody>
          <a:bodyPr wrap="square" lIns="0" tIns="0" rIns="0" bIns="0" rtlCol="0" anchor="t"/>
          <a:lstStyle/>
          <a:p>
            <a:pPr marL="0" indent="0">
              <a:buNone/>
            </a:pPr>
            <a:r>
              <a:rPr lang="en-US" sz="1250" b="1" dirty="0">
                <a:solidFill>
                  <a:srgbClr val="3C71E8"/>
                </a:solidFill>
                <a:latin typeface="Courier New" pitchFamily="34" charset="0"/>
                <a:ea typeface="Courier New" pitchFamily="34" charset="-122"/>
                <a:cs typeface="Courier New" pitchFamily="34" charset="-120"/>
              </a:rPr>
              <a:t>docking</a:t>
            </a:r>
            <a:endParaRPr lang="en-US" sz="1250" dirty="0"/>
          </a:p>
        </p:txBody>
      </p:sp>
      <p:sp>
        <p:nvSpPr>
          <p:cNvPr id="22" name="Text 20"/>
          <p:cNvSpPr txBox="1"/>
          <p:nvPr/>
        </p:nvSpPr>
        <p:spPr>
          <a:xfrm>
            <a:off x="3383280" y="4023360"/>
            <a:ext cx="1143000" cy="777240"/>
          </a:xfrm>
          <a:prstGeom prst="rect">
            <a:avLst/>
          </a:prstGeom>
          <a:noFill/>
          <a:ln/>
        </p:spPr>
        <p:txBody>
          <a:bodyPr wrap="square" lIns="0" tIns="0" rIns="0" bIns="0" rtlCol="0" anchor="t"/>
          <a:lstStyle/>
          <a:p>
            <a:pPr marL="0" indent="0">
              <a:buNone/>
            </a:pPr>
            <a:r>
              <a:rPr lang="en-US" sz="1050" dirty="0">
                <a:solidFill>
                  <a:srgbClr val="5B6480"/>
                </a:solidFill>
                <a:latin typeface="Calibri" pitchFamily="34" charset="0"/>
                <a:ea typeface="Calibri" pitchFamily="34" charset="-122"/>
                <a:cs typeface="Calibri" pitchFamily="34" charset="-120"/>
              </a:rPr>
              <a:t>Vina, gridbox, matriks, RMSD, merge</a:t>
            </a:r>
            <a:endParaRPr lang="en-US" sz="1050" dirty="0"/>
          </a:p>
        </p:txBody>
      </p:sp>
      <p:sp>
        <p:nvSpPr>
          <p:cNvPr id="23" name="Shape 21"/>
          <p:cNvSpPr/>
          <p:nvPr/>
        </p:nvSpPr>
        <p:spPr>
          <a:xfrm>
            <a:off x="4663440" y="3611880"/>
            <a:ext cx="1298448" cy="1234440"/>
          </a:xfrm>
          <a:prstGeom prst="roundRect">
            <a:avLst>
              <a:gd name="adj" fmla="val 8889"/>
            </a:avLst>
          </a:prstGeom>
          <a:solidFill>
            <a:srgbClr val="E8EDFC"/>
          </a:solidFill>
          <a:ln w="9525">
            <a:solidFill>
              <a:srgbClr val="E8EDFC"/>
            </a:solidFill>
            <a:prstDash val="solid"/>
          </a:ln>
        </p:spPr>
        <p:txBody>
          <a:bodyPr/>
          <a:lstStyle/>
          <a:p>
            <a:endParaRPr/>
          </a:p>
        </p:txBody>
      </p:sp>
      <p:sp>
        <p:nvSpPr>
          <p:cNvPr id="24" name="Text 22"/>
          <p:cNvSpPr txBox="1"/>
          <p:nvPr/>
        </p:nvSpPr>
        <p:spPr>
          <a:xfrm>
            <a:off x="4754880" y="3703320"/>
            <a:ext cx="1143000" cy="274320"/>
          </a:xfrm>
          <a:prstGeom prst="rect">
            <a:avLst/>
          </a:prstGeom>
          <a:noFill/>
          <a:ln/>
        </p:spPr>
        <p:txBody>
          <a:bodyPr wrap="square" lIns="0" tIns="0" rIns="0" bIns="0" rtlCol="0" anchor="t"/>
          <a:lstStyle/>
          <a:p>
            <a:pPr marL="0" indent="0">
              <a:buNone/>
            </a:pPr>
            <a:r>
              <a:rPr lang="en-US" sz="1250" b="1" dirty="0">
                <a:solidFill>
                  <a:srgbClr val="3C71E8"/>
                </a:solidFill>
                <a:latin typeface="Courier New" pitchFamily="34" charset="0"/>
                <a:ea typeface="Courier New" pitchFamily="34" charset="-122"/>
                <a:cs typeface="Courier New" pitchFamily="34" charset="-120"/>
              </a:rPr>
              <a:t>admet</a:t>
            </a:r>
            <a:endParaRPr lang="en-US" sz="1250" dirty="0"/>
          </a:p>
        </p:txBody>
      </p:sp>
      <p:sp>
        <p:nvSpPr>
          <p:cNvPr id="25" name="Text 23"/>
          <p:cNvSpPr txBox="1"/>
          <p:nvPr/>
        </p:nvSpPr>
        <p:spPr>
          <a:xfrm>
            <a:off x="4754880" y="4023360"/>
            <a:ext cx="1143000" cy="777240"/>
          </a:xfrm>
          <a:prstGeom prst="rect">
            <a:avLst/>
          </a:prstGeom>
          <a:noFill/>
          <a:ln/>
        </p:spPr>
        <p:txBody>
          <a:bodyPr wrap="square" lIns="0" tIns="0" rIns="0" bIns="0" rtlCol="0" anchor="t"/>
          <a:lstStyle/>
          <a:p>
            <a:pPr marL="0" indent="0">
              <a:buNone/>
            </a:pPr>
            <a:r>
              <a:rPr lang="en-US" sz="1050" dirty="0">
                <a:solidFill>
                  <a:srgbClr val="5B6480"/>
                </a:solidFill>
                <a:latin typeface="Calibri" pitchFamily="34" charset="0"/>
                <a:ea typeface="Calibri" pitchFamily="34" charset="-122"/>
                <a:cs typeface="Calibri" pitchFamily="34" charset="-120"/>
              </a:rPr>
              <a:t>scraper, file, aturan</a:t>
            </a:r>
            <a:endParaRPr lang="en-US" sz="1050" dirty="0"/>
          </a:p>
        </p:txBody>
      </p:sp>
      <p:sp>
        <p:nvSpPr>
          <p:cNvPr id="26" name="Shape 24"/>
          <p:cNvSpPr/>
          <p:nvPr/>
        </p:nvSpPr>
        <p:spPr>
          <a:xfrm>
            <a:off x="1234440" y="4937760"/>
            <a:ext cx="1298448" cy="1234440"/>
          </a:xfrm>
          <a:prstGeom prst="roundRect">
            <a:avLst>
              <a:gd name="adj" fmla="val 8889"/>
            </a:avLst>
          </a:prstGeom>
          <a:solidFill>
            <a:srgbClr val="E8EDFC"/>
          </a:solidFill>
          <a:ln w="9525">
            <a:solidFill>
              <a:srgbClr val="E8EDFC"/>
            </a:solidFill>
            <a:prstDash val="solid"/>
          </a:ln>
        </p:spPr>
        <p:txBody>
          <a:bodyPr/>
          <a:lstStyle/>
          <a:p>
            <a:endParaRPr/>
          </a:p>
        </p:txBody>
      </p:sp>
      <p:sp>
        <p:nvSpPr>
          <p:cNvPr id="27" name="Text 25"/>
          <p:cNvSpPr txBox="1"/>
          <p:nvPr/>
        </p:nvSpPr>
        <p:spPr>
          <a:xfrm>
            <a:off x="1325880" y="5029200"/>
            <a:ext cx="1143000" cy="274320"/>
          </a:xfrm>
          <a:prstGeom prst="rect">
            <a:avLst/>
          </a:prstGeom>
          <a:noFill/>
          <a:ln/>
        </p:spPr>
        <p:txBody>
          <a:bodyPr wrap="square" lIns="0" tIns="0" rIns="0" bIns="0" rtlCol="0" anchor="t"/>
          <a:lstStyle/>
          <a:p>
            <a:pPr marL="0" indent="0">
              <a:buNone/>
            </a:pPr>
            <a:r>
              <a:rPr lang="en-US" sz="1250" b="1" dirty="0">
                <a:solidFill>
                  <a:srgbClr val="3C71E8"/>
                </a:solidFill>
                <a:latin typeface="Courier New" pitchFamily="34" charset="0"/>
                <a:ea typeface="Courier New" pitchFamily="34" charset="-122"/>
                <a:cs typeface="Courier New" pitchFamily="34" charset="-120"/>
              </a:rPr>
              <a:t>analytics</a:t>
            </a:r>
            <a:endParaRPr lang="en-US" sz="1250" dirty="0"/>
          </a:p>
        </p:txBody>
      </p:sp>
      <p:sp>
        <p:nvSpPr>
          <p:cNvPr id="28" name="Text 26"/>
          <p:cNvSpPr txBox="1"/>
          <p:nvPr/>
        </p:nvSpPr>
        <p:spPr>
          <a:xfrm>
            <a:off x="1325880" y="5349240"/>
            <a:ext cx="1143000" cy="777240"/>
          </a:xfrm>
          <a:prstGeom prst="rect">
            <a:avLst/>
          </a:prstGeom>
          <a:noFill/>
          <a:ln/>
        </p:spPr>
        <p:txBody>
          <a:bodyPr wrap="square" lIns="0" tIns="0" rIns="0" bIns="0" rtlCol="0" anchor="t"/>
          <a:lstStyle/>
          <a:p>
            <a:pPr marL="0" indent="0">
              <a:buNone/>
            </a:pPr>
            <a:r>
              <a:rPr lang="en-US" sz="1050" dirty="0">
                <a:solidFill>
                  <a:srgbClr val="5B6480"/>
                </a:solidFill>
                <a:latin typeface="Calibri" pitchFamily="34" charset="0"/>
                <a:ea typeface="Calibri" pitchFamily="34" charset="-122"/>
                <a:cs typeface="Calibri" pitchFamily="34" charset="-120"/>
              </a:rPr>
              <a:t>charts, heatmap, PCA, HCA, grup, style</a:t>
            </a:r>
            <a:endParaRPr lang="en-US" sz="1050" dirty="0"/>
          </a:p>
        </p:txBody>
      </p:sp>
      <p:sp>
        <p:nvSpPr>
          <p:cNvPr id="29" name="Shape 27"/>
          <p:cNvSpPr/>
          <p:nvPr/>
        </p:nvSpPr>
        <p:spPr>
          <a:xfrm>
            <a:off x="2606040" y="4937760"/>
            <a:ext cx="1298448" cy="1234440"/>
          </a:xfrm>
          <a:prstGeom prst="roundRect">
            <a:avLst>
              <a:gd name="adj" fmla="val 8889"/>
            </a:avLst>
          </a:prstGeom>
          <a:solidFill>
            <a:srgbClr val="E8EDFC"/>
          </a:solidFill>
          <a:ln w="9525">
            <a:solidFill>
              <a:srgbClr val="E8EDFC"/>
            </a:solidFill>
            <a:prstDash val="solid"/>
          </a:ln>
        </p:spPr>
        <p:txBody>
          <a:bodyPr/>
          <a:lstStyle/>
          <a:p>
            <a:endParaRPr/>
          </a:p>
        </p:txBody>
      </p:sp>
      <p:sp>
        <p:nvSpPr>
          <p:cNvPr id="30" name="Text 28"/>
          <p:cNvSpPr txBox="1"/>
          <p:nvPr/>
        </p:nvSpPr>
        <p:spPr>
          <a:xfrm>
            <a:off x="2697480" y="5029200"/>
            <a:ext cx="1143000" cy="274320"/>
          </a:xfrm>
          <a:prstGeom prst="rect">
            <a:avLst/>
          </a:prstGeom>
          <a:noFill/>
          <a:ln/>
        </p:spPr>
        <p:txBody>
          <a:bodyPr wrap="square" lIns="0" tIns="0" rIns="0" bIns="0" rtlCol="0" anchor="t"/>
          <a:lstStyle/>
          <a:p>
            <a:pPr marL="0" indent="0">
              <a:buNone/>
            </a:pPr>
            <a:r>
              <a:rPr lang="en-US" sz="1250" b="1" dirty="0">
                <a:solidFill>
                  <a:srgbClr val="3C71E8"/>
                </a:solidFill>
                <a:latin typeface="Courier New" pitchFamily="34" charset="0"/>
                <a:ea typeface="Courier New" pitchFamily="34" charset="-122"/>
                <a:cs typeface="Courier New" pitchFamily="34" charset="-120"/>
              </a:rPr>
              <a:t>similarity</a:t>
            </a:r>
            <a:endParaRPr lang="en-US" sz="1250" dirty="0"/>
          </a:p>
        </p:txBody>
      </p:sp>
      <p:sp>
        <p:nvSpPr>
          <p:cNvPr id="31" name="Text 29"/>
          <p:cNvSpPr txBox="1"/>
          <p:nvPr/>
        </p:nvSpPr>
        <p:spPr>
          <a:xfrm>
            <a:off x="2697480" y="5349240"/>
            <a:ext cx="1143000" cy="777240"/>
          </a:xfrm>
          <a:prstGeom prst="rect">
            <a:avLst/>
          </a:prstGeom>
          <a:noFill/>
          <a:ln/>
        </p:spPr>
        <p:txBody>
          <a:bodyPr wrap="square" lIns="0" tIns="0" rIns="0" bIns="0" rtlCol="0" anchor="t"/>
          <a:lstStyle/>
          <a:p>
            <a:pPr marL="0" indent="0">
              <a:buNone/>
            </a:pPr>
            <a:r>
              <a:rPr lang="en-US" sz="1050" dirty="0">
                <a:solidFill>
                  <a:srgbClr val="5B6480"/>
                </a:solidFill>
                <a:latin typeface="Calibri" pitchFamily="34" charset="0"/>
                <a:ea typeface="Calibri" pitchFamily="34" charset="-122"/>
                <a:cs typeface="Calibri" pitchFamily="34" charset="-120"/>
              </a:rPr>
              <a:t>BIOVIA, rumus, plot</a:t>
            </a:r>
            <a:endParaRPr lang="en-US" sz="1050" dirty="0"/>
          </a:p>
        </p:txBody>
      </p:sp>
      <p:sp>
        <p:nvSpPr>
          <p:cNvPr id="32" name="Shape 30"/>
          <p:cNvSpPr/>
          <p:nvPr/>
        </p:nvSpPr>
        <p:spPr>
          <a:xfrm>
            <a:off x="3977640" y="4937760"/>
            <a:ext cx="1298448" cy="1234440"/>
          </a:xfrm>
          <a:prstGeom prst="roundRect">
            <a:avLst>
              <a:gd name="adj" fmla="val 8889"/>
            </a:avLst>
          </a:prstGeom>
          <a:solidFill>
            <a:srgbClr val="E8EDFC"/>
          </a:solidFill>
          <a:ln w="9525">
            <a:solidFill>
              <a:srgbClr val="E8EDFC"/>
            </a:solidFill>
            <a:prstDash val="solid"/>
          </a:ln>
        </p:spPr>
        <p:txBody>
          <a:bodyPr/>
          <a:lstStyle/>
          <a:p>
            <a:endParaRPr/>
          </a:p>
        </p:txBody>
      </p:sp>
      <p:sp>
        <p:nvSpPr>
          <p:cNvPr id="33" name="Text 31"/>
          <p:cNvSpPr txBox="1"/>
          <p:nvPr/>
        </p:nvSpPr>
        <p:spPr>
          <a:xfrm>
            <a:off x="4069080" y="5029200"/>
            <a:ext cx="1143000" cy="274320"/>
          </a:xfrm>
          <a:prstGeom prst="rect">
            <a:avLst/>
          </a:prstGeom>
          <a:noFill/>
          <a:ln/>
        </p:spPr>
        <p:txBody>
          <a:bodyPr wrap="square" lIns="0" tIns="0" rIns="0" bIns="0" rtlCol="0" anchor="t"/>
          <a:lstStyle/>
          <a:p>
            <a:pPr marL="0" indent="0">
              <a:buNone/>
            </a:pPr>
            <a:r>
              <a:rPr lang="en-US" sz="1250" b="1" dirty="0">
                <a:solidFill>
                  <a:srgbClr val="3C71E8"/>
                </a:solidFill>
                <a:latin typeface="Courier New" pitchFamily="34" charset="0"/>
                <a:ea typeface="Courier New" pitchFamily="34" charset="-122"/>
                <a:cs typeface="Courier New" pitchFamily="34" charset="-120"/>
              </a:rPr>
              <a:t>utils</a:t>
            </a:r>
            <a:endParaRPr lang="en-US" sz="1250" dirty="0"/>
          </a:p>
        </p:txBody>
      </p:sp>
      <p:sp>
        <p:nvSpPr>
          <p:cNvPr id="34" name="Text 32"/>
          <p:cNvSpPr txBox="1"/>
          <p:nvPr/>
        </p:nvSpPr>
        <p:spPr>
          <a:xfrm>
            <a:off x="4069080" y="5349240"/>
            <a:ext cx="1143000" cy="777240"/>
          </a:xfrm>
          <a:prstGeom prst="rect">
            <a:avLst/>
          </a:prstGeom>
          <a:noFill/>
          <a:ln/>
        </p:spPr>
        <p:txBody>
          <a:bodyPr wrap="square" lIns="0" tIns="0" rIns="0" bIns="0" rtlCol="0" anchor="t"/>
          <a:lstStyle/>
          <a:p>
            <a:pPr marL="0" indent="0">
              <a:buNone/>
            </a:pPr>
            <a:r>
              <a:rPr lang="en-US" sz="1050" dirty="0">
                <a:solidFill>
                  <a:srgbClr val="5B6480"/>
                </a:solidFill>
                <a:latin typeface="Calibri" pitchFamily="34" charset="0"/>
                <a:ea typeface="Calibri" pitchFamily="34" charset="-122"/>
                <a:cs typeface="Calibri" pitchFamily="34" charset="-120"/>
              </a:rPr>
              <a:t>nama file, subprocess, log</a:t>
            </a:r>
            <a:endParaRPr lang="en-US" sz="1050" dirty="0"/>
          </a:p>
        </p:txBody>
      </p:sp>
      <p:sp>
        <p:nvSpPr>
          <p:cNvPr id="35" name="Shape 33"/>
          <p:cNvSpPr/>
          <p:nvPr/>
        </p:nvSpPr>
        <p:spPr>
          <a:xfrm>
            <a:off x="6400800" y="1737360"/>
            <a:ext cx="502920" cy="502920"/>
          </a:xfrm>
          <a:prstGeom prst="ellipse">
            <a:avLst/>
          </a:prstGeom>
          <a:solidFill>
            <a:srgbClr val="3C71E8"/>
          </a:solidFill>
          <a:ln w="12700">
            <a:solidFill>
              <a:srgbClr val="3C71E8"/>
            </a:solidFill>
            <a:prstDash val="solid"/>
          </a:ln>
        </p:spPr>
        <p:txBody>
          <a:bodyPr/>
          <a:lstStyle/>
          <a:p>
            <a:endParaRPr/>
          </a:p>
        </p:txBody>
      </p:sp>
      <p:pic>
        <p:nvPicPr>
          <p:cNvPr id="36" name="Image 0" descr="Cogs"/>
          <p:cNvPicPr>
            <a:picLocks noChangeAspect="1"/>
          </p:cNvPicPr>
          <p:nvPr/>
        </p:nvPicPr>
        <p:blipFill>
          <a:blip r:embed="rId3"/>
          <a:stretch>
            <a:fillRect/>
          </a:stretch>
        </p:blipFill>
        <p:spPr>
          <a:xfrm>
            <a:off x="6526530" y="1863090"/>
            <a:ext cx="251460" cy="251460"/>
          </a:xfrm>
          <a:prstGeom prst="rect">
            <a:avLst/>
          </a:prstGeom>
        </p:spPr>
      </p:pic>
      <p:sp>
        <p:nvSpPr>
          <p:cNvPr id="37" name="Text 34"/>
          <p:cNvSpPr txBox="1"/>
          <p:nvPr/>
        </p:nvSpPr>
        <p:spPr>
          <a:xfrm>
            <a:off x="7086600" y="1691640"/>
            <a:ext cx="4480560" cy="274320"/>
          </a:xfrm>
          <a:prstGeom prst="rect">
            <a:avLst/>
          </a:prstGeom>
          <a:noFill/>
          <a:ln/>
        </p:spPr>
        <p:txBody>
          <a:bodyPr wrap="square" lIns="0" tIns="0" rIns="0" bIns="0" rtlCol="0" anchor="t"/>
          <a:lstStyle/>
          <a:p>
            <a:pPr marL="0" indent="0">
              <a:buNone/>
            </a:pPr>
            <a:r>
              <a:rPr lang="en-US" sz="1450" b="1" dirty="0">
                <a:solidFill>
                  <a:srgbClr val="1B2140"/>
                </a:solidFill>
                <a:latin typeface="Calibri" pitchFamily="34" charset="0"/>
                <a:ea typeface="Calibri" pitchFamily="34" charset="-122"/>
                <a:cs typeface="Calibri" pitchFamily="34" charset="-120"/>
              </a:rPr>
              <a:t>Konfigurasi terpusat</a:t>
            </a:r>
            <a:endParaRPr lang="en-US" sz="1450" dirty="0"/>
          </a:p>
        </p:txBody>
      </p:sp>
      <p:sp>
        <p:nvSpPr>
          <p:cNvPr id="38" name="Text 35"/>
          <p:cNvSpPr txBox="1"/>
          <p:nvPr/>
        </p:nvSpPr>
        <p:spPr>
          <a:xfrm>
            <a:off x="7086600" y="1984248"/>
            <a:ext cx="4526280" cy="566928"/>
          </a:xfrm>
          <a:prstGeom prst="rect">
            <a:avLst/>
          </a:prstGeom>
          <a:noFill/>
          <a:ln/>
        </p:spPr>
        <p:txBody>
          <a:bodyPr wrap="square" lIns="0" tIns="0" rIns="0" bIns="0" rtlCol="0" anchor="t"/>
          <a:lstStyle/>
          <a:p>
            <a:pPr marL="0" indent="0">
              <a:buNone/>
            </a:pPr>
            <a:r>
              <a:rPr lang="en-US" sz="1150" dirty="0">
                <a:solidFill>
                  <a:srgbClr val="5B6480"/>
                </a:solidFill>
                <a:latin typeface="Calibri" pitchFamily="34" charset="0"/>
                <a:ea typeface="Calibri" pitchFamily="34" charset="-122"/>
                <a:cs typeface="Calibri" pitchFamily="34" charset="-120"/>
              </a:rPr>
              <a:t>PipelineConfig menampung semua parameter dan memvalidasinya sejak awal.</a:t>
            </a:r>
            <a:endParaRPr lang="en-US" sz="1150" dirty="0"/>
          </a:p>
        </p:txBody>
      </p:sp>
      <p:sp>
        <p:nvSpPr>
          <p:cNvPr id="39" name="Shape 36"/>
          <p:cNvSpPr/>
          <p:nvPr/>
        </p:nvSpPr>
        <p:spPr>
          <a:xfrm>
            <a:off x="6400800" y="2633472"/>
            <a:ext cx="502920" cy="502920"/>
          </a:xfrm>
          <a:prstGeom prst="ellipse">
            <a:avLst/>
          </a:prstGeom>
          <a:solidFill>
            <a:srgbClr val="3C71E8"/>
          </a:solidFill>
          <a:ln w="12700">
            <a:solidFill>
              <a:srgbClr val="3C71E8"/>
            </a:solidFill>
            <a:prstDash val="solid"/>
          </a:ln>
        </p:spPr>
        <p:txBody>
          <a:bodyPr/>
          <a:lstStyle/>
          <a:p>
            <a:endParaRPr/>
          </a:p>
        </p:txBody>
      </p:sp>
      <p:pic>
        <p:nvPicPr>
          <p:cNvPr id="40" name="Image 1" descr="ShieldAlt"/>
          <p:cNvPicPr>
            <a:picLocks noChangeAspect="1"/>
          </p:cNvPicPr>
          <p:nvPr/>
        </p:nvPicPr>
        <p:blipFill>
          <a:blip r:embed="rId4"/>
          <a:stretch>
            <a:fillRect/>
          </a:stretch>
        </p:blipFill>
        <p:spPr>
          <a:xfrm>
            <a:off x="6526530" y="2759202"/>
            <a:ext cx="251460" cy="251460"/>
          </a:xfrm>
          <a:prstGeom prst="rect">
            <a:avLst/>
          </a:prstGeom>
        </p:spPr>
      </p:pic>
      <p:sp>
        <p:nvSpPr>
          <p:cNvPr id="41" name="Text 37"/>
          <p:cNvSpPr txBox="1"/>
          <p:nvPr/>
        </p:nvSpPr>
        <p:spPr>
          <a:xfrm>
            <a:off x="7086600" y="2587752"/>
            <a:ext cx="4480560" cy="274320"/>
          </a:xfrm>
          <a:prstGeom prst="rect">
            <a:avLst/>
          </a:prstGeom>
          <a:noFill/>
          <a:ln/>
        </p:spPr>
        <p:txBody>
          <a:bodyPr wrap="square" lIns="0" tIns="0" rIns="0" bIns="0" rtlCol="0" anchor="t"/>
          <a:lstStyle/>
          <a:p>
            <a:pPr marL="0" indent="0">
              <a:buNone/>
            </a:pPr>
            <a:r>
              <a:rPr lang="en-US" sz="1450" b="1" dirty="0">
                <a:solidFill>
                  <a:srgbClr val="1B2140"/>
                </a:solidFill>
                <a:latin typeface="Calibri" pitchFamily="34" charset="0"/>
                <a:ea typeface="Calibri" pitchFamily="34" charset="-122"/>
                <a:cs typeface="Calibri" pitchFamily="34" charset="-120"/>
              </a:rPr>
              <a:t>Fail-soft</a:t>
            </a:r>
            <a:endParaRPr lang="en-US" sz="1450" dirty="0"/>
          </a:p>
        </p:txBody>
      </p:sp>
      <p:sp>
        <p:nvSpPr>
          <p:cNvPr id="42" name="Text 38"/>
          <p:cNvSpPr txBox="1"/>
          <p:nvPr/>
        </p:nvSpPr>
        <p:spPr>
          <a:xfrm>
            <a:off x="7086600" y="2880360"/>
            <a:ext cx="4526280" cy="566928"/>
          </a:xfrm>
          <a:prstGeom prst="rect">
            <a:avLst/>
          </a:prstGeom>
          <a:noFill/>
          <a:ln/>
        </p:spPr>
        <p:txBody>
          <a:bodyPr wrap="square" lIns="0" tIns="0" rIns="0" bIns="0" rtlCol="0" anchor="t"/>
          <a:lstStyle/>
          <a:p>
            <a:pPr marL="0" indent="0">
              <a:buNone/>
            </a:pPr>
            <a:r>
              <a:rPr lang="en-US" sz="1150" dirty="0">
                <a:solidFill>
                  <a:srgbClr val="5B6480"/>
                </a:solidFill>
                <a:latin typeface="Calibri" pitchFamily="34" charset="0"/>
                <a:ea typeface="Calibri" pitchFamily="34" charset="-122"/>
                <a:cs typeface="Calibri" pitchFamily="34" charset="-120"/>
              </a:rPr>
              <a:t>Kegagalan satu ligan atau reseptor dicatat; sisanya tetap diproses (pipeline.py:1-12).</a:t>
            </a:r>
            <a:endParaRPr lang="en-US" sz="1150" dirty="0"/>
          </a:p>
        </p:txBody>
      </p:sp>
      <p:sp>
        <p:nvSpPr>
          <p:cNvPr id="43" name="Shape 39"/>
          <p:cNvSpPr/>
          <p:nvPr/>
        </p:nvSpPr>
        <p:spPr>
          <a:xfrm>
            <a:off x="6400800" y="3529584"/>
            <a:ext cx="502920" cy="502920"/>
          </a:xfrm>
          <a:prstGeom prst="ellipse">
            <a:avLst/>
          </a:prstGeom>
          <a:solidFill>
            <a:srgbClr val="3C71E8"/>
          </a:solidFill>
          <a:ln w="12700">
            <a:solidFill>
              <a:srgbClr val="3C71E8"/>
            </a:solidFill>
            <a:prstDash val="solid"/>
          </a:ln>
        </p:spPr>
        <p:txBody>
          <a:bodyPr/>
          <a:lstStyle/>
          <a:p>
            <a:endParaRPr/>
          </a:p>
        </p:txBody>
      </p:sp>
      <p:pic>
        <p:nvPicPr>
          <p:cNvPr id="44" name="Image 2" descr="Plug"/>
          <p:cNvPicPr>
            <a:picLocks noChangeAspect="1"/>
          </p:cNvPicPr>
          <p:nvPr/>
        </p:nvPicPr>
        <p:blipFill>
          <a:blip r:embed="rId5"/>
          <a:stretch>
            <a:fillRect/>
          </a:stretch>
        </p:blipFill>
        <p:spPr>
          <a:xfrm>
            <a:off x="6526530" y="3655314"/>
            <a:ext cx="251460" cy="251460"/>
          </a:xfrm>
          <a:prstGeom prst="rect">
            <a:avLst/>
          </a:prstGeom>
        </p:spPr>
      </p:pic>
      <p:sp>
        <p:nvSpPr>
          <p:cNvPr id="45" name="Text 40"/>
          <p:cNvSpPr txBox="1"/>
          <p:nvPr/>
        </p:nvSpPr>
        <p:spPr>
          <a:xfrm>
            <a:off x="7086600" y="3483864"/>
            <a:ext cx="4480560" cy="274320"/>
          </a:xfrm>
          <a:prstGeom prst="rect">
            <a:avLst/>
          </a:prstGeom>
          <a:noFill/>
          <a:ln/>
        </p:spPr>
        <p:txBody>
          <a:bodyPr wrap="square" lIns="0" tIns="0" rIns="0" bIns="0" rtlCol="0" anchor="t"/>
          <a:lstStyle/>
          <a:p>
            <a:pPr marL="0" indent="0">
              <a:buNone/>
            </a:pPr>
            <a:r>
              <a:rPr lang="en-US" sz="1450" b="1" dirty="0">
                <a:solidFill>
                  <a:srgbClr val="1B2140"/>
                </a:solidFill>
                <a:latin typeface="Calibri" pitchFamily="34" charset="0"/>
                <a:ea typeface="Calibri" pitchFamily="34" charset="-122"/>
                <a:cs typeface="Calibri" pitchFamily="34" charset="-120"/>
              </a:rPr>
              <a:t>Injeksi dependensi</a:t>
            </a:r>
            <a:endParaRPr lang="en-US" sz="1450" dirty="0"/>
          </a:p>
        </p:txBody>
      </p:sp>
      <p:sp>
        <p:nvSpPr>
          <p:cNvPr id="46" name="Text 41"/>
          <p:cNvSpPr txBox="1"/>
          <p:nvPr/>
        </p:nvSpPr>
        <p:spPr>
          <a:xfrm>
            <a:off x="7086600" y="3776472"/>
            <a:ext cx="4526280" cy="566928"/>
          </a:xfrm>
          <a:prstGeom prst="rect">
            <a:avLst/>
          </a:prstGeom>
          <a:noFill/>
          <a:ln/>
        </p:spPr>
        <p:txBody>
          <a:bodyPr wrap="square" lIns="0" tIns="0" rIns="0" bIns="0" rtlCol="0" anchor="t"/>
          <a:lstStyle/>
          <a:p>
            <a:pPr marL="0" indent="0">
              <a:buNone/>
            </a:pPr>
            <a:r>
              <a:rPr lang="en-US" sz="1150" dirty="0">
                <a:solidFill>
                  <a:srgbClr val="5B6480"/>
                </a:solidFill>
                <a:latin typeface="Calibri" pitchFamily="34" charset="0"/>
                <a:ea typeface="Calibri" pitchFamily="34" charset="-122"/>
                <a:cs typeface="Calibri" pitchFamily="34" charset="-120"/>
              </a:rPr>
              <a:t>Converter dan runner disuntik, sehingga tes tidak memerlukan OpenBabel, Vina, atau jaringan.</a:t>
            </a:r>
            <a:endParaRPr lang="en-US" sz="1150" dirty="0"/>
          </a:p>
        </p:txBody>
      </p:sp>
      <p:sp>
        <p:nvSpPr>
          <p:cNvPr id="47" name="Shape 42"/>
          <p:cNvSpPr/>
          <p:nvPr/>
        </p:nvSpPr>
        <p:spPr>
          <a:xfrm>
            <a:off x="6400800" y="4425696"/>
            <a:ext cx="502920" cy="502920"/>
          </a:xfrm>
          <a:prstGeom prst="ellipse">
            <a:avLst/>
          </a:prstGeom>
          <a:solidFill>
            <a:srgbClr val="3C71E8"/>
          </a:solidFill>
          <a:ln w="12700">
            <a:solidFill>
              <a:srgbClr val="3C71E8"/>
            </a:solidFill>
            <a:prstDash val="solid"/>
          </a:ln>
        </p:spPr>
        <p:txBody>
          <a:bodyPr/>
          <a:lstStyle/>
          <a:p>
            <a:endParaRPr/>
          </a:p>
        </p:txBody>
      </p:sp>
      <p:pic>
        <p:nvPicPr>
          <p:cNvPr id="48" name="Image 3" descr="Table"/>
          <p:cNvPicPr>
            <a:picLocks noChangeAspect="1"/>
          </p:cNvPicPr>
          <p:nvPr/>
        </p:nvPicPr>
        <p:blipFill>
          <a:blip r:embed="rId6"/>
          <a:stretch>
            <a:fillRect/>
          </a:stretch>
        </p:blipFill>
        <p:spPr>
          <a:xfrm>
            <a:off x="6526530" y="4551426"/>
            <a:ext cx="251460" cy="251460"/>
          </a:xfrm>
          <a:prstGeom prst="rect">
            <a:avLst/>
          </a:prstGeom>
        </p:spPr>
      </p:pic>
      <p:sp>
        <p:nvSpPr>
          <p:cNvPr id="49" name="Text 43"/>
          <p:cNvSpPr txBox="1"/>
          <p:nvPr/>
        </p:nvSpPr>
        <p:spPr>
          <a:xfrm>
            <a:off x="7086600" y="4379976"/>
            <a:ext cx="4480560" cy="274320"/>
          </a:xfrm>
          <a:prstGeom prst="rect">
            <a:avLst/>
          </a:prstGeom>
          <a:noFill/>
          <a:ln/>
        </p:spPr>
        <p:txBody>
          <a:bodyPr wrap="square" lIns="0" tIns="0" rIns="0" bIns="0" rtlCol="0" anchor="t"/>
          <a:lstStyle/>
          <a:p>
            <a:pPr marL="0" indent="0">
              <a:buNone/>
            </a:pPr>
            <a:r>
              <a:rPr lang="en-US" sz="1450" b="1" dirty="0">
                <a:solidFill>
                  <a:srgbClr val="1B2140"/>
                </a:solidFill>
                <a:latin typeface="Calibri" pitchFamily="34" charset="0"/>
                <a:ea typeface="Calibri" pitchFamily="34" charset="-122"/>
                <a:cs typeface="Calibri" pitchFamily="34" charset="-120"/>
              </a:rPr>
              <a:t>Tabel aturan tunggal</a:t>
            </a:r>
            <a:endParaRPr lang="en-US" sz="1450" dirty="0"/>
          </a:p>
        </p:txBody>
      </p:sp>
      <p:sp>
        <p:nvSpPr>
          <p:cNvPr id="50" name="Text 44"/>
          <p:cNvSpPr txBox="1"/>
          <p:nvPr/>
        </p:nvSpPr>
        <p:spPr>
          <a:xfrm>
            <a:off x="7086600" y="4672584"/>
            <a:ext cx="4526280" cy="566928"/>
          </a:xfrm>
          <a:prstGeom prst="rect">
            <a:avLst/>
          </a:prstGeom>
          <a:noFill/>
          <a:ln/>
        </p:spPr>
        <p:txBody>
          <a:bodyPr wrap="square" lIns="0" tIns="0" rIns="0" bIns="0" rtlCol="0" anchor="t"/>
          <a:lstStyle/>
          <a:p>
            <a:pPr marL="0" indent="0">
              <a:buNone/>
            </a:pPr>
            <a:r>
              <a:rPr lang="en-US" sz="1150" dirty="0">
                <a:solidFill>
                  <a:srgbClr val="5B6480"/>
                </a:solidFill>
                <a:latin typeface="Calibri" pitchFamily="34" charset="0"/>
                <a:ea typeface="Calibri" pitchFamily="34" charset="-122"/>
                <a:cs typeface="Calibri" pitchFamily="34" charset="-120"/>
              </a:rPr>
              <a:t>Satu tabel RULES ADMET menghasilkan warna sel, skor radar, dan sheet legenda.</a:t>
            </a:r>
            <a:endParaRPr lang="en-US" sz="1150" dirty="0"/>
          </a:p>
        </p:txBody>
      </p:sp>
      <p:sp>
        <p:nvSpPr>
          <p:cNvPr id="51" name="Shape 45"/>
          <p:cNvSpPr/>
          <p:nvPr/>
        </p:nvSpPr>
        <p:spPr>
          <a:xfrm>
            <a:off x="6400800" y="5321808"/>
            <a:ext cx="502920" cy="502920"/>
          </a:xfrm>
          <a:prstGeom prst="ellipse">
            <a:avLst/>
          </a:prstGeom>
          <a:solidFill>
            <a:srgbClr val="3C71E8"/>
          </a:solidFill>
          <a:ln w="12700">
            <a:solidFill>
              <a:srgbClr val="3C71E8"/>
            </a:solidFill>
            <a:prstDash val="solid"/>
          </a:ln>
        </p:spPr>
        <p:txBody>
          <a:bodyPr/>
          <a:lstStyle/>
          <a:p>
            <a:endParaRPr/>
          </a:p>
        </p:txBody>
      </p:sp>
      <p:pic>
        <p:nvPicPr>
          <p:cNvPr id="52" name="Image 4" descr="Code"/>
          <p:cNvPicPr>
            <a:picLocks noChangeAspect="1"/>
          </p:cNvPicPr>
          <p:nvPr/>
        </p:nvPicPr>
        <p:blipFill>
          <a:blip r:embed="rId7"/>
          <a:stretch>
            <a:fillRect/>
          </a:stretch>
        </p:blipFill>
        <p:spPr>
          <a:xfrm>
            <a:off x="6526530" y="5447538"/>
            <a:ext cx="251460" cy="251460"/>
          </a:xfrm>
          <a:prstGeom prst="rect">
            <a:avLst/>
          </a:prstGeom>
        </p:spPr>
      </p:pic>
      <p:sp>
        <p:nvSpPr>
          <p:cNvPr id="53" name="Text 46"/>
          <p:cNvSpPr txBox="1"/>
          <p:nvPr/>
        </p:nvSpPr>
        <p:spPr>
          <a:xfrm>
            <a:off x="7086600" y="5276088"/>
            <a:ext cx="4480560" cy="274320"/>
          </a:xfrm>
          <a:prstGeom prst="rect">
            <a:avLst/>
          </a:prstGeom>
          <a:noFill/>
          <a:ln/>
        </p:spPr>
        <p:txBody>
          <a:bodyPr wrap="square" lIns="0" tIns="0" rIns="0" bIns="0" rtlCol="0" anchor="t"/>
          <a:lstStyle/>
          <a:p>
            <a:pPr marL="0" indent="0">
              <a:buNone/>
            </a:pPr>
            <a:r>
              <a:rPr lang="en-US" sz="1450" b="1" dirty="0">
                <a:solidFill>
                  <a:srgbClr val="1B2140"/>
                </a:solidFill>
                <a:latin typeface="Calibri" pitchFamily="34" charset="0"/>
                <a:ea typeface="Calibri" pitchFamily="34" charset="-122"/>
                <a:cs typeface="Calibri" pitchFamily="34" charset="-120"/>
              </a:rPr>
              <a:t>CLI dan library</a:t>
            </a:r>
            <a:endParaRPr lang="en-US" sz="1450" dirty="0"/>
          </a:p>
        </p:txBody>
      </p:sp>
      <p:sp>
        <p:nvSpPr>
          <p:cNvPr id="54" name="Text 47"/>
          <p:cNvSpPr txBox="1"/>
          <p:nvPr/>
        </p:nvSpPr>
        <p:spPr>
          <a:xfrm>
            <a:off x="7086600" y="5568696"/>
            <a:ext cx="4526280" cy="566928"/>
          </a:xfrm>
          <a:prstGeom prst="rect">
            <a:avLst/>
          </a:prstGeom>
          <a:noFill/>
          <a:ln/>
        </p:spPr>
        <p:txBody>
          <a:bodyPr wrap="square" lIns="0" tIns="0" rIns="0" bIns="0" rtlCol="0" anchor="t"/>
          <a:lstStyle/>
          <a:p>
            <a:pPr marL="0" indent="0">
              <a:buNone/>
            </a:pPr>
            <a:r>
              <a:rPr lang="en-US" sz="1150" dirty="0">
                <a:solidFill>
                  <a:srgbClr val="5B6480"/>
                </a:solidFill>
                <a:latin typeface="Calibri" pitchFamily="34" charset="0"/>
                <a:ea typeface="Calibri" pitchFamily="34" charset="-122"/>
                <a:cs typeface="Calibri" pitchFamily="34" charset="-120"/>
              </a:rPr>
              <a:t>Satu basis kode: python -m chemflow atau Pipeline(config).run().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A3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2029968" cy="256032"/>
          </a:xfrm>
          <a:prstGeom prst="roundRect">
            <a:avLst>
              <a:gd name="adj" fmla="val 50000"/>
            </a:avLst>
          </a:prstGeom>
          <a:solidFill>
            <a:srgbClr val="1C2757"/>
          </a:solidFill>
          <a:ln/>
        </p:spPr>
        <p:txBody>
          <a:bodyPr wrap="square" lIns="0" tIns="0" rIns="0" bIns="0" rtlCol="0" anchor="ctr"/>
          <a:lstStyle/>
          <a:p>
            <a:pPr marL="0" indent="0" algn="ctr">
              <a:buNone/>
            </a:pPr>
            <a:r>
              <a:rPr lang="en-US" sz="1000" b="1" dirty="0">
                <a:solidFill>
                  <a:srgbClr val="C9D3FF"/>
                </a:solidFill>
                <a:latin typeface="Calibri" pitchFamily="34" charset="0"/>
                <a:ea typeface="Calibri" pitchFamily="34" charset="-122"/>
                <a:cs typeface="Calibri" pitchFamily="34" charset="-120"/>
              </a:rPr>
              <a:t>C · PIPELINE IN SILICO</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FFFFFF"/>
                </a:solidFill>
                <a:latin typeface="Cambria" pitchFamily="34" charset="0"/>
                <a:ea typeface="Cambria" pitchFamily="34" charset="-122"/>
                <a:cs typeface="Cambria" pitchFamily="34" charset="-120"/>
              </a:rPr>
              <a:t>Alur end-to-end: 12 tahap, sekuensial, fail-soft</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C9D3FF"/>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C9D3FF"/>
                </a:solidFill>
                <a:latin typeface="Calibri" pitchFamily="34" charset="0"/>
                <a:ea typeface="Calibri" pitchFamily="34" charset="-122"/>
                <a:cs typeface="Calibri" pitchFamily="34" charset="-120"/>
              </a:rPr>
              <a:t>8</a:t>
            </a:r>
            <a:endParaRPr lang="en-US" sz="1000" dirty="0"/>
          </a:p>
        </p:txBody>
      </p:sp>
      <p:sp>
        <p:nvSpPr>
          <p:cNvPr id="6" name="Text 4"/>
          <p:cNvSpPr txBox="1"/>
          <p:nvPr/>
        </p:nvSpPr>
        <p:spPr>
          <a:xfrm>
            <a:off x="548640" y="1572768"/>
            <a:ext cx="5486400" cy="274320"/>
          </a:xfrm>
          <a:prstGeom prst="rect">
            <a:avLst/>
          </a:prstGeom>
          <a:noFill/>
          <a:ln/>
        </p:spPr>
        <p:txBody>
          <a:bodyPr wrap="square" lIns="0" tIns="0" rIns="0" bIns="0" rtlCol="0" anchor="t"/>
          <a:lstStyle/>
          <a:p>
            <a:pPr marL="0" indent="0">
              <a:buNone/>
            </a:pPr>
            <a:r>
              <a:rPr lang="en-US" sz="1300" b="1" dirty="0">
                <a:solidFill>
                  <a:srgbClr val="C9D3FF"/>
                </a:solidFill>
                <a:latin typeface="Calibri" pitchFamily="34" charset="0"/>
                <a:ea typeface="Calibri" pitchFamily="34" charset="-122"/>
                <a:cs typeface="Calibri" pitchFamily="34" charset="-120"/>
              </a:rPr>
              <a:t>Masukan: ligan.xlsx + reseptor.xlsx</a:t>
            </a:r>
            <a:endParaRPr lang="en-US" sz="1300" dirty="0"/>
          </a:p>
        </p:txBody>
      </p:sp>
      <p:sp>
        <p:nvSpPr>
          <p:cNvPr id="7" name="Shape 5"/>
          <p:cNvSpPr/>
          <p:nvPr/>
        </p:nvSpPr>
        <p:spPr>
          <a:xfrm>
            <a:off x="548640" y="2011680"/>
            <a:ext cx="1600200" cy="1143000"/>
          </a:xfrm>
          <a:prstGeom prst="roundRect">
            <a:avLst>
              <a:gd name="adj" fmla="val 8000"/>
            </a:avLst>
          </a:prstGeom>
          <a:solidFill>
            <a:srgbClr val="1C2757"/>
          </a:solidFill>
          <a:ln w="12700">
            <a:solidFill>
              <a:srgbClr val="3C71E8"/>
            </a:solidFill>
            <a:prstDash val="solid"/>
          </a:ln>
        </p:spPr>
        <p:txBody>
          <a:bodyPr/>
          <a:lstStyle/>
          <a:p>
            <a:endParaRPr/>
          </a:p>
        </p:txBody>
      </p:sp>
      <p:sp>
        <p:nvSpPr>
          <p:cNvPr id="8" name="Shape 6"/>
          <p:cNvSpPr/>
          <p:nvPr/>
        </p:nvSpPr>
        <p:spPr>
          <a:xfrm>
            <a:off x="640080" y="2103120"/>
            <a:ext cx="292608" cy="292608"/>
          </a:xfrm>
          <a:prstGeom prst="ellipse">
            <a:avLst/>
          </a:prstGeom>
          <a:solidFill>
            <a:srgbClr val="3C71E8"/>
          </a:solidFill>
          <a:ln w="12700">
            <a:solidFill>
              <a:srgbClr val="3C71E8"/>
            </a:solidFill>
            <a:prstDash val="solid"/>
          </a:ln>
        </p:spPr>
        <p:txBody>
          <a:bodyPr/>
          <a:lstStyle/>
          <a:p>
            <a:endParaRPr/>
          </a:p>
        </p:txBody>
      </p:sp>
      <p:sp>
        <p:nvSpPr>
          <p:cNvPr id="9" name="Text 7"/>
          <p:cNvSpPr txBox="1"/>
          <p:nvPr/>
        </p:nvSpPr>
        <p:spPr>
          <a:xfrm>
            <a:off x="640080" y="210312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txBox="1"/>
          <p:nvPr/>
        </p:nvSpPr>
        <p:spPr>
          <a:xfrm>
            <a:off x="640080" y="2441448"/>
            <a:ext cx="1417320" cy="36576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Baca ligan + PubChem</a:t>
            </a:r>
            <a:endParaRPr lang="en-US" sz="1250" dirty="0"/>
          </a:p>
        </p:txBody>
      </p:sp>
      <p:sp>
        <p:nvSpPr>
          <p:cNvPr id="11" name="Text 9"/>
          <p:cNvSpPr txBox="1"/>
          <p:nvPr/>
        </p:nvSpPr>
        <p:spPr>
          <a:xfrm>
            <a:off x="640080" y="2834640"/>
            <a:ext cx="1417320" cy="256032"/>
          </a:xfrm>
          <a:prstGeom prst="rect">
            <a:avLst/>
          </a:prstGeom>
          <a:noFill/>
          <a:ln/>
        </p:spPr>
        <p:txBody>
          <a:bodyPr wrap="square" lIns="0" tIns="0" rIns="0" bIns="0" rtlCol="0" anchor="t"/>
          <a:lstStyle/>
          <a:p>
            <a:pPr marL="0" indent="0">
              <a:buNone/>
            </a:pPr>
            <a:r>
              <a:rPr lang="en-US" sz="850" dirty="0">
                <a:solidFill>
                  <a:srgbClr val="C9D3FF"/>
                </a:solidFill>
                <a:latin typeface="Courier New" pitchFamily="34" charset="0"/>
                <a:ea typeface="Courier New" pitchFamily="34" charset="-122"/>
                <a:cs typeface="Courier New" pitchFamily="34" charset="-120"/>
              </a:rPr>
              <a:t>excel_ligands</a:t>
            </a:r>
            <a:endParaRPr lang="en-US" sz="850" dirty="0"/>
          </a:p>
        </p:txBody>
      </p:sp>
      <p:sp>
        <p:nvSpPr>
          <p:cNvPr id="12" name="Shape 10"/>
          <p:cNvSpPr/>
          <p:nvPr/>
        </p:nvSpPr>
        <p:spPr>
          <a:xfrm>
            <a:off x="2148840" y="2578608"/>
            <a:ext cx="292608" cy="0"/>
          </a:xfrm>
          <a:prstGeom prst="line">
            <a:avLst/>
          </a:prstGeom>
          <a:noFill/>
          <a:ln w="22225">
            <a:solidFill>
              <a:srgbClr val="8E70EB"/>
            </a:solidFill>
            <a:prstDash val="solid"/>
            <a:tailEnd type="triangle"/>
          </a:ln>
        </p:spPr>
        <p:txBody>
          <a:bodyPr/>
          <a:lstStyle/>
          <a:p>
            <a:endParaRPr/>
          </a:p>
        </p:txBody>
      </p:sp>
      <p:sp>
        <p:nvSpPr>
          <p:cNvPr id="13" name="Shape 11"/>
          <p:cNvSpPr/>
          <p:nvPr/>
        </p:nvSpPr>
        <p:spPr>
          <a:xfrm>
            <a:off x="2441448" y="2011680"/>
            <a:ext cx="1600200" cy="1143000"/>
          </a:xfrm>
          <a:prstGeom prst="roundRect">
            <a:avLst>
              <a:gd name="adj" fmla="val 8000"/>
            </a:avLst>
          </a:prstGeom>
          <a:solidFill>
            <a:srgbClr val="1C2757"/>
          </a:solidFill>
          <a:ln w="12700">
            <a:solidFill>
              <a:srgbClr val="3C71E8"/>
            </a:solidFill>
            <a:prstDash val="solid"/>
          </a:ln>
        </p:spPr>
        <p:txBody>
          <a:bodyPr/>
          <a:lstStyle/>
          <a:p>
            <a:endParaRPr/>
          </a:p>
        </p:txBody>
      </p:sp>
      <p:sp>
        <p:nvSpPr>
          <p:cNvPr id="14" name="Shape 12"/>
          <p:cNvSpPr/>
          <p:nvPr/>
        </p:nvSpPr>
        <p:spPr>
          <a:xfrm>
            <a:off x="2532888" y="2103120"/>
            <a:ext cx="292608" cy="292608"/>
          </a:xfrm>
          <a:prstGeom prst="ellipse">
            <a:avLst/>
          </a:prstGeom>
          <a:solidFill>
            <a:srgbClr val="3C71E8"/>
          </a:solidFill>
          <a:ln w="12700">
            <a:solidFill>
              <a:srgbClr val="3C71E8"/>
            </a:solidFill>
            <a:prstDash val="solid"/>
          </a:ln>
        </p:spPr>
        <p:txBody>
          <a:bodyPr/>
          <a:lstStyle/>
          <a:p>
            <a:endParaRPr/>
          </a:p>
        </p:txBody>
      </p:sp>
      <p:sp>
        <p:nvSpPr>
          <p:cNvPr id="15" name="Text 13"/>
          <p:cNvSpPr txBox="1"/>
          <p:nvPr/>
        </p:nvSpPr>
        <p:spPr>
          <a:xfrm>
            <a:off x="2532888" y="210312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4"/>
          <p:cNvSpPr txBox="1"/>
          <p:nvPr/>
        </p:nvSpPr>
        <p:spPr>
          <a:xfrm>
            <a:off x="2532888" y="2441448"/>
            <a:ext cx="1417320" cy="36576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Preparasi ligan</a:t>
            </a:r>
            <a:endParaRPr lang="en-US" sz="1250" dirty="0"/>
          </a:p>
        </p:txBody>
      </p:sp>
      <p:sp>
        <p:nvSpPr>
          <p:cNvPr id="17" name="Text 15"/>
          <p:cNvSpPr txBox="1"/>
          <p:nvPr/>
        </p:nvSpPr>
        <p:spPr>
          <a:xfrm>
            <a:off x="2532888" y="2834640"/>
            <a:ext cx="1417320" cy="256032"/>
          </a:xfrm>
          <a:prstGeom prst="rect">
            <a:avLst/>
          </a:prstGeom>
          <a:noFill/>
          <a:ln/>
        </p:spPr>
        <p:txBody>
          <a:bodyPr wrap="square" lIns="0" tIns="0" rIns="0" bIns="0" rtlCol="0" anchor="t"/>
          <a:lstStyle/>
          <a:p>
            <a:pPr marL="0" indent="0">
              <a:buNone/>
            </a:pPr>
            <a:r>
              <a:rPr lang="en-US" sz="850" dirty="0">
                <a:solidFill>
                  <a:srgbClr val="C9D3FF"/>
                </a:solidFill>
                <a:latin typeface="Courier New" pitchFamily="34" charset="0"/>
                <a:ea typeface="Courier New" pitchFamily="34" charset="-122"/>
                <a:cs typeface="Courier New" pitchFamily="34" charset="-120"/>
              </a:rPr>
              <a:t>ligand_preparer</a:t>
            </a:r>
            <a:endParaRPr lang="en-US" sz="850" dirty="0"/>
          </a:p>
        </p:txBody>
      </p:sp>
      <p:sp>
        <p:nvSpPr>
          <p:cNvPr id="18" name="Shape 16"/>
          <p:cNvSpPr/>
          <p:nvPr/>
        </p:nvSpPr>
        <p:spPr>
          <a:xfrm>
            <a:off x="4041648" y="2578608"/>
            <a:ext cx="292608" cy="0"/>
          </a:xfrm>
          <a:prstGeom prst="line">
            <a:avLst/>
          </a:prstGeom>
          <a:noFill/>
          <a:ln w="22225">
            <a:solidFill>
              <a:srgbClr val="8E70EB"/>
            </a:solidFill>
            <a:prstDash val="solid"/>
            <a:tailEnd type="triangle"/>
          </a:ln>
        </p:spPr>
        <p:txBody>
          <a:bodyPr/>
          <a:lstStyle/>
          <a:p>
            <a:endParaRPr/>
          </a:p>
        </p:txBody>
      </p:sp>
      <p:sp>
        <p:nvSpPr>
          <p:cNvPr id="19" name="Shape 17"/>
          <p:cNvSpPr/>
          <p:nvPr/>
        </p:nvSpPr>
        <p:spPr>
          <a:xfrm>
            <a:off x="4334256" y="2011680"/>
            <a:ext cx="1600200" cy="1143000"/>
          </a:xfrm>
          <a:prstGeom prst="roundRect">
            <a:avLst>
              <a:gd name="adj" fmla="val 8000"/>
            </a:avLst>
          </a:prstGeom>
          <a:solidFill>
            <a:srgbClr val="1C2757"/>
          </a:solidFill>
          <a:ln w="12700">
            <a:solidFill>
              <a:srgbClr val="3C71E8"/>
            </a:solidFill>
            <a:prstDash val="solid"/>
          </a:ln>
        </p:spPr>
        <p:txBody>
          <a:bodyPr/>
          <a:lstStyle/>
          <a:p>
            <a:endParaRPr/>
          </a:p>
        </p:txBody>
      </p:sp>
      <p:sp>
        <p:nvSpPr>
          <p:cNvPr id="20" name="Shape 18"/>
          <p:cNvSpPr/>
          <p:nvPr/>
        </p:nvSpPr>
        <p:spPr>
          <a:xfrm>
            <a:off x="4425696" y="2103120"/>
            <a:ext cx="292608" cy="292608"/>
          </a:xfrm>
          <a:prstGeom prst="ellipse">
            <a:avLst/>
          </a:prstGeom>
          <a:solidFill>
            <a:srgbClr val="3C71E8"/>
          </a:solidFill>
          <a:ln w="12700">
            <a:solidFill>
              <a:srgbClr val="3C71E8"/>
            </a:solidFill>
            <a:prstDash val="solid"/>
          </a:ln>
        </p:spPr>
        <p:txBody>
          <a:bodyPr/>
          <a:lstStyle/>
          <a:p>
            <a:endParaRPr/>
          </a:p>
        </p:txBody>
      </p:sp>
      <p:sp>
        <p:nvSpPr>
          <p:cNvPr id="21" name="Text 19"/>
          <p:cNvSpPr txBox="1"/>
          <p:nvPr/>
        </p:nvSpPr>
        <p:spPr>
          <a:xfrm>
            <a:off x="4425696" y="210312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2" name="Text 20"/>
          <p:cNvSpPr txBox="1"/>
          <p:nvPr/>
        </p:nvSpPr>
        <p:spPr>
          <a:xfrm>
            <a:off x="4425696" y="2441448"/>
            <a:ext cx="1417320" cy="36576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Lipinski Ro5</a:t>
            </a:r>
            <a:endParaRPr lang="en-US" sz="1250" dirty="0"/>
          </a:p>
        </p:txBody>
      </p:sp>
      <p:sp>
        <p:nvSpPr>
          <p:cNvPr id="23" name="Text 21"/>
          <p:cNvSpPr txBox="1"/>
          <p:nvPr/>
        </p:nvSpPr>
        <p:spPr>
          <a:xfrm>
            <a:off x="4425696" y="2834640"/>
            <a:ext cx="1417320" cy="256032"/>
          </a:xfrm>
          <a:prstGeom prst="rect">
            <a:avLst/>
          </a:prstGeom>
          <a:noFill/>
          <a:ln/>
        </p:spPr>
        <p:txBody>
          <a:bodyPr wrap="square" lIns="0" tIns="0" rIns="0" bIns="0" rtlCol="0" anchor="t"/>
          <a:lstStyle/>
          <a:p>
            <a:pPr marL="0" indent="0">
              <a:buNone/>
            </a:pPr>
            <a:r>
              <a:rPr lang="en-US" sz="850" dirty="0">
                <a:solidFill>
                  <a:srgbClr val="C9D3FF"/>
                </a:solidFill>
                <a:latin typeface="Courier New" pitchFamily="34" charset="0"/>
                <a:ea typeface="Courier New" pitchFamily="34" charset="-122"/>
                <a:cs typeface="Courier New" pitchFamily="34" charset="-120"/>
              </a:rPr>
              <a:t>descriptors</a:t>
            </a:r>
            <a:endParaRPr lang="en-US" sz="850" dirty="0"/>
          </a:p>
        </p:txBody>
      </p:sp>
      <p:sp>
        <p:nvSpPr>
          <p:cNvPr id="24" name="Shape 22"/>
          <p:cNvSpPr/>
          <p:nvPr/>
        </p:nvSpPr>
        <p:spPr>
          <a:xfrm>
            <a:off x="5934456" y="2578608"/>
            <a:ext cx="292608" cy="0"/>
          </a:xfrm>
          <a:prstGeom prst="line">
            <a:avLst/>
          </a:prstGeom>
          <a:noFill/>
          <a:ln w="22225">
            <a:solidFill>
              <a:srgbClr val="8E70EB"/>
            </a:solidFill>
            <a:prstDash val="solid"/>
            <a:tailEnd type="triangle"/>
          </a:ln>
        </p:spPr>
        <p:txBody>
          <a:bodyPr/>
          <a:lstStyle/>
          <a:p>
            <a:endParaRPr/>
          </a:p>
        </p:txBody>
      </p:sp>
      <p:sp>
        <p:nvSpPr>
          <p:cNvPr id="25" name="Shape 23"/>
          <p:cNvSpPr/>
          <p:nvPr/>
        </p:nvSpPr>
        <p:spPr>
          <a:xfrm>
            <a:off x="6227064" y="2011680"/>
            <a:ext cx="1600200" cy="1143000"/>
          </a:xfrm>
          <a:prstGeom prst="roundRect">
            <a:avLst>
              <a:gd name="adj" fmla="val 8000"/>
            </a:avLst>
          </a:prstGeom>
          <a:solidFill>
            <a:srgbClr val="1C2757"/>
          </a:solidFill>
          <a:ln w="12700">
            <a:solidFill>
              <a:srgbClr val="3C71E8"/>
            </a:solidFill>
            <a:prstDash val="solid"/>
          </a:ln>
        </p:spPr>
        <p:txBody>
          <a:bodyPr/>
          <a:lstStyle/>
          <a:p>
            <a:endParaRPr/>
          </a:p>
        </p:txBody>
      </p:sp>
      <p:sp>
        <p:nvSpPr>
          <p:cNvPr id="26" name="Shape 24"/>
          <p:cNvSpPr/>
          <p:nvPr/>
        </p:nvSpPr>
        <p:spPr>
          <a:xfrm>
            <a:off x="6318504" y="2103120"/>
            <a:ext cx="292608" cy="292608"/>
          </a:xfrm>
          <a:prstGeom prst="ellipse">
            <a:avLst/>
          </a:prstGeom>
          <a:solidFill>
            <a:srgbClr val="3C71E8"/>
          </a:solidFill>
          <a:ln w="12700">
            <a:solidFill>
              <a:srgbClr val="3C71E8"/>
            </a:solidFill>
            <a:prstDash val="solid"/>
          </a:ln>
        </p:spPr>
        <p:txBody>
          <a:bodyPr/>
          <a:lstStyle/>
          <a:p>
            <a:endParaRPr/>
          </a:p>
        </p:txBody>
      </p:sp>
      <p:sp>
        <p:nvSpPr>
          <p:cNvPr id="27" name="Text 25"/>
          <p:cNvSpPr txBox="1"/>
          <p:nvPr/>
        </p:nvSpPr>
        <p:spPr>
          <a:xfrm>
            <a:off x="6318504" y="210312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8" name="Text 26"/>
          <p:cNvSpPr txBox="1"/>
          <p:nvPr/>
        </p:nvSpPr>
        <p:spPr>
          <a:xfrm>
            <a:off x="6318504" y="2441448"/>
            <a:ext cx="1417320" cy="36576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ADMET</a:t>
            </a:r>
            <a:endParaRPr lang="en-US" sz="1250" dirty="0"/>
          </a:p>
        </p:txBody>
      </p:sp>
      <p:sp>
        <p:nvSpPr>
          <p:cNvPr id="29" name="Text 27"/>
          <p:cNvSpPr txBox="1"/>
          <p:nvPr/>
        </p:nvSpPr>
        <p:spPr>
          <a:xfrm>
            <a:off x="6318504" y="2834640"/>
            <a:ext cx="1417320" cy="256032"/>
          </a:xfrm>
          <a:prstGeom prst="rect">
            <a:avLst/>
          </a:prstGeom>
          <a:noFill/>
          <a:ln/>
        </p:spPr>
        <p:txBody>
          <a:bodyPr wrap="square" lIns="0" tIns="0" rIns="0" bIns="0" rtlCol="0" anchor="t"/>
          <a:lstStyle/>
          <a:p>
            <a:pPr marL="0" indent="0">
              <a:buNone/>
            </a:pPr>
            <a:r>
              <a:rPr lang="en-US" sz="850" dirty="0">
                <a:solidFill>
                  <a:srgbClr val="C9D3FF"/>
                </a:solidFill>
                <a:latin typeface="Courier New" pitchFamily="34" charset="0"/>
                <a:ea typeface="Courier New" pitchFamily="34" charset="-122"/>
                <a:cs typeface="Courier New" pitchFamily="34" charset="-120"/>
              </a:rPr>
              <a:t>admet/*</a:t>
            </a:r>
            <a:endParaRPr lang="en-US" sz="850" dirty="0"/>
          </a:p>
        </p:txBody>
      </p:sp>
      <p:sp>
        <p:nvSpPr>
          <p:cNvPr id="30" name="Shape 28"/>
          <p:cNvSpPr/>
          <p:nvPr/>
        </p:nvSpPr>
        <p:spPr>
          <a:xfrm>
            <a:off x="7827264" y="2578608"/>
            <a:ext cx="292608" cy="0"/>
          </a:xfrm>
          <a:prstGeom prst="line">
            <a:avLst/>
          </a:prstGeom>
          <a:noFill/>
          <a:ln w="22225">
            <a:solidFill>
              <a:srgbClr val="8E70EB"/>
            </a:solidFill>
            <a:prstDash val="solid"/>
            <a:tailEnd type="triangle"/>
          </a:ln>
        </p:spPr>
        <p:txBody>
          <a:bodyPr/>
          <a:lstStyle/>
          <a:p>
            <a:endParaRPr/>
          </a:p>
        </p:txBody>
      </p:sp>
      <p:sp>
        <p:nvSpPr>
          <p:cNvPr id="31" name="Shape 29"/>
          <p:cNvSpPr/>
          <p:nvPr/>
        </p:nvSpPr>
        <p:spPr>
          <a:xfrm>
            <a:off x="8119872" y="2011680"/>
            <a:ext cx="1600200" cy="1143000"/>
          </a:xfrm>
          <a:prstGeom prst="roundRect">
            <a:avLst>
              <a:gd name="adj" fmla="val 8000"/>
            </a:avLst>
          </a:prstGeom>
          <a:solidFill>
            <a:srgbClr val="1C2757"/>
          </a:solidFill>
          <a:ln w="12700">
            <a:solidFill>
              <a:srgbClr val="3C71E8"/>
            </a:solidFill>
            <a:prstDash val="solid"/>
          </a:ln>
        </p:spPr>
        <p:txBody>
          <a:bodyPr/>
          <a:lstStyle/>
          <a:p>
            <a:endParaRPr/>
          </a:p>
        </p:txBody>
      </p:sp>
      <p:sp>
        <p:nvSpPr>
          <p:cNvPr id="32" name="Shape 30"/>
          <p:cNvSpPr/>
          <p:nvPr/>
        </p:nvSpPr>
        <p:spPr>
          <a:xfrm>
            <a:off x="8211312" y="2103120"/>
            <a:ext cx="292608" cy="292608"/>
          </a:xfrm>
          <a:prstGeom prst="ellipse">
            <a:avLst/>
          </a:prstGeom>
          <a:solidFill>
            <a:srgbClr val="3C71E8"/>
          </a:solidFill>
          <a:ln w="12700">
            <a:solidFill>
              <a:srgbClr val="3C71E8"/>
            </a:solidFill>
            <a:prstDash val="solid"/>
          </a:ln>
        </p:spPr>
        <p:txBody>
          <a:bodyPr/>
          <a:lstStyle/>
          <a:p>
            <a:endParaRPr/>
          </a:p>
        </p:txBody>
      </p:sp>
      <p:sp>
        <p:nvSpPr>
          <p:cNvPr id="33" name="Text 31"/>
          <p:cNvSpPr txBox="1"/>
          <p:nvPr/>
        </p:nvSpPr>
        <p:spPr>
          <a:xfrm>
            <a:off x="8211312" y="210312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4" name="Text 32"/>
          <p:cNvSpPr txBox="1"/>
          <p:nvPr/>
        </p:nvSpPr>
        <p:spPr>
          <a:xfrm>
            <a:off x="8211312" y="2441448"/>
            <a:ext cx="1417320" cy="36576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Resolusi Vina</a:t>
            </a:r>
            <a:endParaRPr lang="en-US" sz="1250" dirty="0"/>
          </a:p>
        </p:txBody>
      </p:sp>
      <p:sp>
        <p:nvSpPr>
          <p:cNvPr id="35" name="Text 33"/>
          <p:cNvSpPr txBox="1"/>
          <p:nvPr/>
        </p:nvSpPr>
        <p:spPr>
          <a:xfrm>
            <a:off x="8211312" y="2834640"/>
            <a:ext cx="1417320" cy="256032"/>
          </a:xfrm>
          <a:prstGeom prst="rect">
            <a:avLst/>
          </a:prstGeom>
          <a:noFill/>
          <a:ln/>
        </p:spPr>
        <p:txBody>
          <a:bodyPr wrap="square" lIns="0" tIns="0" rIns="0" bIns="0" rtlCol="0" anchor="t"/>
          <a:lstStyle/>
          <a:p>
            <a:pPr marL="0" indent="0">
              <a:buNone/>
            </a:pPr>
            <a:r>
              <a:rPr lang="en-US" sz="850" dirty="0">
                <a:solidFill>
                  <a:srgbClr val="C9D3FF"/>
                </a:solidFill>
                <a:latin typeface="Courier New" pitchFamily="34" charset="0"/>
                <a:ea typeface="Courier New" pitchFamily="34" charset="-122"/>
                <a:cs typeface="Courier New" pitchFamily="34" charset="-120"/>
              </a:rPr>
              <a:t>vina_manager</a:t>
            </a:r>
            <a:endParaRPr lang="en-US" sz="850" dirty="0"/>
          </a:p>
        </p:txBody>
      </p:sp>
      <p:sp>
        <p:nvSpPr>
          <p:cNvPr id="36" name="Shape 34"/>
          <p:cNvSpPr/>
          <p:nvPr/>
        </p:nvSpPr>
        <p:spPr>
          <a:xfrm>
            <a:off x="9720072" y="2578608"/>
            <a:ext cx="292608" cy="0"/>
          </a:xfrm>
          <a:prstGeom prst="line">
            <a:avLst/>
          </a:prstGeom>
          <a:noFill/>
          <a:ln w="22225">
            <a:solidFill>
              <a:srgbClr val="8E70EB"/>
            </a:solidFill>
            <a:prstDash val="solid"/>
            <a:tailEnd type="triangle"/>
          </a:ln>
        </p:spPr>
        <p:txBody>
          <a:bodyPr/>
          <a:lstStyle/>
          <a:p>
            <a:endParaRPr/>
          </a:p>
        </p:txBody>
      </p:sp>
      <p:sp>
        <p:nvSpPr>
          <p:cNvPr id="37" name="Shape 35"/>
          <p:cNvSpPr/>
          <p:nvPr/>
        </p:nvSpPr>
        <p:spPr>
          <a:xfrm>
            <a:off x="10012680" y="2011680"/>
            <a:ext cx="1600200" cy="1143000"/>
          </a:xfrm>
          <a:prstGeom prst="roundRect">
            <a:avLst>
              <a:gd name="adj" fmla="val 8000"/>
            </a:avLst>
          </a:prstGeom>
          <a:solidFill>
            <a:srgbClr val="1C2757"/>
          </a:solidFill>
          <a:ln w="12700">
            <a:solidFill>
              <a:srgbClr val="3C71E8"/>
            </a:solidFill>
            <a:prstDash val="solid"/>
          </a:ln>
        </p:spPr>
        <p:txBody>
          <a:bodyPr/>
          <a:lstStyle/>
          <a:p>
            <a:endParaRPr/>
          </a:p>
        </p:txBody>
      </p:sp>
      <p:sp>
        <p:nvSpPr>
          <p:cNvPr id="38" name="Shape 36"/>
          <p:cNvSpPr/>
          <p:nvPr/>
        </p:nvSpPr>
        <p:spPr>
          <a:xfrm>
            <a:off x="10104120" y="2103120"/>
            <a:ext cx="292608" cy="292608"/>
          </a:xfrm>
          <a:prstGeom prst="ellipse">
            <a:avLst/>
          </a:prstGeom>
          <a:solidFill>
            <a:srgbClr val="3C71E8"/>
          </a:solidFill>
          <a:ln w="12700">
            <a:solidFill>
              <a:srgbClr val="3C71E8"/>
            </a:solidFill>
            <a:prstDash val="solid"/>
          </a:ln>
        </p:spPr>
        <p:txBody>
          <a:bodyPr/>
          <a:lstStyle/>
          <a:p>
            <a:endParaRPr/>
          </a:p>
        </p:txBody>
      </p:sp>
      <p:sp>
        <p:nvSpPr>
          <p:cNvPr id="39" name="Text 37"/>
          <p:cNvSpPr txBox="1"/>
          <p:nvPr/>
        </p:nvSpPr>
        <p:spPr>
          <a:xfrm>
            <a:off x="10104120" y="210312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0" name="Text 38"/>
          <p:cNvSpPr txBox="1"/>
          <p:nvPr/>
        </p:nvSpPr>
        <p:spPr>
          <a:xfrm>
            <a:off x="10104120" y="2441448"/>
            <a:ext cx="1417320" cy="36576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Preparasi reseptor</a:t>
            </a:r>
            <a:endParaRPr lang="en-US" sz="1250" dirty="0"/>
          </a:p>
        </p:txBody>
      </p:sp>
      <p:sp>
        <p:nvSpPr>
          <p:cNvPr id="41" name="Text 39"/>
          <p:cNvSpPr txBox="1"/>
          <p:nvPr/>
        </p:nvSpPr>
        <p:spPr>
          <a:xfrm>
            <a:off x="10104120" y="2834640"/>
            <a:ext cx="1417320" cy="256032"/>
          </a:xfrm>
          <a:prstGeom prst="rect">
            <a:avLst/>
          </a:prstGeom>
          <a:noFill/>
          <a:ln/>
        </p:spPr>
        <p:txBody>
          <a:bodyPr wrap="square" lIns="0" tIns="0" rIns="0" bIns="0" rtlCol="0" anchor="t"/>
          <a:lstStyle/>
          <a:p>
            <a:pPr marL="0" indent="0">
              <a:buNone/>
            </a:pPr>
            <a:r>
              <a:rPr lang="en-US" sz="850" dirty="0">
                <a:solidFill>
                  <a:srgbClr val="C9D3FF"/>
                </a:solidFill>
                <a:latin typeface="Courier New" pitchFamily="34" charset="0"/>
                <a:ea typeface="Courier New" pitchFamily="34" charset="-122"/>
                <a:cs typeface="Courier New" pitchFamily="34" charset="-120"/>
              </a:rPr>
              <a:t>receptor_preparer</a:t>
            </a:r>
            <a:endParaRPr lang="en-US" sz="850" dirty="0"/>
          </a:p>
        </p:txBody>
      </p:sp>
      <p:sp>
        <p:nvSpPr>
          <p:cNvPr id="42" name="Shape 40"/>
          <p:cNvSpPr/>
          <p:nvPr/>
        </p:nvSpPr>
        <p:spPr>
          <a:xfrm>
            <a:off x="10012680" y="3703320"/>
            <a:ext cx="1600200" cy="1143000"/>
          </a:xfrm>
          <a:prstGeom prst="roundRect">
            <a:avLst>
              <a:gd name="adj" fmla="val 8000"/>
            </a:avLst>
          </a:prstGeom>
          <a:solidFill>
            <a:srgbClr val="1C2757"/>
          </a:solidFill>
          <a:ln w="12700">
            <a:solidFill>
              <a:srgbClr val="3C71E8"/>
            </a:solidFill>
            <a:prstDash val="solid"/>
          </a:ln>
        </p:spPr>
        <p:txBody>
          <a:bodyPr/>
          <a:lstStyle/>
          <a:p>
            <a:endParaRPr/>
          </a:p>
        </p:txBody>
      </p:sp>
      <p:sp>
        <p:nvSpPr>
          <p:cNvPr id="43" name="Shape 41"/>
          <p:cNvSpPr/>
          <p:nvPr/>
        </p:nvSpPr>
        <p:spPr>
          <a:xfrm>
            <a:off x="10104120" y="3794760"/>
            <a:ext cx="292608" cy="292608"/>
          </a:xfrm>
          <a:prstGeom prst="ellipse">
            <a:avLst/>
          </a:prstGeom>
          <a:solidFill>
            <a:srgbClr val="3C71E8"/>
          </a:solidFill>
          <a:ln w="12700">
            <a:solidFill>
              <a:srgbClr val="3C71E8"/>
            </a:solidFill>
            <a:prstDash val="solid"/>
          </a:ln>
        </p:spPr>
        <p:txBody>
          <a:bodyPr/>
          <a:lstStyle/>
          <a:p>
            <a:endParaRPr/>
          </a:p>
        </p:txBody>
      </p:sp>
      <p:sp>
        <p:nvSpPr>
          <p:cNvPr id="44" name="Text 42"/>
          <p:cNvSpPr txBox="1"/>
          <p:nvPr/>
        </p:nvSpPr>
        <p:spPr>
          <a:xfrm>
            <a:off x="10104120" y="379476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5" name="Text 43"/>
          <p:cNvSpPr txBox="1"/>
          <p:nvPr/>
        </p:nvSpPr>
        <p:spPr>
          <a:xfrm>
            <a:off x="10104120" y="4133088"/>
            <a:ext cx="1417320" cy="36576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Matriks docking</a:t>
            </a:r>
            <a:endParaRPr lang="en-US" sz="1250" dirty="0"/>
          </a:p>
        </p:txBody>
      </p:sp>
      <p:sp>
        <p:nvSpPr>
          <p:cNvPr id="46" name="Text 44"/>
          <p:cNvSpPr txBox="1"/>
          <p:nvPr/>
        </p:nvSpPr>
        <p:spPr>
          <a:xfrm>
            <a:off x="10104120" y="4526280"/>
            <a:ext cx="1417320" cy="256032"/>
          </a:xfrm>
          <a:prstGeom prst="rect">
            <a:avLst/>
          </a:prstGeom>
          <a:noFill/>
          <a:ln/>
        </p:spPr>
        <p:txBody>
          <a:bodyPr wrap="square" lIns="0" tIns="0" rIns="0" bIns="0" rtlCol="0" anchor="t"/>
          <a:lstStyle/>
          <a:p>
            <a:pPr marL="0" indent="0">
              <a:buNone/>
            </a:pPr>
            <a:r>
              <a:rPr lang="en-US" sz="850" dirty="0">
                <a:solidFill>
                  <a:srgbClr val="C9D3FF"/>
                </a:solidFill>
                <a:latin typeface="Courier New" pitchFamily="34" charset="0"/>
                <a:ea typeface="Courier New" pitchFamily="34" charset="-122"/>
                <a:cs typeface="Courier New" pitchFamily="34" charset="-120"/>
              </a:rPr>
              <a:t>docking_matrix</a:t>
            </a:r>
            <a:endParaRPr lang="en-US" sz="850" dirty="0"/>
          </a:p>
        </p:txBody>
      </p:sp>
      <p:sp>
        <p:nvSpPr>
          <p:cNvPr id="47" name="Shape 45"/>
          <p:cNvSpPr/>
          <p:nvPr/>
        </p:nvSpPr>
        <p:spPr>
          <a:xfrm flipH="1">
            <a:off x="9720072" y="4270248"/>
            <a:ext cx="292608" cy="0"/>
          </a:xfrm>
          <a:prstGeom prst="line">
            <a:avLst/>
          </a:prstGeom>
          <a:noFill/>
          <a:ln w="22225">
            <a:solidFill>
              <a:srgbClr val="8E70EB"/>
            </a:solidFill>
            <a:prstDash val="solid"/>
            <a:tailEnd type="triangle"/>
          </a:ln>
        </p:spPr>
        <p:txBody>
          <a:bodyPr/>
          <a:lstStyle/>
          <a:p>
            <a:endParaRPr/>
          </a:p>
        </p:txBody>
      </p:sp>
      <p:sp>
        <p:nvSpPr>
          <p:cNvPr id="48" name="Shape 46"/>
          <p:cNvSpPr/>
          <p:nvPr/>
        </p:nvSpPr>
        <p:spPr>
          <a:xfrm>
            <a:off x="8119872" y="3703320"/>
            <a:ext cx="1600200" cy="1143000"/>
          </a:xfrm>
          <a:prstGeom prst="roundRect">
            <a:avLst>
              <a:gd name="adj" fmla="val 8000"/>
            </a:avLst>
          </a:prstGeom>
          <a:solidFill>
            <a:srgbClr val="1C2757"/>
          </a:solidFill>
          <a:ln w="12700">
            <a:solidFill>
              <a:srgbClr val="3C71E8"/>
            </a:solidFill>
            <a:prstDash val="solid"/>
          </a:ln>
        </p:spPr>
        <p:txBody>
          <a:bodyPr/>
          <a:lstStyle/>
          <a:p>
            <a:endParaRPr/>
          </a:p>
        </p:txBody>
      </p:sp>
      <p:sp>
        <p:nvSpPr>
          <p:cNvPr id="49" name="Shape 47"/>
          <p:cNvSpPr/>
          <p:nvPr/>
        </p:nvSpPr>
        <p:spPr>
          <a:xfrm>
            <a:off x="8211312" y="3794760"/>
            <a:ext cx="292608" cy="292608"/>
          </a:xfrm>
          <a:prstGeom prst="ellipse">
            <a:avLst/>
          </a:prstGeom>
          <a:solidFill>
            <a:srgbClr val="3C71E8"/>
          </a:solidFill>
          <a:ln w="12700">
            <a:solidFill>
              <a:srgbClr val="3C71E8"/>
            </a:solidFill>
            <a:prstDash val="solid"/>
          </a:ln>
        </p:spPr>
        <p:txBody>
          <a:bodyPr/>
          <a:lstStyle/>
          <a:p>
            <a:endParaRPr/>
          </a:p>
        </p:txBody>
      </p:sp>
      <p:sp>
        <p:nvSpPr>
          <p:cNvPr id="50" name="Text 48"/>
          <p:cNvSpPr txBox="1"/>
          <p:nvPr/>
        </p:nvSpPr>
        <p:spPr>
          <a:xfrm>
            <a:off x="8211312" y="379476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1" name="Text 49"/>
          <p:cNvSpPr txBox="1"/>
          <p:nvPr/>
        </p:nvSpPr>
        <p:spPr>
          <a:xfrm>
            <a:off x="8211312" y="4133088"/>
            <a:ext cx="1417320" cy="36576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Native + RMSD</a:t>
            </a:r>
            <a:endParaRPr lang="en-US" sz="1250" dirty="0"/>
          </a:p>
        </p:txBody>
      </p:sp>
      <p:sp>
        <p:nvSpPr>
          <p:cNvPr id="52" name="Text 50"/>
          <p:cNvSpPr txBox="1"/>
          <p:nvPr/>
        </p:nvSpPr>
        <p:spPr>
          <a:xfrm>
            <a:off x="8211312" y="4526280"/>
            <a:ext cx="1417320" cy="256032"/>
          </a:xfrm>
          <a:prstGeom prst="rect">
            <a:avLst/>
          </a:prstGeom>
          <a:noFill/>
          <a:ln/>
        </p:spPr>
        <p:txBody>
          <a:bodyPr wrap="square" lIns="0" tIns="0" rIns="0" bIns="0" rtlCol="0" anchor="t"/>
          <a:lstStyle/>
          <a:p>
            <a:pPr marL="0" indent="0">
              <a:buNone/>
            </a:pPr>
            <a:r>
              <a:rPr lang="en-US" sz="850" dirty="0">
                <a:solidFill>
                  <a:srgbClr val="C9D3FF"/>
                </a:solidFill>
                <a:latin typeface="Courier New" pitchFamily="34" charset="0"/>
                <a:ea typeface="Courier New" pitchFamily="34" charset="-122"/>
                <a:cs typeface="Courier New" pitchFamily="34" charset="-120"/>
              </a:rPr>
              <a:t>rmsd_validation</a:t>
            </a:r>
            <a:endParaRPr lang="en-US" sz="850" dirty="0"/>
          </a:p>
        </p:txBody>
      </p:sp>
      <p:sp>
        <p:nvSpPr>
          <p:cNvPr id="53" name="Shape 51"/>
          <p:cNvSpPr/>
          <p:nvPr/>
        </p:nvSpPr>
        <p:spPr>
          <a:xfrm flipH="1">
            <a:off x="7827264" y="4270248"/>
            <a:ext cx="292608" cy="0"/>
          </a:xfrm>
          <a:prstGeom prst="line">
            <a:avLst/>
          </a:prstGeom>
          <a:noFill/>
          <a:ln w="22225">
            <a:solidFill>
              <a:srgbClr val="8E70EB"/>
            </a:solidFill>
            <a:prstDash val="solid"/>
            <a:tailEnd type="triangle"/>
          </a:ln>
        </p:spPr>
        <p:txBody>
          <a:bodyPr/>
          <a:lstStyle/>
          <a:p>
            <a:endParaRPr/>
          </a:p>
        </p:txBody>
      </p:sp>
      <p:sp>
        <p:nvSpPr>
          <p:cNvPr id="54" name="Shape 52"/>
          <p:cNvSpPr/>
          <p:nvPr/>
        </p:nvSpPr>
        <p:spPr>
          <a:xfrm>
            <a:off x="6227064" y="3703320"/>
            <a:ext cx="1600200" cy="1143000"/>
          </a:xfrm>
          <a:prstGeom prst="roundRect">
            <a:avLst>
              <a:gd name="adj" fmla="val 8000"/>
            </a:avLst>
          </a:prstGeom>
          <a:solidFill>
            <a:srgbClr val="1C2757"/>
          </a:solidFill>
          <a:ln w="12700">
            <a:solidFill>
              <a:srgbClr val="3C71E8"/>
            </a:solidFill>
            <a:prstDash val="solid"/>
          </a:ln>
        </p:spPr>
        <p:txBody>
          <a:bodyPr/>
          <a:lstStyle/>
          <a:p>
            <a:endParaRPr/>
          </a:p>
        </p:txBody>
      </p:sp>
      <p:sp>
        <p:nvSpPr>
          <p:cNvPr id="55" name="Shape 53"/>
          <p:cNvSpPr/>
          <p:nvPr/>
        </p:nvSpPr>
        <p:spPr>
          <a:xfrm>
            <a:off x="6318504" y="3794760"/>
            <a:ext cx="292608" cy="292608"/>
          </a:xfrm>
          <a:prstGeom prst="ellipse">
            <a:avLst/>
          </a:prstGeom>
          <a:solidFill>
            <a:srgbClr val="3C71E8"/>
          </a:solidFill>
          <a:ln w="12700">
            <a:solidFill>
              <a:srgbClr val="3C71E8"/>
            </a:solidFill>
            <a:prstDash val="solid"/>
          </a:ln>
        </p:spPr>
        <p:txBody>
          <a:bodyPr/>
          <a:lstStyle/>
          <a:p>
            <a:endParaRPr/>
          </a:p>
        </p:txBody>
      </p:sp>
      <p:sp>
        <p:nvSpPr>
          <p:cNvPr id="56" name="Text 54"/>
          <p:cNvSpPr txBox="1"/>
          <p:nvPr/>
        </p:nvSpPr>
        <p:spPr>
          <a:xfrm>
            <a:off x="6318504" y="379476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57" name="Text 55"/>
          <p:cNvSpPr txBox="1"/>
          <p:nvPr/>
        </p:nvSpPr>
        <p:spPr>
          <a:xfrm>
            <a:off x="6318504" y="4133088"/>
            <a:ext cx="1417320" cy="36576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Merge kompleks</a:t>
            </a:r>
            <a:endParaRPr lang="en-US" sz="1250" dirty="0"/>
          </a:p>
        </p:txBody>
      </p:sp>
      <p:sp>
        <p:nvSpPr>
          <p:cNvPr id="58" name="Text 56"/>
          <p:cNvSpPr txBox="1"/>
          <p:nvPr/>
        </p:nvSpPr>
        <p:spPr>
          <a:xfrm>
            <a:off x="6318504" y="4526280"/>
            <a:ext cx="1417320" cy="256032"/>
          </a:xfrm>
          <a:prstGeom prst="rect">
            <a:avLst/>
          </a:prstGeom>
          <a:noFill/>
          <a:ln/>
        </p:spPr>
        <p:txBody>
          <a:bodyPr wrap="square" lIns="0" tIns="0" rIns="0" bIns="0" rtlCol="0" anchor="t"/>
          <a:lstStyle/>
          <a:p>
            <a:pPr marL="0" indent="0">
              <a:buNone/>
            </a:pPr>
            <a:r>
              <a:rPr lang="en-US" sz="850" dirty="0">
                <a:solidFill>
                  <a:srgbClr val="C9D3FF"/>
                </a:solidFill>
                <a:latin typeface="Courier New" pitchFamily="34" charset="0"/>
                <a:ea typeface="Courier New" pitchFamily="34" charset="-122"/>
                <a:cs typeface="Courier New" pitchFamily="34" charset="-120"/>
              </a:rPr>
              <a:t>merge</a:t>
            </a:r>
            <a:endParaRPr lang="en-US" sz="850" dirty="0"/>
          </a:p>
        </p:txBody>
      </p:sp>
      <p:sp>
        <p:nvSpPr>
          <p:cNvPr id="59" name="Shape 57"/>
          <p:cNvSpPr/>
          <p:nvPr/>
        </p:nvSpPr>
        <p:spPr>
          <a:xfrm flipH="1">
            <a:off x="5934456" y="4270248"/>
            <a:ext cx="292608" cy="0"/>
          </a:xfrm>
          <a:prstGeom prst="line">
            <a:avLst/>
          </a:prstGeom>
          <a:noFill/>
          <a:ln w="22225">
            <a:solidFill>
              <a:srgbClr val="8E70EB"/>
            </a:solidFill>
            <a:prstDash val="solid"/>
            <a:tailEnd type="triangle"/>
          </a:ln>
        </p:spPr>
        <p:txBody>
          <a:bodyPr/>
          <a:lstStyle/>
          <a:p>
            <a:endParaRPr/>
          </a:p>
        </p:txBody>
      </p:sp>
      <p:sp>
        <p:nvSpPr>
          <p:cNvPr id="60" name="Shape 58"/>
          <p:cNvSpPr/>
          <p:nvPr/>
        </p:nvSpPr>
        <p:spPr>
          <a:xfrm>
            <a:off x="4334256" y="3703320"/>
            <a:ext cx="1600200" cy="1143000"/>
          </a:xfrm>
          <a:prstGeom prst="roundRect">
            <a:avLst>
              <a:gd name="adj" fmla="val 8000"/>
            </a:avLst>
          </a:prstGeom>
          <a:solidFill>
            <a:srgbClr val="1C2757"/>
          </a:solidFill>
          <a:ln w="12700">
            <a:solidFill>
              <a:srgbClr val="3C71E8"/>
            </a:solidFill>
            <a:prstDash val="solid"/>
          </a:ln>
        </p:spPr>
        <p:txBody>
          <a:bodyPr/>
          <a:lstStyle/>
          <a:p>
            <a:endParaRPr/>
          </a:p>
        </p:txBody>
      </p:sp>
      <p:sp>
        <p:nvSpPr>
          <p:cNvPr id="61" name="Shape 59"/>
          <p:cNvSpPr/>
          <p:nvPr/>
        </p:nvSpPr>
        <p:spPr>
          <a:xfrm>
            <a:off x="4425696" y="3794760"/>
            <a:ext cx="292608" cy="292608"/>
          </a:xfrm>
          <a:prstGeom prst="ellipse">
            <a:avLst/>
          </a:prstGeom>
          <a:solidFill>
            <a:srgbClr val="3C71E8"/>
          </a:solidFill>
          <a:ln w="12700">
            <a:solidFill>
              <a:srgbClr val="3C71E8"/>
            </a:solidFill>
            <a:prstDash val="solid"/>
          </a:ln>
        </p:spPr>
        <p:txBody>
          <a:bodyPr/>
          <a:lstStyle/>
          <a:p>
            <a:endParaRPr/>
          </a:p>
        </p:txBody>
      </p:sp>
      <p:sp>
        <p:nvSpPr>
          <p:cNvPr id="62" name="Text 60"/>
          <p:cNvSpPr txBox="1"/>
          <p:nvPr/>
        </p:nvSpPr>
        <p:spPr>
          <a:xfrm>
            <a:off x="4425696" y="379476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63" name="Text 61"/>
          <p:cNvSpPr txBox="1"/>
          <p:nvPr/>
        </p:nvSpPr>
        <p:spPr>
          <a:xfrm>
            <a:off x="4425696" y="4133088"/>
            <a:ext cx="1417320" cy="36576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Ekspor Excel</a:t>
            </a:r>
            <a:endParaRPr lang="en-US" sz="1250" dirty="0"/>
          </a:p>
        </p:txBody>
      </p:sp>
      <p:sp>
        <p:nvSpPr>
          <p:cNvPr id="64" name="Text 62"/>
          <p:cNvSpPr txBox="1"/>
          <p:nvPr/>
        </p:nvSpPr>
        <p:spPr>
          <a:xfrm>
            <a:off x="4425696" y="4526280"/>
            <a:ext cx="1417320" cy="256032"/>
          </a:xfrm>
          <a:prstGeom prst="rect">
            <a:avLst/>
          </a:prstGeom>
          <a:noFill/>
          <a:ln/>
        </p:spPr>
        <p:txBody>
          <a:bodyPr wrap="square" lIns="0" tIns="0" rIns="0" bIns="0" rtlCol="0" anchor="t"/>
          <a:lstStyle/>
          <a:p>
            <a:pPr marL="0" indent="0">
              <a:buNone/>
            </a:pPr>
            <a:r>
              <a:rPr lang="en-US" sz="850" dirty="0">
                <a:solidFill>
                  <a:srgbClr val="C9D3FF"/>
                </a:solidFill>
                <a:latin typeface="Courier New" pitchFamily="34" charset="0"/>
                <a:ea typeface="Courier New" pitchFamily="34" charset="-122"/>
                <a:cs typeface="Courier New" pitchFamily="34" charset="-120"/>
              </a:rPr>
              <a:t>result_exporter</a:t>
            </a:r>
            <a:endParaRPr lang="en-US" sz="850" dirty="0"/>
          </a:p>
        </p:txBody>
      </p:sp>
      <p:sp>
        <p:nvSpPr>
          <p:cNvPr id="65" name="Shape 63"/>
          <p:cNvSpPr/>
          <p:nvPr/>
        </p:nvSpPr>
        <p:spPr>
          <a:xfrm flipH="1">
            <a:off x="4041648" y="4270248"/>
            <a:ext cx="292608" cy="0"/>
          </a:xfrm>
          <a:prstGeom prst="line">
            <a:avLst/>
          </a:prstGeom>
          <a:noFill/>
          <a:ln w="22225">
            <a:solidFill>
              <a:srgbClr val="8E70EB"/>
            </a:solidFill>
            <a:prstDash val="solid"/>
            <a:tailEnd type="triangle"/>
          </a:ln>
        </p:spPr>
        <p:txBody>
          <a:bodyPr/>
          <a:lstStyle/>
          <a:p>
            <a:endParaRPr/>
          </a:p>
        </p:txBody>
      </p:sp>
      <p:sp>
        <p:nvSpPr>
          <p:cNvPr id="66" name="Shape 64"/>
          <p:cNvSpPr/>
          <p:nvPr/>
        </p:nvSpPr>
        <p:spPr>
          <a:xfrm>
            <a:off x="2441448" y="3703320"/>
            <a:ext cx="1600200" cy="1143000"/>
          </a:xfrm>
          <a:prstGeom prst="roundRect">
            <a:avLst>
              <a:gd name="adj" fmla="val 8000"/>
            </a:avLst>
          </a:prstGeom>
          <a:solidFill>
            <a:srgbClr val="1C2757"/>
          </a:solidFill>
          <a:ln w="12700">
            <a:solidFill>
              <a:srgbClr val="3C71E8"/>
            </a:solidFill>
            <a:prstDash val="solid"/>
          </a:ln>
        </p:spPr>
        <p:txBody>
          <a:bodyPr/>
          <a:lstStyle/>
          <a:p>
            <a:endParaRPr/>
          </a:p>
        </p:txBody>
      </p:sp>
      <p:sp>
        <p:nvSpPr>
          <p:cNvPr id="67" name="Shape 65"/>
          <p:cNvSpPr/>
          <p:nvPr/>
        </p:nvSpPr>
        <p:spPr>
          <a:xfrm>
            <a:off x="2532888" y="3794760"/>
            <a:ext cx="292608" cy="292608"/>
          </a:xfrm>
          <a:prstGeom prst="ellipse">
            <a:avLst/>
          </a:prstGeom>
          <a:solidFill>
            <a:srgbClr val="3C71E8"/>
          </a:solidFill>
          <a:ln w="12700">
            <a:solidFill>
              <a:srgbClr val="3C71E8"/>
            </a:solidFill>
            <a:prstDash val="solid"/>
          </a:ln>
        </p:spPr>
        <p:txBody>
          <a:bodyPr/>
          <a:lstStyle/>
          <a:p>
            <a:endParaRPr/>
          </a:p>
        </p:txBody>
      </p:sp>
      <p:sp>
        <p:nvSpPr>
          <p:cNvPr id="68" name="Text 66"/>
          <p:cNvSpPr txBox="1"/>
          <p:nvPr/>
        </p:nvSpPr>
        <p:spPr>
          <a:xfrm>
            <a:off x="2532888" y="379476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69" name="Text 67"/>
          <p:cNvSpPr txBox="1"/>
          <p:nvPr/>
        </p:nvSpPr>
        <p:spPr>
          <a:xfrm>
            <a:off x="2532888" y="4133088"/>
            <a:ext cx="1417320" cy="36576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Grafik + heatmap</a:t>
            </a:r>
            <a:endParaRPr lang="en-US" sz="1250" dirty="0"/>
          </a:p>
        </p:txBody>
      </p:sp>
      <p:sp>
        <p:nvSpPr>
          <p:cNvPr id="70" name="Text 68"/>
          <p:cNvSpPr txBox="1"/>
          <p:nvPr/>
        </p:nvSpPr>
        <p:spPr>
          <a:xfrm>
            <a:off x="2532888" y="4526280"/>
            <a:ext cx="1417320" cy="256032"/>
          </a:xfrm>
          <a:prstGeom prst="rect">
            <a:avLst/>
          </a:prstGeom>
          <a:noFill/>
          <a:ln/>
        </p:spPr>
        <p:txBody>
          <a:bodyPr wrap="square" lIns="0" tIns="0" rIns="0" bIns="0" rtlCol="0" anchor="t"/>
          <a:lstStyle/>
          <a:p>
            <a:pPr marL="0" indent="0">
              <a:buNone/>
            </a:pPr>
            <a:r>
              <a:rPr lang="en-US" sz="850" dirty="0">
                <a:solidFill>
                  <a:srgbClr val="C9D3FF"/>
                </a:solidFill>
                <a:latin typeface="Courier New" pitchFamily="34" charset="0"/>
                <a:ea typeface="Courier New" pitchFamily="34" charset="-122"/>
                <a:cs typeface="Courier New" pitchFamily="34" charset="-120"/>
              </a:rPr>
              <a:t>charts · heatmap</a:t>
            </a:r>
            <a:endParaRPr lang="en-US" sz="850" dirty="0"/>
          </a:p>
        </p:txBody>
      </p:sp>
      <p:sp>
        <p:nvSpPr>
          <p:cNvPr id="71" name="Shape 69"/>
          <p:cNvSpPr/>
          <p:nvPr/>
        </p:nvSpPr>
        <p:spPr>
          <a:xfrm flipH="1">
            <a:off x="2148840" y="4270248"/>
            <a:ext cx="292608" cy="0"/>
          </a:xfrm>
          <a:prstGeom prst="line">
            <a:avLst/>
          </a:prstGeom>
          <a:noFill/>
          <a:ln w="22225">
            <a:solidFill>
              <a:srgbClr val="8E70EB"/>
            </a:solidFill>
            <a:prstDash val="solid"/>
            <a:tailEnd type="triangle"/>
          </a:ln>
        </p:spPr>
        <p:txBody>
          <a:bodyPr/>
          <a:lstStyle/>
          <a:p>
            <a:endParaRPr/>
          </a:p>
        </p:txBody>
      </p:sp>
      <p:sp>
        <p:nvSpPr>
          <p:cNvPr id="72" name="Shape 70"/>
          <p:cNvSpPr/>
          <p:nvPr/>
        </p:nvSpPr>
        <p:spPr>
          <a:xfrm>
            <a:off x="548640" y="3703320"/>
            <a:ext cx="1600200" cy="1143000"/>
          </a:xfrm>
          <a:prstGeom prst="roundRect">
            <a:avLst>
              <a:gd name="adj" fmla="val 8000"/>
            </a:avLst>
          </a:prstGeom>
          <a:solidFill>
            <a:srgbClr val="1C2757"/>
          </a:solidFill>
          <a:ln w="12700">
            <a:solidFill>
              <a:srgbClr val="3C71E8"/>
            </a:solidFill>
            <a:prstDash val="solid"/>
          </a:ln>
        </p:spPr>
        <p:txBody>
          <a:bodyPr/>
          <a:lstStyle/>
          <a:p>
            <a:endParaRPr/>
          </a:p>
        </p:txBody>
      </p:sp>
      <p:sp>
        <p:nvSpPr>
          <p:cNvPr id="73" name="Shape 71"/>
          <p:cNvSpPr/>
          <p:nvPr/>
        </p:nvSpPr>
        <p:spPr>
          <a:xfrm>
            <a:off x="640080" y="3794760"/>
            <a:ext cx="292608" cy="292608"/>
          </a:xfrm>
          <a:prstGeom prst="ellipse">
            <a:avLst/>
          </a:prstGeom>
          <a:solidFill>
            <a:srgbClr val="3C71E8"/>
          </a:solidFill>
          <a:ln w="12700">
            <a:solidFill>
              <a:srgbClr val="3C71E8"/>
            </a:solidFill>
            <a:prstDash val="solid"/>
          </a:ln>
        </p:spPr>
        <p:txBody>
          <a:bodyPr/>
          <a:lstStyle/>
          <a:p>
            <a:endParaRPr/>
          </a:p>
        </p:txBody>
      </p:sp>
      <p:sp>
        <p:nvSpPr>
          <p:cNvPr id="74" name="Text 72"/>
          <p:cNvSpPr txBox="1"/>
          <p:nvPr/>
        </p:nvSpPr>
        <p:spPr>
          <a:xfrm>
            <a:off x="640080" y="379476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75" name="Text 73"/>
          <p:cNvSpPr txBox="1"/>
          <p:nvPr/>
        </p:nvSpPr>
        <p:spPr>
          <a:xfrm>
            <a:off x="640080" y="4133088"/>
            <a:ext cx="1417320" cy="36576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PCA + HCA</a:t>
            </a:r>
            <a:endParaRPr lang="en-US" sz="1250" dirty="0"/>
          </a:p>
        </p:txBody>
      </p:sp>
      <p:sp>
        <p:nvSpPr>
          <p:cNvPr id="76" name="Text 74"/>
          <p:cNvSpPr txBox="1"/>
          <p:nvPr/>
        </p:nvSpPr>
        <p:spPr>
          <a:xfrm>
            <a:off x="640080" y="4526280"/>
            <a:ext cx="1417320" cy="256032"/>
          </a:xfrm>
          <a:prstGeom prst="rect">
            <a:avLst/>
          </a:prstGeom>
          <a:noFill/>
          <a:ln/>
        </p:spPr>
        <p:txBody>
          <a:bodyPr wrap="square" lIns="0" tIns="0" rIns="0" bIns="0" rtlCol="0" anchor="t"/>
          <a:lstStyle/>
          <a:p>
            <a:pPr marL="0" indent="0">
              <a:buNone/>
            </a:pPr>
            <a:r>
              <a:rPr lang="en-US" sz="850" dirty="0">
                <a:solidFill>
                  <a:srgbClr val="C9D3FF"/>
                </a:solidFill>
                <a:latin typeface="Courier New" pitchFamily="34" charset="0"/>
                <a:ea typeface="Courier New" pitchFamily="34" charset="-122"/>
                <a:cs typeface="Courier New" pitchFamily="34" charset="-120"/>
              </a:rPr>
              <a:t>pca · hca</a:t>
            </a:r>
            <a:endParaRPr lang="en-US" sz="850" dirty="0"/>
          </a:p>
        </p:txBody>
      </p:sp>
      <p:sp>
        <p:nvSpPr>
          <p:cNvPr id="77" name="Shape 75"/>
          <p:cNvSpPr/>
          <p:nvPr/>
        </p:nvSpPr>
        <p:spPr>
          <a:xfrm>
            <a:off x="10812780" y="3154680"/>
            <a:ext cx="0" cy="548640"/>
          </a:xfrm>
          <a:prstGeom prst="line">
            <a:avLst/>
          </a:prstGeom>
          <a:noFill/>
          <a:ln w="22225">
            <a:solidFill>
              <a:srgbClr val="8E70EB"/>
            </a:solidFill>
            <a:prstDash val="solid"/>
            <a:tailEnd type="triangle"/>
          </a:ln>
        </p:spPr>
        <p:txBody>
          <a:bodyPr/>
          <a:lstStyle/>
          <a:p>
            <a:endParaRPr/>
          </a:p>
        </p:txBody>
      </p:sp>
      <p:sp>
        <p:nvSpPr>
          <p:cNvPr id="78" name="Text 76"/>
          <p:cNvSpPr txBox="1"/>
          <p:nvPr/>
        </p:nvSpPr>
        <p:spPr>
          <a:xfrm>
            <a:off x="548640" y="5120640"/>
            <a:ext cx="11064240" cy="274320"/>
          </a:xfrm>
          <a:prstGeom prst="rect">
            <a:avLst/>
          </a:prstGeom>
          <a:noFill/>
          <a:ln/>
        </p:spPr>
        <p:txBody>
          <a:bodyPr wrap="square" lIns="0" tIns="0" rIns="0" bIns="0" rtlCol="0" anchor="t"/>
          <a:lstStyle/>
          <a:p>
            <a:pPr marL="0" indent="0">
              <a:buNone/>
            </a:pPr>
            <a:r>
              <a:rPr lang="en-US" sz="1300" b="1" dirty="0">
                <a:solidFill>
                  <a:srgbClr val="C9D3FF"/>
                </a:solidFill>
                <a:latin typeface="Calibri" pitchFamily="34" charset="0"/>
                <a:ea typeface="Calibri" pitchFamily="34" charset="-122"/>
                <a:cs typeface="Calibri" pitchFamily="34" charset="-120"/>
              </a:rPr>
              <a:t>Keluaran: hasil_chemflow.xlsx · analytics/*.png · complexes/*.pdb · chemflow.log</a:t>
            </a:r>
            <a:endParaRPr lang="en-US" sz="1300" dirty="0"/>
          </a:p>
        </p:txBody>
      </p:sp>
      <p:sp>
        <p:nvSpPr>
          <p:cNvPr id="79" name="Text 77"/>
          <p:cNvSpPr txBox="1"/>
          <p:nvPr/>
        </p:nvSpPr>
        <p:spPr>
          <a:xfrm>
            <a:off x="548640" y="5532120"/>
            <a:ext cx="11064240" cy="548640"/>
          </a:xfrm>
          <a:prstGeom prst="rect">
            <a:avLst/>
          </a:prstGeom>
          <a:noFill/>
          <a:ln/>
        </p:spPr>
        <p:txBody>
          <a:bodyPr wrap="square" lIns="0" tIns="0" rIns="0" bIns="0" rtlCol="0" anchor="t"/>
          <a:lstStyle/>
          <a:p>
            <a:pPr marL="0" indent="0">
              <a:buNone/>
            </a:pPr>
            <a:r>
              <a:rPr lang="en-US" sz="1200" dirty="0">
                <a:solidFill>
                  <a:srgbClr val="C9D3FF"/>
                </a:solidFill>
                <a:latin typeface="Calibri" pitchFamily="34" charset="0"/>
                <a:ea typeface="Calibri" pitchFamily="34" charset="-122"/>
                <a:cs typeface="Calibri" pitchFamily="34" charset="-120"/>
              </a:rPr>
              <a:t>Semua tahap berjalan berurutan dalam satu proses. Setiap item yang selesai ditulis sebagai checkpoint di _state/ dan folder hasil, sehingga chemflow resume --output hasil/ melanjutkan run yang terhenti tanpa mengulang tahap yang selesai.</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2029968"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C · PIPELINE IN SILICO</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Input: dua file Excel, satu untuk ligan dan satu untuk reseptor</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9</a:t>
            </a:r>
            <a:endParaRPr lang="en-US" sz="1000" dirty="0"/>
          </a:p>
        </p:txBody>
      </p:sp>
      <p:sp>
        <p:nvSpPr>
          <p:cNvPr id="6" name="Text 4"/>
          <p:cNvSpPr txBox="1"/>
          <p:nvPr/>
        </p:nvSpPr>
        <p:spPr>
          <a:xfrm>
            <a:off x="548640" y="1645920"/>
            <a:ext cx="4114800" cy="274320"/>
          </a:xfrm>
          <a:prstGeom prst="rect">
            <a:avLst/>
          </a:prstGeom>
          <a:noFill/>
          <a:ln/>
        </p:spPr>
        <p:txBody>
          <a:bodyPr wrap="square" lIns="0" tIns="0" rIns="0" bIns="0" rtlCol="0" anchor="t"/>
          <a:lstStyle/>
          <a:p>
            <a:pPr marL="0" indent="0">
              <a:buNone/>
            </a:pPr>
            <a:r>
              <a:rPr lang="en-US" sz="1400" b="1" dirty="0">
                <a:solidFill>
                  <a:srgbClr val="3C71E8"/>
                </a:solidFill>
                <a:latin typeface="Courier New" pitchFamily="34" charset="0"/>
                <a:ea typeface="Courier New" pitchFamily="34" charset="-122"/>
                <a:cs typeface="Courier New" pitchFamily="34" charset="-120"/>
              </a:rPr>
              <a:t>ligan.xlsx</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4069080" cy="3017520"/>
        </p:xfrm>
        <a:graphic>
          <a:graphicData uri="http://schemas.openxmlformats.org/drawingml/2006/table">
            <a:tbl>
              <a:tblPr/>
              <a:tblGrid>
                <a:gridCol w="13716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tblGrid>
              <a:tr h="27432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name</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smiles</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group</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extLst>
                  <a:ext uri="{0D108BD9-81ED-4DB2-BD59-A6C34878D82A}">
                    <a16:rowId xmlns:a16="http://schemas.microsoft.com/office/drawing/2014/main" val="10000"/>
                  </a:ext>
                </a:extLst>
              </a:tr>
              <a:tr h="274320">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naproxen</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i="1" dirty="0">
                          <a:solidFill>
                            <a:srgbClr val="5B6480"/>
                          </a:solidFill>
                          <a:latin typeface="Calibri" pitchFamily="34" charset="0"/>
                          <a:ea typeface="Calibri" pitchFamily="34" charset="-122"/>
                          <a:cs typeface="Calibri" pitchFamily="34" charset="-120"/>
                        </a:rPr>
                        <a:t>(kosong)</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Obat_Sintetis</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paracetamol</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00" i="1" dirty="0">
                          <a:solidFill>
                            <a:srgbClr val="5B6480"/>
                          </a:solidFill>
                          <a:latin typeface="Calibri" pitchFamily="34" charset="0"/>
                          <a:ea typeface="Calibri" pitchFamily="34" charset="-122"/>
                          <a:cs typeface="Calibri" pitchFamily="34" charset="-120"/>
                        </a:rPr>
                        <a:t>(kosong)</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Obat_Sintetis</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2"/>
                  </a:ext>
                </a:extLst>
              </a:tr>
              <a:tr h="274320">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omeprazole</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i="1" dirty="0">
                          <a:solidFill>
                            <a:srgbClr val="5B6480"/>
                          </a:solidFill>
                          <a:latin typeface="Calibri" pitchFamily="34" charset="0"/>
                          <a:ea typeface="Calibri" pitchFamily="34" charset="-122"/>
                          <a:cs typeface="Calibri" pitchFamily="34" charset="-120"/>
                        </a:rPr>
                        <a:t>(kosong)</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Obat_Sintetis</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aspirin</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00" i="1" dirty="0">
                          <a:solidFill>
                            <a:srgbClr val="5B6480"/>
                          </a:solidFill>
                          <a:latin typeface="Calibri" pitchFamily="34" charset="0"/>
                          <a:ea typeface="Calibri" pitchFamily="34" charset="-122"/>
                          <a:cs typeface="Calibri" pitchFamily="34" charset="-120"/>
                        </a:rPr>
                        <a:t>(kosong)</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Obat_Sintetis</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4"/>
                  </a:ext>
                </a:extLst>
              </a:tr>
              <a:tr h="274320">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caffeine</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i="1" dirty="0">
                          <a:solidFill>
                            <a:srgbClr val="5B6480"/>
                          </a:solidFill>
                          <a:latin typeface="Calibri" pitchFamily="34" charset="0"/>
                          <a:ea typeface="Calibri" pitchFamily="34" charset="-122"/>
                          <a:cs typeface="Calibri" pitchFamily="34" charset="-120"/>
                        </a:rPr>
                        <a:t>(kosong)</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Obat_Sintetis</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luteolin</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00" i="1" dirty="0">
                          <a:solidFill>
                            <a:srgbClr val="5B6480"/>
                          </a:solidFill>
                          <a:latin typeface="Calibri" pitchFamily="34" charset="0"/>
                          <a:ea typeface="Calibri" pitchFamily="34" charset="-122"/>
                          <a:cs typeface="Calibri" pitchFamily="34" charset="-120"/>
                        </a:rPr>
                        <a:t>(kosong)</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Senyawa_Alami</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6"/>
                  </a:ext>
                </a:extLst>
              </a:tr>
              <a:tr h="274320">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piperine</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i="1" dirty="0">
                          <a:solidFill>
                            <a:srgbClr val="5B6480"/>
                          </a:solidFill>
                          <a:latin typeface="Calibri" pitchFamily="34" charset="0"/>
                          <a:ea typeface="Calibri" pitchFamily="34" charset="-122"/>
                          <a:cs typeface="Calibri" pitchFamily="34" charset="-120"/>
                        </a:rPr>
                        <a:t>(kosong)</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Senyawa_Alami</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74320">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emodin</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00" i="1" dirty="0">
                          <a:solidFill>
                            <a:srgbClr val="5B6480"/>
                          </a:solidFill>
                          <a:latin typeface="Calibri" pitchFamily="34" charset="0"/>
                          <a:ea typeface="Calibri" pitchFamily="34" charset="-122"/>
                          <a:cs typeface="Calibri" pitchFamily="34" charset="-120"/>
                        </a:rPr>
                        <a:t>(kosong)</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Senyawa_Alami</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8"/>
                  </a:ext>
                </a:extLst>
              </a:tr>
              <a:tr h="274320">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curcumin</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i="1" dirty="0">
                          <a:solidFill>
                            <a:srgbClr val="5B6480"/>
                          </a:solidFill>
                          <a:latin typeface="Calibri" pitchFamily="34" charset="0"/>
                          <a:ea typeface="Calibri" pitchFamily="34" charset="-122"/>
                          <a:cs typeface="Calibri" pitchFamily="34" charset="-120"/>
                        </a:rPr>
                        <a:t>(kosong)</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Senyawa_Alami</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74320">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berberine</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00" i="1" dirty="0">
                          <a:solidFill>
                            <a:srgbClr val="5B6480"/>
                          </a:solidFill>
                          <a:latin typeface="Calibri" pitchFamily="34" charset="0"/>
                          <a:ea typeface="Calibri" pitchFamily="34" charset="-122"/>
                          <a:cs typeface="Calibri" pitchFamily="34" charset="-120"/>
                        </a:rPr>
                        <a:t>(kosong)</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Senyawa_Alami</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10"/>
                  </a:ext>
                </a:extLst>
              </a:tr>
            </a:tbl>
          </a:graphicData>
        </a:graphic>
      </p:graphicFrame>
      <p:sp>
        <p:nvSpPr>
          <p:cNvPr id="8" name="Text 5"/>
          <p:cNvSpPr txBox="1"/>
          <p:nvPr/>
        </p:nvSpPr>
        <p:spPr>
          <a:xfrm>
            <a:off x="4937760" y="1645920"/>
            <a:ext cx="5486400" cy="274320"/>
          </a:xfrm>
          <a:prstGeom prst="rect">
            <a:avLst/>
          </a:prstGeom>
          <a:noFill/>
          <a:ln/>
        </p:spPr>
        <p:txBody>
          <a:bodyPr wrap="square" lIns="0" tIns="0" rIns="0" bIns="0" rtlCol="0" anchor="t"/>
          <a:lstStyle/>
          <a:p>
            <a:pPr marL="0" indent="0">
              <a:buNone/>
            </a:pPr>
            <a:r>
              <a:rPr lang="en-US" sz="1400" b="1" dirty="0">
                <a:solidFill>
                  <a:srgbClr val="3C71E8"/>
                </a:solidFill>
                <a:latin typeface="Courier New" pitchFamily="34" charset="0"/>
                <a:ea typeface="Courier New" pitchFamily="34" charset="-122"/>
                <a:cs typeface="Courier New" pitchFamily="34" charset="-120"/>
              </a:rPr>
              <a:t>reseptor.xlsx</a:t>
            </a:r>
            <a:endParaRPr lang="en-US" sz="14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4937760" y="1965960"/>
          <a:ext cx="6656832" cy="1755648"/>
        </p:xfrm>
        <a:graphic>
          <a:graphicData uri="http://schemas.openxmlformats.org/drawingml/2006/table">
            <a:tbl>
              <a:tblPr/>
              <a:tblGrid>
                <a:gridCol w="91440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490472">
                  <a:extLst>
                    <a:ext uri="{9D8B030D-6E8A-4147-A177-3AD203B41FA5}">
                      <a16:colId xmlns:a16="http://schemas.microsoft.com/office/drawing/2014/main" val="20005"/>
                    </a:ext>
                  </a:extLst>
                </a:gridCol>
              </a:tblGrid>
              <a:tr h="29260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pdb_code</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center_x</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center_y</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center_z</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size_x/y/z</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native_ligand</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extLst>
                  <a:ext uri="{0D108BD9-81ED-4DB2-BD59-A6C34878D82A}">
                    <a16:rowId xmlns:a16="http://schemas.microsoft.com/office/drawing/2014/main" val="10000"/>
                  </a:ext>
                </a:extLst>
              </a:tr>
              <a:tr h="292608">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1UWH</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75,153</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44,833</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65,026</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BAX_A1723</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4EY7</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−14,108</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−43,833</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27,670</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E20_A604</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2"/>
                  </a:ext>
                </a:extLst>
              </a:tr>
              <a:tr h="292608">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1HCK</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100,541</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97,891</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81,717</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ATP_A400</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1HSG</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13,073</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22,467</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5,557</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23</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MK1_B902</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4"/>
                  </a:ext>
                </a:extLst>
              </a:tr>
              <a:tr h="292608">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1EVE</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2,781</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64,383</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67,971</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E20_A2001</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6"/>
          <p:cNvSpPr txBox="1"/>
          <p:nvPr/>
        </p:nvSpPr>
        <p:spPr>
          <a:xfrm>
            <a:off x="4937760" y="3886200"/>
            <a:ext cx="6702552" cy="2286000"/>
          </a:xfrm>
          <a:prstGeom prst="rect">
            <a:avLst/>
          </a:prstGeom>
          <a:noFill/>
          <a:ln/>
        </p:spPr>
        <p:txBody>
          <a:bodyPr wrap="square" lIns="0" tIns="0" rIns="0" bIns="0" rtlCol="0" anchor="t"/>
          <a:lstStyle/>
          <a:p>
            <a:pPr marL="177800" indent="-177800">
              <a:spcAft>
                <a:spcPts val="500"/>
              </a:spcAft>
              <a:buSzPct val="100000"/>
              <a:buChar char="•"/>
            </a:pPr>
            <a:r>
              <a:rPr lang="en-US" sz="1250" b="1" dirty="0">
                <a:solidFill>
                  <a:srgbClr val="1B2140"/>
                </a:solidFill>
                <a:latin typeface="Calibri" pitchFamily="34" charset="0"/>
                <a:ea typeface="Calibri" pitchFamily="34" charset="-122"/>
                <a:cs typeface="Calibri" pitchFamily="34" charset="-120"/>
              </a:rPr>
              <a:t>Tidy atau wide, otomatis. </a:t>
            </a:r>
            <a:r>
              <a:rPr lang="en-US" sz="1250" dirty="0">
                <a:solidFill>
                  <a:srgbClr val="1B2140"/>
                </a:solidFill>
                <a:latin typeface="Calibri" pitchFamily="34" charset="0"/>
                <a:ea typeface="Calibri" pitchFamily="34" charset="-122"/>
                <a:cs typeface="Calibri" pitchFamily="34" charset="-120"/>
              </a:rPr>
              <a:t>Ada kolom smiles berarti tidy (satu baris satu senyawa). Tanpa kolom smiles berarti wide: tiap kolom satu kelompok, isi sel nama senyawa.</a:t>
            </a:r>
            <a:endParaRPr lang="en-US" sz="1250" dirty="0"/>
          </a:p>
          <a:p>
            <a:pPr marL="177800" indent="-177800">
              <a:spcAft>
                <a:spcPts val="500"/>
              </a:spcAft>
              <a:buSzPct val="100000"/>
              <a:buChar char="•"/>
            </a:pPr>
            <a:r>
              <a:rPr lang="en-US" sz="1250" b="1" dirty="0">
                <a:solidFill>
                  <a:srgbClr val="1B2140"/>
                </a:solidFill>
                <a:latin typeface="Calibri" pitchFamily="34" charset="0"/>
                <a:ea typeface="Calibri" pitchFamily="34" charset="-122"/>
                <a:cs typeface="Calibri" pitchFamily="34" charset="-120"/>
              </a:rPr>
              <a:t>SMILES boleh kosong. </a:t>
            </a:r>
            <a:r>
              <a:rPr lang="en-US" sz="1250" dirty="0">
                <a:solidFill>
                  <a:srgbClr val="1B2140"/>
                </a:solidFill>
                <a:latin typeface="Calibri" pitchFamily="34" charset="0"/>
                <a:ea typeface="Calibri" pitchFamily="34" charset="-122"/>
                <a:cs typeface="Calibri" pitchFamily="34" charset="-120"/>
              </a:rPr>
              <a:t>Nama senyawa dicari di PubChem. Kolom group dipakai PCA dan HCA (minimal 2 kelompok).</a:t>
            </a:r>
            <a:endParaRPr lang="en-US" sz="1250" dirty="0"/>
          </a:p>
          <a:p>
            <a:pPr marL="177800" indent="-177800">
              <a:spcAft>
                <a:spcPts val="500"/>
              </a:spcAft>
              <a:buSzPct val="100000"/>
              <a:buChar char="•"/>
            </a:pPr>
            <a:r>
              <a:rPr lang="en-US" sz="1250" b="1" dirty="0">
                <a:solidFill>
                  <a:srgbClr val="1B2140"/>
                </a:solidFill>
                <a:latin typeface="Calibri" pitchFamily="34" charset="0"/>
                <a:ea typeface="Calibri" pitchFamily="34" charset="-122"/>
                <a:cs typeface="Calibri" pitchFamily="34" charset="-120"/>
              </a:rPr>
              <a:t>Gridbox opsional. </a:t>
            </a:r>
            <a:r>
              <a:rPr lang="en-US" sz="1250" dirty="0">
                <a:solidFill>
                  <a:srgbClr val="1B2140"/>
                </a:solidFill>
                <a:latin typeface="Calibri" pitchFamily="34" charset="0"/>
                <a:ea typeface="Calibri" pitchFamily="34" charset="-122"/>
                <a:cs typeface="Calibri" pitchFamily="34" charset="-120"/>
              </a:rPr>
              <a:t>Bila kosong, chemflow menampilkan ligan native untuk dipilih. Kode PDB yang sama di beberapa baris berarti docking multi-situs.</a:t>
            </a:r>
            <a:endParaRPr lang="en-US" sz="1250" dirty="0"/>
          </a:p>
          <a:p>
            <a:pPr marL="177800" indent="-177800">
              <a:spcAft>
                <a:spcPts val="500"/>
              </a:spcAft>
              <a:buSzPct val="100000"/>
              <a:buChar char="•"/>
            </a:pPr>
            <a:r>
              <a:rPr lang="en-US" sz="1250" b="1" dirty="0">
                <a:solidFill>
                  <a:srgbClr val="1B2140"/>
                </a:solidFill>
                <a:latin typeface="Calibri" pitchFamily="34" charset="0"/>
                <a:ea typeface="Calibri" pitchFamily="34" charset="-122"/>
                <a:cs typeface="Calibri" pitchFamily="34" charset="-120"/>
              </a:rPr>
              <a:t>Mulai cepat: </a:t>
            </a:r>
            <a:r>
              <a:rPr lang="en-US" sz="1250" dirty="0">
                <a:solidFill>
                  <a:srgbClr val="1B2140"/>
                </a:solidFill>
                <a:latin typeface="Calibri" pitchFamily="34" charset="0"/>
                <a:ea typeface="Calibri" pitchFamily="34" charset="-122"/>
                <a:cs typeface="Calibri" pitchFamily="34" charset="-120"/>
              </a:rPr>
              <a:t>python -m chemflow init membuat templat dengan sheet Petunjuk.</a:t>
            </a:r>
            <a:endParaRPr lang="en-US" sz="1250" dirty="0"/>
          </a:p>
        </p:txBody>
      </p:sp>
      <p:sp>
        <p:nvSpPr>
          <p:cNvPr id="11" name="Text 7"/>
          <p:cNvSpPr txBox="1"/>
          <p:nvPr/>
        </p:nvSpPr>
        <p:spPr>
          <a:xfrm>
            <a:off x="548640" y="5303520"/>
            <a:ext cx="4206240" cy="640080"/>
          </a:xfrm>
          <a:prstGeom prst="rect">
            <a:avLst/>
          </a:prstGeom>
          <a:noFill/>
          <a:ln/>
        </p:spPr>
        <p:txBody>
          <a:bodyPr wrap="square" lIns="0" tIns="0" rIns="0" bIns="0" rtlCol="0" anchor="t"/>
          <a:lstStyle/>
          <a:p>
            <a:pPr marL="0" indent="0" algn="l">
              <a:buNone/>
            </a:pPr>
            <a:r>
              <a:rPr lang="en-US" sz="1000" dirty="0">
                <a:solidFill>
                  <a:srgbClr val="5B6480"/>
                </a:solidFill>
                <a:latin typeface="Calibri" pitchFamily="34" charset="0"/>
                <a:ea typeface="Calibri" pitchFamily="34" charset="-122"/>
                <a:cs typeface="Calibri" pitchFamily="34" charset="-120"/>
              </a:rPr>
              <a:t>Data demonstrasi: input run yang sama dengan hasil di slide berikutnya. Kolom native_ligand hanya catatan, tidak dibaca chemflow.</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2029968"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C · PIPELINE IN SILICO</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Nama senyawa cukup: SMILES dicari otomatis di PubChem</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10</a:t>
            </a:r>
            <a:endParaRPr lang="en-US" sz="1000" dirty="0"/>
          </a:p>
        </p:txBody>
      </p:sp>
      <p:sp>
        <p:nvSpPr>
          <p:cNvPr id="6" name="Text 4"/>
          <p:cNvSpPr txBox="1"/>
          <p:nvPr/>
        </p:nvSpPr>
        <p:spPr>
          <a:xfrm>
            <a:off x="548640" y="1645920"/>
            <a:ext cx="5486400" cy="274320"/>
          </a:xfrm>
          <a:prstGeom prst="rect">
            <a:avLst/>
          </a:prstGeom>
          <a:noFill/>
          <a:ln/>
        </p:spPr>
        <p:txBody>
          <a:bodyPr wrap="square" lIns="0" tIns="0" rIns="0" bIns="0" rtlCol="0" anchor="t"/>
          <a:lstStyle/>
          <a:p>
            <a:pPr marL="0" indent="0">
              <a:buNone/>
            </a:pPr>
            <a:r>
              <a:rPr lang="en-US" sz="1300" b="1" dirty="0">
                <a:solidFill>
                  <a:srgbClr val="5B6480"/>
                </a:solidFill>
                <a:latin typeface="Calibri" pitchFamily="34" charset="0"/>
                <a:ea typeface="Calibri" pitchFamily="34" charset="-122"/>
                <a:cs typeface="Calibri" pitchFamily="34" charset="-120"/>
              </a:rPr>
              <a:t>Cuplikan chemflow.log (run demonstrasi)</a:t>
            </a:r>
            <a:endParaRPr lang="en-US" sz="1300" dirty="0"/>
          </a:p>
        </p:txBody>
      </p:sp>
      <p:sp>
        <p:nvSpPr>
          <p:cNvPr id="7" name="Text 5"/>
          <p:cNvSpPr txBox="1"/>
          <p:nvPr/>
        </p:nvSpPr>
        <p:spPr>
          <a:xfrm>
            <a:off x="548640" y="1965960"/>
            <a:ext cx="5669280" cy="1920240"/>
          </a:xfrm>
          <a:prstGeom prst="roundRect">
            <a:avLst>
              <a:gd name="adj" fmla="val 4762"/>
            </a:avLst>
          </a:prstGeom>
          <a:solidFill>
            <a:srgbClr val="0E1533"/>
          </a:solidFill>
          <a:ln/>
        </p:spPr>
        <p:txBody>
          <a:bodyPr wrap="square" lIns="127000" tIns="127000" rIns="127000" bIns="127000" rtlCol="0" anchor="t"/>
          <a:lstStyle/>
          <a:p>
            <a:pPr marL="0" indent="0">
              <a:spcAft>
                <a:spcPts val="100"/>
              </a:spcAft>
              <a:buNone/>
            </a:pPr>
            <a:r>
              <a:rPr lang="en-US" sz="1000" dirty="0">
                <a:solidFill>
                  <a:srgbClr val="DCE4FF"/>
                </a:solidFill>
                <a:latin typeface="Courier New" pitchFamily="34" charset="0"/>
                <a:ea typeface="Courier New" pitchFamily="34" charset="-122"/>
                <a:cs typeface="Courier New" pitchFamily="34" charset="-120"/>
              </a:rPr>
              <a:t>23:22:31 === chemflow: memulai pipeline ===</a:t>
            </a:r>
            <a:endParaRPr lang="en-US" sz="1000" dirty="0"/>
          </a:p>
          <a:p>
            <a:pPr marL="0" indent="0">
              <a:spcAft>
                <a:spcPts val="100"/>
              </a:spcAft>
              <a:buNone/>
            </a:pPr>
            <a:r>
              <a:rPr lang="en-US" sz="1000" dirty="0">
                <a:solidFill>
                  <a:srgbClr val="DCE4FF"/>
                </a:solidFill>
                <a:latin typeface="Courier New" pitchFamily="34" charset="0"/>
                <a:ea typeface="Courier New" pitchFamily="34" charset="-122"/>
                <a:cs typeface="Courier New" pitchFamily="34" charset="-120"/>
              </a:rPr>
              <a:t>23:22:31 [Ligan] Mode TIDY: nama='name', smiles='smiles', group='group'</a:t>
            </a:r>
            <a:endParaRPr lang="en-US" sz="1000" dirty="0"/>
          </a:p>
          <a:p>
            <a:pPr marL="0" indent="0">
              <a:spcAft>
                <a:spcPts val="100"/>
              </a:spcAft>
              <a:buNone/>
            </a:pPr>
            <a:r>
              <a:rPr lang="en-US" sz="1000" dirty="0">
                <a:solidFill>
                  <a:srgbClr val="DCE4FF"/>
                </a:solidFill>
                <a:latin typeface="Courier New" pitchFamily="34" charset="0"/>
                <a:ea typeface="Courier New" pitchFamily="34" charset="-122"/>
                <a:cs typeface="Courier New" pitchFamily="34" charset="-120"/>
              </a:rPr>
              <a:t>23:22:31 [Ligan] 10 senyawa dimuat (10 perlu resolusi PubChem, 2 kelompok terdeteksi).</a:t>
            </a:r>
            <a:endParaRPr lang="en-US" sz="1000" dirty="0"/>
          </a:p>
          <a:p>
            <a:pPr marL="0" indent="0">
              <a:spcAft>
                <a:spcPts val="100"/>
              </a:spcAft>
              <a:buNone/>
            </a:pPr>
            <a:r>
              <a:rPr lang="en-US" sz="1000" dirty="0">
                <a:solidFill>
                  <a:srgbClr val="DCE4FF"/>
                </a:solidFill>
                <a:latin typeface="Courier New" pitchFamily="34" charset="0"/>
                <a:ea typeface="Courier New" pitchFamily="34" charset="-122"/>
                <a:cs typeface="Courier New" pitchFamily="34" charset="-120"/>
              </a:rPr>
              <a:t>23:22:31 Resolusi PubChem untuk 10 senyawa tanpa SMILES ...</a:t>
            </a:r>
            <a:endParaRPr lang="en-US" sz="1000" dirty="0"/>
          </a:p>
          <a:p>
            <a:pPr marL="0" indent="0">
              <a:spcAft>
                <a:spcPts val="100"/>
              </a:spcAft>
              <a:buNone/>
            </a:pPr>
            <a:r>
              <a:rPr lang="en-US" sz="1000" dirty="0">
                <a:solidFill>
                  <a:srgbClr val="DCE4FF"/>
                </a:solidFill>
                <a:latin typeface="Courier New" pitchFamily="34" charset="0"/>
                <a:ea typeface="Courier New" pitchFamily="34" charset="-122"/>
                <a:cs typeface="Courier New" pitchFamily="34" charset="-120"/>
              </a:rPr>
              <a:t>23:22:42 [PubChem] 'curcumin' -&gt; COC1=C(C=CC(=C1)/C=C/C(=O)CC(=O)/C=C/C2=CC(=C(C=C2)O)OC)O</a:t>
            </a:r>
            <a:endParaRPr lang="en-US" sz="1000" dirty="0"/>
          </a:p>
          <a:p>
            <a:pPr marL="0" indent="0">
              <a:spcAft>
                <a:spcPts val="100"/>
              </a:spcAft>
              <a:buNone/>
            </a:pPr>
            <a:r>
              <a:rPr lang="en-US" sz="1000" dirty="0">
                <a:solidFill>
                  <a:srgbClr val="DCE4FF"/>
                </a:solidFill>
                <a:latin typeface="Courier New" pitchFamily="34" charset="0"/>
                <a:ea typeface="Courier New" pitchFamily="34" charset="-122"/>
                <a:cs typeface="Courier New" pitchFamily="34" charset="-120"/>
              </a:rPr>
              <a:t>23:22:43 Ligan siap docking: 10/10</a:t>
            </a:r>
            <a:endParaRPr lang="en-US" sz="1000" dirty="0"/>
          </a:p>
        </p:txBody>
      </p:sp>
      <p:sp>
        <p:nvSpPr>
          <p:cNvPr id="8" name="Text 6"/>
          <p:cNvSpPr txBox="1"/>
          <p:nvPr/>
        </p:nvSpPr>
        <p:spPr>
          <a:xfrm>
            <a:off x="548640" y="4114800"/>
            <a:ext cx="5669280" cy="274320"/>
          </a:xfrm>
          <a:prstGeom prst="rect">
            <a:avLst/>
          </a:prstGeom>
          <a:noFill/>
          <a:ln/>
        </p:spPr>
        <p:txBody>
          <a:bodyPr wrap="square" lIns="0" tIns="0" rIns="0" bIns="0" rtlCol="0" anchor="t"/>
          <a:lstStyle/>
          <a:p>
            <a:pPr marL="0" indent="0">
              <a:buNone/>
            </a:pPr>
            <a:r>
              <a:rPr lang="en-US" sz="1500" b="1" dirty="0">
                <a:solidFill>
                  <a:srgbClr val="1B2140"/>
                </a:solidFill>
                <a:latin typeface="Calibri" pitchFamily="34" charset="0"/>
                <a:ea typeface="Calibri" pitchFamily="34" charset="-122"/>
                <a:cs typeface="Calibri" pitchFamily="34" charset="-120"/>
              </a:rPr>
              <a:t>Nama file aman untuk Windows</a:t>
            </a:r>
            <a:endParaRPr lang="en-US" sz="1500" dirty="0"/>
          </a:p>
        </p:txBody>
      </p:sp>
      <p:sp>
        <p:nvSpPr>
          <p:cNvPr id="9" name="Text 7"/>
          <p:cNvSpPr txBox="1"/>
          <p:nvPr/>
        </p:nvSpPr>
        <p:spPr>
          <a:xfrm>
            <a:off x="548640" y="4480560"/>
            <a:ext cx="5669280" cy="17373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B2140"/>
                </a:solidFill>
                <a:latin typeface="Calibri" pitchFamily="34" charset="0"/>
                <a:ea typeface="Calibri" pitchFamily="34" charset="-122"/>
                <a:cs typeface="Calibri" pitchFamily="34" charset="-120"/>
              </a:rPr>
              <a:t>Karakter terlarang, spasi, kurung menjadi garis bawah</a:t>
            </a:r>
            <a:endParaRPr lang="en-US" sz="1300" dirty="0"/>
          </a:p>
          <a:p>
            <a:pPr marL="177800" indent="-177800">
              <a:spcAft>
                <a:spcPts val="600"/>
              </a:spcAft>
              <a:buSzPct val="100000"/>
              <a:buChar char="•"/>
            </a:pPr>
            <a:r>
              <a:rPr lang="en-US" sz="1300" dirty="0">
                <a:solidFill>
                  <a:srgbClr val="1B2140"/>
                </a:solidFill>
                <a:latin typeface="Calibri" pitchFamily="34" charset="0"/>
                <a:ea typeface="Calibri" pitchFamily="34" charset="-122"/>
                <a:cs typeface="Calibri" pitchFamily="34" charset="-120"/>
              </a:rPr>
              <a:t>Nama perangkat (CON, NUL, COM1) diberi garis bawah; aksara non-Latin menjadi unnamed_ + hash</a:t>
            </a:r>
            <a:endParaRPr lang="en-US" sz="1300" dirty="0"/>
          </a:p>
          <a:p>
            <a:pPr marL="177800" indent="-177800">
              <a:spcAft>
                <a:spcPts val="600"/>
              </a:spcAft>
              <a:buSzPct val="100000"/>
              <a:buChar char="•"/>
            </a:pPr>
            <a:r>
              <a:rPr lang="en-US" sz="1300" dirty="0">
                <a:solidFill>
                  <a:srgbClr val="1B2140"/>
                </a:solidFill>
                <a:latin typeface="Calibri" pitchFamily="34" charset="0"/>
                <a:ea typeface="Calibri" pitchFamily="34" charset="-122"/>
                <a:cs typeface="Calibri" pitchFamily="34" charset="-120"/>
              </a:rPr>
              <a:t>Nama kembar dirapikan dengan akhiran _2, _3; maksimal 60 karakter, menyusut agar path &lt; 260</a:t>
            </a:r>
            <a:endParaRPr lang="en-US" sz="1300" dirty="0"/>
          </a:p>
        </p:txBody>
      </p:sp>
      <p:sp>
        <p:nvSpPr>
          <p:cNvPr id="10" name="Text 8"/>
          <p:cNvSpPr txBox="1"/>
          <p:nvPr/>
        </p:nvSpPr>
        <p:spPr>
          <a:xfrm>
            <a:off x="6537960" y="1645920"/>
            <a:ext cx="5120640" cy="274320"/>
          </a:xfrm>
          <a:prstGeom prst="rect">
            <a:avLst/>
          </a:prstGeom>
          <a:noFill/>
          <a:ln/>
        </p:spPr>
        <p:txBody>
          <a:bodyPr wrap="square" lIns="0" tIns="0" rIns="0" bIns="0" rtlCol="0" anchor="t"/>
          <a:lstStyle/>
          <a:p>
            <a:pPr marL="0" indent="0">
              <a:buNone/>
            </a:pPr>
            <a:r>
              <a:rPr lang="en-US" sz="1300" b="1" dirty="0">
                <a:solidFill>
                  <a:srgbClr val="5B6480"/>
                </a:solidFill>
                <a:latin typeface="Calibri" pitchFamily="34" charset="0"/>
                <a:ea typeface="Calibri" pitchFamily="34" charset="-122"/>
                <a:cs typeface="Calibri" pitchFamily="34" charset="-120"/>
              </a:rPr>
              <a:t>Struktur 2D dibuat RDKit dari SMILES hasil PubChem</a:t>
            </a:r>
            <a:endParaRPr lang="en-US" sz="1300" dirty="0"/>
          </a:p>
        </p:txBody>
      </p:sp>
      <p:sp>
        <p:nvSpPr>
          <p:cNvPr id="11" name="Shape 9"/>
          <p:cNvSpPr/>
          <p:nvPr/>
        </p:nvSpPr>
        <p:spPr>
          <a:xfrm>
            <a:off x="6537960" y="1965960"/>
            <a:ext cx="2468880" cy="1600200"/>
          </a:xfrm>
          <a:prstGeom prst="roundRect">
            <a:avLst>
              <a:gd name="adj" fmla="val 6857"/>
            </a:avLst>
          </a:prstGeom>
          <a:solidFill>
            <a:srgbClr val="FFFFFF"/>
          </a:solidFill>
          <a:ln w="9525">
            <a:solidFill>
              <a:srgbClr val="D5DBF0"/>
            </a:solidFill>
            <a:prstDash val="solid"/>
          </a:ln>
        </p:spPr>
        <p:txBody>
          <a:bodyPr/>
          <a:p/>
        </p:txBody>
      </p:sp>
      <p:pic>
        <p:nvPicPr>
          <p:cNvPr id="12" name="Image 0" descr="Struktur 2D curcumin"/>
          <p:cNvPicPr>
            <a:picLocks noChangeAspect="1"/>
          </p:cNvPicPr>
          <p:nvPr/>
        </p:nvPicPr>
        <p:blipFill>
          <a:blip r:embed="rId3"/>
          <a:stretch>
            <a:fillRect/>
          </a:stretch>
        </p:blipFill>
        <p:spPr>
          <a:xfrm>
            <a:off x="7013448" y="2020824"/>
            <a:ext cx="1517904" cy="1170432"/>
          </a:xfrm>
          <a:prstGeom prst="rect">
            <a:avLst/>
          </a:prstGeom>
        </p:spPr>
      </p:pic>
      <p:sp>
        <p:nvSpPr>
          <p:cNvPr id="13" name="Text 10"/>
          <p:cNvSpPr txBox="1"/>
          <p:nvPr/>
        </p:nvSpPr>
        <p:spPr>
          <a:xfrm>
            <a:off x="6537960" y="3218688"/>
            <a:ext cx="2468880" cy="274320"/>
          </a:xfrm>
          <a:prstGeom prst="rect">
            <a:avLst/>
          </a:prstGeom>
          <a:noFill/>
          <a:ln/>
        </p:spPr>
        <p:txBody>
          <a:bodyPr wrap="square" lIns="0" tIns="0" rIns="0" bIns="0" rtlCol="0" anchor="t"/>
          <a:lstStyle/>
          <a:p>
            <a:pPr marL="0" indent="0" algn="ctr">
              <a:buNone/>
            </a:pPr>
            <a:r>
              <a:rPr lang="en-US" sz="1300" b="1" dirty="0">
                <a:solidFill>
                  <a:srgbClr val="1B2140"/>
                </a:solidFill>
                <a:latin typeface="Calibri" pitchFamily="34" charset="0"/>
                <a:ea typeface="Calibri" pitchFamily="34" charset="-122"/>
                <a:cs typeface="Calibri" pitchFamily="34" charset="-120"/>
              </a:rPr>
              <a:t>curcumin</a:t>
            </a:r>
            <a:endParaRPr lang="en-US" sz="1300" dirty="0"/>
          </a:p>
        </p:txBody>
      </p:sp>
      <p:sp>
        <p:nvSpPr>
          <p:cNvPr id="14" name="Shape 11"/>
          <p:cNvSpPr/>
          <p:nvPr/>
        </p:nvSpPr>
        <p:spPr>
          <a:xfrm>
            <a:off x="9171432" y="1965960"/>
            <a:ext cx="2468880" cy="1600200"/>
          </a:xfrm>
          <a:prstGeom prst="roundRect">
            <a:avLst>
              <a:gd name="adj" fmla="val 6857"/>
            </a:avLst>
          </a:prstGeom>
          <a:solidFill>
            <a:srgbClr val="FFFFFF"/>
          </a:solidFill>
          <a:ln w="9525">
            <a:solidFill>
              <a:srgbClr val="D5DBF0"/>
            </a:solidFill>
            <a:prstDash val="solid"/>
          </a:ln>
        </p:spPr>
        <p:txBody>
          <a:bodyPr/>
          <a:p/>
        </p:txBody>
      </p:sp>
      <p:pic>
        <p:nvPicPr>
          <p:cNvPr id="15" name="Image 1" descr="Struktur 2D berberine"/>
          <p:cNvPicPr>
            <a:picLocks noChangeAspect="1"/>
          </p:cNvPicPr>
          <p:nvPr/>
        </p:nvPicPr>
        <p:blipFill>
          <a:blip r:embed="rId4"/>
          <a:stretch>
            <a:fillRect/>
          </a:stretch>
        </p:blipFill>
        <p:spPr>
          <a:xfrm>
            <a:off x="9646920" y="2020824"/>
            <a:ext cx="1517904" cy="1170432"/>
          </a:xfrm>
          <a:prstGeom prst="rect">
            <a:avLst/>
          </a:prstGeom>
        </p:spPr>
      </p:pic>
      <p:sp>
        <p:nvSpPr>
          <p:cNvPr id="16" name="Text 12"/>
          <p:cNvSpPr txBox="1"/>
          <p:nvPr/>
        </p:nvSpPr>
        <p:spPr>
          <a:xfrm>
            <a:off x="9171432" y="3218688"/>
            <a:ext cx="2468880" cy="274320"/>
          </a:xfrm>
          <a:prstGeom prst="rect">
            <a:avLst/>
          </a:prstGeom>
          <a:noFill/>
          <a:ln/>
        </p:spPr>
        <p:txBody>
          <a:bodyPr wrap="square" lIns="0" tIns="0" rIns="0" bIns="0" rtlCol="0" anchor="t"/>
          <a:lstStyle/>
          <a:p>
            <a:pPr marL="0" indent="0" algn="ctr">
              <a:buNone/>
            </a:pPr>
            <a:r>
              <a:rPr lang="en-US" sz="1300" b="1" dirty="0">
                <a:solidFill>
                  <a:srgbClr val="1B2140"/>
                </a:solidFill>
                <a:latin typeface="Calibri" pitchFamily="34" charset="0"/>
                <a:ea typeface="Calibri" pitchFamily="34" charset="-122"/>
                <a:cs typeface="Calibri" pitchFamily="34" charset="-120"/>
              </a:rPr>
              <a:t>berberine</a:t>
            </a:r>
            <a:endParaRPr lang="en-US" sz="1300" dirty="0"/>
          </a:p>
        </p:txBody>
      </p:sp>
      <p:sp>
        <p:nvSpPr>
          <p:cNvPr id="17" name="Shape 13"/>
          <p:cNvSpPr/>
          <p:nvPr/>
        </p:nvSpPr>
        <p:spPr>
          <a:xfrm>
            <a:off x="6537960" y="3657600"/>
            <a:ext cx="2468880" cy="1600200"/>
          </a:xfrm>
          <a:prstGeom prst="roundRect">
            <a:avLst>
              <a:gd name="adj" fmla="val 6857"/>
            </a:avLst>
          </a:prstGeom>
          <a:solidFill>
            <a:srgbClr val="FFFFFF"/>
          </a:solidFill>
          <a:ln w="9525">
            <a:solidFill>
              <a:srgbClr val="D5DBF0"/>
            </a:solidFill>
            <a:prstDash val="solid"/>
          </a:ln>
        </p:spPr>
        <p:txBody>
          <a:bodyPr/>
          <a:p/>
        </p:txBody>
      </p:sp>
      <p:pic>
        <p:nvPicPr>
          <p:cNvPr id="18" name="Image 2" descr="Struktur 2D aspirin"/>
          <p:cNvPicPr>
            <a:picLocks noChangeAspect="1"/>
          </p:cNvPicPr>
          <p:nvPr/>
        </p:nvPicPr>
        <p:blipFill>
          <a:blip r:embed="rId5"/>
          <a:stretch>
            <a:fillRect/>
          </a:stretch>
        </p:blipFill>
        <p:spPr>
          <a:xfrm>
            <a:off x="7013448" y="3712464"/>
            <a:ext cx="1517904" cy="1170432"/>
          </a:xfrm>
          <a:prstGeom prst="rect">
            <a:avLst/>
          </a:prstGeom>
        </p:spPr>
      </p:pic>
      <p:sp>
        <p:nvSpPr>
          <p:cNvPr id="19" name="Text 14"/>
          <p:cNvSpPr txBox="1"/>
          <p:nvPr/>
        </p:nvSpPr>
        <p:spPr>
          <a:xfrm>
            <a:off x="6537960" y="4910328"/>
            <a:ext cx="2468880" cy="274320"/>
          </a:xfrm>
          <a:prstGeom prst="rect">
            <a:avLst/>
          </a:prstGeom>
          <a:noFill/>
          <a:ln/>
        </p:spPr>
        <p:txBody>
          <a:bodyPr wrap="square" lIns="0" tIns="0" rIns="0" bIns="0" rtlCol="0" anchor="t"/>
          <a:lstStyle/>
          <a:p>
            <a:pPr marL="0" indent="0" algn="ctr">
              <a:buNone/>
            </a:pPr>
            <a:r>
              <a:rPr lang="en-US" sz="1300" b="1" dirty="0">
                <a:solidFill>
                  <a:srgbClr val="1B2140"/>
                </a:solidFill>
                <a:latin typeface="Calibri" pitchFamily="34" charset="0"/>
                <a:ea typeface="Calibri" pitchFamily="34" charset="-122"/>
                <a:cs typeface="Calibri" pitchFamily="34" charset="-120"/>
              </a:rPr>
              <a:t>aspirin</a:t>
            </a:r>
            <a:endParaRPr lang="en-US" sz="1300" dirty="0"/>
          </a:p>
        </p:txBody>
      </p:sp>
      <p:sp>
        <p:nvSpPr>
          <p:cNvPr id="20" name="Shape 15"/>
          <p:cNvSpPr/>
          <p:nvPr/>
        </p:nvSpPr>
        <p:spPr>
          <a:xfrm>
            <a:off x="9171432" y="3657600"/>
            <a:ext cx="2468880" cy="1600200"/>
          </a:xfrm>
          <a:prstGeom prst="roundRect">
            <a:avLst>
              <a:gd name="adj" fmla="val 6857"/>
            </a:avLst>
          </a:prstGeom>
          <a:solidFill>
            <a:srgbClr val="FFFFFF"/>
          </a:solidFill>
          <a:ln w="9525">
            <a:solidFill>
              <a:srgbClr val="D5DBF0"/>
            </a:solidFill>
            <a:prstDash val="solid"/>
          </a:ln>
        </p:spPr>
        <p:txBody>
          <a:bodyPr/>
          <a:p/>
        </p:txBody>
      </p:sp>
      <p:pic>
        <p:nvPicPr>
          <p:cNvPr id="21" name="Image 3" descr="Struktur 2D caffeine"/>
          <p:cNvPicPr>
            <a:picLocks noChangeAspect="1"/>
          </p:cNvPicPr>
          <p:nvPr/>
        </p:nvPicPr>
        <p:blipFill>
          <a:blip r:embed="rId6"/>
          <a:stretch>
            <a:fillRect/>
          </a:stretch>
        </p:blipFill>
        <p:spPr>
          <a:xfrm>
            <a:off x="9646920" y="3712464"/>
            <a:ext cx="1517904" cy="1170432"/>
          </a:xfrm>
          <a:prstGeom prst="rect">
            <a:avLst/>
          </a:prstGeom>
        </p:spPr>
      </p:pic>
      <p:sp>
        <p:nvSpPr>
          <p:cNvPr id="22" name="Text 16"/>
          <p:cNvSpPr txBox="1"/>
          <p:nvPr/>
        </p:nvSpPr>
        <p:spPr>
          <a:xfrm>
            <a:off x="9171432" y="4910328"/>
            <a:ext cx="2468880" cy="274320"/>
          </a:xfrm>
          <a:prstGeom prst="rect">
            <a:avLst/>
          </a:prstGeom>
          <a:noFill/>
          <a:ln/>
        </p:spPr>
        <p:txBody>
          <a:bodyPr wrap="square" lIns="0" tIns="0" rIns="0" bIns="0" rtlCol="0" anchor="t"/>
          <a:lstStyle/>
          <a:p>
            <a:pPr marL="0" indent="0" algn="ctr">
              <a:buNone/>
            </a:pPr>
            <a:r>
              <a:rPr lang="en-US" sz="1300" b="1" dirty="0">
                <a:solidFill>
                  <a:srgbClr val="1B2140"/>
                </a:solidFill>
                <a:latin typeface="Calibri" pitchFamily="34" charset="0"/>
                <a:ea typeface="Calibri" pitchFamily="34" charset="-122"/>
                <a:cs typeface="Calibri" pitchFamily="34" charset="-120"/>
              </a:rPr>
              <a:t>caffeine</a:t>
            </a:r>
            <a:endParaRPr lang="en-US" sz="1300" dirty="0"/>
          </a:p>
        </p:txBody>
      </p:sp>
      <p:sp>
        <p:nvSpPr>
          <p:cNvPr id="23" name="Shape 17"/>
          <p:cNvSpPr/>
          <p:nvPr/>
        </p:nvSpPr>
        <p:spPr>
          <a:xfrm>
            <a:off x="6537960" y="5440680"/>
            <a:ext cx="5102352" cy="777240"/>
          </a:xfrm>
          <a:prstGeom prst="roundRect">
            <a:avLst>
              <a:gd name="adj" fmla="val 11765"/>
            </a:avLst>
          </a:prstGeom>
          <a:solidFill>
            <a:srgbClr val="FCF0D6"/>
          </a:solidFill>
          <a:ln w="15875">
            <a:solidFill>
              <a:srgbClr val="E69F00"/>
            </a:solidFill>
            <a:prstDash val="solid"/>
          </a:ln>
        </p:spPr>
        <p:txBody>
          <a:bodyPr/>
          <a:p/>
        </p:txBody>
      </p:sp>
      <p:sp>
        <p:nvSpPr>
          <p:cNvPr id="24" name="Text 18"/>
          <p:cNvSpPr txBox="1"/>
          <p:nvPr/>
        </p:nvSpPr>
        <p:spPr>
          <a:xfrm>
            <a:off x="6702552" y="5532120"/>
            <a:ext cx="4773168" cy="594360"/>
          </a:xfrm>
          <a:prstGeom prst="rect">
            <a:avLst/>
          </a:prstGeom>
          <a:noFill/>
          <a:ln/>
        </p:spPr>
        <p:txBody>
          <a:bodyPr wrap="square" lIns="0" tIns="0" rIns="0" bIns="0" rtlCol="0" anchor="t"/>
          <a:lstStyle/>
          <a:p>
            <a:pPr marL="0" indent="0">
              <a:spcAft>
                <a:spcPts val="300"/>
              </a:spcAft>
              <a:buNone/>
            </a:pPr>
            <a:r>
              <a:rPr lang="en-US" sz="1300" b="1" dirty="0">
                <a:solidFill>
                  <a:srgbClr val="1B2140"/>
                </a:solidFill>
                <a:latin typeface="Calibri" pitchFamily="34" charset="0"/>
                <a:ea typeface="Calibri" pitchFamily="34" charset="-122"/>
                <a:cs typeface="Calibri" pitchFamily="34" charset="-120"/>
              </a:rPr>
              <a:t>Bila PubChem gagal</a:t>
            </a:r>
            <a:endParaRPr lang="en-US" sz="1300" dirty="0"/>
          </a:p>
          <a:p>
            <a:pPr marL="0" indent="0">
              <a:spcAft>
                <a:spcPts val="300"/>
              </a:spcAft>
              <a:buNone/>
            </a:pPr>
            <a:r>
              <a:rPr lang="en-US" sz="1100" dirty="0">
                <a:solidFill>
                  <a:srgbClr val="1B2140"/>
                </a:solidFill>
                <a:latin typeface="Calibri" pitchFamily="34" charset="0"/>
                <a:ea typeface="Calibri" pitchFamily="34" charset="-122"/>
                <a:cs typeface="Calibri" pitchFamily="34" charset="-120"/>
              </a:rPr>
              <a:t>Pemakai ditawari SMILES manual atau melewati senyawa itu. chemflow memakai hasil pertama untuk nama tersebut tanpa memeriksa kecocokan struktur.</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2029968"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C · PIPELINE IN SILICO</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Preparasi ligan: dari SMILES ke PDBQT siap docking</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11</a:t>
            </a:r>
            <a:endParaRPr lang="en-US" sz="1000" dirty="0"/>
          </a:p>
        </p:txBody>
      </p:sp>
      <p:sp>
        <p:nvSpPr>
          <p:cNvPr id="6" name="Shape 4"/>
          <p:cNvSpPr/>
          <p:nvPr/>
        </p:nvSpPr>
        <p:spPr>
          <a:xfrm>
            <a:off x="548640" y="1691640"/>
            <a:ext cx="2468880" cy="914400"/>
          </a:xfrm>
          <a:prstGeom prst="roundRect">
            <a:avLst>
              <a:gd name="adj" fmla="val 10000"/>
            </a:avLst>
          </a:prstGeom>
          <a:solidFill>
            <a:srgbClr val="E8EDFC"/>
          </a:solidFill>
          <a:ln w="12700">
            <a:solidFill>
              <a:srgbClr val="D7DFFA"/>
            </a:solidFill>
            <a:prstDash val="solid"/>
          </a:ln>
        </p:spPr>
        <p:txBody>
          <a:bodyPr/>
          <a:lstStyle/>
          <a:p>
            <a:endParaRPr/>
          </a:p>
        </p:txBody>
      </p:sp>
      <p:sp>
        <p:nvSpPr>
          <p:cNvPr id="7" name="Shape 5"/>
          <p:cNvSpPr/>
          <p:nvPr/>
        </p:nvSpPr>
        <p:spPr>
          <a:xfrm>
            <a:off x="640080" y="1783080"/>
            <a:ext cx="274320" cy="274320"/>
          </a:xfrm>
          <a:prstGeom prst="ellipse">
            <a:avLst/>
          </a:prstGeom>
          <a:solidFill>
            <a:srgbClr val="3C71E8"/>
          </a:solidFill>
          <a:ln w="12700">
            <a:solidFill>
              <a:srgbClr val="3C71E8"/>
            </a:solidFill>
            <a:prstDash val="solid"/>
          </a:ln>
        </p:spPr>
        <p:txBody>
          <a:bodyPr/>
          <a:lstStyle/>
          <a:p>
            <a:endParaRPr/>
          </a:p>
        </p:txBody>
      </p:sp>
      <p:sp>
        <p:nvSpPr>
          <p:cNvPr id="8" name="Text 6"/>
          <p:cNvSpPr txBox="1"/>
          <p:nvPr/>
        </p:nvSpPr>
        <p:spPr>
          <a:xfrm>
            <a:off x="640080" y="1783080"/>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9" name="Text 7"/>
          <p:cNvSpPr txBox="1"/>
          <p:nvPr/>
        </p:nvSpPr>
        <p:spPr>
          <a:xfrm>
            <a:off x="1005840" y="1764792"/>
            <a:ext cx="1920240" cy="310896"/>
          </a:xfrm>
          <a:prstGeom prst="rect">
            <a:avLst/>
          </a:prstGeom>
          <a:noFill/>
          <a:ln/>
        </p:spPr>
        <p:txBody>
          <a:bodyPr wrap="square" lIns="0" tIns="0" rIns="0" bIns="0" rtlCol="0" anchor="ctr"/>
          <a:lstStyle/>
          <a:p>
            <a:pPr marL="0" indent="0">
              <a:buNone/>
            </a:pPr>
            <a:r>
              <a:rPr lang="en-US" sz="1250" b="1" dirty="0">
                <a:solidFill>
                  <a:srgbClr val="1B2140"/>
                </a:solidFill>
                <a:latin typeface="Calibri" pitchFamily="34" charset="0"/>
                <a:ea typeface="Calibri" pitchFamily="34" charset="-122"/>
                <a:cs typeface="Calibri" pitchFamily="34" charset="-120"/>
              </a:rPr>
              <a:t>Parse SMILES</a:t>
            </a:r>
            <a:endParaRPr lang="en-US" sz="1250" dirty="0"/>
          </a:p>
        </p:txBody>
      </p:sp>
      <p:sp>
        <p:nvSpPr>
          <p:cNvPr id="10" name="Text 8"/>
          <p:cNvSpPr txBox="1"/>
          <p:nvPr/>
        </p:nvSpPr>
        <p:spPr>
          <a:xfrm>
            <a:off x="658368" y="2103120"/>
            <a:ext cx="2249424" cy="457200"/>
          </a:xfrm>
          <a:prstGeom prst="rect">
            <a:avLst/>
          </a:prstGeom>
          <a:noFill/>
          <a:ln/>
        </p:spPr>
        <p:txBody>
          <a:bodyPr wrap="square" lIns="0" tIns="0" rIns="0" bIns="0" rtlCol="0" anchor="t"/>
          <a:lstStyle/>
          <a:p>
            <a:pPr marL="0" indent="0">
              <a:buNone/>
            </a:pPr>
            <a:r>
              <a:rPr lang="en-US" sz="1050" dirty="0">
                <a:solidFill>
                  <a:srgbClr val="5B6480"/>
                </a:solidFill>
                <a:latin typeface="Calibri" pitchFamily="34" charset="0"/>
                <a:ea typeface="Calibri" pitchFamily="34" charset="-122"/>
                <a:cs typeface="Calibri" pitchFamily="34" charset="-120"/>
              </a:rPr>
              <a:t>Chem.MolFromSmiles. Satu-satunya tahap fatal</a:t>
            </a:r>
            <a:endParaRPr lang="en-US" sz="1050" dirty="0"/>
          </a:p>
        </p:txBody>
      </p:sp>
      <p:sp>
        <p:nvSpPr>
          <p:cNvPr id="11" name="Shape 9"/>
          <p:cNvSpPr/>
          <p:nvPr/>
        </p:nvSpPr>
        <p:spPr>
          <a:xfrm>
            <a:off x="3017520" y="2148840"/>
            <a:ext cx="395935" cy="0"/>
          </a:xfrm>
          <a:prstGeom prst="line">
            <a:avLst/>
          </a:prstGeom>
          <a:noFill/>
          <a:ln w="22225">
            <a:solidFill>
              <a:srgbClr val="3C71E8"/>
            </a:solidFill>
            <a:prstDash val="solid"/>
            <a:tailEnd type="triangle"/>
          </a:ln>
        </p:spPr>
        <p:txBody>
          <a:bodyPr/>
          <a:lstStyle/>
          <a:p>
            <a:endParaRPr/>
          </a:p>
        </p:txBody>
      </p:sp>
      <p:sp>
        <p:nvSpPr>
          <p:cNvPr id="12" name="Shape 10"/>
          <p:cNvSpPr/>
          <p:nvPr/>
        </p:nvSpPr>
        <p:spPr>
          <a:xfrm>
            <a:off x="3413455" y="1691640"/>
            <a:ext cx="2468880" cy="914400"/>
          </a:xfrm>
          <a:prstGeom prst="roundRect">
            <a:avLst>
              <a:gd name="adj" fmla="val 10000"/>
            </a:avLst>
          </a:prstGeom>
          <a:solidFill>
            <a:srgbClr val="E8EDFC"/>
          </a:solidFill>
          <a:ln w="12700">
            <a:solidFill>
              <a:srgbClr val="D7DFFA"/>
            </a:solidFill>
            <a:prstDash val="solid"/>
          </a:ln>
        </p:spPr>
        <p:txBody>
          <a:bodyPr/>
          <a:lstStyle/>
          <a:p>
            <a:endParaRPr/>
          </a:p>
        </p:txBody>
      </p:sp>
      <p:sp>
        <p:nvSpPr>
          <p:cNvPr id="13" name="Shape 11"/>
          <p:cNvSpPr/>
          <p:nvPr/>
        </p:nvSpPr>
        <p:spPr>
          <a:xfrm>
            <a:off x="3504895" y="1783080"/>
            <a:ext cx="274320" cy="274320"/>
          </a:xfrm>
          <a:prstGeom prst="ellipse">
            <a:avLst/>
          </a:prstGeom>
          <a:solidFill>
            <a:srgbClr val="3C71E8"/>
          </a:solidFill>
          <a:ln w="12700">
            <a:solidFill>
              <a:srgbClr val="3C71E8"/>
            </a:solidFill>
            <a:prstDash val="solid"/>
          </a:ln>
        </p:spPr>
        <p:txBody>
          <a:bodyPr/>
          <a:lstStyle/>
          <a:p>
            <a:endParaRPr/>
          </a:p>
        </p:txBody>
      </p:sp>
      <p:sp>
        <p:nvSpPr>
          <p:cNvPr id="14" name="Text 12"/>
          <p:cNvSpPr txBox="1"/>
          <p:nvPr/>
        </p:nvSpPr>
        <p:spPr>
          <a:xfrm>
            <a:off x="3504895" y="1783080"/>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5" name="Text 13"/>
          <p:cNvSpPr txBox="1"/>
          <p:nvPr/>
        </p:nvSpPr>
        <p:spPr>
          <a:xfrm>
            <a:off x="3870655" y="1764792"/>
            <a:ext cx="1920240" cy="310896"/>
          </a:xfrm>
          <a:prstGeom prst="rect">
            <a:avLst/>
          </a:prstGeom>
          <a:noFill/>
          <a:ln/>
        </p:spPr>
        <p:txBody>
          <a:bodyPr wrap="square" lIns="0" tIns="0" rIns="0" bIns="0" rtlCol="0" anchor="ctr"/>
          <a:lstStyle/>
          <a:p>
            <a:pPr marL="0" indent="0">
              <a:buNone/>
            </a:pPr>
            <a:r>
              <a:rPr lang="en-US" sz="1250" b="1" dirty="0">
                <a:solidFill>
                  <a:srgbClr val="1B2140"/>
                </a:solidFill>
                <a:latin typeface="Calibri" pitchFamily="34" charset="0"/>
                <a:ea typeface="Calibri" pitchFamily="34" charset="-122"/>
                <a:cs typeface="Calibri" pitchFamily="34" charset="-120"/>
              </a:rPr>
              <a:t>Gambar 2D</a:t>
            </a:r>
            <a:endParaRPr lang="en-US" sz="1250" dirty="0"/>
          </a:p>
        </p:txBody>
      </p:sp>
      <p:sp>
        <p:nvSpPr>
          <p:cNvPr id="16" name="Text 14"/>
          <p:cNvSpPr txBox="1"/>
          <p:nvPr/>
        </p:nvSpPr>
        <p:spPr>
          <a:xfrm>
            <a:off x="3523183" y="2103120"/>
            <a:ext cx="2249424" cy="457200"/>
          </a:xfrm>
          <a:prstGeom prst="rect">
            <a:avLst/>
          </a:prstGeom>
          <a:noFill/>
          <a:ln/>
        </p:spPr>
        <p:txBody>
          <a:bodyPr wrap="square" lIns="0" tIns="0" rIns="0" bIns="0" rtlCol="0" anchor="t"/>
          <a:lstStyle/>
          <a:p>
            <a:pPr marL="0" indent="0">
              <a:buNone/>
            </a:pPr>
            <a:r>
              <a:rPr lang="en-US" sz="1050" dirty="0">
                <a:solidFill>
                  <a:srgbClr val="5B6480"/>
                </a:solidFill>
                <a:latin typeface="Calibri" pitchFamily="34" charset="0"/>
                <a:ea typeface="Calibri" pitchFamily="34" charset="-122"/>
                <a:cs typeface="Calibri" pitchFamily="34" charset="-120"/>
              </a:rPr>
              <a:t>PNG 400×400, diambil sebelum minimisasi</a:t>
            </a:r>
            <a:endParaRPr lang="en-US" sz="1050" dirty="0"/>
          </a:p>
        </p:txBody>
      </p:sp>
      <p:sp>
        <p:nvSpPr>
          <p:cNvPr id="17" name="Shape 15"/>
          <p:cNvSpPr/>
          <p:nvPr/>
        </p:nvSpPr>
        <p:spPr>
          <a:xfrm>
            <a:off x="5882335" y="2148840"/>
            <a:ext cx="395935" cy="0"/>
          </a:xfrm>
          <a:prstGeom prst="line">
            <a:avLst/>
          </a:prstGeom>
          <a:noFill/>
          <a:ln w="22225">
            <a:solidFill>
              <a:srgbClr val="3C71E8"/>
            </a:solidFill>
            <a:prstDash val="solid"/>
            <a:tailEnd type="triangle"/>
          </a:ln>
        </p:spPr>
        <p:txBody>
          <a:bodyPr/>
          <a:lstStyle/>
          <a:p>
            <a:endParaRPr/>
          </a:p>
        </p:txBody>
      </p:sp>
      <p:sp>
        <p:nvSpPr>
          <p:cNvPr id="18" name="Shape 16"/>
          <p:cNvSpPr/>
          <p:nvPr/>
        </p:nvSpPr>
        <p:spPr>
          <a:xfrm>
            <a:off x="6278270" y="1691640"/>
            <a:ext cx="2468880" cy="914400"/>
          </a:xfrm>
          <a:prstGeom prst="roundRect">
            <a:avLst>
              <a:gd name="adj" fmla="val 10000"/>
            </a:avLst>
          </a:prstGeom>
          <a:solidFill>
            <a:srgbClr val="E8EDFC"/>
          </a:solidFill>
          <a:ln w="12700">
            <a:solidFill>
              <a:srgbClr val="D7DFFA"/>
            </a:solidFill>
            <a:prstDash val="solid"/>
          </a:ln>
        </p:spPr>
        <p:txBody>
          <a:bodyPr/>
          <a:lstStyle/>
          <a:p>
            <a:endParaRPr/>
          </a:p>
        </p:txBody>
      </p:sp>
      <p:sp>
        <p:nvSpPr>
          <p:cNvPr id="19" name="Shape 17"/>
          <p:cNvSpPr/>
          <p:nvPr/>
        </p:nvSpPr>
        <p:spPr>
          <a:xfrm>
            <a:off x="6369710" y="1783080"/>
            <a:ext cx="274320" cy="274320"/>
          </a:xfrm>
          <a:prstGeom prst="ellipse">
            <a:avLst/>
          </a:prstGeom>
          <a:solidFill>
            <a:srgbClr val="3C71E8"/>
          </a:solidFill>
          <a:ln w="12700">
            <a:solidFill>
              <a:srgbClr val="3C71E8"/>
            </a:solidFill>
            <a:prstDash val="solid"/>
          </a:ln>
        </p:spPr>
        <p:txBody>
          <a:bodyPr/>
          <a:lstStyle/>
          <a:p>
            <a:endParaRPr/>
          </a:p>
        </p:txBody>
      </p:sp>
      <p:sp>
        <p:nvSpPr>
          <p:cNvPr id="20" name="Text 18"/>
          <p:cNvSpPr txBox="1"/>
          <p:nvPr/>
        </p:nvSpPr>
        <p:spPr>
          <a:xfrm>
            <a:off x="6369710" y="1783080"/>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1" name="Text 19"/>
          <p:cNvSpPr txBox="1"/>
          <p:nvPr/>
        </p:nvSpPr>
        <p:spPr>
          <a:xfrm>
            <a:off x="6735470" y="1764792"/>
            <a:ext cx="1920240" cy="310896"/>
          </a:xfrm>
          <a:prstGeom prst="rect">
            <a:avLst/>
          </a:prstGeom>
          <a:noFill/>
          <a:ln/>
        </p:spPr>
        <p:txBody>
          <a:bodyPr wrap="square" lIns="0" tIns="0" rIns="0" bIns="0" rtlCol="0" anchor="ctr"/>
          <a:lstStyle/>
          <a:p>
            <a:pPr marL="0" indent="0">
              <a:buNone/>
            </a:pPr>
            <a:r>
              <a:rPr lang="en-US" sz="1250" b="1" dirty="0">
                <a:solidFill>
                  <a:srgbClr val="1B2140"/>
                </a:solidFill>
                <a:latin typeface="Calibri" pitchFamily="34" charset="0"/>
                <a:ea typeface="Calibri" pitchFamily="34" charset="-122"/>
                <a:cs typeface="Calibri" pitchFamily="34" charset="-120"/>
              </a:rPr>
              <a:t>Strip garam, netralkan</a:t>
            </a:r>
            <a:endParaRPr lang="en-US" sz="1250" dirty="0"/>
          </a:p>
        </p:txBody>
      </p:sp>
      <p:sp>
        <p:nvSpPr>
          <p:cNvPr id="22" name="Text 20"/>
          <p:cNvSpPr txBox="1"/>
          <p:nvPr/>
        </p:nvSpPr>
        <p:spPr>
          <a:xfrm>
            <a:off x="6387998" y="2103120"/>
            <a:ext cx="2249424" cy="457200"/>
          </a:xfrm>
          <a:prstGeom prst="rect">
            <a:avLst/>
          </a:prstGeom>
          <a:noFill/>
          <a:ln/>
        </p:spPr>
        <p:txBody>
          <a:bodyPr wrap="square" lIns="0" tIns="0" rIns="0" bIns="0" rtlCol="0" anchor="t"/>
          <a:lstStyle/>
          <a:p>
            <a:pPr marL="0" indent="0">
              <a:buNone/>
            </a:pPr>
            <a:r>
              <a:rPr lang="en-US" sz="1050" dirty="0">
                <a:solidFill>
                  <a:srgbClr val="5B6480"/>
                </a:solidFill>
                <a:latin typeface="Calibri" pitchFamily="34" charset="0"/>
                <a:ea typeface="Calibri" pitchFamily="34" charset="-122"/>
                <a:cs typeface="Calibri" pitchFamily="34" charset="-120"/>
              </a:rPr>
              <a:t>LargestFragmentChooser dan Uncharger</a:t>
            </a:r>
            <a:endParaRPr lang="en-US" sz="1050" dirty="0"/>
          </a:p>
        </p:txBody>
      </p:sp>
      <p:sp>
        <p:nvSpPr>
          <p:cNvPr id="23" name="Shape 21"/>
          <p:cNvSpPr/>
          <p:nvPr/>
        </p:nvSpPr>
        <p:spPr>
          <a:xfrm>
            <a:off x="8747150" y="2148840"/>
            <a:ext cx="395935" cy="0"/>
          </a:xfrm>
          <a:prstGeom prst="line">
            <a:avLst/>
          </a:prstGeom>
          <a:noFill/>
          <a:ln w="22225">
            <a:solidFill>
              <a:srgbClr val="3C71E8"/>
            </a:solidFill>
            <a:prstDash val="solid"/>
            <a:tailEnd type="triangle"/>
          </a:ln>
        </p:spPr>
        <p:txBody>
          <a:bodyPr/>
          <a:lstStyle/>
          <a:p>
            <a:endParaRPr/>
          </a:p>
        </p:txBody>
      </p:sp>
      <p:sp>
        <p:nvSpPr>
          <p:cNvPr id="24" name="Shape 22"/>
          <p:cNvSpPr/>
          <p:nvPr/>
        </p:nvSpPr>
        <p:spPr>
          <a:xfrm>
            <a:off x="9143086" y="1691640"/>
            <a:ext cx="2468880" cy="914400"/>
          </a:xfrm>
          <a:prstGeom prst="roundRect">
            <a:avLst>
              <a:gd name="adj" fmla="val 10000"/>
            </a:avLst>
          </a:prstGeom>
          <a:solidFill>
            <a:srgbClr val="E8EDFC"/>
          </a:solidFill>
          <a:ln w="12700">
            <a:solidFill>
              <a:srgbClr val="D7DFFA"/>
            </a:solidFill>
            <a:prstDash val="solid"/>
          </a:ln>
        </p:spPr>
        <p:txBody>
          <a:bodyPr/>
          <a:lstStyle/>
          <a:p>
            <a:endParaRPr/>
          </a:p>
        </p:txBody>
      </p:sp>
      <p:sp>
        <p:nvSpPr>
          <p:cNvPr id="25" name="Shape 23"/>
          <p:cNvSpPr/>
          <p:nvPr/>
        </p:nvSpPr>
        <p:spPr>
          <a:xfrm>
            <a:off x="9234526" y="1783080"/>
            <a:ext cx="274320" cy="274320"/>
          </a:xfrm>
          <a:prstGeom prst="ellipse">
            <a:avLst/>
          </a:prstGeom>
          <a:solidFill>
            <a:srgbClr val="3C71E8"/>
          </a:solidFill>
          <a:ln w="12700">
            <a:solidFill>
              <a:srgbClr val="3C71E8"/>
            </a:solidFill>
            <a:prstDash val="solid"/>
          </a:ln>
        </p:spPr>
        <p:txBody>
          <a:bodyPr/>
          <a:lstStyle/>
          <a:p>
            <a:endParaRPr/>
          </a:p>
        </p:txBody>
      </p:sp>
      <p:sp>
        <p:nvSpPr>
          <p:cNvPr id="26" name="Text 24"/>
          <p:cNvSpPr txBox="1"/>
          <p:nvPr/>
        </p:nvSpPr>
        <p:spPr>
          <a:xfrm>
            <a:off x="9234526" y="1783080"/>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7" name="Text 25"/>
          <p:cNvSpPr txBox="1"/>
          <p:nvPr/>
        </p:nvSpPr>
        <p:spPr>
          <a:xfrm>
            <a:off x="9600286" y="1764792"/>
            <a:ext cx="1920240" cy="310896"/>
          </a:xfrm>
          <a:prstGeom prst="rect">
            <a:avLst/>
          </a:prstGeom>
          <a:noFill/>
          <a:ln/>
        </p:spPr>
        <p:txBody>
          <a:bodyPr wrap="square" lIns="0" tIns="0" rIns="0" bIns="0" rtlCol="0" anchor="ctr"/>
          <a:lstStyle/>
          <a:p>
            <a:pPr marL="0" indent="0">
              <a:buNone/>
            </a:pPr>
            <a:r>
              <a:rPr lang="en-US" sz="1250" b="1" dirty="0">
                <a:solidFill>
                  <a:srgbClr val="1B2140"/>
                </a:solidFill>
                <a:latin typeface="Calibri" pitchFamily="34" charset="0"/>
                <a:ea typeface="Calibri" pitchFamily="34" charset="-122"/>
                <a:cs typeface="Calibri" pitchFamily="34" charset="-120"/>
              </a:rPr>
              <a:t>Tambah H</a:t>
            </a:r>
            <a:endParaRPr lang="en-US" sz="1250" dirty="0"/>
          </a:p>
        </p:txBody>
      </p:sp>
      <p:sp>
        <p:nvSpPr>
          <p:cNvPr id="28" name="Text 26"/>
          <p:cNvSpPr txBox="1"/>
          <p:nvPr/>
        </p:nvSpPr>
        <p:spPr>
          <a:xfrm>
            <a:off x="9252814" y="2103120"/>
            <a:ext cx="2249424" cy="457200"/>
          </a:xfrm>
          <a:prstGeom prst="rect">
            <a:avLst/>
          </a:prstGeom>
          <a:noFill/>
          <a:ln/>
        </p:spPr>
        <p:txBody>
          <a:bodyPr wrap="square" lIns="0" tIns="0" rIns="0" bIns="0" rtlCol="0" anchor="t"/>
          <a:lstStyle/>
          <a:p>
            <a:pPr marL="0" indent="0">
              <a:buNone/>
            </a:pPr>
            <a:r>
              <a:rPr lang="en-US" sz="1050" dirty="0">
                <a:solidFill>
                  <a:srgbClr val="5B6480"/>
                </a:solidFill>
                <a:latin typeface="Calibri" pitchFamily="34" charset="0"/>
                <a:ea typeface="Calibri" pitchFamily="34" charset="-122"/>
                <a:cs typeface="Calibri" pitchFamily="34" charset="-120"/>
              </a:rPr>
              <a:t>Chem.AddHs dengan koordinat</a:t>
            </a:r>
            <a:endParaRPr lang="en-US" sz="1050" dirty="0"/>
          </a:p>
        </p:txBody>
      </p:sp>
      <p:sp>
        <p:nvSpPr>
          <p:cNvPr id="29" name="Shape 27"/>
          <p:cNvSpPr/>
          <p:nvPr/>
        </p:nvSpPr>
        <p:spPr>
          <a:xfrm>
            <a:off x="9143086" y="2834640"/>
            <a:ext cx="2468880" cy="914400"/>
          </a:xfrm>
          <a:prstGeom prst="roundRect">
            <a:avLst>
              <a:gd name="adj" fmla="val 10000"/>
            </a:avLst>
          </a:prstGeom>
          <a:solidFill>
            <a:srgbClr val="E8EDFC"/>
          </a:solidFill>
          <a:ln w="12700">
            <a:solidFill>
              <a:srgbClr val="D7DFFA"/>
            </a:solidFill>
            <a:prstDash val="solid"/>
          </a:ln>
        </p:spPr>
        <p:txBody>
          <a:bodyPr/>
          <a:lstStyle/>
          <a:p>
            <a:endParaRPr/>
          </a:p>
        </p:txBody>
      </p:sp>
      <p:sp>
        <p:nvSpPr>
          <p:cNvPr id="30" name="Shape 28"/>
          <p:cNvSpPr/>
          <p:nvPr/>
        </p:nvSpPr>
        <p:spPr>
          <a:xfrm>
            <a:off x="9234526" y="2926080"/>
            <a:ext cx="274320" cy="274320"/>
          </a:xfrm>
          <a:prstGeom prst="ellipse">
            <a:avLst/>
          </a:prstGeom>
          <a:solidFill>
            <a:srgbClr val="3C71E8"/>
          </a:solidFill>
          <a:ln w="12700">
            <a:solidFill>
              <a:srgbClr val="3C71E8"/>
            </a:solidFill>
            <a:prstDash val="solid"/>
          </a:ln>
        </p:spPr>
        <p:txBody>
          <a:bodyPr/>
          <a:lstStyle/>
          <a:p>
            <a:endParaRPr/>
          </a:p>
        </p:txBody>
      </p:sp>
      <p:sp>
        <p:nvSpPr>
          <p:cNvPr id="31" name="Text 29"/>
          <p:cNvSpPr txBox="1"/>
          <p:nvPr/>
        </p:nvSpPr>
        <p:spPr>
          <a:xfrm>
            <a:off x="9234526" y="2926080"/>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32" name="Text 30"/>
          <p:cNvSpPr txBox="1"/>
          <p:nvPr/>
        </p:nvSpPr>
        <p:spPr>
          <a:xfrm>
            <a:off x="9600286" y="2907792"/>
            <a:ext cx="1920240" cy="310896"/>
          </a:xfrm>
          <a:prstGeom prst="rect">
            <a:avLst/>
          </a:prstGeom>
          <a:noFill/>
          <a:ln/>
        </p:spPr>
        <p:txBody>
          <a:bodyPr wrap="square" lIns="0" tIns="0" rIns="0" bIns="0" rtlCol="0" anchor="ctr"/>
          <a:lstStyle/>
          <a:p>
            <a:pPr marL="0" indent="0">
              <a:buNone/>
            </a:pPr>
            <a:r>
              <a:rPr lang="en-US" sz="1250" b="1" dirty="0">
                <a:solidFill>
                  <a:srgbClr val="1B2140"/>
                </a:solidFill>
                <a:latin typeface="Calibri" pitchFamily="34" charset="0"/>
                <a:ea typeface="Calibri" pitchFamily="34" charset="-122"/>
                <a:cs typeface="Calibri" pitchFamily="34" charset="-120"/>
              </a:rPr>
              <a:t>Embed 3D</a:t>
            </a:r>
            <a:endParaRPr lang="en-US" sz="1250" dirty="0"/>
          </a:p>
        </p:txBody>
      </p:sp>
      <p:sp>
        <p:nvSpPr>
          <p:cNvPr id="33" name="Text 31"/>
          <p:cNvSpPr txBox="1"/>
          <p:nvPr/>
        </p:nvSpPr>
        <p:spPr>
          <a:xfrm>
            <a:off x="9252814" y="3246120"/>
            <a:ext cx="2249424" cy="457200"/>
          </a:xfrm>
          <a:prstGeom prst="rect">
            <a:avLst/>
          </a:prstGeom>
          <a:noFill/>
          <a:ln/>
        </p:spPr>
        <p:txBody>
          <a:bodyPr wrap="square" lIns="0" tIns="0" rIns="0" bIns="0" rtlCol="0" anchor="t"/>
          <a:lstStyle/>
          <a:p>
            <a:pPr marL="0" indent="0">
              <a:buNone/>
            </a:pPr>
            <a:r>
              <a:rPr lang="en-US" sz="1050" dirty="0">
                <a:solidFill>
                  <a:srgbClr val="5B6480"/>
                </a:solidFill>
                <a:latin typeface="Calibri" pitchFamily="34" charset="0"/>
                <a:ea typeface="Calibri" pitchFamily="34" charset="-122"/>
                <a:cs typeface="Calibri" pitchFamily="34" charset="-120"/>
              </a:rPr>
              <a:t>ETKDGv3, lalu v2, lalu acak; seed 42</a:t>
            </a:r>
            <a:endParaRPr lang="en-US" sz="1050" dirty="0"/>
          </a:p>
        </p:txBody>
      </p:sp>
      <p:sp>
        <p:nvSpPr>
          <p:cNvPr id="34" name="Shape 32"/>
          <p:cNvSpPr/>
          <p:nvPr/>
        </p:nvSpPr>
        <p:spPr>
          <a:xfrm flipH="1">
            <a:off x="8747150" y="3291840"/>
            <a:ext cx="395935" cy="0"/>
          </a:xfrm>
          <a:prstGeom prst="line">
            <a:avLst/>
          </a:prstGeom>
          <a:noFill/>
          <a:ln w="22225">
            <a:solidFill>
              <a:srgbClr val="3C71E8"/>
            </a:solidFill>
            <a:prstDash val="solid"/>
            <a:tailEnd type="triangle"/>
          </a:ln>
        </p:spPr>
        <p:txBody>
          <a:bodyPr/>
          <a:lstStyle/>
          <a:p>
            <a:endParaRPr/>
          </a:p>
        </p:txBody>
      </p:sp>
      <p:sp>
        <p:nvSpPr>
          <p:cNvPr id="35" name="Shape 33"/>
          <p:cNvSpPr/>
          <p:nvPr/>
        </p:nvSpPr>
        <p:spPr>
          <a:xfrm>
            <a:off x="6278270" y="2834640"/>
            <a:ext cx="2468880" cy="914400"/>
          </a:xfrm>
          <a:prstGeom prst="roundRect">
            <a:avLst>
              <a:gd name="adj" fmla="val 10000"/>
            </a:avLst>
          </a:prstGeom>
          <a:solidFill>
            <a:srgbClr val="E8EDFC"/>
          </a:solidFill>
          <a:ln w="12700">
            <a:solidFill>
              <a:srgbClr val="D7DFFA"/>
            </a:solidFill>
            <a:prstDash val="solid"/>
          </a:ln>
        </p:spPr>
        <p:txBody>
          <a:bodyPr/>
          <a:lstStyle/>
          <a:p>
            <a:endParaRPr/>
          </a:p>
        </p:txBody>
      </p:sp>
      <p:sp>
        <p:nvSpPr>
          <p:cNvPr id="36" name="Shape 34"/>
          <p:cNvSpPr/>
          <p:nvPr/>
        </p:nvSpPr>
        <p:spPr>
          <a:xfrm>
            <a:off x="6369710" y="2926080"/>
            <a:ext cx="274320" cy="274320"/>
          </a:xfrm>
          <a:prstGeom prst="ellipse">
            <a:avLst/>
          </a:prstGeom>
          <a:solidFill>
            <a:srgbClr val="3C71E8"/>
          </a:solidFill>
          <a:ln w="12700">
            <a:solidFill>
              <a:srgbClr val="3C71E8"/>
            </a:solidFill>
            <a:prstDash val="solid"/>
          </a:ln>
        </p:spPr>
        <p:txBody>
          <a:bodyPr/>
          <a:lstStyle/>
          <a:p>
            <a:endParaRPr/>
          </a:p>
        </p:txBody>
      </p:sp>
      <p:sp>
        <p:nvSpPr>
          <p:cNvPr id="37" name="Text 35"/>
          <p:cNvSpPr txBox="1"/>
          <p:nvPr/>
        </p:nvSpPr>
        <p:spPr>
          <a:xfrm>
            <a:off x="6369710" y="2926080"/>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38" name="Text 36"/>
          <p:cNvSpPr txBox="1"/>
          <p:nvPr/>
        </p:nvSpPr>
        <p:spPr>
          <a:xfrm>
            <a:off x="6735470" y="2907792"/>
            <a:ext cx="1920240" cy="310896"/>
          </a:xfrm>
          <a:prstGeom prst="rect">
            <a:avLst/>
          </a:prstGeom>
          <a:noFill/>
          <a:ln/>
        </p:spPr>
        <p:txBody>
          <a:bodyPr wrap="square" lIns="0" tIns="0" rIns="0" bIns="0" rtlCol="0" anchor="ctr"/>
          <a:lstStyle/>
          <a:p>
            <a:pPr marL="0" indent="0">
              <a:buNone/>
            </a:pPr>
            <a:r>
              <a:rPr lang="en-US" sz="1250" b="1" dirty="0">
                <a:solidFill>
                  <a:srgbClr val="1B2140"/>
                </a:solidFill>
                <a:latin typeface="Calibri" pitchFamily="34" charset="0"/>
                <a:ea typeface="Calibri" pitchFamily="34" charset="-122"/>
                <a:cs typeface="Calibri" pitchFamily="34" charset="-120"/>
              </a:rPr>
              <a:t>Minimisasi</a:t>
            </a:r>
            <a:endParaRPr lang="en-US" sz="1250" dirty="0"/>
          </a:p>
        </p:txBody>
      </p:sp>
      <p:sp>
        <p:nvSpPr>
          <p:cNvPr id="39" name="Text 37"/>
          <p:cNvSpPr txBox="1"/>
          <p:nvPr/>
        </p:nvSpPr>
        <p:spPr>
          <a:xfrm>
            <a:off x="6387998" y="3246120"/>
            <a:ext cx="2249424" cy="457200"/>
          </a:xfrm>
          <a:prstGeom prst="rect">
            <a:avLst/>
          </a:prstGeom>
          <a:noFill/>
          <a:ln/>
        </p:spPr>
        <p:txBody>
          <a:bodyPr wrap="square" lIns="0" tIns="0" rIns="0" bIns="0" rtlCol="0" anchor="t"/>
          <a:lstStyle/>
          <a:p>
            <a:pPr marL="0" indent="0">
              <a:buNone/>
            </a:pPr>
            <a:r>
              <a:rPr lang="en-US" sz="1050" dirty="0">
                <a:solidFill>
                  <a:srgbClr val="5B6480"/>
                </a:solidFill>
                <a:latin typeface="Calibri" pitchFamily="34" charset="0"/>
                <a:ea typeface="Calibri" pitchFamily="34" charset="-122"/>
                <a:cs typeface="Calibri" pitchFamily="34" charset="-120"/>
              </a:rPr>
              <a:t>MMFF94, cadangan UFF, hingga 1000 iterasi</a:t>
            </a:r>
            <a:endParaRPr lang="en-US" sz="1050" dirty="0"/>
          </a:p>
        </p:txBody>
      </p:sp>
      <p:sp>
        <p:nvSpPr>
          <p:cNvPr id="40" name="Shape 38"/>
          <p:cNvSpPr/>
          <p:nvPr/>
        </p:nvSpPr>
        <p:spPr>
          <a:xfrm flipH="1">
            <a:off x="5882335" y="3291840"/>
            <a:ext cx="395935" cy="0"/>
          </a:xfrm>
          <a:prstGeom prst="line">
            <a:avLst/>
          </a:prstGeom>
          <a:noFill/>
          <a:ln w="22225">
            <a:solidFill>
              <a:srgbClr val="3C71E8"/>
            </a:solidFill>
            <a:prstDash val="solid"/>
            <a:tailEnd type="triangle"/>
          </a:ln>
        </p:spPr>
        <p:txBody>
          <a:bodyPr/>
          <a:lstStyle/>
          <a:p>
            <a:endParaRPr/>
          </a:p>
        </p:txBody>
      </p:sp>
      <p:sp>
        <p:nvSpPr>
          <p:cNvPr id="41" name="Shape 39"/>
          <p:cNvSpPr/>
          <p:nvPr/>
        </p:nvSpPr>
        <p:spPr>
          <a:xfrm>
            <a:off x="3413455" y="2834640"/>
            <a:ext cx="2468880" cy="914400"/>
          </a:xfrm>
          <a:prstGeom prst="roundRect">
            <a:avLst>
              <a:gd name="adj" fmla="val 10000"/>
            </a:avLst>
          </a:prstGeom>
          <a:solidFill>
            <a:srgbClr val="E8EDFC"/>
          </a:solidFill>
          <a:ln w="12700">
            <a:solidFill>
              <a:srgbClr val="D7DFFA"/>
            </a:solidFill>
            <a:prstDash val="solid"/>
          </a:ln>
        </p:spPr>
        <p:txBody>
          <a:bodyPr/>
          <a:lstStyle/>
          <a:p>
            <a:endParaRPr/>
          </a:p>
        </p:txBody>
      </p:sp>
      <p:sp>
        <p:nvSpPr>
          <p:cNvPr id="42" name="Shape 40"/>
          <p:cNvSpPr/>
          <p:nvPr/>
        </p:nvSpPr>
        <p:spPr>
          <a:xfrm>
            <a:off x="3504895" y="2926080"/>
            <a:ext cx="274320" cy="274320"/>
          </a:xfrm>
          <a:prstGeom prst="ellipse">
            <a:avLst/>
          </a:prstGeom>
          <a:solidFill>
            <a:srgbClr val="3C71E8"/>
          </a:solidFill>
          <a:ln w="12700">
            <a:solidFill>
              <a:srgbClr val="3C71E8"/>
            </a:solidFill>
            <a:prstDash val="solid"/>
          </a:ln>
        </p:spPr>
        <p:txBody>
          <a:bodyPr/>
          <a:lstStyle/>
          <a:p>
            <a:endParaRPr/>
          </a:p>
        </p:txBody>
      </p:sp>
      <p:sp>
        <p:nvSpPr>
          <p:cNvPr id="43" name="Text 41"/>
          <p:cNvSpPr txBox="1"/>
          <p:nvPr/>
        </p:nvSpPr>
        <p:spPr>
          <a:xfrm>
            <a:off x="3504895" y="2926080"/>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7</a:t>
            </a:r>
            <a:endParaRPr lang="en-US" sz="1050" dirty="0"/>
          </a:p>
        </p:txBody>
      </p:sp>
      <p:sp>
        <p:nvSpPr>
          <p:cNvPr id="44" name="Text 42"/>
          <p:cNvSpPr txBox="1"/>
          <p:nvPr/>
        </p:nvSpPr>
        <p:spPr>
          <a:xfrm>
            <a:off x="3870655" y="2907792"/>
            <a:ext cx="1920240" cy="310896"/>
          </a:xfrm>
          <a:prstGeom prst="rect">
            <a:avLst/>
          </a:prstGeom>
          <a:noFill/>
          <a:ln/>
        </p:spPr>
        <p:txBody>
          <a:bodyPr wrap="square" lIns="0" tIns="0" rIns="0" bIns="0" rtlCol="0" anchor="ctr"/>
          <a:lstStyle/>
          <a:p>
            <a:pPr marL="0" indent="0">
              <a:buNone/>
            </a:pPr>
            <a:r>
              <a:rPr lang="en-US" sz="1250" b="1" dirty="0">
                <a:solidFill>
                  <a:srgbClr val="1B2140"/>
                </a:solidFill>
                <a:latin typeface="Calibri" pitchFamily="34" charset="0"/>
                <a:ea typeface="Calibri" pitchFamily="34" charset="-122"/>
                <a:cs typeface="Calibri" pitchFamily="34" charset="-120"/>
              </a:rPr>
              <a:t>Tulis PDB</a:t>
            </a:r>
            <a:endParaRPr lang="en-US" sz="1250" dirty="0"/>
          </a:p>
        </p:txBody>
      </p:sp>
      <p:sp>
        <p:nvSpPr>
          <p:cNvPr id="45" name="Text 43"/>
          <p:cNvSpPr txBox="1"/>
          <p:nvPr/>
        </p:nvSpPr>
        <p:spPr>
          <a:xfrm>
            <a:off x="3523183" y="3246120"/>
            <a:ext cx="2249424" cy="457200"/>
          </a:xfrm>
          <a:prstGeom prst="rect">
            <a:avLst/>
          </a:prstGeom>
          <a:noFill/>
          <a:ln/>
        </p:spPr>
        <p:txBody>
          <a:bodyPr wrap="square" lIns="0" tIns="0" rIns="0" bIns="0" rtlCol="0" anchor="t"/>
          <a:lstStyle/>
          <a:p>
            <a:pPr marL="0" indent="0">
              <a:buNone/>
            </a:pPr>
            <a:r>
              <a:rPr lang="en-US" sz="1050" dirty="0">
                <a:solidFill>
                  <a:srgbClr val="5B6480"/>
                </a:solidFill>
                <a:latin typeface="Calibri" pitchFamily="34" charset="0"/>
                <a:ea typeface="Calibri" pitchFamily="34" charset="-122"/>
                <a:cs typeface="Calibri" pitchFamily="34" charset="-120"/>
              </a:rPr>
              <a:t>MolToPDBFile dari mol RDKit</a:t>
            </a:r>
            <a:endParaRPr lang="en-US" sz="1050" dirty="0"/>
          </a:p>
        </p:txBody>
      </p:sp>
      <p:sp>
        <p:nvSpPr>
          <p:cNvPr id="46" name="Shape 44"/>
          <p:cNvSpPr/>
          <p:nvPr/>
        </p:nvSpPr>
        <p:spPr>
          <a:xfrm flipH="1">
            <a:off x="3017520" y="3291840"/>
            <a:ext cx="395935" cy="0"/>
          </a:xfrm>
          <a:prstGeom prst="line">
            <a:avLst/>
          </a:prstGeom>
          <a:noFill/>
          <a:ln w="22225">
            <a:solidFill>
              <a:srgbClr val="3C71E8"/>
            </a:solidFill>
            <a:prstDash val="solid"/>
            <a:tailEnd type="triangle"/>
          </a:ln>
        </p:spPr>
        <p:txBody>
          <a:bodyPr/>
          <a:lstStyle/>
          <a:p>
            <a:endParaRPr/>
          </a:p>
        </p:txBody>
      </p:sp>
      <p:sp>
        <p:nvSpPr>
          <p:cNvPr id="47" name="Shape 45"/>
          <p:cNvSpPr/>
          <p:nvPr/>
        </p:nvSpPr>
        <p:spPr>
          <a:xfrm>
            <a:off x="548640" y="2834640"/>
            <a:ext cx="2468880" cy="914400"/>
          </a:xfrm>
          <a:prstGeom prst="roundRect">
            <a:avLst>
              <a:gd name="adj" fmla="val 10000"/>
            </a:avLst>
          </a:prstGeom>
          <a:solidFill>
            <a:srgbClr val="EDE7FC"/>
          </a:solidFill>
          <a:ln w="12700">
            <a:solidFill>
              <a:srgbClr val="8E70EB"/>
            </a:solidFill>
            <a:prstDash val="solid"/>
          </a:ln>
        </p:spPr>
        <p:txBody>
          <a:bodyPr/>
          <a:lstStyle/>
          <a:p>
            <a:endParaRPr/>
          </a:p>
        </p:txBody>
      </p:sp>
      <p:sp>
        <p:nvSpPr>
          <p:cNvPr id="48" name="Shape 46"/>
          <p:cNvSpPr/>
          <p:nvPr/>
        </p:nvSpPr>
        <p:spPr>
          <a:xfrm>
            <a:off x="640080" y="2926080"/>
            <a:ext cx="274320" cy="274320"/>
          </a:xfrm>
          <a:prstGeom prst="ellipse">
            <a:avLst/>
          </a:prstGeom>
          <a:solidFill>
            <a:srgbClr val="8E70EB"/>
          </a:solidFill>
          <a:ln w="12700">
            <a:solidFill>
              <a:srgbClr val="8E70EB"/>
            </a:solidFill>
            <a:prstDash val="solid"/>
          </a:ln>
        </p:spPr>
        <p:txBody>
          <a:bodyPr/>
          <a:lstStyle/>
          <a:p>
            <a:endParaRPr/>
          </a:p>
        </p:txBody>
      </p:sp>
      <p:sp>
        <p:nvSpPr>
          <p:cNvPr id="49" name="Text 47"/>
          <p:cNvSpPr txBox="1"/>
          <p:nvPr/>
        </p:nvSpPr>
        <p:spPr>
          <a:xfrm>
            <a:off x="640080" y="2926080"/>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8</a:t>
            </a:r>
            <a:endParaRPr lang="en-US" sz="1050" dirty="0"/>
          </a:p>
        </p:txBody>
      </p:sp>
      <p:sp>
        <p:nvSpPr>
          <p:cNvPr id="50" name="Text 48"/>
          <p:cNvSpPr txBox="1"/>
          <p:nvPr/>
        </p:nvSpPr>
        <p:spPr>
          <a:xfrm>
            <a:off x="1005840" y="2907792"/>
            <a:ext cx="1920240" cy="310896"/>
          </a:xfrm>
          <a:prstGeom prst="rect">
            <a:avLst/>
          </a:prstGeom>
          <a:noFill/>
          <a:ln/>
        </p:spPr>
        <p:txBody>
          <a:bodyPr wrap="square" lIns="0" tIns="0" rIns="0" bIns="0" rtlCol="0" anchor="ctr"/>
          <a:lstStyle/>
          <a:p>
            <a:pPr marL="0" indent="0">
              <a:buNone/>
            </a:pPr>
            <a:r>
              <a:rPr lang="en-US" sz="1250" b="1" dirty="0">
                <a:solidFill>
                  <a:srgbClr val="1B2140"/>
                </a:solidFill>
                <a:latin typeface="Calibri" pitchFamily="34" charset="0"/>
                <a:ea typeface="Calibri" pitchFamily="34" charset="-122"/>
                <a:cs typeface="Calibri" pitchFamily="34" charset="-120"/>
              </a:rPr>
              <a:t>OpenBabel ke PDBQT</a:t>
            </a:r>
            <a:endParaRPr lang="en-US" sz="1250" dirty="0"/>
          </a:p>
        </p:txBody>
      </p:sp>
      <p:sp>
        <p:nvSpPr>
          <p:cNvPr id="51" name="Text 49"/>
          <p:cNvSpPr txBox="1"/>
          <p:nvPr/>
        </p:nvSpPr>
        <p:spPr>
          <a:xfrm>
            <a:off x="658368" y="3246120"/>
            <a:ext cx="2249424" cy="457200"/>
          </a:xfrm>
          <a:prstGeom prst="rect">
            <a:avLst/>
          </a:prstGeom>
          <a:noFill/>
          <a:ln/>
        </p:spPr>
        <p:txBody>
          <a:bodyPr wrap="square" lIns="0" tIns="0" rIns="0" bIns="0" rtlCol="0" anchor="t"/>
          <a:lstStyle/>
          <a:p>
            <a:pPr marL="0" indent="0">
              <a:buNone/>
            </a:pPr>
            <a:r>
              <a:rPr lang="en-US" sz="1050" dirty="0">
                <a:solidFill>
                  <a:srgbClr val="5B6480"/>
                </a:solidFill>
                <a:latin typeface="Calibri" pitchFamily="34" charset="0"/>
                <a:ea typeface="Calibri" pitchFamily="34" charset="-122"/>
                <a:cs typeface="Calibri" pitchFamily="34" charset="-120"/>
              </a:rPr>
              <a:t>obabel -h --partialcharge gasteiger; pohon torsi; ukuran dicek</a:t>
            </a:r>
            <a:endParaRPr lang="en-US" sz="1050" dirty="0"/>
          </a:p>
        </p:txBody>
      </p:sp>
      <p:sp>
        <p:nvSpPr>
          <p:cNvPr id="52" name="Shape 50"/>
          <p:cNvSpPr/>
          <p:nvPr/>
        </p:nvSpPr>
        <p:spPr>
          <a:xfrm>
            <a:off x="10377526" y="2606040"/>
            <a:ext cx="0" cy="228600"/>
          </a:xfrm>
          <a:prstGeom prst="line">
            <a:avLst/>
          </a:prstGeom>
          <a:noFill/>
          <a:ln w="22225">
            <a:solidFill>
              <a:srgbClr val="3C71E8"/>
            </a:solidFill>
            <a:prstDash val="solid"/>
            <a:tailEnd type="triangle"/>
          </a:ln>
        </p:spPr>
        <p:txBody>
          <a:bodyPr/>
          <a:lstStyle/>
          <a:p>
            <a:endParaRPr/>
          </a:p>
        </p:txBody>
      </p:sp>
      <p:sp>
        <p:nvSpPr>
          <p:cNvPr id="53" name="Text 51"/>
          <p:cNvSpPr txBox="1"/>
          <p:nvPr/>
        </p:nvSpPr>
        <p:spPr>
          <a:xfrm>
            <a:off x="548640" y="4023360"/>
            <a:ext cx="6400800" cy="1874520"/>
          </a:xfrm>
          <a:prstGeom prst="roundRect">
            <a:avLst>
              <a:gd name="adj" fmla="val 4878"/>
            </a:avLst>
          </a:prstGeom>
          <a:solidFill>
            <a:srgbClr val="0E1533"/>
          </a:solidFill>
          <a:ln/>
        </p:spPr>
        <p:txBody>
          <a:bodyPr wrap="square" lIns="127000" tIns="127000" rIns="127000" bIns="127000" rtlCol="0" anchor="t"/>
          <a:lstStyle/>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for factory in (AllChem.ETKDGv3, AllChem.ETKDGv2):</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    params = factory()</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    params.randomSeed = 42</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    if AllChem.EmbedMolecule(mol, params) == 0:</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        break</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props = AllChem.MMFFGetMoleculeProperties(mol)</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ff = AllChem.MMFFGetMoleculeForceField(mol, props)</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ff.Minimize(maxIts=1000)   # cadangan: UFFGetMoleculeForceField</a:t>
            </a:r>
            <a:endParaRPr lang="en-US" sz="1100" dirty="0"/>
          </a:p>
        </p:txBody>
      </p:sp>
      <p:sp>
        <p:nvSpPr>
          <p:cNvPr id="54" name="Text 52"/>
          <p:cNvSpPr txBox="1"/>
          <p:nvPr/>
        </p:nvSpPr>
        <p:spPr>
          <a:xfrm>
            <a:off x="548640" y="5943600"/>
            <a:ext cx="6400800" cy="365760"/>
          </a:xfrm>
          <a:prstGeom prst="rect">
            <a:avLst/>
          </a:prstGeom>
          <a:noFill/>
          <a:ln/>
        </p:spPr>
        <p:txBody>
          <a:bodyPr wrap="square" lIns="0" tIns="0" rIns="0" bIns="0" rtlCol="0" anchor="t"/>
          <a:lstStyle/>
          <a:p>
            <a:pPr marL="0" indent="0" algn="l">
              <a:buNone/>
            </a:pPr>
            <a:r>
              <a:rPr lang="en-US" sz="1000" dirty="0">
                <a:solidFill>
                  <a:srgbClr val="5B6480"/>
                </a:solidFill>
                <a:latin typeface="Calibri" pitchFamily="34" charset="0"/>
                <a:ea typeface="Calibri" pitchFamily="34" charset="-122"/>
                <a:cs typeface="Calibri" pitchFamily="34" charset="-120"/>
              </a:rPr>
              <a:t>ligand_preparer.py:155-195 (disederhanakan)</a:t>
            </a:r>
            <a:endParaRPr lang="en-US" sz="1000" dirty="0"/>
          </a:p>
        </p:txBody>
      </p:sp>
      <p:sp>
        <p:nvSpPr>
          <p:cNvPr id="57" name="Shape 55"/>
          <p:cNvSpPr/>
          <p:nvPr/>
        </p:nvSpPr>
        <p:spPr>
          <a:xfrm>
            <a:off x="7300570" y="4027632"/>
            <a:ext cx="4416552" cy="1888536"/>
          </a:xfrm>
          <a:prstGeom prst="roundRect">
            <a:avLst>
              <a:gd name="adj" fmla="val 8000"/>
            </a:avLst>
          </a:prstGeom>
          <a:solidFill>
            <a:srgbClr val="E8EDFC"/>
          </a:solidFill>
          <a:ln w="15875">
            <a:solidFill>
              <a:srgbClr val="3C71E8"/>
            </a:solidFill>
            <a:prstDash val="solid"/>
          </a:ln>
        </p:spPr>
        <p:txBody>
          <a:bodyPr/>
          <a:lstStyle/>
          <a:p>
            <a:endParaRPr/>
          </a:p>
        </p:txBody>
      </p:sp>
      <p:sp>
        <p:nvSpPr>
          <p:cNvPr id="58" name="Text 56"/>
          <p:cNvSpPr txBox="1"/>
          <p:nvPr/>
        </p:nvSpPr>
        <p:spPr>
          <a:xfrm>
            <a:off x="7465162" y="4119072"/>
            <a:ext cx="4087368" cy="1586370"/>
          </a:xfrm>
          <a:prstGeom prst="rect">
            <a:avLst/>
          </a:prstGeom>
          <a:noFill/>
          <a:ln/>
        </p:spPr>
        <p:txBody>
          <a:bodyPr wrap="square" lIns="0" tIns="0" rIns="0" bIns="0" rtlCol="0" anchor="t"/>
          <a:lstStyle/>
          <a:p>
            <a:pPr marL="0" indent="0">
              <a:spcAft>
                <a:spcPts val="300"/>
              </a:spcAft>
              <a:buNone/>
            </a:pPr>
            <a:r>
              <a:rPr lang="en-US" sz="2000" b="1" dirty="0">
                <a:solidFill>
                  <a:srgbClr val="1B2140"/>
                </a:solidFill>
                <a:latin typeface="Calibri" pitchFamily="34" charset="0"/>
                <a:ea typeface="Calibri" pitchFamily="34" charset="-122"/>
                <a:cs typeface="Calibri" pitchFamily="34" charset="-120"/>
              </a:rPr>
              <a:t>Muatan pada PDBQT ligan</a:t>
            </a:r>
            <a:endParaRPr lang="en-US" sz="2000" dirty="0"/>
          </a:p>
          <a:p>
            <a:pPr marL="0" indent="0" algn="just">
              <a:spcAft>
                <a:spcPts val="300"/>
              </a:spcAft>
              <a:buNone/>
            </a:pPr>
            <a:r>
              <a:rPr lang="en-US" sz="1600" dirty="0">
                <a:solidFill>
                  <a:srgbClr val="1B2140"/>
                </a:solidFill>
                <a:latin typeface="Calibri" pitchFamily="34" charset="0"/>
                <a:ea typeface="Calibri" pitchFamily="34" charset="-122"/>
                <a:cs typeface="Calibri" pitchFamily="34" charset="-120"/>
              </a:rPr>
              <a:t>Muatan Gasteiger dihitung OpenBabel saat konversi (--partialcharge gasteiger). Run demonstrasi memakai versi lama (muatan 0,000); pada uji ulang skor dan pose Vina identik.</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2029968"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C · PIPELINE IN SILICO</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Preparasi reseptor: satu struktur, dua keluaran terpisah</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12</a:t>
            </a:r>
            <a:endParaRPr lang="en-US" sz="1000" dirty="0"/>
          </a:p>
        </p:txBody>
      </p:sp>
      <p:sp>
        <p:nvSpPr>
          <p:cNvPr id="6" name="Shape 4"/>
          <p:cNvSpPr/>
          <p:nvPr/>
        </p:nvSpPr>
        <p:spPr>
          <a:xfrm>
            <a:off x="548640" y="1691640"/>
            <a:ext cx="3291840" cy="868680"/>
          </a:xfrm>
          <a:prstGeom prst="roundRect">
            <a:avLst>
              <a:gd name="adj" fmla="val 10526"/>
            </a:avLst>
          </a:prstGeom>
          <a:solidFill>
            <a:srgbClr val="E8EDFC"/>
          </a:solidFill>
          <a:ln w="12700">
            <a:solidFill>
              <a:srgbClr val="D7DFFA"/>
            </a:solidFill>
            <a:prstDash val="solid"/>
          </a:ln>
        </p:spPr>
        <p:txBody>
          <a:bodyPr/>
          <a:p/>
        </p:txBody>
      </p:sp>
      <p:sp>
        <p:nvSpPr>
          <p:cNvPr id="7" name="Shape 5"/>
          <p:cNvSpPr/>
          <p:nvPr/>
        </p:nvSpPr>
        <p:spPr>
          <a:xfrm>
            <a:off x="640080" y="1783080"/>
            <a:ext cx="274320" cy="274320"/>
          </a:xfrm>
          <a:prstGeom prst="ellipse">
            <a:avLst/>
          </a:prstGeom>
          <a:solidFill>
            <a:srgbClr val="3C71E8"/>
          </a:solidFill>
          <a:ln w="12700">
            <a:solidFill>
              <a:srgbClr val="3C71E8"/>
            </a:solidFill>
            <a:prstDash val="solid"/>
          </a:ln>
        </p:spPr>
        <p:txBody>
          <a:bodyPr/>
          <a:p/>
        </p:txBody>
      </p:sp>
      <p:sp>
        <p:nvSpPr>
          <p:cNvPr id="8" name="Text 6"/>
          <p:cNvSpPr txBox="1"/>
          <p:nvPr/>
        </p:nvSpPr>
        <p:spPr>
          <a:xfrm>
            <a:off x="640080" y="1783080"/>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9" name="Text 7"/>
          <p:cNvSpPr txBox="1"/>
          <p:nvPr/>
        </p:nvSpPr>
        <p:spPr>
          <a:xfrm>
            <a:off x="1005840" y="1764792"/>
            <a:ext cx="2743200" cy="310896"/>
          </a:xfrm>
          <a:prstGeom prst="rect">
            <a:avLst/>
          </a:prstGeom>
          <a:noFill/>
          <a:ln/>
        </p:spPr>
        <p:txBody>
          <a:bodyPr wrap="square" lIns="0" tIns="0" rIns="0" bIns="0" rtlCol="0" anchor="ctr"/>
          <a:lstStyle/>
          <a:p>
            <a:pPr marL="0" indent="0">
              <a:buNone/>
            </a:pPr>
            <a:r>
              <a:rPr lang="en-US" sz="1250" b="1" dirty="0">
                <a:solidFill>
                  <a:srgbClr val="1B2140"/>
                </a:solidFill>
                <a:latin typeface="Calibri" pitchFamily="34" charset="0"/>
                <a:ea typeface="Calibri" pitchFamily="34" charset="-122"/>
                <a:cs typeface="Calibri" pitchFamily="34" charset="-120"/>
              </a:rPr>
              <a:t>RCSB .pdb</a:t>
            </a:r>
            <a:endParaRPr lang="en-US" sz="1250" dirty="0"/>
          </a:p>
        </p:txBody>
      </p:sp>
      <p:sp>
        <p:nvSpPr>
          <p:cNvPr id="10" name="Text 8"/>
          <p:cNvSpPr txBox="1"/>
          <p:nvPr/>
        </p:nvSpPr>
        <p:spPr>
          <a:xfrm>
            <a:off x="658368" y="2103120"/>
            <a:ext cx="3072384" cy="411480"/>
          </a:xfrm>
          <a:prstGeom prst="rect">
            <a:avLst/>
          </a:prstGeom>
          <a:noFill/>
          <a:ln/>
        </p:spPr>
        <p:txBody>
          <a:bodyPr wrap="square" lIns="0" tIns="0" rIns="0" bIns="0" rtlCol="0" anchor="t"/>
          <a:lstStyle/>
          <a:p>
            <a:pPr marL="0" indent="0">
              <a:buNone/>
            </a:pPr>
            <a:r>
              <a:rPr lang="en-US" sz="1050" dirty="0">
                <a:solidFill>
                  <a:srgbClr val="5B6480"/>
                </a:solidFill>
                <a:latin typeface="Calibri" pitchFamily="34" charset="0"/>
                <a:ea typeface="Calibri" pitchFamily="34" charset="-122"/>
                <a:cs typeface="Calibri" pitchFamily="34" charset="-120"/>
              </a:rPr>
              <a:t>Diunduh dan di-cache. Format PDB saja, bukan mmCIF</a:t>
            </a:r>
            <a:endParaRPr lang="en-US" sz="1050" dirty="0"/>
          </a:p>
        </p:txBody>
      </p:sp>
      <p:sp>
        <p:nvSpPr>
          <p:cNvPr id="11" name="Shape 9"/>
          <p:cNvSpPr/>
          <p:nvPr/>
        </p:nvSpPr>
        <p:spPr>
          <a:xfrm>
            <a:off x="3840480" y="2121408"/>
            <a:ext cx="594360" cy="0"/>
          </a:xfrm>
          <a:prstGeom prst="line">
            <a:avLst/>
          </a:prstGeom>
          <a:noFill/>
          <a:ln w="22225">
            <a:solidFill>
              <a:srgbClr val="3C71E8"/>
            </a:solidFill>
            <a:prstDash val="solid"/>
            <a:tailEnd type="triangle"/>
          </a:ln>
        </p:spPr>
        <p:txBody>
          <a:bodyPr/>
          <a:p/>
        </p:txBody>
      </p:sp>
      <p:sp>
        <p:nvSpPr>
          <p:cNvPr id="12" name="Shape 10"/>
          <p:cNvSpPr/>
          <p:nvPr/>
        </p:nvSpPr>
        <p:spPr>
          <a:xfrm>
            <a:off x="4434840" y="1691640"/>
            <a:ext cx="3291840" cy="868680"/>
          </a:xfrm>
          <a:prstGeom prst="roundRect">
            <a:avLst>
              <a:gd name="adj" fmla="val 10526"/>
            </a:avLst>
          </a:prstGeom>
          <a:solidFill>
            <a:srgbClr val="E8EDFC"/>
          </a:solidFill>
          <a:ln w="12700">
            <a:solidFill>
              <a:srgbClr val="D7DFFA"/>
            </a:solidFill>
            <a:prstDash val="solid"/>
          </a:ln>
        </p:spPr>
        <p:txBody>
          <a:bodyPr/>
          <a:p/>
        </p:txBody>
      </p:sp>
      <p:sp>
        <p:nvSpPr>
          <p:cNvPr id="13" name="Shape 11"/>
          <p:cNvSpPr/>
          <p:nvPr/>
        </p:nvSpPr>
        <p:spPr>
          <a:xfrm>
            <a:off x="4526280" y="1783080"/>
            <a:ext cx="274320" cy="274320"/>
          </a:xfrm>
          <a:prstGeom prst="ellipse">
            <a:avLst/>
          </a:prstGeom>
          <a:solidFill>
            <a:srgbClr val="3C71E8"/>
          </a:solidFill>
          <a:ln w="12700">
            <a:solidFill>
              <a:srgbClr val="3C71E8"/>
            </a:solidFill>
            <a:prstDash val="solid"/>
          </a:ln>
        </p:spPr>
        <p:txBody>
          <a:bodyPr/>
          <a:p/>
        </p:txBody>
      </p:sp>
      <p:sp>
        <p:nvSpPr>
          <p:cNvPr id="14" name="Text 12"/>
          <p:cNvSpPr txBox="1"/>
          <p:nvPr/>
        </p:nvSpPr>
        <p:spPr>
          <a:xfrm>
            <a:off x="4526280" y="1783080"/>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5" name="Text 13"/>
          <p:cNvSpPr txBox="1"/>
          <p:nvPr/>
        </p:nvSpPr>
        <p:spPr>
          <a:xfrm>
            <a:off x="4892040" y="1764792"/>
            <a:ext cx="2743200" cy="310896"/>
          </a:xfrm>
          <a:prstGeom prst="rect">
            <a:avLst/>
          </a:prstGeom>
          <a:noFill/>
          <a:ln/>
        </p:spPr>
        <p:txBody>
          <a:bodyPr wrap="square" lIns="0" tIns="0" rIns="0" bIns="0" rtlCol="0" anchor="ctr"/>
          <a:lstStyle/>
          <a:p>
            <a:pPr marL="0" indent="0">
              <a:buNone/>
            </a:pPr>
            <a:r>
              <a:rPr lang="en-US" sz="1250" b="1" dirty="0">
                <a:solidFill>
                  <a:srgbClr val="1B2140"/>
                </a:solidFill>
                <a:latin typeface="Calibri" pitchFamily="34" charset="0"/>
                <a:ea typeface="Calibri" pitchFamily="34" charset="-122"/>
                <a:cs typeface="Calibri" pitchFamily="34" charset="-120"/>
              </a:rPr>
              <a:t>Muat RDKit</a:t>
            </a:r>
            <a:endParaRPr lang="en-US" sz="1250" dirty="0"/>
          </a:p>
        </p:txBody>
      </p:sp>
      <p:sp>
        <p:nvSpPr>
          <p:cNvPr id="16" name="Text 14"/>
          <p:cNvSpPr txBox="1"/>
          <p:nvPr/>
        </p:nvSpPr>
        <p:spPr>
          <a:xfrm>
            <a:off x="4544568" y="2103120"/>
            <a:ext cx="3072384" cy="411480"/>
          </a:xfrm>
          <a:prstGeom prst="rect">
            <a:avLst/>
          </a:prstGeom>
          <a:noFill/>
          <a:ln/>
        </p:spPr>
        <p:txBody>
          <a:bodyPr wrap="square" lIns="0" tIns="0" rIns="0" bIns="0" rtlCol="0" anchor="t"/>
          <a:lstStyle/>
          <a:p>
            <a:pPr marL="0" indent="0">
              <a:buNone/>
            </a:pPr>
            <a:r>
              <a:rPr lang="en-US" sz="1050" dirty="0">
                <a:solidFill>
                  <a:srgbClr val="5B6480"/>
                </a:solidFill>
                <a:latin typeface="Calibri" pitchFamily="34" charset="0"/>
                <a:ea typeface="Calibri" pitchFamily="34" charset="-122"/>
                <a:cs typeface="Calibri" pitchFamily="34" charset="-120"/>
              </a:rPr>
              <a:t>proximityBonding, sanitasi tidak fatal</a:t>
            </a:r>
            <a:endParaRPr lang="en-US" sz="1050" dirty="0"/>
          </a:p>
        </p:txBody>
      </p:sp>
      <p:sp>
        <p:nvSpPr>
          <p:cNvPr id="17" name="Shape 15"/>
          <p:cNvSpPr/>
          <p:nvPr/>
        </p:nvSpPr>
        <p:spPr>
          <a:xfrm>
            <a:off x="7726680" y="2121408"/>
            <a:ext cx="594360" cy="0"/>
          </a:xfrm>
          <a:prstGeom prst="line">
            <a:avLst/>
          </a:prstGeom>
          <a:noFill/>
          <a:ln w="22225">
            <a:solidFill>
              <a:srgbClr val="3C71E8"/>
            </a:solidFill>
            <a:prstDash val="solid"/>
            <a:tailEnd type="triangle"/>
          </a:ln>
        </p:spPr>
        <p:txBody>
          <a:bodyPr/>
          <a:p/>
        </p:txBody>
      </p:sp>
      <p:sp>
        <p:nvSpPr>
          <p:cNvPr id="18" name="Shape 16"/>
          <p:cNvSpPr/>
          <p:nvPr/>
        </p:nvSpPr>
        <p:spPr>
          <a:xfrm>
            <a:off x="8321040" y="1691640"/>
            <a:ext cx="3291840" cy="868680"/>
          </a:xfrm>
          <a:prstGeom prst="roundRect">
            <a:avLst>
              <a:gd name="adj" fmla="val 10526"/>
            </a:avLst>
          </a:prstGeom>
          <a:solidFill>
            <a:srgbClr val="E8EDFC"/>
          </a:solidFill>
          <a:ln w="12700">
            <a:solidFill>
              <a:srgbClr val="D7DFFA"/>
            </a:solidFill>
            <a:prstDash val="solid"/>
          </a:ln>
        </p:spPr>
        <p:txBody>
          <a:bodyPr/>
          <a:p/>
        </p:txBody>
      </p:sp>
      <p:sp>
        <p:nvSpPr>
          <p:cNvPr id="19" name="Shape 17"/>
          <p:cNvSpPr/>
          <p:nvPr/>
        </p:nvSpPr>
        <p:spPr>
          <a:xfrm>
            <a:off x="8412480" y="1783080"/>
            <a:ext cx="274320" cy="274320"/>
          </a:xfrm>
          <a:prstGeom prst="ellipse">
            <a:avLst/>
          </a:prstGeom>
          <a:solidFill>
            <a:srgbClr val="3C71E8"/>
          </a:solidFill>
          <a:ln w="12700">
            <a:solidFill>
              <a:srgbClr val="3C71E8"/>
            </a:solidFill>
            <a:prstDash val="solid"/>
          </a:ln>
        </p:spPr>
        <p:txBody>
          <a:bodyPr/>
          <a:p/>
        </p:txBody>
      </p:sp>
      <p:sp>
        <p:nvSpPr>
          <p:cNvPr id="20" name="Text 18"/>
          <p:cNvSpPr txBox="1"/>
          <p:nvPr/>
        </p:nvSpPr>
        <p:spPr>
          <a:xfrm>
            <a:off x="8412480" y="1783080"/>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1" name="Text 19"/>
          <p:cNvSpPr txBox="1"/>
          <p:nvPr/>
        </p:nvSpPr>
        <p:spPr>
          <a:xfrm>
            <a:off x="8778240" y="1764792"/>
            <a:ext cx="2743200" cy="310896"/>
          </a:xfrm>
          <a:prstGeom prst="rect">
            <a:avLst/>
          </a:prstGeom>
          <a:noFill/>
          <a:ln/>
        </p:spPr>
        <p:txBody>
          <a:bodyPr wrap="square" lIns="0" tIns="0" rIns="0" bIns="0" rtlCol="0" anchor="ctr"/>
          <a:lstStyle/>
          <a:p>
            <a:pPr marL="0" indent="0">
              <a:buNone/>
            </a:pPr>
            <a:r>
              <a:rPr lang="en-US" sz="1250" b="1" dirty="0">
                <a:solidFill>
                  <a:srgbClr val="1B2140"/>
                </a:solidFill>
                <a:latin typeface="Calibri" pitchFamily="34" charset="0"/>
                <a:ea typeface="Calibri" pitchFamily="34" charset="-122"/>
                <a:cs typeface="Calibri" pitchFamily="34" charset="-120"/>
              </a:rPr>
              <a:t>Bersihkan</a:t>
            </a:r>
            <a:endParaRPr lang="en-US" sz="1250" dirty="0"/>
          </a:p>
        </p:txBody>
      </p:sp>
      <p:sp>
        <p:nvSpPr>
          <p:cNvPr id="22" name="Text 20"/>
          <p:cNvSpPr txBox="1"/>
          <p:nvPr/>
        </p:nvSpPr>
        <p:spPr>
          <a:xfrm>
            <a:off x="8430768" y="2103120"/>
            <a:ext cx="3072384" cy="411480"/>
          </a:xfrm>
          <a:prstGeom prst="rect">
            <a:avLst/>
          </a:prstGeom>
          <a:noFill/>
          <a:ln/>
        </p:spPr>
        <p:txBody>
          <a:bodyPr wrap="square" lIns="0" tIns="0" rIns="0" bIns="0" rtlCol="0" anchor="t"/>
          <a:lstStyle/>
          <a:p>
            <a:pPr marL="0" indent="0">
              <a:buNone/>
            </a:pPr>
            <a:r>
              <a:rPr lang="en-US" sz="1050" dirty="0">
                <a:solidFill>
                  <a:srgbClr val="5B6480"/>
                </a:solidFill>
                <a:latin typeface="Calibri" pitchFamily="34" charset="0"/>
                <a:ea typeface="Calibri" pitchFamily="34" charset="-122"/>
                <a:cs typeface="Calibri" pitchFamily="34" charset="-120"/>
              </a:rPr>
              <a:t>Air dibuang; HETATM dibuang kecuali logam dan residu backbone lengkap</a:t>
            </a:r>
            <a:endParaRPr lang="en-US" sz="1050" dirty="0"/>
          </a:p>
        </p:txBody>
      </p:sp>
      <p:sp>
        <p:nvSpPr>
          <p:cNvPr id="23" name="Text 21"/>
          <p:cNvSpPr txBox="1"/>
          <p:nvPr/>
        </p:nvSpPr>
        <p:spPr>
          <a:xfrm>
            <a:off x="548640" y="2670048"/>
            <a:ext cx="11064240" cy="457200"/>
          </a:xfrm>
          <a:prstGeom prst="rect">
            <a:avLst/>
          </a:prstGeom>
          <a:noFill/>
          <a:ln/>
        </p:spPr>
        <p:txBody>
          <a:bodyPr wrap="square" lIns="0" tIns="0" rIns="0" bIns="0" rtlCol="0" anchor="t"/>
          <a:lstStyle/>
          <a:p>
            <a:pPr marL="0" indent="0">
              <a:buNone/>
            </a:pPr>
            <a:r>
              <a:rPr lang="en-US" sz="1150" dirty="0">
                <a:solidFill>
                  <a:srgbClr val="5B6480"/>
                </a:solidFill>
                <a:latin typeface="Calibri" pitchFamily="34" charset="0"/>
                <a:ea typeface="Calibri" pitchFamily="34" charset="-122"/>
                <a:cs typeface="Calibri" pitchFamily="34" charset="-120"/>
              </a:rPr>
              <a:t>Logam dipertahankan: ZN, MG, FE, MN, CU, CO, NI, CA, NA, K, CD, HG. Residu HETATM dengan atom N, CA, C lengkap (mis. MSE) dianggap bagian protein.</a:t>
            </a:r>
            <a:endParaRPr lang="en-US" sz="1150" dirty="0"/>
          </a:p>
        </p:txBody>
      </p:sp>
      <p:sp>
        <p:nvSpPr>
          <p:cNvPr id="24" name="Shape 22"/>
          <p:cNvSpPr/>
          <p:nvPr/>
        </p:nvSpPr>
        <p:spPr>
          <a:xfrm>
            <a:off x="548640" y="3200400"/>
            <a:ext cx="5440680" cy="2286000"/>
          </a:xfrm>
          <a:prstGeom prst="roundRect">
            <a:avLst>
              <a:gd name="adj" fmla="val 4800"/>
            </a:avLst>
          </a:prstGeom>
          <a:solidFill>
            <a:srgbClr val="E8EDFC"/>
          </a:solidFill>
          <a:ln w="9525">
            <a:solidFill>
              <a:srgbClr val="E8EDFC"/>
            </a:solidFill>
            <a:prstDash val="solid"/>
          </a:ln>
        </p:spPr>
        <p:txBody>
          <a:bodyPr/>
          <a:p/>
        </p:txBody>
      </p:sp>
      <p:sp>
        <p:nvSpPr>
          <p:cNvPr id="25" name="Text 23"/>
          <p:cNvSpPr txBox="1"/>
          <p:nvPr/>
        </p:nvSpPr>
        <p:spPr>
          <a:xfrm>
            <a:off x="777240" y="3337560"/>
            <a:ext cx="3566160" cy="274320"/>
          </a:xfrm>
          <a:prstGeom prst="roundRect">
            <a:avLst>
              <a:gd name="adj" fmla="val 46667"/>
            </a:avLst>
          </a:prstGeom>
          <a:solidFill>
            <a:srgbClr val="3C71E8"/>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prepare_for_docking menulis *_docking.pdbqt</a:t>
            </a:r>
            <a:endParaRPr lang="en-US" sz="1100" dirty="0"/>
          </a:p>
        </p:txBody>
      </p:sp>
      <p:sp>
        <p:nvSpPr>
          <p:cNvPr id="26" name="Text 24"/>
          <p:cNvSpPr txBox="1"/>
          <p:nvPr/>
        </p:nvSpPr>
        <p:spPr>
          <a:xfrm>
            <a:off x="777240" y="3749040"/>
            <a:ext cx="5029200" cy="16916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B2140"/>
                </a:solidFill>
                <a:latin typeface="Calibri" pitchFamily="34" charset="0"/>
                <a:ea typeface="Calibri" pitchFamily="34" charset="-122"/>
                <a:cs typeface="Calibri" pitchFamily="34" charset="-120"/>
              </a:rPr>
              <a:t>AddHs penuh, lalu buang H yang terikat karbon (sisakan H polar)</a:t>
            </a:r>
            <a:endParaRPr lang="en-US" sz="1400" dirty="0"/>
          </a:p>
          <a:p>
            <a:pPr marL="177800" indent="-177800">
              <a:spcAft>
                <a:spcPts val="700"/>
              </a:spcAft>
              <a:buSzPct val="100000"/>
              <a:buChar char="•"/>
            </a:pPr>
            <a:r>
              <a:rPr lang="en-US" sz="1400" dirty="0">
                <a:solidFill>
                  <a:srgbClr val="1B2140"/>
                </a:solidFill>
                <a:latin typeface="Calibri" pitchFamily="34" charset="0"/>
                <a:ea typeface="Calibri" pitchFamily="34" charset="-122"/>
                <a:cs typeface="Calibri" pitchFamily="34" charset="-120"/>
              </a:rPr>
              <a:t>Muatan parsial per residu dan nama atom (tabel, slide 13)</a:t>
            </a:r>
            <a:endParaRPr lang="en-US" sz="1400" dirty="0"/>
          </a:p>
          <a:p>
            <a:pPr marL="177800" indent="-177800">
              <a:spcAft>
                <a:spcPts val="700"/>
              </a:spcAft>
              <a:buSzPct val="100000"/>
              <a:buChar char="•"/>
            </a:pPr>
            <a:r>
              <a:rPr lang="en-US" sz="1400" dirty="0">
                <a:solidFill>
                  <a:srgbClr val="1B2140"/>
                </a:solidFill>
                <a:latin typeface="Calibri" pitchFamily="34" charset="0"/>
                <a:ea typeface="Calibri" pitchFamily="34" charset="-122"/>
                <a:cs typeface="Calibri" pitchFamily="34" charset="-120"/>
              </a:rPr>
              <a:t>Tipe atom AutoDock4: HD, A, NA, OA, SA</a:t>
            </a:r>
            <a:endParaRPr lang="en-US" sz="1400" dirty="0"/>
          </a:p>
          <a:p>
            <a:pPr marL="177800" indent="-177800">
              <a:spcAft>
                <a:spcPts val="700"/>
              </a:spcAft>
              <a:buSzPct val="100000"/>
              <a:buChar char="•"/>
            </a:pPr>
            <a:r>
              <a:rPr lang="en-US" sz="1400" dirty="0">
                <a:solidFill>
                  <a:srgbClr val="1B2140"/>
                </a:solidFill>
                <a:latin typeface="Calibri" pitchFamily="34" charset="0"/>
                <a:ea typeface="Calibri" pitchFamily="34" charset="-122"/>
                <a:cs typeface="Calibri" pitchFamily="34" charset="-120"/>
              </a:rPr>
              <a:t>Tulis PDBQT datar: reseptor rigid, TER per rantai</a:t>
            </a:r>
            <a:endParaRPr lang="en-US" sz="1400" dirty="0"/>
          </a:p>
        </p:txBody>
      </p:sp>
      <p:sp>
        <p:nvSpPr>
          <p:cNvPr id="27" name="Shape 25"/>
          <p:cNvSpPr/>
          <p:nvPr/>
        </p:nvSpPr>
        <p:spPr>
          <a:xfrm>
            <a:off x="6172200" y="3200400"/>
            <a:ext cx="5468112" cy="2286000"/>
          </a:xfrm>
          <a:prstGeom prst="roundRect">
            <a:avLst>
              <a:gd name="adj" fmla="val 4800"/>
            </a:avLst>
          </a:prstGeom>
          <a:solidFill>
            <a:srgbClr val="E8EDFC"/>
          </a:solidFill>
          <a:ln w="9525">
            <a:solidFill>
              <a:srgbClr val="E8EDFC"/>
            </a:solidFill>
            <a:prstDash val="solid"/>
          </a:ln>
        </p:spPr>
        <p:txBody>
          <a:bodyPr/>
          <a:p/>
        </p:txBody>
      </p:sp>
      <p:sp>
        <p:nvSpPr>
          <p:cNvPr id="28" name="Text 26"/>
          <p:cNvSpPr txBox="1"/>
          <p:nvPr/>
        </p:nvSpPr>
        <p:spPr>
          <a:xfrm>
            <a:off x="6400800" y="3337560"/>
            <a:ext cx="2926080" cy="274320"/>
          </a:xfrm>
          <a:prstGeom prst="roundRect">
            <a:avLst>
              <a:gd name="adj" fmla="val 46667"/>
            </a:avLst>
          </a:prstGeom>
          <a:solidFill>
            <a:srgbClr val="8E70EB"/>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prepare_for_merge menulis *_clean.pdb</a:t>
            </a:r>
            <a:endParaRPr lang="en-US" sz="1100" dirty="0"/>
          </a:p>
        </p:txBody>
      </p:sp>
      <p:sp>
        <p:nvSpPr>
          <p:cNvPr id="29" name="Text 27"/>
          <p:cNvSpPr txBox="1"/>
          <p:nvPr/>
        </p:nvSpPr>
        <p:spPr>
          <a:xfrm>
            <a:off x="6400800" y="3749040"/>
            <a:ext cx="5029200" cy="16916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B2140"/>
                </a:solidFill>
                <a:latin typeface="Calibri" pitchFamily="34" charset="0"/>
                <a:ea typeface="Calibri" pitchFamily="34" charset="-122"/>
                <a:cs typeface="Calibri" pitchFamily="34" charset="-120"/>
              </a:rPr>
              <a:t>Buang semua atom H</a:t>
            </a:r>
            <a:endParaRPr lang="en-US" sz="1400" dirty="0"/>
          </a:p>
          <a:p>
            <a:pPr marL="177800" indent="-177800">
              <a:spcAft>
                <a:spcPts val="700"/>
              </a:spcAft>
              <a:buSzPct val="100000"/>
              <a:buChar char="•"/>
            </a:pPr>
            <a:r>
              <a:rPr lang="en-US" sz="1400" dirty="0">
                <a:solidFill>
                  <a:srgbClr val="1B2140"/>
                </a:solidFill>
                <a:latin typeface="Calibri" pitchFamily="34" charset="0"/>
                <a:ea typeface="Calibri" pitchFamily="34" charset="-122"/>
                <a:cs typeface="Calibri" pitchFamily="34" charset="-120"/>
              </a:rPr>
              <a:t>Nolkan muatan formal dan properti muatan</a:t>
            </a:r>
            <a:endParaRPr lang="en-US" sz="1400" dirty="0"/>
          </a:p>
          <a:p>
            <a:pPr marL="177800" indent="-177800">
              <a:spcAft>
                <a:spcPts val="700"/>
              </a:spcAft>
              <a:buSzPct val="100000"/>
              <a:buChar char="•"/>
            </a:pPr>
            <a:r>
              <a:rPr lang="en-US" sz="1400" dirty="0">
                <a:solidFill>
                  <a:srgbClr val="1B2140"/>
                </a:solidFill>
                <a:latin typeface="Calibri" pitchFamily="34" charset="0"/>
                <a:ea typeface="Calibri" pitchFamily="34" charset="-122"/>
                <a:cs typeface="Calibri" pitchFamily="34" charset="-120"/>
              </a:rPr>
              <a:t>Tulis PDB polos. Bila Can't kekulize, ulangi tanpa penanda aromatik (receptor_preparer.py:126-153)</a:t>
            </a:r>
            <a:endParaRPr lang="en-US" sz="1400" dirty="0"/>
          </a:p>
        </p:txBody>
      </p:sp>
      <p:sp>
        <p:nvSpPr>
          <p:cNvPr id="30" name="Shape 28"/>
          <p:cNvSpPr/>
          <p:nvPr/>
        </p:nvSpPr>
        <p:spPr>
          <a:xfrm>
            <a:off x="548640" y="5596128"/>
            <a:ext cx="11091672" cy="621792"/>
          </a:xfrm>
          <a:prstGeom prst="roundRect">
            <a:avLst>
              <a:gd name="adj" fmla="val 14706"/>
            </a:avLst>
          </a:prstGeom>
          <a:solidFill>
            <a:srgbClr val="E8EDFC"/>
          </a:solidFill>
          <a:ln w="15875">
            <a:solidFill>
              <a:srgbClr val="3C71E8"/>
            </a:solidFill>
            <a:prstDash val="solid"/>
          </a:ln>
        </p:spPr>
        <p:txBody>
          <a:bodyPr/>
          <a:p/>
        </p:txBody>
      </p:sp>
      <p:sp>
        <p:nvSpPr>
          <p:cNvPr id="31" name="Text 29"/>
          <p:cNvSpPr txBox="1"/>
          <p:nvPr/>
        </p:nvSpPr>
        <p:spPr>
          <a:xfrm>
            <a:off x="713232" y="5687568"/>
            <a:ext cx="10762488" cy="438912"/>
          </a:xfrm>
          <a:prstGeom prst="rect">
            <a:avLst/>
          </a:prstGeom>
          <a:noFill/>
          <a:ln/>
        </p:spPr>
        <p:txBody>
          <a:bodyPr wrap="square" lIns="0" tIns="0" rIns="0" bIns="0" rtlCol="0" anchor="t"/>
          <a:lstStyle/>
          <a:p>
            <a:pPr marL="0" indent="0">
              <a:spcAft>
                <a:spcPts val="300"/>
              </a:spcAft>
              <a:buNone/>
            </a:pPr>
            <a:r>
              <a:rPr lang="en-US" sz="1200" b="1" dirty="0">
                <a:solidFill>
                  <a:srgbClr val="1B2140"/>
                </a:solidFill>
                <a:latin typeface="Calibri" pitchFamily="34" charset="0"/>
                <a:ea typeface="Calibri" pitchFamily="34" charset="-122"/>
                <a:cs typeface="Calibri" pitchFamily="34" charset="-120"/>
              </a:rPr>
              <a:t>Mengapa dua jalur?</a:t>
            </a:r>
            <a:endParaRPr lang="en-US" sz="1200" dirty="0"/>
          </a:p>
          <a:p>
            <a:pPr marL="0" indent="0">
              <a:spcAft>
                <a:spcPts val="300"/>
              </a:spcAft>
              <a:buNone/>
            </a:pPr>
            <a:r>
              <a:rPr lang="en-US" sz="1150" dirty="0">
                <a:solidFill>
                  <a:srgbClr val="1B2140"/>
                </a:solidFill>
                <a:latin typeface="Calibri" pitchFamily="34" charset="0"/>
                <a:ea typeface="Calibri" pitchFamily="34" charset="-122"/>
                <a:cs typeface="Calibri" pitchFamily="34" charset="-120"/>
              </a:rPr>
              <a:t>PDBQT ber-H polar dan muatan tidak boleh dipakai untuk file kompleks. Struktur yang dilihat pemakai di PyMOL atau Discovery Studio harus tampil polos.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2029968"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C · PIPELINE IN SILICO</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Muatan parsial keluarga AMBER dan tipe atom AutoDock4</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13</a:t>
            </a:r>
            <a:endParaRPr lang="en-US" sz="1000" dirty="0"/>
          </a:p>
        </p:txBody>
      </p:sp>
      <p:sp>
        <p:nvSpPr>
          <p:cNvPr id="6" name="Text 4"/>
          <p:cNvSpPr txBox="1"/>
          <p:nvPr/>
        </p:nvSpPr>
        <p:spPr>
          <a:xfrm>
            <a:off x="548640" y="1645920"/>
            <a:ext cx="5394960" cy="274320"/>
          </a:xfrm>
          <a:prstGeom prst="rect">
            <a:avLst/>
          </a:prstGeom>
          <a:noFill/>
          <a:ln/>
        </p:spPr>
        <p:txBody>
          <a:bodyPr wrap="square" lIns="0" tIns="0" rIns="0" bIns="0" rtlCol="0" anchor="t"/>
          <a:lstStyle/>
          <a:p>
            <a:pPr marL="0" indent="0">
              <a:buNone/>
            </a:pPr>
            <a:r>
              <a:rPr lang="en-US" sz="1400" b="1" dirty="0">
                <a:solidFill>
                  <a:srgbClr val="1B2140"/>
                </a:solidFill>
                <a:latin typeface="Calibri" pitchFamily="34" charset="0"/>
                <a:ea typeface="Calibri" pitchFamily="34" charset="-122"/>
                <a:cs typeface="Calibri" pitchFamily="34" charset="-120"/>
              </a:rPr>
              <a:t>Muatan backbone (tabel di kollman_charges.py)</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5394960" cy="2176272"/>
        </p:xfrm>
        <a:graphic>
          <a:graphicData uri="http://schemas.openxmlformats.org/drawingml/2006/table">
            <a:tbl>
              <a:tblPr/>
              <a:tblGrid>
                <a:gridCol w="27432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Atom</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Muatan (e)</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extLst>
                  <a:ext uri="{0D108BD9-81ED-4DB2-BD59-A6C34878D82A}">
                    <a16:rowId xmlns:a16="http://schemas.microsoft.com/office/drawing/2014/main" val="10000"/>
                  </a:ext>
                </a:extLst>
              </a:tr>
              <a:tr h="310896">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−0,4157</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H amida</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+0,2719</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2"/>
                  </a:ext>
                </a:extLst>
              </a:tr>
              <a:tr h="310896">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CA</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+0,0337</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HA</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+0,0823</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4"/>
                  </a:ext>
                </a:extLst>
              </a:tr>
              <a:tr h="310896">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C karbonil</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+0,5973</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O karbonil</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−0,5679</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6"/>
                  </a:ext>
                </a:extLst>
              </a:tr>
            </a:tbl>
          </a:graphicData>
        </a:graphic>
      </p:graphicFrame>
      <p:sp>
        <p:nvSpPr>
          <p:cNvPr id="8" name="Text 5"/>
          <p:cNvSpPr txBox="1"/>
          <p:nvPr/>
        </p:nvSpPr>
        <p:spPr>
          <a:xfrm>
            <a:off x="548640" y="4297680"/>
            <a:ext cx="5394960" cy="1188720"/>
          </a:xfrm>
          <a:prstGeom prst="rect">
            <a:avLst/>
          </a:prstGeom>
          <a:noFill/>
          <a:ln/>
        </p:spPr>
        <p:txBody>
          <a:bodyPr wrap="square" lIns="0" tIns="0" rIns="0" bIns="0" rtlCol="0" anchor="t"/>
          <a:lstStyle/>
          <a:p>
            <a:pPr marL="177800" indent="-177800">
              <a:spcAft>
                <a:spcPts val="400"/>
              </a:spcAft>
              <a:buSzPct val="100000"/>
              <a:buChar char="•"/>
            </a:pPr>
            <a:r>
              <a:rPr lang="en-US" sz="1200" b="1" dirty="0">
                <a:solidFill>
                  <a:srgbClr val="1B2140"/>
                </a:solidFill>
                <a:latin typeface="Calibri" pitchFamily="34" charset="0"/>
                <a:ea typeface="Calibri" pitchFamily="34" charset="-122"/>
                <a:cs typeface="Calibri" pitchFamily="34" charset="-120"/>
              </a:rPr>
              <a:t>Rantai samping tercakup: </a:t>
            </a:r>
            <a:r>
              <a:rPr lang="en-US" sz="1200" dirty="0">
                <a:solidFill>
                  <a:srgbClr val="1B2140"/>
                </a:solidFill>
                <a:latin typeface="Calibri" pitchFamily="34" charset="0"/>
                <a:ea typeface="Calibri" pitchFamily="34" charset="-122"/>
                <a:cs typeface="Calibri" pitchFamily="34" charset="-120"/>
              </a:rPr>
              <a:t>ASP, GLU, LYS, ARG, CYS/CYX, HID/HIE/HIP</a:t>
            </a:r>
            <a:endParaRPr lang="en-US" sz="1200" dirty="0"/>
          </a:p>
          <a:p>
            <a:pPr marL="177800" indent="-177800">
              <a:spcAft>
                <a:spcPts val="400"/>
              </a:spcAft>
              <a:buSzPct val="100000"/>
              <a:buChar char="•"/>
            </a:pPr>
            <a:r>
              <a:rPr lang="en-US" sz="1200" b="1" dirty="0">
                <a:solidFill>
                  <a:srgbClr val="1B2140"/>
                </a:solidFill>
                <a:latin typeface="Calibri" pitchFamily="34" charset="0"/>
                <a:ea typeface="Calibri" pitchFamily="34" charset="-122"/>
                <a:cs typeface="Calibri" pitchFamily="34" charset="-120"/>
              </a:rPr>
              <a:t>Di luar tabel: </a:t>
            </a:r>
            <a:r>
              <a:rPr lang="en-US" sz="1200" dirty="0">
                <a:solidFill>
                  <a:srgbClr val="1B2140"/>
                </a:solidFill>
                <a:latin typeface="Calibri" pitchFamily="34" charset="0"/>
                <a:ea typeface="Calibri" pitchFamily="34" charset="-122"/>
                <a:cs typeface="Calibri" pitchFamily="34" charset="-120"/>
              </a:rPr>
              <a:t>0,0 (bawaan) atau Gasteiger via --kollman-fallback</a:t>
            </a:r>
            <a:endParaRPr lang="en-US" sz="1200" dirty="0"/>
          </a:p>
          <a:p>
            <a:pPr marL="177800" indent="-177800">
              <a:spcAft>
                <a:spcPts val="400"/>
              </a:spcAft>
              <a:buSzPct val="100000"/>
              <a:buChar char="•"/>
            </a:pPr>
            <a:r>
              <a:rPr lang="en-US" sz="1200" b="1" dirty="0">
                <a:solidFill>
                  <a:srgbClr val="1B2140"/>
                </a:solidFill>
                <a:latin typeface="Calibri" pitchFamily="34" charset="0"/>
                <a:ea typeface="Calibri" pitchFamily="34" charset="-122"/>
                <a:cs typeface="Calibri" pitchFamily="34" charset="-120"/>
              </a:rPr>
              <a:t>Varian His/Cys </a:t>
            </a:r>
            <a:r>
              <a:rPr lang="en-US" sz="1200" dirty="0">
                <a:solidFill>
                  <a:srgbClr val="1B2140"/>
                </a:solidFill>
                <a:latin typeface="Calibri" pitchFamily="34" charset="0"/>
                <a:ea typeface="Calibri" pitchFamily="34" charset="-122"/>
                <a:cs typeface="Calibri" pitchFamily="34" charset="-120"/>
              </a:rPr>
              <a:t>dipilih dari atom H yang ada (HD1/HE2, HG)</a:t>
            </a:r>
            <a:endParaRPr lang="en-US" sz="1200" dirty="0"/>
          </a:p>
        </p:txBody>
      </p:sp>
      <p:sp>
        <p:nvSpPr>
          <p:cNvPr id="9" name="Text 6"/>
          <p:cNvSpPr txBox="1"/>
          <p:nvPr/>
        </p:nvSpPr>
        <p:spPr>
          <a:xfrm>
            <a:off x="6309360" y="1645920"/>
            <a:ext cx="5303520" cy="274320"/>
          </a:xfrm>
          <a:prstGeom prst="rect">
            <a:avLst/>
          </a:prstGeom>
          <a:noFill/>
          <a:ln/>
        </p:spPr>
        <p:txBody>
          <a:bodyPr wrap="square" lIns="0" tIns="0" rIns="0" bIns="0" rtlCol="0" anchor="t"/>
          <a:lstStyle/>
          <a:p>
            <a:pPr marL="0" indent="0">
              <a:buNone/>
            </a:pPr>
            <a:r>
              <a:rPr lang="en-US" sz="1400" b="1" dirty="0">
                <a:solidFill>
                  <a:srgbClr val="1B2140"/>
                </a:solidFill>
                <a:latin typeface="Calibri" pitchFamily="34" charset="0"/>
                <a:ea typeface="Calibri" pitchFamily="34" charset="-122"/>
                <a:cs typeface="Calibri" pitchFamily="34" charset="-120"/>
              </a:rPr>
              <a:t>Tipe atom AutoDock4 (atom_typing.py)</a:t>
            </a:r>
            <a:endParaRPr lang="en-US" sz="140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6309360" y="1965960"/>
          <a:ext cx="5330952" cy="3108960"/>
        </p:xfrm>
        <a:graphic>
          <a:graphicData uri="http://schemas.openxmlformats.org/drawingml/2006/table">
            <a:tbl>
              <a:tblPr/>
              <a:tblGrid>
                <a:gridCol w="10058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1216152">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Elemen</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Kondisi</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Tipe</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extLst>
                  <a:ext uri="{0D108BD9-81ED-4DB2-BD59-A6C34878D82A}">
                    <a16:rowId xmlns:a16="http://schemas.microsoft.com/office/drawing/2014/main" val="10000"/>
                  </a:ext>
                </a:extLst>
              </a:tr>
              <a:tr h="310896">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H</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tetangga bukan C</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HD</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H</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tetangga C</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H</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2"/>
                  </a:ext>
                </a:extLst>
              </a:tr>
              <a:tr h="310896">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C</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aromatik</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C</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lainnya</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C</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4"/>
                  </a:ext>
                </a:extLst>
              </a:tr>
              <a:tr h="310896">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aromatik, atau bukan amida</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berdekatan C=O (amida)</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6"/>
                  </a:ext>
                </a:extLst>
              </a:tr>
              <a:tr h="310896">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O</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semua</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OA</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S</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tanpa ikatan rangkap ke O</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SA</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8"/>
                  </a:ext>
                </a:extLst>
              </a:tr>
              <a:tr h="310896">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S</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sulfoksida atau sulfon</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200" dirty="0">
                          <a:solidFill>
                            <a:srgbClr val="1B2140"/>
                          </a:solidFill>
                          <a:latin typeface="Calibri" pitchFamily="34" charset="0"/>
                          <a:ea typeface="Calibri" pitchFamily="34" charset="-122"/>
                          <a:cs typeface="Calibri" pitchFamily="34" charset="-120"/>
                        </a:rPr>
                        <a:t>S</a:t>
                      </a:r>
                      <a:endParaRPr lang="en-US" sz="12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11" name="Shape 7"/>
          <p:cNvSpPr/>
          <p:nvPr/>
        </p:nvSpPr>
        <p:spPr>
          <a:xfrm>
            <a:off x="548640" y="5440680"/>
            <a:ext cx="11091672" cy="777240"/>
          </a:xfrm>
          <a:prstGeom prst="roundRect">
            <a:avLst>
              <a:gd name="adj" fmla="val 11765"/>
            </a:avLst>
          </a:prstGeom>
          <a:solidFill>
            <a:srgbClr val="FCF0D6"/>
          </a:solidFill>
          <a:ln w="15875">
            <a:solidFill>
              <a:srgbClr val="E69F00"/>
            </a:solidFill>
            <a:prstDash val="solid"/>
          </a:ln>
        </p:spPr>
        <p:txBody>
          <a:bodyPr/>
          <a:p/>
        </p:txBody>
      </p:sp>
      <p:sp>
        <p:nvSpPr>
          <p:cNvPr id="12" name="Text 8"/>
          <p:cNvSpPr txBox="1"/>
          <p:nvPr/>
        </p:nvSpPr>
        <p:spPr>
          <a:xfrm>
            <a:off x="713232" y="5532120"/>
            <a:ext cx="10762488" cy="594360"/>
          </a:xfrm>
          <a:prstGeom prst="rect">
            <a:avLst/>
          </a:prstGeom>
          <a:noFill/>
          <a:ln/>
        </p:spPr>
        <p:txBody>
          <a:bodyPr wrap="square" lIns="0" tIns="0" rIns="0" bIns="0" rtlCol="0" anchor="t"/>
          <a:lstStyle/>
          <a:p>
            <a:pPr marL="0" indent="0">
              <a:spcAft>
                <a:spcPts val="300"/>
              </a:spcAft>
              <a:buNone/>
            </a:pPr>
            <a:r>
              <a:rPr lang="en-US" sz="1300" b="1" dirty="0">
                <a:solidFill>
                  <a:srgbClr val="1B2140"/>
                </a:solidFill>
                <a:latin typeface="Calibri" pitchFamily="34" charset="0"/>
                <a:ea typeface="Calibri" pitchFamily="34" charset="-122"/>
                <a:cs typeface="Calibri" pitchFamily="34" charset="-120"/>
              </a:rPr>
              <a:t>Catatan:</a:t>
            </a:r>
          </a:p>
          <a:p>
            <a:pPr marL="0" indent="0">
              <a:spcAft>
                <a:spcPts val="300"/>
              </a:spcAft>
              <a:buNone/>
            </a:pPr>
            <a:r>
              <a:rPr lang="en-US" sz="1150" dirty="0">
                <a:solidFill>
                  <a:srgbClr val="1B2140"/>
                </a:solidFill>
                <a:latin typeface="Calibri" pitchFamily="34" charset="0"/>
                <a:ea typeface="Calibri" pitchFamily="34" charset="-122"/>
                <a:cs typeface="Calibri" pitchFamily="34" charset="-120"/>
              </a:rPr>
              <a:t>Vina tidak memakai Coulomb eksplisit, jadi cakupan tabel muatan berdampak kecil pada skor. Di run </a:t>
            </a:r>
            <a:r>
              <a:rPr lang="en-US" sz="1150" dirty="0" err="1">
                <a:solidFill>
                  <a:srgbClr val="1B2140"/>
                </a:solidFill>
                <a:latin typeface="Calibri" pitchFamily="34" charset="0"/>
                <a:ea typeface="Calibri" pitchFamily="34" charset="-122"/>
                <a:cs typeface="Calibri" pitchFamily="34" charset="-120"/>
              </a:rPr>
              <a:t>percobaan</a:t>
            </a:r>
            <a:r>
              <a:rPr lang="en-US" sz="1150" dirty="0">
                <a:solidFill>
                  <a:srgbClr val="1B2140"/>
                </a:solidFill>
                <a:latin typeface="Calibri" pitchFamily="34" charset="0"/>
                <a:ea typeface="Calibri" pitchFamily="34" charset="-122"/>
                <a:cs typeface="Calibri" pitchFamily="34" charset="-120"/>
              </a:rPr>
              <a:t>, 622 sampai 3.314 atom per reseptor jatuh ke muatan 0,0. Modul bernama Kollman, tetapi nilainya keluarga AMBER (Cornell et al. 1995).</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2029968"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C · PIPELINE IN SILICO</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Gridbox dihitung dari ligan native</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14</a:t>
            </a:r>
            <a:endParaRPr lang="en-US" sz="1000" dirty="0"/>
          </a:p>
        </p:txBody>
      </p:sp>
      <p:sp>
        <p:nvSpPr>
          <p:cNvPr id="6" name="Shape 4"/>
          <p:cNvSpPr/>
          <p:nvPr/>
        </p:nvSpPr>
        <p:spPr>
          <a:xfrm>
            <a:off x="548640" y="1737360"/>
            <a:ext cx="3566160" cy="3017520"/>
          </a:xfrm>
          <a:prstGeom prst="roundRect">
            <a:avLst>
              <a:gd name="adj" fmla="val 2424"/>
            </a:avLst>
          </a:prstGeom>
          <a:solidFill>
            <a:srgbClr val="E8EDFC"/>
          </a:solidFill>
          <a:ln w="19050">
            <a:solidFill>
              <a:srgbClr val="3C71E8"/>
            </a:solidFill>
            <a:prstDash val="dash"/>
          </a:ln>
        </p:spPr>
        <p:txBody>
          <a:bodyPr/>
          <a:lstStyle/>
          <a:p>
            <a:endParaRPr/>
          </a:p>
        </p:txBody>
      </p:sp>
      <p:sp>
        <p:nvSpPr>
          <p:cNvPr id="7" name="Shape 5"/>
          <p:cNvSpPr/>
          <p:nvPr/>
        </p:nvSpPr>
        <p:spPr>
          <a:xfrm>
            <a:off x="1325880" y="2606040"/>
            <a:ext cx="2011680" cy="1280160"/>
          </a:xfrm>
          <a:prstGeom prst="ellipse">
            <a:avLst/>
          </a:prstGeom>
          <a:solidFill>
            <a:srgbClr val="8E70EB"/>
          </a:solidFill>
          <a:ln w="12700">
            <a:solidFill>
              <a:srgbClr val="8E70EB"/>
            </a:solidFill>
            <a:prstDash val="solid"/>
          </a:ln>
        </p:spPr>
        <p:txBody>
          <a:bodyPr/>
          <a:lstStyle/>
          <a:p>
            <a:endParaRPr/>
          </a:p>
        </p:txBody>
      </p:sp>
      <p:sp>
        <p:nvSpPr>
          <p:cNvPr id="8" name="Text 6"/>
          <p:cNvSpPr txBox="1"/>
          <p:nvPr/>
        </p:nvSpPr>
        <p:spPr>
          <a:xfrm>
            <a:off x="1325880" y="3063240"/>
            <a:ext cx="2011680" cy="36576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ligan native</a:t>
            </a:r>
            <a:endParaRPr lang="en-US" sz="1300" dirty="0"/>
          </a:p>
        </p:txBody>
      </p:sp>
      <p:sp>
        <p:nvSpPr>
          <p:cNvPr id="9" name="Shape 7"/>
          <p:cNvSpPr/>
          <p:nvPr/>
        </p:nvSpPr>
        <p:spPr>
          <a:xfrm>
            <a:off x="1325880" y="4114800"/>
            <a:ext cx="2011680" cy="0"/>
          </a:xfrm>
          <a:prstGeom prst="line">
            <a:avLst/>
          </a:prstGeom>
          <a:noFill/>
          <a:ln w="15875">
            <a:solidFill>
              <a:srgbClr val="1B2140"/>
            </a:solidFill>
            <a:prstDash val="solid"/>
            <a:tailEnd type="triangle"/>
          </a:ln>
        </p:spPr>
        <p:txBody>
          <a:bodyPr/>
          <a:lstStyle/>
          <a:p>
            <a:endParaRPr/>
          </a:p>
        </p:txBody>
      </p:sp>
      <p:sp>
        <p:nvSpPr>
          <p:cNvPr id="10" name="Shape 8"/>
          <p:cNvSpPr/>
          <p:nvPr/>
        </p:nvSpPr>
        <p:spPr>
          <a:xfrm flipH="1">
            <a:off x="1325880" y="4114800"/>
            <a:ext cx="2011680" cy="0"/>
          </a:xfrm>
          <a:prstGeom prst="line">
            <a:avLst/>
          </a:prstGeom>
          <a:noFill/>
          <a:ln w="15875">
            <a:solidFill>
              <a:srgbClr val="1B2140"/>
            </a:solidFill>
            <a:prstDash val="solid"/>
            <a:tailEnd type="triangle"/>
          </a:ln>
        </p:spPr>
        <p:txBody>
          <a:bodyPr/>
          <a:lstStyle/>
          <a:p>
            <a:endParaRPr/>
          </a:p>
        </p:txBody>
      </p:sp>
      <p:sp>
        <p:nvSpPr>
          <p:cNvPr id="11" name="Text 9"/>
          <p:cNvSpPr txBox="1"/>
          <p:nvPr/>
        </p:nvSpPr>
        <p:spPr>
          <a:xfrm>
            <a:off x="2148840" y="4160520"/>
            <a:ext cx="365760" cy="274320"/>
          </a:xfrm>
          <a:prstGeom prst="rect">
            <a:avLst/>
          </a:prstGeom>
          <a:noFill/>
          <a:ln/>
        </p:spPr>
        <p:txBody>
          <a:bodyPr wrap="square" lIns="0" tIns="0" rIns="0" bIns="0" rtlCol="0" anchor="t"/>
          <a:lstStyle/>
          <a:p>
            <a:pPr marL="0" indent="0" algn="ctr">
              <a:buNone/>
            </a:pPr>
            <a:r>
              <a:rPr lang="en-US" sz="1300" b="1" dirty="0">
                <a:solidFill>
                  <a:srgbClr val="1B2140"/>
                </a:solidFill>
                <a:latin typeface="Calibri" pitchFamily="34" charset="0"/>
                <a:ea typeface="Calibri" pitchFamily="34" charset="-122"/>
                <a:cs typeface="Calibri" pitchFamily="34" charset="-120"/>
              </a:rPr>
              <a:t>L</a:t>
            </a:r>
            <a:endParaRPr lang="en-US" sz="1300" dirty="0"/>
          </a:p>
        </p:txBody>
      </p:sp>
      <p:sp>
        <p:nvSpPr>
          <p:cNvPr id="12" name="Text 10"/>
          <p:cNvSpPr txBox="1"/>
          <p:nvPr/>
        </p:nvSpPr>
        <p:spPr>
          <a:xfrm>
            <a:off x="640080" y="1828800"/>
            <a:ext cx="3383280" cy="274320"/>
          </a:xfrm>
          <a:prstGeom prst="rect">
            <a:avLst/>
          </a:prstGeom>
          <a:noFill/>
          <a:ln/>
        </p:spPr>
        <p:txBody>
          <a:bodyPr wrap="square" lIns="0" tIns="0" rIns="0" bIns="0" rtlCol="0" anchor="t"/>
          <a:lstStyle/>
          <a:p>
            <a:pPr marL="0" indent="0" algn="ctr">
              <a:buNone/>
            </a:pPr>
            <a:r>
              <a:rPr lang="en-US" sz="1150" b="1" dirty="0">
                <a:solidFill>
                  <a:srgbClr val="3C71E8"/>
                </a:solidFill>
                <a:latin typeface="Calibri" pitchFamily="34" charset="0"/>
                <a:ea typeface="Calibri" pitchFamily="34" charset="-122"/>
                <a:cs typeface="Calibri" pitchFamily="34" charset="-120"/>
              </a:rPr>
              <a:t>+ 8 Å ruang gerak (--box-padding)</a:t>
            </a:r>
            <a:endParaRPr lang="en-US" sz="1150" dirty="0"/>
          </a:p>
        </p:txBody>
      </p:sp>
      <p:sp>
        <p:nvSpPr>
          <p:cNvPr id="13" name="Shape 11"/>
          <p:cNvSpPr/>
          <p:nvPr/>
        </p:nvSpPr>
        <p:spPr>
          <a:xfrm>
            <a:off x="548640" y="4937760"/>
            <a:ext cx="3566160" cy="1234440"/>
          </a:xfrm>
          <a:prstGeom prst="roundRect">
            <a:avLst>
              <a:gd name="adj" fmla="val 8889"/>
            </a:avLst>
          </a:prstGeom>
          <a:solidFill>
            <a:srgbClr val="EDE7FC"/>
          </a:solidFill>
          <a:ln w="9525">
            <a:solidFill>
              <a:srgbClr val="EDE7FC"/>
            </a:solidFill>
            <a:prstDash val="solid"/>
          </a:ln>
        </p:spPr>
        <p:txBody>
          <a:bodyPr/>
          <a:lstStyle/>
          <a:p>
            <a:endParaRPr/>
          </a:p>
        </p:txBody>
      </p:sp>
      <p:sp>
        <p:nvSpPr>
          <p:cNvPr id="14" name="Text 12"/>
          <p:cNvSpPr txBox="1"/>
          <p:nvPr/>
        </p:nvSpPr>
        <p:spPr>
          <a:xfrm>
            <a:off x="685800" y="5029200"/>
            <a:ext cx="3291840" cy="274320"/>
          </a:xfrm>
          <a:prstGeom prst="rect">
            <a:avLst/>
          </a:prstGeom>
          <a:noFill/>
          <a:ln/>
        </p:spPr>
        <p:txBody>
          <a:bodyPr wrap="square" lIns="0" tIns="0" rIns="0" bIns="0" rtlCol="0" anchor="t"/>
          <a:lstStyle/>
          <a:p>
            <a:pPr marL="0" indent="0">
              <a:buNone/>
            </a:pPr>
            <a:r>
              <a:rPr lang="en-US" sz="1150" dirty="0">
                <a:solidFill>
                  <a:srgbClr val="1B2140"/>
                </a:solidFill>
                <a:latin typeface="Calibri" pitchFamily="34" charset="0"/>
                <a:ea typeface="Calibri" pitchFamily="34" charset="-122"/>
                <a:cs typeface="Calibri" pitchFamily="34" charset="-120"/>
              </a:rPr>
              <a:t>pusat = rata-rata koordinat atom ligan</a:t>
            </a:r>
            <a:endParaRPr lang="en-US" sz="1150" dirty="0"/>
          </a:p>
        </p:txBody>
      </p:sp>
      <p:sp>
        <p:nvSpPr>
          <p:cNvPr id="15" name="Text 13"/>
          <p:cNvSpPr txBox="1"/>
          <p:nvPr/>
        </p:nvSpPr>
        <p:spPr>
          <a:xfrm>
            <a:off x="685800" y="5349240"/>
            <a:ext cx="3291840" cy="274320"/>
          </a:xfrm>
          <a:prstGeom prst="rect">
            <a:avLst/>
          </a:prstGeom>
          <a:noFill/>
          <a:ln/>
        </p:spPr>
        <p:txBody>
          <a:bodyPr wrap="square" lIns="0" tIns="0" rIns="0" bIns="0" rtlCol="0" anchor="t"/>
          <a:lstStyle/>
          <a:p>
            <a:pPr marL="0" indent="0">
              <a:buNone/>
            </a:pPr>
            <a:r>
              <a:rPr lang="en-US" sz="1050" b="1" dirty="0">
                <a:solidFill>
                  <a:srgbClr val="3C71E8"/>
                </a:solidFill>
                <a:latin typeface="Courier New" pitchFamily="34" charset="0"/>
                <a:ea typeface="Courier New" pitchFamily="34" charset="-122"/>
                <a:cs typeface="Courier New" pitchFamily="34" charset="-120"/>
              </a:rPr>
              <a:t>ukuran = min(ceil(max(L+8, 18)), 30) Å</a:t>
            </a:r>
            <a:endParaRPr lang="en-US" sz="1050" dirty="0"/>
          </a:p>
        </p:txBody>
      </p:sp>
      <p:sp>
        <p:nvSpPr>
          <p:cNvPr id="16" name="Text 14"/>
          <p:cNvSpPr txBox="1"/>
          <p:nvPr/>
        </p:nvSpPr>
        <p:spPr>
          <a:xfrm>
            <a:off x="685800" y="5715000"/>
            <a:ext cx="3291840" cy="274320"/>
          </a:xfrm>
          <a:prstGeom prst="rect">
            <a:avLst/>
          </a:prstGeom>
          <a:noFill/>
          <a:ln/>
        </p:spPr>
        <p:txBody>
          <a:bodyPr wrap="square" lIns="0" tIns="0" rIns="0" bIns="0" rtlCol="0" anchor="t"/>
          <a:lstStyle/>
          <a:p>
            <a:pPr marL="0" indent="0">
              <a:buNone/>
            </a:pPr>
            <a:r>
              <a:rPr lang="en-US" sz="1050" dirty="0">
                <a:solidFill>
                  <a:srgbClr val="5B6480"/>
                </a:solidFill>
                <a:latin typeface="Calibri" pitchFamily="34" charset="0"/>
                <a:ea typeface="Calibri" pitchFamily="34" charset="-122"/>
                <a:cs typeface="Calibri" pitchFamily="34" charset="-120"/>
              </a:rPr>
              <a:t>L = sisi bounding-box terpanjang ligan</a:t>
            </a:r>
            <a:endParaRPr lang="en-US" sz="1050" dirty="0"/>
          </a:p>
        </p:txBody>
      </p:sp>
      <p:sp>
        <p:nvSpPr>
          <p:cNvPr id="17" name="Text 15"/>
          <p:cNvSpPr txBox="1"/>
          <p:nvPr/>
        </p:nvSpPr>
        <p:spPr>
          <a:xfrm>
            <a:off x="4617720" y="1645920"/>
            <a:ext cx="6400800" cy="274320"/>
          </a:xfrm>
          <a:prstGeom prst="rect">
            <a:avLst/>
          </a:prstGeom>
          <a:noFill/>
          <a:ln/>
        </p:spPr>
        <p:txBody>
          <a:bodyPr wrap="square" lIns="0" tIns="0" rIns="0" bIns="0" rtlCol="0" anchor="t"/>
          <a:lstStyle/>
          <a:p>
            <a:pPr marL="0" indent="0">
              <a:buNone/>
            </a:pPr>
            <a:r>
              <a:rPr lang="en-US" sz="1400" b="1" dirty="0">
                <a:solidFill>
                  <a:srgbClr val="1B2140"/>
                </a:solidFill>
                <a:latin typeface="Calibri" pitchFamily="34" charset="0"/>
                <a:ea typeface="Calibri" pitchFamily="34" charset="-122"/>
                <a:cs typeface="Calibri" pitchFamily="34" charset="-120"/>
              </a:rPr>
              <a:t>Gridbox nyata di run demonstrasi</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617720" y="1965960"/>
          <a:ext cx="7022592" cy="1810512"/>
        </p:xfrm>
        <a:graphic>
          <a:graphicData uri="http://schemas.openxmlformats.org/drawingml/2006/table">
            <a:tbl>
              <a:tblPr/>
              <a:tblGrid>
                <a:gridCol w="10972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1078992">
                  <a:extLst>
                    <a:ext uri="{9D8B030D-6E8A-4147-A177-3AD203B41FA5}">
                      <a16:colId xmlns:a16="http://schemas.microsoft.com/office/drawing/2014/main" val="20003"/>
                    </a:ext>
                  </a:extLst>
                </a:gridCol>
              </a:tblGrid>
              <a:tr h="30175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Reseptor</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Ligan native</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Pusat (x, y, z) Å</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Kotak Å</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extLst>
                  <a:ext uri="{0D108BD9-81ED-4DB2-BD59-A6C34878D82A}">
                    <a16:rowId xmlns:a16="http://schemas.microsoft.com/office/drawing/2014/main" val="10000"/>
                  </a:ext>
                </a:extLst>
              </a:tr>
              <a:tr h="301752">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1UWH</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BAX_A1723</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75,153, 44,833, 65,026</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22</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4EY7</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E20_A604</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−14,108, −43,833, 27,670</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22</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2"/>
                  </a:ext>
                </a:extLst>
              </a:tr>
              <a:tr h="301752">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1HCK</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ATP_A400</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100,541, 97,891, 81,717</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19</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1HSG</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MK1_B902</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13,073, 22,467, 5,557</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23</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4"/>
                  </a:ext>
                </a:extLst>
              </a:tr>
              <a:tr h="301752">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1EVE</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E20_A2001</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2,781, 64,383, 67,971</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9" name="Text 16"/>
          <p:cNvSpPr txBox="1"/>
          <p:nvPr/>
        </p:nvSpPr>
        <p:spPr>
          <a:xfrm>
            <a:off x="4617720" y="3931920"/>
            <a:ext cx="6400800" cy="274320"/>
          </a:xfrm>
          <a:prstGeom prst="rect">
            <a:avLst/>
          </a:prstGeom>
          <a:noFill/>
          <a:ln/>
        </p:spPr>
        <p:txBody>
          <a:bodyPr wrap="square" lIns="0" tIns="0" rIns="0" bIns="0" rtlCol="0" anchor="t"/>
          <a:lstStyle/>
          <a:p>
            <a:pPr marL="0" indent="0">
              <a:buNone/>
            </a:pPr>
            <a:r>
              <a:rPr lang="en-US" sz="1300" b="1" dirty="0">
                <a:solidFill>
                  <a:srgbClr val="3C71E8"/>
                </a:solidFill>
                <a:latin typeface="Courier New" pitchFamily="34" charset="0"/>
                <a:ea typeface="Courier New" pitchFamily="34" charset="-122"/>
                <a:cs typeface="Courier New" pitchFamily="34" charset="-120"/>
              </a:rPr>
              <a:t>chemflow receptor-config</a:t>
            </a:r>
            <a:endParaRPr lang="en-US" sz="1300" dirty="0"/>
          </a:p>
        </p:txBody>
      </p:sp>
      <p:sp>
        <p:nvSpPr>
          <p:cNvPr id="20" name="Shape 17"/>
          <p:cNvSpPr/>
          <p:nvPr/>
        </p:nvSpPr>
        <p:spPr>
          <a:xfrm>
            <a:off x="4617720" y="4297680"/>
            <a:ext cx="1600200" cy="548640"/>
          </a:xfrm>
          <a:prstGeom prst="roundRect">
            <a:avLst>
              <a:gd name="adj" fmla="val 16667"/>
            </a:avLst>
          </a:prstGeom>
          <a:solidFill>
            <a:srgbClr val="E8EDFC"/>
          </a:solidFill>
          <a:ln w="12700">
            <a:solidFill>
              <a:srgbClr val="D7DFFA"/>
            </a:solidFill>
            <a:prstDash val="solid"/>
          </a:ln>
        </p:spPr>
        <p:txBody>
          <a:bodyPr/>
          <a:lstStyle/>
          <a:p>
            <a:endParaRPr/>
          </a:p>
        </p:txBody>
      </p:sp>
      <p:sp>
        <p:nvSpPr>
          <p:cNvPr id="21" name="Text 18"/>
          <p:cNvSpPr txBox="1"/>
          <p:nvPr/>
        </p:nvSpPr>
        <p:spPr>
          <a:xfrm>
            <a:off x="4617720" y="4297680"/>
            <a:ext cx="1600200" cy="548640"/>
          </a:xfrm>
          <a:prstGeom prst="rect">
            <a:avLst/>
          </a:prstGeom>
          <a:noFill/>
          <a:ln/>
        </p:spPr>
        <p:txBody>
          <a:bodyPr wrap="square" lIns="0" tIns="0" rIns="0" bIns="0" rtlCol="0" anchor="ctr"/>
          <a:lstStyle/>
          <a:p>
            <a:pPr marL="0" indent="0" algn="ctr">
              <a:buNone/>
            </a:pPr>
            <a:r>
              <a:rPr lang="en-US" sz="1150" b="1" dirty="0">
                <a:solidFill>
                  <a:srgbClr val="1B2140"/>
                </a:solidFill>
                <a:latin typeface="Calibri" pitchFamily="34" charset="0"/>
                <a:ea typeface="Calibri" pitchFamily="34" charset="-122"/>
                <a:cs typeface="Calibri" pitchFamily="34" charset="-120"/>
              </a:rPr>
              <a:t>1  Kode PDB</a:t>
            </a:r>
            <a:endParaRPr lang="en-US" sz="1150" dirty="0"/>
          </a:p>
        </p:txBody>
      </p:sp>
      <p:sp>
        <p:nvSpPr>
          <p:cNvPr id="22" name="Shape 19"/>
          <p:cNvSpPr/>
          <p:nvPr/>
        </p:nvSpPr>
        <p:spPr>
          <a:xfrm>
            <a:off x="6217920" y="4572000"/>
            <a:ext cx="182880" cy="0"/>
          </a:xfrm>
          <a:prstGeom prst="line">
            <a:avLst/>
          </a:prstGeom>
          <a:noFill/>
          <a:ln w="19050">
            <a:solidFill>
              <a:srgbClr val="3C71E8"/>
            </a:solidFill>
            <a:prstDash val="solid"/>
            <a:tailEnd type="triangle"/>
          </a:ln>
        </p:spPr>
        <p:txBody>
          <a:bodyPr/>
          <a:lstStyle/>
          <a:p>
            <a:endParaRPr/>
          </a:p>
        </p:txBody>
      </p:sp>
      <p:sp>
        <p:nvSpPr>
          <p:cNvPr id="23" name="Shape 20"/>
          <p:cNvSpPr/>
          <p:nvPr/>
        </p:nvSpPr>
        <p:spPr>
          <a:xfrm>
            <a:off x="6400800" y="4297680"/>
            <a:ext cx="1600200" cy="548640"/>
          </a:xfrm>
          <a:prstGeom prst="roundRect">
            <a:avLst>
              <a:gd name="adj" fmla="val 16667"/>
            </a:avLst>
          </a:prstGeom>
          <a:solidFill>
            <a:srgbClr val="E8EDFC"/>
          </a:solidFill>
          <a:ln w="12700">
            <a:solidFill>
              <a:srgbClr val="D7DFFA"/>
            </a:solidFill>
            <a:prstDash val="solid"/>
          </a:ln>
        </p:spPr>
        <p:txBody>
          <a:bodyPr/>
          <a:lstStyle/>
          <a:p>
            <a:endParaRPr/>
          </a:p>
        </p:txBody>
      </p:sp>
      <p:sp>
        <p:nvSpPr>
          <p:cNvPr id="24" name="Text 21"/>
          <p:cNvSpPr txBox="1"/>
          <p:nvPr/>
        </p:nvSpPr>
        <p:spPr>
          <a:xfrm>
            <a:off x="6400800" y="4297680"/>
            <a:ext cx="1600200" cy="548640"/>
          </a:xfrm>
          <a:prstGeom prst="rect">
            <a:avLst/>
          </a:prstGeom>
          <a:noFill/>
          <a:ln/>
        </p:spPr>
        <p:txBody>
          <a:bodyPr wrap="square" lIns="0" tIns="0" rIns="0" bIns="0" rtlCol="0" anchor="ctr"/>
          <a:lstStyle/>
          <a:p>
            <a:pPr marL="0" indent="0" algn="ctr">
              <a:buNone/>
            </a:pPr>
            <a:r>
              <a:rPr lang="en-US" sz="1150" b="1" dirty="0">
                <a:solidFill>
                  <a:srgbClr val="1B2140"/>
                </a:solidFill>
                <a:latin typeface="Calibri" pitchFamily="34" charset="0"/>
                <a:ea typeface="Calibri" pitchFamily="34" charset="-122"/>
                <a:cs typeface="Calibri" pitchFamily="34" charset="-120"/>
              </a:rPr>
              <a:t>2  Pilih ligan native</a:t>
            </a:r>
            <a:endParaRPr lang="en-US" sz="1150" dirty="0"/>
          </a:p>
        </p:txBody>
      </p:sp>
      <p:sp>
        <p:nvSpPr>
          <p:cNvPr id="25" name="Shape 22"/>
          <p:cNvSpPr/>
          <p:nvPr/>
        </p:nvSpPr>
        <p:spPr>
          <a:xfrm>
            <a:off x="8001000" y="4572000"/>
            <a:ext cx="182880" cy="0"/>
          </a:xfrm>
          <a:prstGeom prst="line">
            <a:avLst/>
          </a:prstGeom>
          <a:noFill/>
          <a:ln w="19050">
            <a:solidFill>
              <a:srgbClr val="3C71E8"/>
            </a:solidFill>
            <a:prstDash val="solid"/>
            <a:tailEnd type="triangle"/>
          </a:ln>
        </p:spPr>
        <p:txBody>
          <a:bodyPr/>
          <a:lstStyle/>
          <a:p>
            <a:endParaRPr/>
          </a:p>
        </p:txBody>
      </p:sp>
      <p:sp>
        <p:nvSpPr>
          <p:cNvPr id="26" name="Shape 23"/>
          <p:cNvSpPr/>
          <p:nvPr/>
        </p:nvSpPr>
        <p:spPr>
          <a:xfrm>
            <a:off x="8183880" y="4297680"/>
            <a:ext cx="1600200" cy="548640"/>
          </a:xfrm>
          <a:prstGeom prst="roundRect">
            <a:avLst>
              <a:gd name="adj" fmla="val 16667"/>
            </a:avLst>
          </a:prstGeom>
          <a:solidFill>
            <a:srgbClr val="E8EDFC"/>
          </a:solidFill>
          <a:ln w="12700">
            <a:solidFill>
              <a:srgbClr val="D7DFFA"/>
            </a:solidFill>
            <a:prstDash val="solid"/>
          </a:ln>
        </p:spPr>
        <p:txBody>
          <a:bodyPr/>
          <a:lstStyle/>
          <a:p>
            <a:endParaRPr/>
          </a:p>
        </p:txBody>
      </p:sp>
      <p:sp>
        <p:nvSpPr>
          <p:cNvPr id="27" name="Text 24"/>
          <p:cNvSpPr txBox="1"/>
          <p:nvPr/>
        </p:nvSpPr>
        <p:spPr>
          <a:xfrm>
            <a:off x="8183880" y="4297680"/>
            <a:ext cx="1600200" cy="548640"/>
          </a:xfrm>
          <a:prstGeom prst="rect">
            <a:avLst/>
          </a:prstGeom>
          <a:noFill/>
          <a:ln/>
        </p:spPr>
        <p:txBody>
          <a:bodyPr wrap="square" lIns="0" tIns="0" rIns="0" bIns="0" rtlCol="0" anchor="ctr"/>
          <a:lstStyle/>
          <a:p>
            <a:pPr marL="0" indent="0" algn="ctr">
              <a:buNone/>
            </a:pPr>
            <a:r>
              <a:rPr lang="en-US" sz="1150" b="1" dirty="0">
                <a:solidFill>
                  <a:srgbClr val="1B2140"/>
                </a:solidFill>
                <a:latin typeface="Calibri" pitchFamily="34" charset="0"/>
                <a:ea typeface="Calibri" pitchFamily="34" charset="-122"/>
                <a:cs typeface="Calibri" pitchFamily="34" charset="-120"/>
              </a:rPr>
              <a:t>3  Ukuran kotak</a:t>
            </a:r>
            <a:endParaRPr lang="en-US" sz="1150" dirty="0"/>
          </a:p>
        </p:txBody>
      </p:sp>
      <p:sp>
        <p:nvSpPr>
          <p:cNvPr id="28" name="Shape 25"/>
          <p:cNvSpPr/>
          <p:nvPr/>
        </p:nvSpPr>
        <p:spPr>
          <a:xfrm>
            <a:off x="9784080" y="4572000"/>
            <a:ext cx="182880" cy="0"/>
          </a:xfrm>
          <a:prstGeom prst="line">
            <a:avLst/>
          </a:prstGeom>
          <a:noFill/>
          <a:ln w="19050">
            <a:solidFill>
              <a:srgbClr val="3C71E8"/>
            </a:solidFill>
            <a:prstDash val="solid"/>
            <a:tailEnd type="triangle"/>
          </a:ln>
        </p:spPr>
        <p:txBody>
          <a:bodyPr/>
          <a:lstStyle/>
          <a:p>
            <a:endParaRPr/>
          </a:p>
        </p:txBody>
      </p:sp>
      <p:sp>
        <p:nvSpPr>
          <p:cNvPr id="29" name="Shape 26"/>
          <p:cNvSpPr/>
          <p:nvPr/>
        </p:nvSpPr>
        <p:spPr>
          <a:xfrm>
            <a:off x="9966960" y="4297680"/>
            <a:ext cx="1600200" cy="548640"/>
          </a:xfrm>
          <a:prstGeom prst="roundRect">
            <a:avLst>
              <a:gd name="adj" fmla="val 16667"/>
            </a:avLst>
          </a:prstGeom>
          <a:solidFill>
            <a:srgbClr val="E8EDFC"/>
          </a:solidFill>
          <a:ln w="12700">
            <a:solidFill>
              <a:srgbClr val="D7DFFA"/>
            </a:solidFill>
            <a:prstDash val="solid"/>
          </a:ln>
        </p:spPr>
        <p:txBody>
          <a:bodyPr/>
          <a:lstStyle/>
          <a:p>
            <a:endParaRPr/>
          </a:p>
        </p:txBody>
      </p:sp>
      <p:sp>
        <p:nvSpPr>
          <p:cNvPr id="30" name="Text 27"/>
          <p:cNvSpPr txBox="1"/>
          <p:nvPr/>
        </p:nvSpPr>
        <p:spPr>
          <a:xfrm>
            <a:off x="9966960" y="4297680"/>
            <a:ext cx="1600200" cy="548640"/>
          </a:xfrm>
          <a:prstGeom prst="rect">
            <a:avLst/>
          </a:prstGeom>
          <a:noFill/>
          <a:ln/>
        </p:spPr>
        <p:txBody>
          <a:bodyPr wrap="square" lIns="0" tIns="0" rIns="0" bIns="0" rtlCol="0" anchor="ctr"/>
          <a:lstStyle/>
          <a:p>
            <a:pPr marL="0" indent="0" algn="ctr">
              <a:buNone/>
            </a:pPr>
            <a:r>
              <a:rPr lang="en-US" sz="1150" b="1" dirty="0">
                <a:solidFill>
                  <a:srgbClr val="1B2140"/>
                </a:solidFill>
                <a:latin typeface="Calibri" pitchFamily="34" charset="0"/>
                <a:ea typeface="Calibri" pitchFamily="34" charset="-122"/>
                <a:cs typeface="Calibri" pitchFamily="34" charset="-120"/>
              </a:rPr>
              <a:t>4  reseptor.xlsx</a:t>
            </a:r>
            <a:endParaRPr lang="en-US" sz="1150" dirty="0"/>
          </a:p>
        </p:txBody>
      </p:sp>
      <p:sp>
        <p:nvSpPr>
          <p:cNvPr id="31" name="Text 28"/>
          <p:cNvSpPr txBox="1"/>
          <p:nvPr/>
        </p:nvSpPr>
        <p:spPr>
          <a:xfrm>
            <a:off x="4617720" y="5029200"/>
            <a:ext cx="7022592" cy="118872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1B2140"/>
                </a:solidFill>
                <a:latin typeface="Calibri" pitchFamily="34" charset="0"/>
                <a:ea typeface="Calibri" pitchFamily="34" charset="-122"/>
                <a:cs typeface="Calibri" pitchFamily="34" charset="-120"/>
              </a:rPr>
              <a:t>Ukuran yang diketik pemakai tidak dibatasi; batas 30 Å hanya untuk usulan otomatis (grid_box.py:9)</a:t>
            </a:r>
            <a:endParaRPr lang="en-US" sz="1150" dirty="0"/>
          </a:p>
          <a:p>
            <a:pPr marL="177800" indent="-177800">
              <a:spcAft>
                <a:spcPts val="300"/>
              </a:spcAft>
              <a:buSzPct val="100000"/>
              <a:buChar char="•"/>
            </a:pPr>
            <a:r>
              <a:rPr lang="en-US" sz="1150" dirty="0">
                <a:solidFill>
                  <a:srgbClr val="1B2140"/>
                </a:solidFill>
                <a:latin typeface="Calibri" pitchFamily="34" charset="0"/>
                <a:ea typeface="Calibri" pitchFamily="34" charset="-122"/>
                <a:cs typeface="Calibri" pitchFamily="34" charset="-120"/>
              </a:rPr>
              <a:t>Kode PDB yang sama di beberapa baris berarti multi-situs. Kuncinya 1UWH_R001, 1UWH_R002, dan seterusnya</a:t>
            </a:r>
            <a:endParaRPr lang="en-US" sz="1150" dirty="0"/>
          </a:p>
          <a:p>
            <a:pPr marL="177800" indent="-177800">
              <a:spcAft>
                <a:spcPts val="300"/>
              </a:spcAft>
              <a:buSzPct val="100000"/>
              <a:buChar char="•"/>
            </a:pPr>
            <a:r>
              <a:rPr lang="en-US" sz="1150" dirty="0">
                <a:solidFill>
                  <a:srgbClr val="1B2140"/>
                </a:solidFill>
                <a:latin typeface="Calibri" pitchFamily="34" charset="0"/>
                <a:ea typeface="Calibri" pitchFamily="34" charset="-122"/>
                <a:cs typeface="Calibri" pitchFamily="34" charset="-120"/>
              </a:rPr>
              <a:t>Tanpa gridbox di Excel, chemflow menampilkan daftar ligan native dan meminta pilihan (perlu terminal interaktif)</a:t>
            </a:r>
            <a:endParaRPr lang="en-US" sz="1150" dirty="0"/>
          </a:p>
          <a:p>
            <a:pPr marL="177800" indent="-177800">
              <a:spcAft>
                <a:spcPts val="300"/>
              </a:spcAft>
              <a:buSzPct val="100000"/>
              <a:buChar char="•"/>
            </a:pPr>
            <a:r>
              <a:rPr lang="en-US" sz="1150" dirty="0">
                <a:solidFill>
                  <a:srgbClr val="1B2140"/>
                </a:solidFill>
                <a:latin typeface="Calibri" pitchFamily="34" charset="0"/>
                <a:ea typeface="Calibri" pitchFamily="34" charset="-122"/>
                <a:cs typeface="Calibri" pitchFamily="34" charset="-120"/>
              </a:rPr>
              <a:t>Ukuran bawaan kotak diambil dari native itu; pusat tanpa ukuran di Excel memakai native terdekat (maks 8 Å). Opsi --default-box-size hanya cadangan tanpa native.</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2029968"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C · PIPELINE IN SILICO</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AutoDock Vina: diunduh otomatis, dijalankan dengan path lengkap</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15</a:t>
            </a:r>
            <a:endParaRPr lang="en-US" sz="1000" dirty="0"/>
          </a:p>
        </p:txBody>
      </p:sp>
      <p:sp>
        <p:nvSpPr>
          <p:cNvPr id="6" name="Shape 4"/>
          <p:cNvSpPr/>
          <p:nvPr/>
        </p:nvSpPr>
        <p:spPr>
          <a:xfrm>
            <a:off x="548640" y="1691640"/>
            <a:ext cx="3566160" cy="4480560"/>
          </a:xfrm>
          <a:prstGeom prst="roundRect">
            <a:avLst>
              <a:gd name="adj" fmla="val 3077"/>
            </a:avLst>
          </a:prstGeom>
          <a:solidFill>
            <a:srgbClr val="E8EDFC"/>
          </a:solidFill>
          <a:ln w="9525">
            <a:solidFill>
              <a:srgbClr val="E8EDFC"/>
            </a:solidFill>
            <a:prstDash val="solid"/>
          </a:ln>
        </p:spPr>
        <p:txBody>
          <a:bodyPr/>
          <a:p/>
        </p:txBody>
      </p:sp>
      <p:sp>
        <p:nvSpPr>
          <p:cNvPr id="7" name="Text 5"/>
          <p:cNvSpPr txBox="1"/>
          <p:nvPr/>
        </p:nvSpPr>
        <p:spPr>
          <a:xfrm>
            <a:off x="777240" y="1810512"/>
            <a:ext cx="3108960" cy="274320"/>
          </a:xfrm>
          <a:prstGeom prst="rect">
            <a:avLst/>
          </a:prstGeom>
          <a:noFill/>
          <a:ln/>
        </p:spPr>
        <p:txBody>
          <a:bodyPr wrap="square" lIns="0" tIns="0" rIns="0" bIns="0" rtlCol="0" anchor="t"/>
          <a:lstStyle/>
          <a:p>
            <a:pPr marL="0" indent="0">
              <a:buNone/>
            </a:pPr>
            <a:r>
              <a:rPr lang="en-US" sz="1450" b="1" dirty="0">
                <a:solidFill>
                  <a:srgbClr val="1B2140"/>
                </a:solidFill>
                <a:latin typeface="Calibri" pitchFamily="34" charset="0"/>
                <a:ea typeface="Calibri" pitchFamily="34" charset="-122"/>
                <a:cs typeface="Calibri" pitchFamily="34" charset="-120"/>
              </a:rPr>
              <a:t>Resolusi biner</a:t>
            </a:r>
            <a:endParaRPr lang="en-US" sz="1450" dirty="0"/>
          </a:p>
        </p:txBody>
      </p:sp>
      <p:sp>
        <p:nvSpPr>
          <p:cNvPr id="8" name="Shape 6"/>
          <p:cNvSpPr/>
          <p:nvPr/>
        </p:nvSpPr>
        <p:spPr>
          <a:xfrm>
            <a:off x="777240" y="2267712"/>
            <a:ext cx="292608" cy="292608"/>
          </a:xfrm>
          <a:prstGeom prst="ellipse">
            <a:avLst/>
          </a:prstGeom>
          <a:solidFill>
            <a:srgbClr val="3C71E8"/>
          </a:solidFill>
          <a:ln w="12700">
            <a:solidFill>
              <a:srgbClr val="3C71E8"/>
            </a:solidFill>
            <a:prstDash val="solid"/>
          </a:ln>
        </p:spPr>
        <p:txBody>
          <a:bodyPr/>
          <a:p/>
        </p:txBody>
      </p:sp>
      <p:sp>
        <p:nvSpPr>
          <p:cNvPr id="9" name="Text 7"/>
          <p:cNvSpPr txBox="1"/>
          <p:nvPr/>
        </p:nvSpPr>
        <p:spPr>
          <a:xfrm>
            <a:off x="777240" y="2267712"/>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0" name="Text 8"/>
          <p:cNvSpPr txBox="1"/>
          <p:nvPr/>
        </p:nvSpPr>
        <p:spPr>
          <a:xfrm>
            <a:off x="1188720" y="2318004"/>
            <a:ext cx="2788920" cy="731520"/>
          </a:xfrm>
          <a:prstGeom prst="rect">
            <a:avLst/>
          </a:prstGeom>
          <a:noFill/>
          <a:ln/>
        </p:spPr>
        <p:txBody>
          <a:bodyPr wrap="square" lIns="0" tIns="0" rIns="0" bIns="0" rtlCol="0" anchor="t"/>
          <a:lstStyle/>
          <a:p>
            <a:pPr marL="0" indent="0">
              <a:buNone/>
            </a:pPr>
            <a:r>
              <a:rPr lang="en-US" sz="1150" dirty="0">
                <a:solidFill>
                  <a:srgbClr val="1B2140"/>
                </a:solidFill>
                <a:latin typeface="Calibri" pitchFamily="34" charset="0"/>
                <a:ea typeface="Calibri" pitchFamily="34" charset="-122"/>
                <a:cs typeface="Calibri" pitchFamily="34" charset="-120"/>
              </a:rPr>
              <a:t>GET GitHub Releases API, tanpa autentikasi</a:t>
            </a:r>
            <a:endParaRPr lang="en-US" sz="1150" dirty="0"/>
          </a:p>
        </p:txBody>
      </p:sp>
      <p:sp>
        <p:nvSpPr>
          <p:cNvPr id="11" name="Shape 9"/>
          <p:cNvSpPr/>
          <p:nvPr/>
        </p:nvSpPr>
        <p:spPr>
          <a:xfrm>
            <a:off x="777240" y="3044952"/>
            <a:ext cx="292608" cy="292608"/>
          </a:xfrm>
          <a:prstGeom prst="ellipse">
            <a:avLst/>
          </a:prstGeom>
          <a:solidFill>
            <a:srgbClr val="3C71E8"/>
          </a:solidFill>
          <a:ln w="12700">
            <a:solidFill>
              <a:srgbClr val="3C71E8"/>
            </a:solidFill>
            <a:prstDash val="solid"/>
          </a:ln>
        </p:spPr>
        <p:txBody>
          <a:bodyPr/>
          <a:p/>
        </p:txBody>
      </p:sp>
      <p:sp>
        <p:nvSpPr>
          <p:cNvPr id="12" name="Text 10"/>
          <p:cNvSpPr txBox="1"/>
          <p:nvPr/>
        </p:nvSpPr>
        <p:spPr>
          <a:xfrm>
            <a:off x="777240" y="3044952"/>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3" name="Text 11"/>
          <p:cNvSpPr txBox="1"/>
          <p:nvPr/>
        </p:nvSpPr>
        <p:spPr>
          <a:xfrm>
            <a:off x="1188720" y="3017520"/>
            <a:ext cx="2788920" cy="731520"/>
          </a:xfrm>
          <a:prstGeom prst="rect">
            <a:avLst/>
          </a:prstGeom>
          <a:noFill/>
          <a:ln/>
        </p:spPr>
        <p:txBody>
          <a:bodyPr wrap="square" lIns="0" tIns="0" rIns="0" bIns="0" rtlCol="0" anchor="t"/>
          <a:lstStyle/>
          <a:p>
            <a:pPr marL="0" indent="0">
              <a:buNone/>
            </a:pPr>
            <a:r>
              <a:rPr lang="en-US" sz="1150" dirty="0">
                <a:solidFill>
                  <a:srgbClr val="1B2140"/>
                </a:solidFill>
                <a:latin typeface="Calibri" pitchFamily="34" charset="0"/>
                <a:ea typeface="Calibri" pitchFamily="34" charset="-122"/>
                <a:cs typeface="Calibri" pitchFamily="34" charset="-120"/>
              </a:rPr>
              <a:t>Klasifikasi aset: sembilan regex per era nama, OS dan arsitektur</a:t>
            </a:r>
            <a:endParaRPr lang="en-US" sz="1150" dirty="0"/>
          </a:p>
        </p:txBody>
      </p:sp>
      <p:sp>
        <p:nvSpPr>
          <p:cNvPr id="14" name="Shape 12"/>
          <p:cNvSpPr/>
          <p:nvPr/>
        </p:nvSpPr>
        <p:spPr>
          <a:xfrm>
            <a:off x="777240" y="3822192"/>
            <a:ext cx="292608" cy="292608"/>
          </a:xfrm>
          <a:prstGeom prst="ellipse">
            <a:avLst/>
          </a:prstGeom>
          <a:solidFill>
            <a:srgbClr val="3C71E8"/>
          </a:solidFill>
          <a:ln w="12700">
            <a:solidFill>
              <a:srgbClr val="3C71E8"/>
            </a:solidFill>
            <a:prstDash val="solid"/>
          </a:ln>
        </p:spPr>
        <p:txBody>
          <a:bodyPr/>
          <a:p/>
        </p:txBody>
      </p:sp>
      <p:sp>
        <p:nvSpPr>
          <p:cNvPr id="15" name="Text 13"/>
          <p:cNvSpPr txBox="1"/>
          <p:nvPr/>
        </p:nvSpPr>
        <p:spPr>
          <a:xfrm>
            <a:off x="777240" y="3822192"/>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6" name="Text 14"/>
          <p:cNvSpPr txBox="1"/>
          <p:nvPr/>
        </p:nvSpPr>
        <p:spPr>
          <a:xfrm>
            <a:off x="1188720" y="3794760"/>
            <a:ext cx="2788920" cy="731520"/>
          </a:xfrm>
          <a:prstGeom prst="rect">
            <a:avLst/>
          </a:prstGeom>
          <a:noFill/>
          <a:ln/>
        </p:spPr>
        <p:txBody>
          <a:bodyPr wrap="square" lIns="0" tIns="0" rIns="0" bIns="0" rtlCol="0" anchor="t"/>
          <a:lstStyle/>
          <a:p>
            <a:pPr marL="0" indent="0">
              <a:buNone/>
            </a:pPr>
            <a:r>
              <a:rPr lang="en-US" sz="1150" dirty="0">
                <a:solidFill>
                  <a:srgbClr val="1B2140"/>
                </a:solidFill>
                <a:latin typeface="Calibri" pitchFamily="34" charset="0"/>
                <a:ea typeface="Calibri" pitchFamily="34" charset="-122"/>
                <a:cs typeface="Calibri" pitchFamily="34" charset="-120"/>
              </a:rPr>
              <a:t>--vina-version memilih versi; bawaan: terbaru yang kompatibel</a:t>
            </a:r>
            <a:endParaRPr lang="en-US" sz="1150" dirty="0"/>
          </a:p>
        </p:txBody>
      </p:sp>
      <p:sp>
        <p:nvSpPr>
          <p:cNvPr id="17" name="Shape 15"/>
          <p:cNvSpPr/>
          <p:nvPr/>
        </p:nvSpPr>
        <p:spPr>
          <a:xfrm>
            <a:off x="777240" y="4599432"/>
            <a:ext cx="292608" cy="292608"/>
          </a:xfrm>
          <a:prstGeom prst="ellipse">
            <a:avLst/>
          </a:prstGeom>
          <a:solidFill>
            <a:srgbClr val="3C71E8"/>
          </a:solidFill>
          <a:ln w="12700">
            <a:solidFill>
              <a:srgbClr val="3C71E8"/>
            </a:solidFill>
            <a:prstDash val="solid"/>
          </a:ln>
        </p:spPr>
        <p:txBody>
          <a:bodyPr/>
          <a:p/>
        </p:txBody>
      </p:sp>
      <p:sp>
        <p:nvSpPr>
          <p:cNvPr id="18" name="Text 16"/>
          <p:cNvSpPr txBox="1"/>
          <p:nvPr/>
        </p:nvSpPr>
        <p:spPr>
          <a:xfrm>
            <a:off x="777240" y="4599432"/>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19" name="Text 17"/>
          <p:cNvSpPr txBox="1"/>
          <p:nvPr/>
        </p:nvSpPr>
        <p:spPr>
          <a:xfrm>
            <a:off x="1188720" y="4572000"/>
            <a:ext cx="2788920" cy="731520"/>
          </a:xfrm>
          <a:prstGeom prst="rect">
            <a:avLst/>
          </a:prstGeom>
          <a:noFill/>
          <a:ln/>
        </p:spPr>
        <p:txBody>
          <a:bodyPr wrap="square" lIns="0" tIns="0" rIns="0" bIns="0" rtlCol="0" anchor="t"/>
          <a:lstStyle/>
          <a:p>
            <a:pPr marL="0" indent="0">
              <a:buNone/>
            </a:pPr>
            <a:r>
              <a:rPr lang="en-US" sz="1150" dirty="0">
                <a:solidFill>
                  <a:srgbClr val="1B2140"/>
                </a:solidFill>
                <a:latin typeface="Calibri" pitchFamily="34" charset="0"/>
                <a:ea typeface="Calibri" pitchFamily="34" charset="-122"/>
                <a:cs typeface="Calibri" pitchFamily="34" charset="-120"/>
              </a:rPr>
              <a:t>Unduh ke &lt;output&gt;/_cache/vina, chmod +x di POSIX</a:t>
            </a:r>
            <a:endParaRPr lang="en-US" sz="1150" dirty="0"/>
          </a:p>
        </p:txBody>
      </p:sp>
      <p:sp>
        <p:nvSpPr>
          <p:cNvPr id="20" name="Shape 18"/>
          <p:cNvSpPr/>
          <p:nvPr/>
        </p:nvSpPr>
        <p:spPr>
          <a:xfrm>
            <a:off x="777240" y="5376672"/>
            <a:ext cx="292608" cy="292608"/>
          </a:xfrm>
          <a:prstGeom prst="ellipse">
            <a:avLst/>
          </a:prstGeom>
          <a:solidFill>
            <a:srgbClr val="3C71E8"/>
          </a:solidFill>
          <a:ln w="12700">
            <a:solidFill>
              <a:srgbClr val="3C71E8"/>
            </a:solidFill>
            <a:prstDash val="solid"/>
          </a:ln>
        </p:spPr>
        <p:txBody>
          <a:bodyPr/>
          <a:p/>
        </p:txBody>
      </p:sp>
      <p:sp>
        <p:nvSpPr>
          <p:cNvPr id="21" name="Text 19"/>
          <p:cNvSpPr txBox="1"/>
          <p:nvPr/>
        </p:nvSpPr>
        <p:spPr>
          <a:xfrm>
            <a:off x="777240" y="5376672"/>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2" name="Text 20"/>
          <p:cNvSpPr txBox="1"/>
          <p:nvPr/>
        </p:nvSpPr>
        <p:spPr>
          <a:xfrm>
            <a:off x="1188720" y="5349240"/>
            <a:ext cx="2788920" cy="731520"/>
          </a:xfrm>
          <a:prstGeom prst="rect">
            <a:avLst/>
          </a:prstGeom>
          <a:noFill/>
          <a:ln/>
        </p:spPr>
        <p:txBody>
          <a:bodyPr wrap="square" lIns="0" tIns="0" rIns="0" bIns="0" rtlCol="0" anchor="t"/>
          <a:lstStyle/>
          <a:p>
            <a:pPr marL="0" indent="0">
              <a:buNone/>
            </a:pPr>
            <a:r>
              <a:rPr lang="en-US" sz="1150" dirty="0">
                <a:solidFill>
                  <a:srgbClr val="1B2140"/>
                </a:solidFill>
                <a:latin typeface="Calibri" pitchFamily="34" charset="0"/>
                <a:ea typeface="Calibri" pitchFamily="34" charset="-122"/>
                <a:cs typeface="Calibri" pitchFamily="34" charset="-120"/>
              </a:rPr>
              <a:t>Jalankan lewat path absolut, tidak memakai PATH</a:t>
            </a:r>
            <a:endParaRPr lang="en-US" sz="1150" dirty="0"/>
          </a:p>
        </p:txBody>
      </p:sp>
      <p:sp>
        <p:nvSpPr>
          <p:cNvPr id="23" name="Text 21"/>
          <p:cNvSpPr txBox="1"/>
          <p:nvPr/>
        </p:nvSpPr>
        <p:spPr>
          <a:xfrm>
            <a:off x="4343400" y="1691640"/>
            <a:ext cx="4069080" cy="1828800"/>
          </a:xfrm>
          <a:prstGeom prst="roundRect">
            <a:avLst>
              <a:gd name="adj" fmla="val 5000"/>
            </a:avLst>
          </a:prstGeom>
          <a:solidFill>
            <a:srgbClr val="0E1533"/>
          </a:solidFill>
          <a:ln/>
        </p:spPr>
        <p:txBody>
          <a:bodyPr wrap="square" lIns="127000" tIns="127000" rIns="127000" bIns="127000" rtlCol="0" anchor="t"/>
          <a:lstStyle/>
          <a:p>
            <a:pPr marL="0" indent="0">
              <a:spcAft>
                <a:spcPts val="100"/>
              </a:spcAft>
              <a:buNone/>
            </a:pPr>
            <a:r>
              <a:rPr lang="en-US" sz="1050" dirty="0">
                <a:solidFill>
                  <a:srgbClr val="DCE4FF"/>
                </a:solidFill>
                <a:latin typeface="Courier New" pitchFamily="34" charset="0"/>
                <a:ea typeface="Courier New" pitchFamily="34" charset="-122"/>
                <a:cs typeface="Courier New" pitchFamily="34" charset="-120"/>
              </a:rPr>
              <a:t>vina --receptor R.pdbqt --ligand L.pdbqt \</a:t>
            </a:r>
            <a:endParaRPr lang="en-US" sz="1050" dirty="0"/>
          </a:p>
          <a:p>
            <a:pPr marL="0" indent="0">
              <a:spcAft>
                <a:spcPts val="100"/>
              </a:spcAft>
              <a:buNone/>
            </a:pPr>
            <a:r>
              <a:rPr lang="en-US" sz="1050" dirty="0">
                <a:solidFill>
                  <a:srgbClr val="DCE4FF"/>
                </a:solidFill>
                <a:latin typeface="Courier New" pitchFamily="34" charset="0"/>
                <a:ea typeface="Courier New" pitchFamily="34" charset="-122"/>
                <a:cs typeface="Courier New" pitchFamily="34" charset="-120"/>
              </a:rPr>
              <a:t>     --out out.pdbqt --exhaustiveness 8 \</a:t>
            </a:r>
            <a:endParaRPr lang="en-US" sz="1050" dirty="0"/>
          </a:p>
          <a:p>
            <a:pPr marL="0" indent="0">
              <a:spcAft>
                <a:spcPts val="100"/>
              </a:spcAft>
              <a:buNone/>
            </a:pPr>
            <a:r>
              <a:rPr lang="en-US" sz="1050" dirty="0">
                <a:solidFill>
                  <a:srgbClr val="DCE4FF"/>
                </a:solidFill>
                <a:latin typeface="Courier New" pitchFamily="34" charset="0"/>
                <a:ea typeface="Courier New" pitchFamily="34" charset="-122"/>
                <a:cs typeface="Courier New" pitchFamily="34" charset="-120"/>
              </a:rPr>
              <a:t>     --num_modes 9 --energy_range 3.0 \</a:t>
            </a:r>
            <a:endParaRPr lang="en-US" sz="1050" dirty="0"/>
          </a:p>
          <a:p>
            <a:pPr marL="0" indent="0">
              <a:spcAft>
                <a:spcPts val="100"/>
              </a:spcAft>
              <a:buNone/>
            </a:pPr>
            <a:r>
              <a:rPr lang="en-US" sz="1050" dirty="0">
                <a:solidFill>
                  <a:srgbClr val="DCE4FF"/>
                </a:solidFill>
                <a:latin typeface="Courier New" pitchFamily="34" charset="0"/>
                <a:ea typeface="Courier New" pitchFamily="34" charset="-122"/>
                <a:cs typeface="Courier New" pitchFamily="34" charset="-120"/>
              </a:rPr>
              <a:t>     --center_x .. --center_y .. \</a:t>
            </a:r>
            <a:endParaRPr lang="en-US" sz="1050" dirty="0"/>
          </a:p>
          <a:p>
            <a:pPr marL="0" indent="0">
              <a:spcAft>
                <a:spcPts val="100"/>
              </a:spcAft>
              <a:buNone/>
            </a:pPr>
            <a:r>
              <a:rPr lang="en-US" sz="1050" dirty="0">
                <a:solidFill>
                  <a:srgbClr val="DCE4FF"/>
                </a:solidFill>
                <a:latin typeface="Courier New" pitchFamily="34" charset="0"/>
                <a:ea typeface="Courier New" pitchFamily="34" charset="-122"/>
                <a:cs typeface="Courier New" pitchFamily="34" charset="-120"/>
              </a:rPr>
              <a:t>     --center_z .. --size_x .. \</a:t>
            </a:r>
            <a:endParaRPr lang="en-US" sz="1050" dirty="0"/>
          </a:p>
          <a:p>
            <a:pPr marL="0" indent="0">
              <a:spcAft>
                <a:spcPts val="100"/>
              </a:spcAft>
              <a:buNone/>
            </a:pPr>
            <a:r>
              <a:rPr lang="en-US" sz="1050" dirty="0">
                <a:solidFill>
                  <a:srgbClr val="DCE4FF"/>
                </a:solidFill>
                <a:latin typeface="Courier New" pitchFamily="34" charset="0"/>
                <a:ea typeface="Courier New" pitchFamily="34" charset="-122"/>
                <a:cs typeface="Courier New" pitchFamily="34" charset="-120"/>
              </a:rPr>
              <a:t>     --size_y .. --size_z .. [--seed N]</a:t>
            </a:r>
            <a:endParaRPr lang="en-US" sz="1050" dirty="0"/>
          </a:p>
        </p:txBody>
      </p:sp>
      <p:sp>
        <p:nvSpPr>
          <p:cNvPr id="24" name="Shape 22"/>
          <p:cNvSpPr/>
          <p:nvPr/>
        </p:nvSpPr>
        <p:spPr>
          <a:xfrm>
            <a:off x="4343400" y="3703320"/>
            <a:ext cx="1965960" cy="1188720"/>
          </a:xfrm>
          <a:prstGeom prst="roundRect">
            <a:avLst>
              <a:gd name="adj" fmla="val 9231"/>
            </a:avLst>
          </a:prstGeom>
          <a:solidFill>
            <a:srgbClr val="E8EDFC"/>
          </a:solidFill>
          <a:ln w="9525">
            <a:solidFill>
              <a:srgbClr val="E8EDFC"/>
            </a:solidFill>
            <a:prstDash val="solid"/>
          </a:ln>
        </p:spPr>
        <p:txBody>
          <a:bodyPr/>
          <a:p/>
        </p:txBody>
      </p:sp>
      <p:sp>
        <p:nvSpPr>
          <p:cNvPr id="25" name="Text 23"/>
          <p:cNvSpPr txBox="1"/>
          <p:nvPr/>
        </p:nvSpPr>
        <p:spPr>
          <a:xfrm>
            <a:off x="4343400" y="3831336"/>
            <a:ext cx="1965960" cy="594360"/>
          </a:xfrm>
          <a:prstGeom prst="rect">
            <a:avLst/>
          </a:prstGeom>
          <a:noFill/>
          <a:ln/>
        </p:spPr>
        <p:txBody>
          <a:bodyPr wrap="square" lIns="0" tIns="0" rIns="0" bIns="0" rtlCol="0" anchor="ctr"/>
          <a:lstStyle/>
          <a:p>
            <a:pPr marL="0" indent="0" algn="ctr">
              <a:buNone/>
            </a:pPr>
            <a:r>
              <a:rPr lang="en-US" sz="2600" b="1" dirty="0">
                <a:solidFill>
                  <a:srgbClr val="3C71E8"/>
                </a:solidFill>
                <a:latin typeface="Cambria" pitchFamily="34" charset="0"/>
                <a:ea typeface="Cambria" pitchFamily="34" charset="-122"/>
                <a:cs typeface="Cambria" pitchFamily="34" charset="-120"/>
              </a:rPr>
              <a:t>8</a:t>
            </a:r>
            <a:endParaRPr lang="en-US" sz="2600" dirty="0"/>
          </a:p>
        </p:txBody>
      </p:sp>
      <p:sp>
        <p:nvSpPr>
          <p:cNvPr id="26" name="Text 24"/>
          <p:cNvSpPr txBox="1"/>
          <p:nvPr/>
        </p:nvSpPr>
        <p:spPr>
          <a:xfrm>
            <a:off x="4434840" y="4392778"/>
            <a:ext cx="1783080" cy="427939"/>
          </a:xfrm>
          <a:prstGeom prst="rect">
            <a:avLst/>
          </a:prstGeom>
          <a:noFill/>
          <a:ln/>
        </p:spPr>
        <p:txBody>
          <a:bodyPr wrap="square" lIns="0" tIns="0" rIns="0" bIns="0" rtlCol="0" anchor="t"/>
          <a:lstStyle/>
          <a:p>
            <a:pPr marL="0" indent="0" algn="ctr">
              <a:buNone/>
            </a:pPr>
            <a:r>
              <a:rPr lang="en-US" sz="1000" dirty="0">
                <a:solidFill>
                  <a:srgbClr val="5B6480"/>
                </a:solidFill>
                <a:latin typeface="Calibri" pitchFamily="34" charset="0"/>
                <a:ea typeface="Calibri" pitchFamily="34" charset="-122"/>
                <a:cs typeface="Calibri" pitchFamily="34" charset="-120"/>
              </a:rPr>
              <a:t>exhaustiveness (bawaan; demo memakai 16)</a:t>
            </a:r>
            <a:endParaRPr lang="en-US" sz="1000" dirty="0"/>
          </a:p>
        </p:txBody>
      </p:sp>
      <p:sp>
        <p:nvSpPr>
          <p:cNvPr id="27" name="Shape 25"/>
          <p:cNvSpPr/>
          <p:nvPr/>
        </p:nvSpPr>
        <p:spPr>
          <a:xfrm>
            <a:off x="6446520" y="3703320"/>
            <a:ext cx="1965960" cy="1188720"/>
          </a:xfrm>
          <a:prstGeom prst="roundRect">
            <a:avLst>
              <a:gd name="adj" fmla="val 9231"/>
            </a:avLst>
          </a:prstGeom>
          <a:solidFill>
            <a:srgbClr val="E8EDFC"/>
          </a:solidFill>
          <a:ln w="9525">
            <a:solidFill>
              <a:srgbClr val="E8EDFC"/>
            </a:solidFill>
            <a:prstDash val="solid"/>
          </a:ln>
        </p:spPr>
        <p:txBody>
          <a:bodyPr/>
          <a:p/>
        </p:txBody>
      </p:sp>
      <p:sp>
        <p:nvSpPr>
          <p:cNvPr id="28" name="Text 26"/>
          <p:cNvSpPr txBox="1"/>
          <p:nvPr/>
        </p:nvSpPr>
        <p:spPr>
          <a:xfrm>
            <a:off x="6446520" y="3831336"/>
            <a:ext cx="1965960" cy="594360"/>
          </a:xfrm>
          <a:prstGeom prst="rect">
            <a:avLst/>
          </a:prstGeom>
          <a:noFill/>
          <a:ln/>
        </p:spPr>
        <p:txBody>
          <a:bodyPr wrap="square" lIns="0" tIns="0" rIns="0" bIns="0" rtlCol="0" anchor="ctr"/>
          <a:lstStyle/>
          <a:p>
            <a:pPr marL="0" indent="0" algn="ctr">
              <a:buNone/>
            </a:pPr>
            <a:r>
              <a:rPr lang="en-US" sz="2600" b="1" dirty="0">
                <a:solidFill>
                  <a:srgbClr val="3C71E8"/>
                </a:solidFill>
                <a:latin typeface="Cambria" pitchFamily="34" charset="0"/>
                <a:ea typeface="Cambria" pitchFamily="34" charset="-122"/>
                <a:cs typeface="Cambria" pitchFamily="34" charset="-120"/>
              </a:rPr>
              <a:t>9</a:t>
            </a:r>
            <a:endParaRPr lang="en-US" sz="2600" dirty="0"/>
          </a:p>
        </p:txBody>
      </p:sp>
      <p:sp>
        <p:nvSpPr>
          <p:cNvPr id="29" name="Text 27"/>
          <p:cNvSpPr txBox="1"/>
          <p:nvPr/>
        </p:nvSpPr>
        <p:spPr>
          <a:xfrm>
            <a:off x="6537960" y="4392778"/>
            <a:ext cx="1783080" cy="427939"/>
          </a:xfrm>
          <a:prstGeom prst="rect">
            <a:avLst/>
          </a:prstGeom>
          <a:noFill/>
          <a:ln/>
        </p:spPr>
        <p:txBody>
          <a:bodyPr wrap="square" lIns="0" tIns="0" rIns="0" bIns="0" rtlCol="0" anchor="t"/>
          <a:lstStyle/>
          <a:p>
            <a:pPr marL="0" indent="0" algn="ctr">
              <a:buNone/>
            </a:pPr>
            <a:r>
              <a:rPr lang="en-US" sz="1000" dirty="0">
                <a:solidFill>
                  <a:srgbClr val="5B6480"/>
                </a:solidFill>
                <a:latin typeface="Calibri" pitchFamily="34" charset="0"/>
                <a:ea typeface="Calibri" pitchFamily="34" charset="-122"/>
                <a:cs typeface="Calibri" pitchFamily="34" charset="-120"/>
              </a:rPr>
              <a:t>num_modes: pose per run</a:t>
            </a:r>
            <a:endParaRPr lang="en-US" sz="1000" dirty="0"/>
          </a:p>
        </p:txBody>
      </p:sp>
      <p:sp>
        <p:nvSpPr>
          <p:cNvPr id="30" name="Shape 28"/>
          <p:cNvSpPr/>
          <p:nvPr/>
        </p:nvSpPr>
        <p:spPr>
          <a:xfrm>
            <a:off x="4343400" y="5029200"/>
            <a:ext cx="1965960" cy="1143000"/>
          </a:xfrm>
          <a:prstGeom prst="roundRect">
            <a:avLst>
              <a:gd name="adj" fmla="val 9600"/>
            </a:avLst>
          </a:prstGeom>
          <a:solidFill>
            <a:srgbClr val="E8EDFC"/>
          </a:solidFill>
          <a:ln w="9525">
            <a:solidFill>
              <a:srgbClr val="E8EDFC"/>
            </a:solidFill>
            <a:prstDash val="solid"/>
          </a:ln>
        </p:spPr>
        <p:txBody>
          <a:bodyPr/>
          <a:p/>
        </p:txBody>
      </p:sp>
      <p:sp>
        <p:nvSpPr>
          <p:cNvPr id="31" name="Text 29"/>
          <p:cNvSpPr txBox="1"/>
          <p:nvPr/>
        </p:nvSpPr>
        <p:spPr>
          <a:xfrm>
            <a:off x="4343400" y="5157216"/>
            <a:ext cx="1965960" cy="571500"/>
          </a:xfrm>
          <a:prstGeom prst="rect">
            <a:avLst/>
          </a:prstGeom>
          <a:noFill/>
          <a:ln/>
        </p:spPr>
        <p:txBody>
          <a:bodyPr wrap="square" lIns="0" tIns="0" rIns="0" bIns="0" rtlCol="0" anchor="ctr"/>
          <a:lstStyle/>
          <a:p>
            <a:pPr marL="0" indent="0" algn="ctr">
              <a:buNone/>
            </a:pPr>
            <a:r>
              <a:rPr lang="en-US" sz="2600" b="1" dirty="0">
                <a:solidFill>
                  <a:srgbClr val="3C71E8"/>
                </a:solidFill>
                <a:latin typeface="Cambria" pitchFamily="34" charset="0"/>
                <a:ea typeface="Cambria" pitchFamily="34" charset="-122"/>
                <a:cs typeface="Cambria" pitchFamily="34" charset="-120"/>
              </a:rPr>
              <a:t>3,0</a:t>
            </a:r>
            <a:endParaRPr lang="en-US" sz="2600" dirty="0"/>
          </a:p>
        </p:txBody>
      </p:sp>
      <p:sp>
        <p:nvSpPr>
          <p:cNvPr id="32" name="Text 30"/>
          <p:cNvSpPr txBox="1"/>
          <p:nvPr/>
        </p:nvSpPr>
        <p:spPr>
          <a:xfrm>
            <a:off x="4434840" y="5692140"/>
            <a:ext cx="1783080" cy="411480"/>
          </a:xfrm>
          <a:prstGeom prst="rect">
            <a:avLst/>
          </a:prstGeom>
          <a:noFill/>
          <a:ln/>
        </p:spPr>
        <p:txBody>
          <a:bodyPr wrap="square" lIns="0" tIns="0" rIns="0" bIns="0" rtlCol="0" anchor="t"/>
          <a:lstStyle/>
          <a:p>
            <a:pPr marL="0" indent="0" algn="ctr">
              <a:buNone/>
            </a:pPr>
            <a:r>
              <a:rPr lang="en-US" sz="1000" dirty="0">
                <a:solidFill>
                  <a:srgbClr val="5B6480"/>
                </a:solidFill>
                <a:latin typeface="Calibri" pitchFamily="34" charset="0"/>
                <a:ea typeface="Calibri" pitchFamily="34" charset="-122"/>
                <a:cs typeface="Calibri" pitchFamily="34" charset="-120"/>
              </a:rPr>
              <a:t>energy_range (kcal/mol)</a:t>
            </a:r>
            <a:endParaRPr lang="en-US" sz="1000" dirty="0"/>
          </a:p>
        </p:txBody>
      </p:sp>
      <p:sp>
        <p:nvSpPr>
          <p:cNvPr id="33" name="Shape 31"/>
          <p:cNvSpPr/>
          <p:nvPr/>
        </p:nvSpPr>
        <p:spPr>
          <a:xfrm>
            <a:off x="6446520" y="5029200"/>
            <a:ext cx="1965960" cy="1143000"/>
          </a:xfrm>
          <a:prstGeom prst="roundRect">
            <a:avLst>
              <a:gd name="adj" fmla="val 9600"/>
            </a:avLst>
          </a:prstGeom>
          <a:solidFill>
            <a:srgbClr val="E8EDFC"/>
          </a:solidFill>
          <a:ln w="9525">
            <a:solidFill>
              <a:srgbClr val="E8EDFC"/>
            </a:solidFill>
            <a:prstDash val="solid"/>
          </a:ln>
        </p:spPr>
        <p:txBody>
          <a:bodyPr/>
          <a:p/>
        </p:txBody>
      </p:sp>
      <p:sp>
        <p:nvSpPr>
          <p:cNvPr id="34" name="Text 32"/>
          <p:cNvSpPr txBox="1"/>
          <p:nvPr/>
        </p:nvSpPr>
        <p:spPr>
          <a:xfrm>
            <a:off x="6446520" y="5157216"/>
            <a:ext cx="1965960" cy="571500"/>
          </a:xfrm>
          <a:prstGeom prst="rect">
            <a:avLst/>
          </a:prstGeom>
          <a:noFill/>
          <a:ln/>
        </p:spPr>
        <p:txBody>
          <a:bodyPr wrap="square" lIns="0" tIns="0" rIns="0" bIns="0" rtlCol="0" anchor="ctr"/>
          <a:lstStyle/>
          <a:p>
            <a:pPr marL="0" indent="0" algn="ctr">
              <a:buNone/>
            </a:pPr>
            <a:r>
              <a:rPr lang="en-US" sz="2600" b="1" dirty="0">
                <a:solidFill>
                  <a:srgbClr val="8E70EB"/>
                </a:solidFill>
                <a:latin typeface="Cambria" pitchFamily="34" charset="0"/>
                <a:ea typeface="Cambria" pitchFamily="34" charset="-122"/>
                <a:cs typeface="Cambria" pitchFamily="34" charset="-120"/>
              </a:rPr>
              <a:t>acak</a:t>
            </a:r>
            <a:endParaRPr lang="en-US" sz="2600" dirty="0"/>
          </a:p>
        </p:txBody>
      </p:sp>
      <p:sp>
        <p:nvSpPr>
          <p:cNvPr id="35" name="Text 33"/>
          <p:cNvSpPr txBox="1"/>
          <p:nvPr/>
        </p:nvSpPr>
        <p:spPr>
          <a:xfrm>
            <a:off x="6537960" y="5692140"/>
            <a:ext cx="1783080" cy="411480"/>
          </a:xfrm>
          <a:prstGeom prst="rect">
            <a:avLst/>
          </a:prstGeom>
          <a:noFill/>
          <a:ln/>
        </p:spPr>
        <p:txBody>
          <a:bodyPr wrap="square" lIns="0" tIns="0" rIns="0" bIns="0" rtlCol="0" anchor="t"/>
          <a:lstStyle/>
          <a:p>
            <a:pPr marL="0" indent="0" algn="ctr">
              <a:buNone/>
            </a:pPr>
            <a:r>
              <a:rPr lang="en-US" sz="1000" dirty="0">
                <a:solidFill>
                  <a:srgbClr val="5B6480"/>
                </a:solidFill>
                <a:latin typeface="Calibri" pitchFamily="34" charset="0"/>
                <a:ea typeface="Calibri" pitchFamily="34" charset="-122"/>
                <a:cs typeface="Calibri" pitchFamily="34" charset="-120"/>
              </a:rPr>
              <a:t>seed bawaan per replikat</a:t>
            </a:r>
            <a:endParaRPr lang="en-US" sz="1000" dirty="0"/>
          </a:p>
        </p:txBody>
      </p:sp>
      <p:sp>
        <p:nvSpPr>
          <p:cNvPr id="36" name="Shape 34"/>
          <p:cNvSpPr/>
          <p:nvPr/>
        </p:nvSpPr>
        <p:spPr>
          <a:xfrm>
            <a:off x="8595360" y="1691640"/>
            <a:ext cx="3044952" cy="4480560"/>
          </a:xfrm>
          <a:prstGeom prst="roundRect">
            <a:avLst>
              <a:gd name="adj" fmla="val 3604"/>
            </a:avLst>
          </a:prstGeom>
          <a:solidFill>
            <a:srgbClr val="EDE7FC"/>
          </a:solidFill>
          <a:ln w="9525">
            <a:solidFill>
              <a:srgbClr val="EDE7FC"/>
            </a:solidFill>
            <a:prstDash val="solid"/>
          </a:ln>
        </p:spPr>
        <p:txBody>
          <a:bodyPr/>
          <a:p/>
        </p:txBody>
      </p:sp>
      <p:sp>
        <p:nvSpPr>
          <p:cNvPr id="37" name="Text 35"/>
          <p:cNvSpPr txBox="1"/>
          <p:nvPr/>
        </p:nvSpPr>
        <p:spPr>
          <a:xfrm>
            <a:off x="8778240" y="1810512"/>
            <a:ext cx="2743200" cy="274320"/>
          </a:xfrm>
          <a:prstGeom prst="rect">
            <a:avLst/>
          </a:prstGeom>
          <a:noFill/>
          <a:ln/>
        </p:spPr>
        <p:txBody>
          <a:bodyPr wrap="square" lIns="0" tIns="0" rIns="0" bIns="0" rtlCol="0" anchor="t"/>
          <a:lstStyle/>
          <a:p>
            <a:pPr marL="0" indent="0">
              <a:buNone/>
            </a:pPr>
            <a:r>
              <a:rPr lang="en-US" sz="1450" b="1" dirty="0">
                <a:solidFill>
                  <a:srgbClr val="1B2140"/>
                </a:solidFill>
                <a:latin typeface="Calibri" pitchFamily="34" charset="0"/>
                <a:ea typeface="Calibri" pitchFamily="34" charset="-122"/>
                <a:cs typeface="Calibri" pitchFamily="34" charset="-120"/>
              </a:rPr>
              <a:t>Skor dan parsing</a:t>
            </a:r>
            <a:endParaRPr lang="en-US" sz="1450" dirty="0"/>
          </a:p>
        </p:txBody>
      </p:sp>
      <p:sp>
        <p:nvSpPr>
          <p:cNvPr id="38" name="Text 36"/>
          <p:cNvSpPr txBox="1"/>
          <p:nvPr/>
        </p:nvSpPr>
        <p:spPr>
          <a:xfrm>
            <a:off x="8778240" y="2212848"/>
            <a:ext cx="2697480" cy="384048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1B2140"/>
                </a:solidFill>
                <a:latin typeface="Calibri" pitchFamily="34" charset="0"/>
                <a:ea typeface="Calibri" pitchFamily="34" charset="-122"/>
                <a:cs typeface="Calibri" pitchFamily="34" charset="-120"/>
              </a:rPr>
              <a:t>Fungsi skor empiris: steric, hidrofobik, ikatan hidrogen, penalti torsi (Trott dan Olson 2010)</a:t>
            </a:r>
            <a:endParaRPr lang="en-US" sz="1150" dirty="0"/>
          </a:p>
          <a:p>
            <a:pPr marL="177800" indent="-177800">
              <a:spcAft>
                <a:spcPts val="600"/>
              </a:spcAft>
              <a:buSzPct val="100000"/>
              <a:buChar char="•"/>
            </a:pPr>
            <a:r>
              <a:rPr lang="en-US" sz="1150" dirty="0">
                <a:solidFill>
                  <a:srgbClr val="1B2140"/>
                </a:solidFill>
                <a:latin typeface="Calibri" pitchFamily="34" charset="0"/>
                <a:ea typeface="Calibri" pitchFamily="34" charset="-122"/>
                <a:cs typeface="Calibri" pitchFamily="34" charset="-120"/>
              </a:rPr>
              <a:t>Satuan kcal/mol; makin negatif makin baik; mode 1 = terbaik</a:t>
            </a:r>
            <a:endParaRPr lang="en-US" sz="1150" dirty="0"/>
          </a:p>
          <a:p>
            <a:pPr marL="177800" indent="-177800">
              <a:spcAft>
                <a:spcPts val="600"/>
              </a:spcAft>
              <a:buSzPct val="100000"/>
              <a:buChar char="•"/>
            </a:pPr>
            <a:r>
              <a:rPr lang="en-US" sz="1150" dirty="0">
                <a:solidFill>
                  <a:srgbClr val="1B2140"/>
                </a:solidFill>
                <a:latin typeface="Calibri" pitchFamily="34" charset="0"/>
                <a:ea typeface="Calibri" pitchFamily="34" charset="-122"/>
                <a:cs typeface="Calibri" pitchFamily="34" charset="-120"/>
              </a:rPr>
              <a:t>Tabel skor dibaca dari stdout: baris setelah -----+ yang berawalan angka</a:t>
            </a:r>
            <a:endParaRPr lang="en-US" sz="1150" dirty="0"/>
          </a:p>
          <a:p>
            <a:pPr marL="177800" indent="-177800">
              <a:spcAft>
                <a:spcPts val="600"/>
              </a:spcAft>
              <a:buSzPct val="100000"/>
              <a:buChar char="•"/>
            </a:pPr>
            <a:r>
              <a:rPr lang="en-US" sz="1150" dirty="0">
                <a:solidFill>
                  <a:srgbClr val="1B2140"/>
                </a:solidFill>
                <a:latin typeface="Calibri" pitchFamily="34" charset="0"/>
                <a:ea typeface="Calibri" pitchFamily="34" charset="-122"/>
                <a:cs typeface="Calibri" pitchFamily="34" charset="-120"/>
              </a:rPr>
              <a:t>--log tidak dipakai (tidak didukung Vina &gt; 1.1.2). stdout distream, log ditulis manual</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2029968"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C · PIPELINE IN SILICO</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Matriks docking: ligan × reseptor × replikat, satu kegagalan tidak menghentikan yang lain</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16</a:t>
            </a:r>
            <a:endParaRPr lang="en-US" sz="1000" dirty="0"/>
          </a:p>
        </p:txBody>
      </p:sp>
      <p:sp>
        <p:nvSpPr>
          <p:cNvPr id="6" name="Shape 4"/>
          <p:cNvSpPr/>
          <p:nvPr/>
        </p:nvSpPr>
        <p:spPr>
          <a:xfrm>
            <a:off x="1618488" y="2103120"/>
            <a:ext cx="4654296" cy="2322576"/>
          </a:xfrm>
          <a:prstGeom prst="roundRect">
            <a:avLst>
              <a:gd name="adj" fmla="val 2362"/>
            </a:avLst>
          </a:prstGeom>
          <a:solidFill>
            <a:srgbClr val="EDE7FC"/>
          </a:solidFill>
          <a:ln w="12700">
            <a:solidFill>
              <a:srgbClr val="8E70EB"/>
            </a:solidFill>
            <a:prstDash val="solid"/>
          </a:ln>
        </p:spPr>
        <p:txBody>
          <a:bodyPr/>
          <a:lstStyle/>
          <a:p>
            <a:endParaRPr/>
          </a:p>
        </p:txBody>
      </p:sp>
      <p:sp>
        <p:nvSpPr>
          <p:cNvPr id="7" name="Text 5"/>
          <p:cNvSpPr txBox="1"/>
          <p:nvPr/>
        </p:nvSpPr>
        <p:spPr>
          <a:xfrm>
            <a:off x="914400" y="1828800"/>
            <a:ext cx="5394960" cy="228600"/>
          </a:xfrm>
          <a:prstGeom prst="rect">
            <a:avLst/>
          </a:prstGeom>
          <a:noFill/>
          <a:ln/>
        </p:spPr>
        <p:txBody>
          <a:bodyPr wrap="square" lIns="0" tIns="0" rIns="0" bIns="0" rtlCol="0" anchor="t"/>
          <a:lstStyle/>
          <a:p>
            <a:pPr marL="0" indent="0" algn="r">
              <a:buNone/>
            </a:pPr>
            <a:r>
              <a:rPr lang="en-US" sz="1000" b="1" dirty="0">
                <a:solidFill>
                  <a:srgbClr val="8E70EB"/>
                </a:solidFill>
                <a:latin typeface="Calibri" pitchFamily="34" charset="0"/>
                <a:ea typeface="Calibri" pitchFamily="34" charset="-122"/>
                <a:cs typeface="Calibri" pitchFamily="34" charset="-120"/>
              </a:rPr>
              <a:t>replikat 2 (seed 43) di belakang replikat 1 (seed 42)</a:t>
            </a:r>
            <a:endParaRPr lang="en-US" sz="1000" dirty="0"/>
          </a:p>
        </p:txBody>
      </p:sp>
      <p:sp>
        <p:nvSpPr>
          <p:cNvPr id="8" name="Text 6"/>
          <p:cNvSpPr txBox="1"/>
          <p:nvPr/>
        </p:nvSpPr>
        <p:spPr>
          <a:xfrm>
            <a:off x="502920" y="2331720"/>
            <a:ext cx="868680" cy="411480"/>
          </a:xfrm>
          <a:prstGeom prst="rect">
            <a:avLst/>
          </a:prstGeom>
          <a:noFill/>
          <a:ln/>
        </p:spPr>
        <p:txBody>
          <a:bodyPr wrap="square" lIns="0" tIns="0" rIns="0" bIns="0" rtlCol="0" anchor="ctr"/>
          <a:lstStyle/>
          <a:p>
            <a:pPr marL="0" indent="0" algn="r">
              <a:buNone/>
            </a:pPr>
            <a:r>
              <a:rPr lang="en-US" sz="1000" dirty="0">
                <a:solidFill>
                  <a:srgbClr val="5B6480"/>
                </a:solidFill>
                <a:latin typeface="Courier New" pitchFamily="34" charset="0"/>
                <a:ea typeface="Courier New" pitchFamily="34" charset="-122"/>
                <a:cs typeface="Courier New" pitchFamily="34" charset="-120"/>
              </a:rPr>
              <a:t>1UWH</a:t>
            </a:r>
            <a:endParaRPr lang="en-US" sz="1000" dirty="0"/>
          </a:p>
        </p:txBody>
      </p:sp>
      <p:sp>
        <p:nvSpPr>
          <p:cNvPr id="9" name="Shape 7"/>
          <p:cNvSpPr/>
          <p:nvPr/>
        </p:nvSpPr>
        <p:spPr>
          <a:xfrm>
            <a:off x="1417320" y="2331720"/>
            <a:ext cx="411480" cy="411480"/>
          </a:xfrm>
          <a:prstGeom prst="rect">
            <a:avLst/>
          </a:prstGeom>
          <a:solidFill>
            <a:srgbClr val="9DB7F3"/>
          </a:solidFill>
          <a:ln w="6350">
            <a:solidFill>
              <a:srgbClr val="FFFFFF"/>
            </a:solidFill>
            <a:prstDash val="solid"/>
          </a:ln>
        </p:spPr>
        <p:txBody>
          <a:bodyPr/>
          <a:lstStyle/>
          <a:p>
            <a:endParaRPr/>
          </a:p>
        </p:txBody>
      </p:sp>
      <p:sp>
        <p:nvSpPr>
          <p:cNvPr id="10" name="Shape 8"/>
          <p:cNvSpPr/>
          <p:nvPr/>
        </p:nvSpPr>
        <p:spPr>
          <a:xfrm>
            <a:off x="1883664" y="2331720"/>
            <a:ext cx="411480" cy="411480"/>
          </a:xfrm>
          <a:prstGeom prst="rect">
            <a:avLst/>
          </a:prstGeom>
          <a:solidFill>
            <a:srgbClr val="5E8AEC"/>
          </a:solidFill>
          <a:ln w="6350">
            <a:solidFill>
              <a:srgbClr val="FFFFFF"/>
            </a:solidFill>
            <a:prstDash val="solid"/>
          </a:ln>
        </p:spPr>
        <p:txBody>
          <a:bodyPr/>
          <a:lstStyle/>
          <a:p>
            <a:endParaRPr/>
          </a:p>
        </p:txBody>
      </p:sp>
      <p:sp>
        <p:nvSpPr>
          <p:cNvPr id="11" name="Shape 9"/>
          <p:cNvSpPr/>
          <p:nvPr/>
        </p:nvSpPr>
        <p:spPr>
          <a:xfrm>
            <a:off x="2350008" y="2331720"/>
            <a:ext cx="411480" cy="411480"/>
          </a:xfrm>
          <a:prstGeom prst="rect">
            <a:avLst/>
          </a:prstGeom>
          <a:solidFill>
            <a:srgbClr val="88A8F1"/>
          </a:solidFill>
          <a:ln w="6350">
            <a:solidFill>
              <a:srgbClr val="FFFFFF"/>
            </a:solidFill>
            <a:prstDash val="solid"/>
          </a:ln>
        </p:spPr>
        <p:txBody>
          <a:bodyPr/>
          <a:lstStyle/>
          <a:p>
            <a:endParaRPr/>
          </a:p>
        </p:txBody>
      </p:sp>
      <p:sp>
        <p:nvSpPr>
          <p:cNvPr id="12" name="Shape 10"/>
          <p:cNvSpPr/>
          <p:nvPr/>
        </p:nvSpPr>
        <p:spPr>
          <a:xfrm>
            <a:off x="2816352" y="2331720"/>
            <a:ext cx="411480" cy="411480"/>
          </a:xfrm>
          <a:prstGeom prst="rect">
            <a:avLst/>
          </a:prstGeom>
          <a:solidFill>
            <a:srgbClr val="5886EB"/>
          </a:solidFill>
          <a:ln w="6350">
            <a:solidFill>
              <a:srgbClr val="FFFFFF"/>
            </a:solidFill>
            <a:prstDash val="solid"/>
          </a:ln>
        </p:spPr>
        <p:txBody>
          <a:bodyPr/>
          <a:lstStyle/>
          <a:p>
            <a:endParaRPr/>
          </a:p>
        </p:txBody>
      </p:sp>
      <p:sp>
        <p:nvSpPr>
          <p:cNvPr id="13" name="Shape 11"/>
          <p:cNvSpPr/>
          <p:nvPr/>
        </p:nvSpPr>
        <p:spPr>
          <a:xfrm>
            <a:off x="3282696" y="2331720"/>
            <a:ext cx="411480" cy="411480"/>
          </a:xfrm>
          <a:prstGeom prst="rect">
            <a:avLst/>
          </a:prstGeom>
          <a:solidFill>
            <a:srgbClr val="5583EB"/>
          </a:solidFill>
          <a:ln w="6350">
            <a:solidFill>
              <a:srgbClr val="FFFFFF"/>
            </a:solidFill>
            <a:prstDash val="solid"/>
          </a:ln>
        </p:spPr>
        <p:txBody>
          <a:bodyPr/>
          <a:lstStyle/>
          <a:p>
            <a:endParaRPr/>
          </a:p>
        </p:txBody>
      </p:sp>
      <p:sp>
        <p:nvSpPr>
          <p:cNvPr id="14" name="Shape 12"/>
          <p:cNvSpPr/>
          <p:nvPr/>
        </p:nvSpPr>
        <p:spPr>
          <a:xfrm>
            <a:off x="3749040" y="2331720"/>
            <a:ext cx="411480" cy="411480"/>
          </a:xfrm>
          <a:prstGeom prst="rect">
            <a:avLst/>
          </a:prstGeom>
          <a:solidFill>
            <a:srgbClr val="B7CAF6"/>
          </a:solidFill>
          <a:ln w="6350">
            <a:solidFill>
              <a:srgbClr val="FFFFFF"/>
            </a:solidFill>
            <a:prstDash val="solid"/>
          </a:ln>
        </p:spPr>
        <p:txBody>
          <a:bodyPr/>
          <a:lstStyle/>
          <a:p>
            <a:endParaRPr/>
          </a:p>
        </p:txBody>
      </p:sp>
      <p:sp>
        <p:nvSpPr>
          <p:cNvPr id="15" name="Shape 13"/>
          <p:cNvSpPr/>
          <p:nvPr/>
        </p:nvSpPr>
        <p:spPr>
          <a:xfrm>
            <a:off x="4215384" y="2331720"/>
            <a:ext cx="411480" cy="411480"/>
          </a:xfrm>
          <a:prstGeom prst="rect">
            <a:avLst/>
          </a:prstGeom>
          <a:solidFill>
            <a:srgbClr val="A9C0F5"/>
          </a:solidFill>
          <a:ln w="6350">
            <a:solidFill>
              <a:srgbClr val="FFFFFF"/>
            </a:solidFill>
            <a:prstDash val="solid"/>
          </a:ln>
        </p:spPr>
        <p:txBody>
          <a:bodyPr/>
          <a:lstStyle/>
          <a:p>
            <a:endParaRPr/>
          </a:p>
        </p:txBody>
      </p:sp>
      <p:sp>
        <p:nvSpPr>
          <p:cNvPr id="16" name="Shape 14"/>
          <p:cNvSpPr/>
          <p:nvPr/>
        </p:nvSpPr>
        <p:spPr>
          <a:xfrm>
            <a:off x="4681728" y="2331720"/>
            <a:ext cx="411480" cy="411480"/>
          </a:xfrm>
          <a:prstGeom prst="rect">
            <a:avLst/>
          </a:prstGeom>
          <a:solidFill>
            <a:srgbClr val="D9E2FA"/>
          </a:solidFill>
          <a:ln w="6350">
            <a:solidFill>
              <a:srgbClr val="FFFFFF"/>
            </a:solidFill>
            <a:prstDash val="solid"/>
          </a:ln>
        </p:spPr>
        <p:txBody>
          <a:bodyPr/>
          <a:lstStyle/>
          <a:p>
            <a:endParaRPr/>
          </a:p>
        </p:txBody>
      </p:sp>
      <p:sp>
        <p:nvSpPr>
          <p:cNvPr id="17" name="Shape 15"/>
          <p:cNvSpPr/>
          <p:nvPr/>
        </p:nvSpPr>
        <p:spPr>
          <a:xfrm>
            <a:off x="5148072" y="2331720"/>
            <a:ext cx="411480" cy="411480"/>
          </a:xfrm>
          <a:prstGeom prst="rect">
            <a:avLst/>
          </a:prstGeom>
          <a:solidFill>
            <a:srgbClr val="B7CAF6"/>
          </a:solidFill>
          <a:ln w="6350">
            <a:solidFill>
              <a:srgbClr val="FFFFFF"/>
            </a:solidFill>
            <a:prstDash val="solid"/>
          </a:ln>
        </p:spPr>
        <p:txBody>
          <a:bodyPr/>
          <a:lstStyle/>
          <a:p>
            <a:endParaRPr/>
          </a:p>
        </p:txBody>
      </p:sp>
      <p:sp>
        <p:nvSpPr>
          <p:cNvPr id="18" name="Shape 16"/>
          <p:cNvSpPr/>
          <p:nvPr/>
        </p:nvSpPr>
        <p:spPr>
          <a:xfrm>
            <a:off x="5614416" y="2331720"/>
            <a:ext cx="411480" cy="411480"/>
          </a:xfrm>
          <a:prstGeom prst="rect">
            <a:avLst/>
          </a:prstGeom>
          <a:solidFill>
            <a:srgbClr val="B5C8F6"/>
          </a:solidFill>
          <a:ln w="6350">
            <a:solidFill>
              <a:srgbClr val="FFFFFF"/>
            </a:solidFill>
            <a:prstDash val="solid"/>
          </a:ln>
        </p:spPr>
        <p:txBody>
          <a:bodyPr/>
          <a:lstStyle/>
          <a:p>
            <a:endParaRPr/>
          </a:p>
        </p:txBody>
      </p:sp>
      <p:sp>
        <p:nvSpPr>
          <p:cNvPr id="19" name="Text 17"/>
          <p:cNvSpPr txBox="1"/>
          <p:nvPr/>
        </p:nvSpPr>
        <p:spPr>
          <a:xfrm>
            <a:off x="502920" y="2798064"/>
            <a:ext cx="868680" cy="411480"/>
          </a:xfrm>
          <a:prstGeom prst="rect">
            <a:avLst/>
          </a:prstGeom>
          <a:noFill/>
          <a:ln/>
        </p:spPr>
        <p:txBody>
          <a:bodyPr wrap="square" lIns="0" tIns="0" rIns="0" bIns="0" rtlCol="0" anchor="ctr"/>
          <a:lstStyle/>
          <a:p>
            <a:pPr marL="0" indent="0" algn="r">
              <a:buNone/>
            </a:pPr>
            <a:r>
              <a:rPr lang="en-US" sz="1000" dirty="0">
                <a:solidFill>
                  <a:srgbClr val="5B6480"/>
                </a:solidFill>
                <a:latin typeface="Courier New" pitchFamily="34" charset="0"/>
                <a:ea typeface="Courier New" pitchFamily="34" charset="-122"/>
                <a:cs typeface="Courier New" pitchFamily="34" charset="-120"/>
              </a:rPr>
              <a:t>4EY7</a:t>
            </a:r>
            <a:endParaRPr lang="en-US" sz="1000" dirty="0"/>
          </a:p>
        </p:txBody>
      </p:sp>
      <p:sp>
        <p:nvSpPr>
          <p:cNvPr id="20" name="Shape 18"/>
          <p:cNvSpPr/>
          <p:nvPr/>
        </p:nvSpPr>
        <p:spPr>
          <a:xfrm>
            <a:off x="1417320" y="2798064"/>
            <a:ext cx="411480" cy="411480"/>
          </a:xfrm>
          <a:prstGeom prst="rect">
            <a:avLst/>
          </a:prstGeom>
          <a:solidFill>
            <a:srgbClr val="A9BFF5"/>
          </a:solidFill>
          <a:ln w="6350">
            <a:solidFill>
              <a:srgbClr val="FFFFFF"/>
            </a:solidFill>
            <a:prstDash val="solid"/>
          </a:ln>
        </p:spPr>
        <p:txBody>
          <a:bodyPr/>
          <a:lstStyle/>
          <a:p>
            <a:endParaRPr/>
          </a:p>
        </p:txBody>
      </p:sp>
      <p:sp>
        <p:nvSpPr>
          <p:cNvPr id="21" name="Shape 19"/>
          <p:cNvSpPr/>
          <p:nvPr/>
        </p:nvSpPr>
        <p:spPr>
          <a:xfrm>
            <a:off x="1883664" y="2798064"/>
            <a:ext cx="411480" cy="411480"/>
          </a:xfrm>
          <a:prstGeom prst="rect">
            <a:avLst/>
          </a:prstGeom>
          <a:solidFill>
            <a:srgbClr val="5B87EC"/>
          </a:solidFill>
          <a:ln w="6350">
            <a:solidFill>
              <a:srgbClr val="FFFFFF"/>
            </a:solidFill>
            <a:prstDash val="solid"/>
          </a:ln>
        </p:spPr>
        <p:txBody>
          <a:bodyPr/>
          <a:lstStyle/>
          <a:p>
            <a:endParaRPr/>
          </a:p>
        </p:txBody>
      </p:sp>
      <p:sp>
        <p:nvSpPr>
          <p:cNvPr id="22" name="Shape 20"/>
          <p:cNvSpPr/>
          <p:nvPr/>
        </p:nvSpPr>
        <p:spPr>
          <a:xfrm>
            <a:off x="2350008" y="2798064"/>
            <a:ext cx="411480" cy="411480"/>
          </a:xfrm>
          <a:prstGeom prst="rect">
            <a:avLst/>
          </a:prstGeom>
          <a:solidFill>
            <a:srgbClr val="C7D6F8"/>
          </a:solidFill>
          <a:ln w="6350">
            <a:solidFill>
              <a:srgbClr val="FFFFFF"/>
            </a:solidFill>
            <a:prstDash val="solid"/>
          </a:ln>
        </p:spPr>
        <p:txBody>
          <a:bodyPr/>
          <a:lstStyle/>
          <a:p>
            <a:endParaRPr/>
          </a:p>
        </p:txBody>
      </p:sp>
      <p:sp>
        <p:nvSpPr>
          <p:cNvPr id="23" name="Shape 21"/>
          <p:cNvSpPr/>
          <p:nvPr/>
        </p:nvSpPr>
        <p:spPr>
          <a:xfrm>
            <a:off x="2816352" y="2798064"/>
            <a:ext cx="411480" cy="411480"/>
          </a:xfrm>
          <a:prstGeom prst="rect">
            <a:avLst/>
          </a:prstGeom>
          <a:solidFill>
            <a:srgbClr val="749AEF"/>
          </a:solidFill>
          <a:ln w="6350">
            <a:solidFill>
              <a:srgbClr val="FFFFFF"/>
            </a:solidFill>
            <a:prstDash val="solid"/>
          </a:ln>
        </p:spPr>
        <p:txBody>
          <a:bodyPr/>
          <a:lstStyle/>
          <a:p>
            <a:endParaRPr/>
          </a:p>
        </p:txBody>
      </p:sp>
      <p:sp>
        <p:nvSpPr>
          <p:cNvPr id="24" name="Shape 22"/>
          <p:cNvSpPr/>
          <p:nvPr/>
        </p:nvSpPr>
        <p:spPr>
          <a:xfrm>
            <a:off x="3282696" y="2798064"/>
            <a:ext cx="411480" cy="411480"/>
          </a:xfrm>
          <a:prstGeom prst="rect">
            <a:avLst/>
          </a:prstGeom>
          <a:solidFill>
            <a:srgbClr val="6B93EE"/>
          </a:solidFill>
          <a:ln w="6350">
            <a:solidFill>
              <a:srgbClr val="FFFFFF"/>
            </a:solidFill>
            <a:prstDash val="solid"/>
          </a:ln>
        </p:spPr>
        <p:txBody>
          <a:bodyPr/>
          <a:lstStyle/>
          <a:p>
            <a:endParaRPr/>
          </a:p>
        </p:txBody>
      </p:sp>
      <p:sp>
        <p:nvSpPr>
          <p:cNvPr id="25" name="Shape 23"/>
          <p:cNvSpPr/>
          <p:nvPr/>
        </p:nvSpPr>
        <p:spPr>
          <a:xfrm>
            <a:off x="3749040" y="2798064"/>
            <a:ext cx="411480" cy="411480"/>
          </a:xfrm>
          <a:prstGeom prst="rect">
            <a:avLst/>
          </a:prstGeom>
          <a:solidFill>
            <a:srgbClr val="D4DEFA"/>
          </a:solidFill>
          <a:ln w="6350">
            <a:solidFill>
              <a:srgbClr val="FFFFFF"/>
            </a:solidFill>
            <a:prstDash val="solid"/>
          </a:ln>
        </p:spPr>
        <p:txBody>
          <a:bodyPr/>
          <a:lstStyle/>
          <a:p>
            <a:endParaRPr/>
          </a:p>
        </p:txBody>
      </p:sp>
      <p:sp>
        <p:nvSpPr>
          <p:cNvPr id="26" name="Shape 24"/>
          <p:cNvSpPr/>
          <p:nvPr/>
        </p:nvSpPr>
        <p:spPr>
          <a:xfrm>
            <a:off x="4215384" y="2798064"/>
            <a:ext cx="411480" cy="411480"/>
          </a:xfrm>
          <a:prstGeom prst="rect">
            <a:avLst/>
          </a:prstGeom>
          <a:solidFill>
            <a:srgbClr val="CEDAF9"/>
          </a:solidFill>
          <a:ln w="6350">
            <a:solidFill>
              <a:srgbClr val="FFFFFF"/>
            </a:solidFill>
            <a:prstDash val="solid"/>
          </a:ln>
        </p:spPr>
        <p:txBody>
          <a:bodyPr/>
          <a:lstStyle/>
          <a:p>
            <a:endParaRPr/>
          </a:p>
        </p:txBody>
      </p:sp>
      <p:sp>
        <p:nvSpPr>
          <p:cNvPr id="27" name="Shape 25"/>
          <p:cNvSpPr/>
          <p:nvPr/>
        </p:nvSpPr>
        <p:spPr>
          <a:xfrm>
            <a:off x="4681728" y="2798064"/>
            <a:ext cx="411480" cy="411480"/>
          </a:xfrm>
          <a:prstGeom prst="rect">
            <a:avLst/>
          </a:prstGeom>
          <a:solidFill>
            <a:srgbClr val="DEE6FB"/>
          </a:solidFill>
          <a:ln w="6350">
            <a:solidFill>
              <a:srgbClr val="FFFFFF"/>
            </a:solidFill>
            <a:prstDash val="solid"/>
          </a:ln>
        </p:spPr>
        <p:txBody>
          <a:bodyPr/>
          <a:lstStyle/>
          <a:p>
            <a:endParaRPr/>
          </a:p>
        </p:txBody>
      </p:sp>
      <p:sp>
        <p:nvSpPr>
          <p:cNvPr id="28" name="Shape 26"/>
          <p:cNvSpPr/>
          <p:nvPr/>
        </p:nvSpPr>
        <p:spPr>
          <a:xfrm>
            <a:off x="5148072" y="2798064"/>
            <a:ext cx="411480" cy="411480"/>
          </a:xfrm>
          <a:prstGeom prst="rect">
            <a:avLst/>
          </a:prstGeom>
          <a:solidFill>
            <a:srgbClr val="E8EDFC"/>
          </a:solidFill>
          <a:ln w="6350">
            <a:solidFill>
              <a:srgbClr val="FFFFFF"/>
            </a:solidFill>
            <a:prstDash val="solid"/>
          </a:ln>
        </p:spPr>
        <p:txBody>
          <a:bodyPr/>
          <a:lstStyle/>
          <a:p>
            <a:endParaRPr/>
          </a:p>
        </p:txBody>
      </p:sp>
      <p:sp>
        <p:nvSpPr>
          <p:cNvPr id="29" name="Shape 27"/>
          <p:cNvSpPr/>
          <p:nvPr/>
        </p:nvSpPr>
        <p:spPr>
          <a:xfrm>
            <a:off x="5614416" y="2798064"/>
            <a:ext cx="411480" cy="411480"/>
          </a:xfrm>
          <a:prstGeom prst="rect">
            <a:avLst/>
          </a:prstGeom>
          <a:solidFill>
            <a:srgbClr val="E1E8FB"/>
          </a:solidFill>
          <a:ln w="6350">
            <a:solidFill>
              <a:srgbClr val="FFFFFF"/>
            </a:solidFill>
            <a:prstDash val="solid"/>
          </a:ln>
        </p:spPr>
        <p:txBody>
          <a:bodyPr/>
          <a:lstStyle/>
          <a:p>
            <a:endParaRPr/>
          </a:p>
        </p:txBody>
      </p:sp>
      <p:sp>
        <p:nvSpPr>
          <p:cNvPr id="30" name="Text 28"/>
          <p:cNvSpPr txBox="1"/>
          <p:nvPr/>
        </p:nvSpPr>
        <p:spPr>
          <a:xfrm>
            <a:off x="502920" y="3264408"/>
            <a:ext cx="868680" cy="411480"/>
          </a:xfrm>
          <a:prstGeom prst="rect">
            <a:avLst/>
          </a:prstGeom>
          <a:noFill/>
          <a:ln/>
        </p:spPr>
        <p:txBody>
          <a:bodyPr wrap="square" lIns="0" tIns="0" rIns="0" bIns="0" rtlCol="0" anchor="ctr"/>
          <a:lstStyle/>
          <a:p>
            <a:pPr marL="0" indent="0" algn="r">
              <a:buNone/>
            </a:pPr>
            <a:r>
              <a:rPr lang="en-US" sz="1000" dirty="0">
                <a:solidFill>
                  <a:srgbClr val="5B6480"/>
                </a:solidFill>
                <a:latin typeface="Courier New" pitchFamily="34" charset="0"/>
                <a:ea typeface="Courier New" pitchFamily="34" charset="-122"/>
                <a:cs typeface="Courier New" pitchFamily="34" charset="-120"/>
              </a:rPr>
              <a:t>1HCK</a:t>
            </a:r>
            <a:endParaRPr lang="en-US" sz="1000" dirty="0"/>
          </a:p>
        </p:txBody>
      </p:sp>
      <p:sp>
        <p:nvSpPr>
          <p:cNvPr id="31" name="Shape 29"/>
          <p:cNvSpPr/>
          <p:nvPr/>
        </p:nvSpPr>
        <p:spPr>
          <a:xfrm>
            <a:off x="1417320" y="3264408"/>
            <a:ext cx="411480" cy="411480"/>
          </a:xfrm>
          <a:prstGeom prst="rect">
            <a:avLst/>
          </a:prstGeom>
          <a:solidFill>
            <a:srgbClr val="93B0F2"/>
          </a:solidFill>
          <a:ln w="6350">
            <a:solidFill>
              <a:srgbClr val="FFFFFF"/>
            </a:solidFill>
            <a:prstDash val="solid"/>
          </a:ln>
        </p:spPr>
        <p:txBody>
          <a:bodyPr/>
          <a:lstStyle/>
          <a:p>
            <a:endParaRPr/>
          </a:p>
        </p:txBody>
      </p:sp>
      <p:sp>
        <p:nvSpPr>
          <p:cNvPr id="32" name="Shape 30"/>
          <p:cNvSpPr/>
          <p:nvPr/>
        </p:nvSpPr>
        <p:spPr>
          <a:xfrm>
            <a:off x="1883664" y="3264408"/>
            <a:ext cx="411480" cy="411480"/>
          </a:xfrm>
          <a:prstGeom prst="rect">
            <a:avLst/>
          </a:prstGeom>
          <a:solidFill>
            <a:srgbClr val="4275E9"/>
          </a:solidFill>
          <a:ln w="6350">
            <a:solidFill>
              <a:srgbClr val="FFFFFF"/>
            </a:solidFill>
            <a:prstDash val="solid"/>
          </a:ln>
        </p:spPr>
        <p:txBody>
          <a:bodyPr/>
          <a:lstStyle/>
          <a:p>
            <a:endParaRPr/>
          </a:p>
        </p:txBody>
      </p:sp>
      <p:sp>
        <p:nvSpPr>
          <p:cNvPr id="33" name="Shape 31"/>
          <p:cNvSpPr/>
          <p:nvPr/>
        </p:nvSpPr>
        <p:spPr>
          <a:xfrm>
            <a:off x="2350008" y="3264408"/>
            <a:ext cx="411480" cy="411480"/>
          </a:xfrm>
          <a:prstGeom prst="rect">
            <a:avLst/>
          </a:prstGeom>
          <a:solidFill>
            <a:srgbClr val="8FACF2"/>
          </a:solidFill>
          <a:ln w="6350">
            <a:solidFill>
              <a:srgbClr val="FFFFFF"/>
            </a:solidFill>
            <a:prstDash val="solid"/>
          </a:ln>
        </p:spPr>
        <p:txBody>
          <a:bodyPr/>
          <a:lstStyle/>
          <a:p>
            <a:endParaRPr/>
          </a:p>
        </p:txBody>
      </p:sp>
      <p:sp>
        <p:nvSpPr>
          <p:cNvPr id="34" name="Shape 32"/>
          <p:cNvSpPr/>
          <p:nvPr/>
        </p:nvSpPr>
        <p:spPr>
          <a:xfrm>
            <a:off x="2816352" y="3264408"/>
            <a:ext cx="411480" cy="411480"/>
          </a:xfrm>
          <a:prstGeom prst="rect">
            <a:avLst/>
          </a:prstGeom>
          <a:solidFill>
            <a:srgbClr val="618CEC"/>
          </a:solidFill>
          <a:ln w="6350">
            <a:solidFill>
              <a:srgbClr val="FFFFFF"/>
            </a:solidFill>
            <a:prstDash val="solid"/>
          </a:ln>
        </p:spPr>
        <p:txBody>
          <a:bodyPr/>
          <a:lstStyle/>
          <a:p>
            <a:endParaRPr/>
          </a:p>
        </p:txBody>
      </p:sp>
      <p:sp>
        <p:nvSpPr>
          <p:cNvPr id="35" name="Shape 33"/>
          <p:cNvSpPr/>
          <p:nvPr/>
        </p:nvSpPr>
        <p:spPr>
          <a:xfrm>
            <a:off x="3282696" y="3264408"/>
            <a:ext cx="411480" cy="411480"/>
          </a:xfrm>
          <a:prstGeom prst="rect">
            <a:avLst/>
          </a:prstGeom>
          <a:solidFill>
            <a:srgbClr val="5784EB"/>
          </a:solidFill>
          <a:ln w="6350">
            <a:solidFill>
              <a:srgbClr val="FFFFFF"/>
            </a:solidFill>
            <a:prstDash val="solid"/>
          </a:ln>
        </p:spPr>
        <p:txBody>
          <a:bodyPr/>
          <a:lstStyle/>
          <a:p>
            <a:endParaRPr/>
          </a:p>
        </p:txBody>
      </p:sp>
      <p:sp>
        <p:nvSpPr>
          <p:cNvPr id="36" name="Shape 34"/>
          <p:cNvSpPr/>
          <p:nvPr/>
        </p:nvSpPr>
        <p:spPr>
          <a:xfrm>
            <a:off x="3749040" y="3264408"/>
            <a:ext cx="411480" cy="411480"/>
          </a:xfrm>
          <a:prstGeom prst="rect">
            <a:avLst/>
          </a:prstGeom>
          <a:solidFill>
            <a:srgbClr val="A4BCF4"/>
          </a:solidFill>
          <a:ln w="6350">
            <a:solidFill>
              <a:srgbClr val="FFFFFF"/>
            </a:solidFill>
            <a:prstDash val="solid"/>
          </a:ln>
        </p:spPr>
        <p:txBody>
          <a:bodyPr/>
          <a:lstStyle/>
          <a:p>
            <a:endParaRPr/>
          </a:p>
        </p:txBody>
      </p:sp>
      <p:sp>
        <p:nvSpPr>
          <p:cNvPr id="37" name="Shape 35"/>
          <p:cNvSpPr/>
          <p:nvPr/>
        </p:nvSpPr>
        <p:spPr>
          <a:xfrm>
            <a:off x="4215384" y="3264408"/>
            <a:ext cx="411480" cy="411480"/>
          </a:xfrm>
          <a:prstGeom prst="rect">
            <a:avLst/>
          </a:prstGeom>
          <a:solidFill>
            <a:srgbClr val="86A6F1"/>
          </a:solidFill>
          <a:ln w="6350">
            <a:solidFill>
              <a:srgbClr val="FFFFFF"/>
            </a:solidFill>
            <a:prstDash val="solid"/>
          </a:ln>
        </p:spPr>
        <p:txBody>
          <a:bodyPr/>
          <a:lstStyle/>
          <a:p>
            <a:endParaRPr/>
          </a:p>
        </p:txBody>
      </p:sp>
      <p:sp>
        <p:nvSpPr>
          <p:cNvPr id="38" name="Shape 36"/>
          <p:cNvSpPr/>
          <p:nvPr/>
        </p:nvSpPr>
        <p:spPr>
          <a:xfrm>
            <a:off x="4681728" y="3264408"/>
            <a:ext cx="411480" cy="411480"/>
          </a:xfrm>
          <a:prstGeom prst="rect">
            <a:avLst/>
          </a:prstGeom>
          <a:solidFill>
            <a:srgbClr val="AAC0F5"/>
          </a:solidFill>
          <a:ln w="6350">
            <a:solidFill>
              <a:srgbClr val="FFFFFF"/>
            </a:solidFill>
            <a:prstDash val="solid"/>
          </a:ln>
        </p:spPr>
        <p:txBody>
          <a:bodyPr/>
          <a:lstStyle/>
          <a:p>
            <a:endParaRPr/>
          </a:p>
        </p:txBody>
      </p:sp>
      <p:sp>
        <p:nvSpPr>
          <p:cNvPr id="39" name="Shape 37"/>
          <p:cNvSpPr/>
          <p:nvPr/>
        </p:nvSpPr>
        <p:spPr>
          <a:xfrm>
            <a:off x="5148072" y="3264408"/>
            <a:ext cx="411480" cy="411480"/>
          </a:xfrm>
          <a:prstGeom prst="rect">
            <a:avLst/>
          </a:prstGeom>
          <a:solidFill>
            <a:srgbClr val="8AA9F1"/>
          </a:solidFill>
          <a:ln w="6350">
            <a:solidFill>
              <a:srgbClr val="FFFFFF"/>
            </a:solidFill>
            <a:prstDash val="solid"/>
          </a:ln>
        </p:spPr>
        <p:txBody>
          <a:bodyPr/>
          <a:lstStyle/>
          <a:p>
            <a:endParaRPr/>
          </a:p>
        </p:txBody>
      </p:sp>
      <p:sp>
        <p:nvSpPr>
          <p:cNvPr id="40" name="Shape 38"/>
          <p:cNvSpPr/>
          <p:nvPr/>
        </p:nvSpPr>
        <p:spPr>
          <a:xfrm>
            <a:off x="5614416" y="3264408"/>
            <a:ext cx="411480" cy="411480"/>
          </a:xfrm>
          <a:prstGeom prst="rect">
            <a:avLst/>
          </a:prstGeom>
          <a:solidFill>
            <a:srgbClr val="ABC1F5"/>
          </a:solidFill>
          <a:ln w="6350">
            <a:solidFill>
              <a:srgbClr val="FFFFFF"/>
            </a:solidFill>
            <a:prstDash val="solid"/>
          </a:ln>
        </p:spPr>
        <p:txBody>
          <a:bodyPr/>
          <a:lstStyle/>
          <a:p>
            <a:endParaRPr/>
          </a:p>
        </p:txBody>
      </p:sp>
      <p:sp>
        <p:nvSpPr>
          <p:cNvPr id="41" name="Text 39"/>
          <p:cNvSpPr txBox="1"/>
          <p:nvPr/>
        </p:nvSpPr>
        <p:spPr>
          <a:xfrm>
            <a:off x="502920" y="3730752"/>
            <a:ext cx="868680" cy="411480"/>
          </a:xfrm>
          <a:prstGeom prst="rect">
            <a:avLst/>
          </a:prstGeom>
          <a:noFill/>
          <a:ln/>
        </p:spPr>
        <p:txBody>
          <a:bodyPr wrap="square" lIns="0" tIns="0" rIns="0" bIns="0" rtlCol="0" anchor="ctr"/>
          <a:lstStyle/>
          <a:p>
            <a:pPr marL="0" indent="0" algn="r">
              <a:buNone/>
            </a:pPr>
            <a:r>
              <a:rPr lang="en-US" sz="1000" dirty="0">
                <a:solidFill>
                  <a:srgbClr val="5B6480"/>
                </a:solidFill>
                <a:latin typeface="Courier New" pitchFamily="34" charset="0"/>
                <a:ea typeface="Courier New" pitchFamily="34" charset="-122"/>
                <a:cs typeface="Courier New" pitchFamily="34" charset="-120"/>
              </a:rPr>
              <a:t>1HSG</a:t>
            </a:r>
            <a:endParaRPr lang="en-US" sz="1000" dirty="0"/>
          </a:p>
        </p:txBody>
      </p:sp>
      <p:sp>
        <p:nvSpPr>
          <p:cNvPr id="42" name="Shape 40"/>
          <p:cNvSpPr/>
          <p:nvPr/>
        </p:nvSpPr>
        <p:spPr>
          <a:xfrm>
            <a:off x="1417320" y="3730752"/>
            <a:ext cx="411480" cy="411480"/>
          </a:xfrm>
          <a:prstGeom prst="rect">
            <a:avLst/>
          </a:prstGeom>
          <a:solidFill>
            <a:srgbClr val="789DEF"/>
          </a:solidFill>
          <a:ln w="6350">
            <a:solidFill>
              <a:srgbClr val="FFFFFF"/>
            </a:solidFill>
            <a:prstDash val="solid"/>
          </a:ln>
        </p:spPr>
        <p:txBody>
          <a:bodyPr/>
          <a:lstStyle/>
          <a:p>
            <a:endParaRPr/>
          </a:p>
        </p:txBody>
      </p:sp>
      <p:sp>
        <p:nvSpPr>
          <p:cNvPr id="43" name="Shape 41"/>
          <p:cNvSpPr/>
          <p:nvPr/>
        </p:nvSpPr>
        <p:spPr>
          <a:xfrm>
            <a:off x="1883664" y="3730752"/>
            <a:ext cx="411480" cy="411480"/>
          </a:xfrm>
          <a:prstGeom prst="rect">
            <a:avLst/>
          </a:prstGeom>
          <a:solidFill>
            <a:srgbClr val="3C71E8"/>
          </a:solidFill>
          <a:ln w="6350">
            <a:solidFill>
              <a:srgbClr val="FFFFFF"/>
            </a:solidFill>
            <a:prstDash val="solid"/>
          </a:ln>
        </p:spPr>
        <p:txBody>
          <a:bodyPr/>
          <a:lstStyle/>
          <a:p>
            <a:endParaRPr/>
          </a:p>
        </p:txBody>
      </p:sp>
      <p:sp>
        <p:nvSpPr>
          <p:cNvPr id="44" name="Shape 42"/>
          <p:cNvSpPr/>
          <p:nvPr/>
        </p:nvSpPr>
        <p:spPr>
          <a:xfrm>
            <a:off x="2350008" y="3730752"/>
            <a:ext cx="411480" cy="411480"/>
          </a:xfrm>
          <a:prstGeom prst="rect">
            <a:avLst/>
          </a:prstGeom>
          <a:solidFill>
            <a:srgbClr val="92AFF2"/>
          </a:solidFill>
          <a:ln w="6350">
            <a:solidFill>
              <a:srgbClr val="FFFFFF"/>
            </a:solidFill>
            <a:prstDash val="solid"/>
          </a:ln>
        </p:spPr>
        <p:txBody>
          <a:bodyPr/>
          <a:lstStyle/>
          <a:p>
            <a:endParaRPr/>
          </a:p>
        </p:txBody>
      </p:sp>
      <p:sp>
        <p:nvSpPr>
          <p:cNvPr id="45" name="Shape 43"/>
          <p:cNvSpPr/>
          <p:nvPr/>
        </p:nvSpPr>
        <p:spPr>
          <a:xfrm>
            <a:off x="2816352" y="3730752"/>
            <a:ext cx="411480" cy="411480"/>
          </a:xfrm>
          <a:prstGeom prst="rect">
            <a:avLst/>
          </a:prstGeom>
          <a:solidFill>
            <a:srgbClr val="4879E9"/>
          </a:solidFill>
          <a:ln w="6350">
            <a:solidFill>
              <a:srgbClr val="FFFFFF"/>
            </a:solidFill>
            <a:prstDash val="solid"/>
          </a:ln>
        </p:spPr>
        <p:txBody>
          <a:bodyPr/>
          <a:lstStyle/>
          <a:p>
            <a:endParaRPr/>
          </a:p>
        </p:txBody>
      </p:sp>
      <p:sp>
        <p:nvSpPr>
          <p:cNvPr id="46" name="Shape 44"/>
          <p:cNvSpPr/>
          <p:nvPr/>
        </p:nvSpPr>
        <p:spPr>
          <a:xfrm>
            <a:off x="3282696" y="3730752"/>
            <a:ext cx="411480" cy="411480"/>
          </a:xfrm>
          <a:prstGeom prst="rect">
            <a:avLst/>
          </a:prstGeom>
          <a:solidFill>
            <a:srgbClr val="487AE9"/>
          </a:solidFill>
          <a:ln w="6350">
            <a:solidFill>
              <a:srgbClr val="FFFFFF"/>
            </a:solidFill>
            <a:prstDash val="solid"/>
          </a:ln>
        </p:spPr>
        <p:txBody>
          <a:bodyPr/>
          <a:lstStyle/>
          <a:p>
            <a:endParaRPr/>
          </a:p>
        </p:txBody>
      </p:sp>
      <p:sp>
        <p:nvSpPr>
          <p:cNvPr id="47" name="Shape 45"/>
          <p:cNvSpPr/>
          <p:nvPr/>
        </p:nvSpPr>
        <p:spPr>
          <a:xfrm>
            <a:off x="3749040" y="3730752"/>
            <a:ext cx="411480" cy="411480"/>
          </a:xfrm>
          <a:prstGeom prst="rect">
            <a:avLst/>
          </a:prstGeom>
          <a:solidFill>
            <a:srgbClr val="93B0F2"/>
          </a:solidFill>
          <a:ln w="6350">
            <a:solidFill>
              <a:srgbClr val="FFFFFF"/>
            </a:solidFill>
            <a:prstDash val="solid"/>
          </a:ln>
        </p:spPr>
        <p:txBody>
          <a:bodyPr/>
          <a:lstStyle/>
          <a:p>
            <a:endParaRPr/>
          </a:p>
        </p:txBody>
      </p:sp>
      <p:sp>
        <p:nvSpPr>
          <p:cNvPr id="48" name="Shape 46"/>
          <p:cNvSpPr/>
          <p:nvPr/>
        </p:nvSpPr>
        <p:spPr>
          <a:xfrm>
            <a:off x="4215384" y="3730752"/>
            <a:ext cx="411480" cy="411480"/>
          </a:xfrm>
          <a:prstGeom prst="rect">
            <a:avLst/>
          </a:prstGeom>
          <a:solidFill>
            <a:srgbClr val="A0B9F4"/>
          </a:solidFill>
          <a:ln w="6350">
            <a:solidFill>
              <a:srgbClr val="FFFFFF"/>
            </a:solidFill>
            <a:prstDash val="solid"/>
          </a:ln>
        </p:spPr>
        <p:txBody>
          <a:bodyPr/>
          <a:lstStyle/>
          <a:p>
            <a:endParaRPr/>
          </a:p>
        </p:txBody>
      </p:sp>
      <p:sp>
        <p:nvSpPr>
          <p:cNvPr id="49" name="Shape 47"/>
          <p:cNvSpPr/>
          <p:nvPr/>
        </p:nvSpPr>
        <p:spPr>
          <a:xfrm>
            <a:off x="4681728" y="3730752"/>
            <a:ext cx="411480" cy="411480"/>
          </a:xfrm>
          <a:prstGeom prst="rect">
            <a:avLst/>
          </a:prstGeom>
          <a:solidFill>
            <a:srgbClr val="8FACF2"/>
          </a:solidFill>
          <a:ln w="6350">
            <a:solidFill>
              <a:srgbClr val="FFFFFF"/>
            </a:solidFill>
            <a:prstDash val="solid"/>
          </a:ln>
        </p:spPr>
        <p:txBody>
          <a:bodyPr/>
          <a:lstStyle/>
          <a:p>
            <a:endParaRPr/>
          </a:p>
        </p:txBody>
      </p:sp>
      <p:sp>
        <p:nvSpPr>
          <p:cNvPr id="50" name="Shape 48"/>
          <p:cNvSpPr/>
          <p:nvPr/>
        </p:nvSpPr>
        <p:spPr>
          <a:xfrm>
            <a:off x="5148072" y="3730752"/>
            <a:ext cx="411480" cy="411480"/>
          </a:xfrm>
          <a:prstGeom prst="rect">
            <a:avLst/>
          </a:prstGeom>
          <a:solidFill>
            <a:srgbClr val="ACC2F5"/>
          </a:solidFill>
          <a:ln w="6350">
            <a:solidFill>
              <a:srgbClr val="FFFFFF"/>
            </a:solidFill>
            <a:prstDash val="solid"/>
          </a:ln>
        </p:spPr>
        <p:txBody>
          <a:bodyPr/>
          <a:lstStyle/>
          <a:p>
            <a:endParaRPr/>
          </a:p>
        </p:txBody>
      </p:sp>
      <p:sp>
        <p:nvSpPr>
          <p:cNvPr id="51" name="Shape 49"/>
          <p:cNvSpPr/>
          <p:nvPr/>
        </p:nvSpPr>
        <p:spPr>
          <a:xfrm>
            <a:off x="5614416" y="3730752"/>
            <a:ext cx="411480" cy="411480"/>
          </a:xfrm>
          <a:prstGeom prst="rect">
            <a:avLst/>
          </a:prstGeom>
          <a:solidFill>
            <a:srgbClr val="B1C5F6"/>
          </a:solidFill>
          <a:ln w="6350">
            <a:solidFill>
              <a:srgbClr val="FFFFFF"/>
            </a:solidFill>
            <a:prstDash val="solid"/>
          </a:ln>
        </p:spPr>
        <p:txBody>
          <a:bodyPr/>
          <a:lstStyle/>
          <a:p>
            <a:endParaRPr/>
          </a:p>
        </p:txBody>
      </p:sp>
      <p:sp>
        <p:nvSpPr>
          <p:cNvPr id="52" name="Text 50"/>
          <p:cNvSpPr txBox="1"/>
          <p:nvPr/>
        </p:nvSpPr>
        <p:spPr>
          <a:xfrm>
            <a:off x="502920" y="4197096"/>
            <a:ext cx="868680" cy="411480"/>
          </a:xfrm>
          <a:prstGeom prst="rect">
            <a:avLst/>
          </a:prstGeom>
          <a:noFill/>
          <a:ln/>
        </p:spPr>
        <p:txBody>
          <a:bodyPr wrap="square" lIns="0" tIns="0" rIns="0" bIns="0" rtlCol="0" anchor="ctr"/>
          <a:lstStyle/>
          <a:p>
            <a:pPr marL="0" indent="0" algn="r">
              <a:buNone/>
            </a:pPr>
            <a:r>
              <a:rPr lang="en-US" sz="1000" dirty="0">
                <a:solidFill>
                  <a:srgbClr val="5B6480"/>
                </a:solidFill>
                <a:latin typeface="Courier New" pitchFamily="34" charset="0"/>
                <a:ea typeface="Courier New" pitchFamily="34" charset="-122"/>
                <a:cs typeface="Courier New" pitchFamily="34" charset="-120"/>
              </a:rPr>
              <a:t>1EVE</a:t>
            </a:r>
            <a:endParaRPr lang="en-US" sz="1000" dirty="0"/>
          </a:p>
        </p:txBody>
      </p:sp>
      <p:sp>
        <p:nvSpPr>
          <p:cNvPr id="53" name="Shape 51"/>
          <p:cNvSpPr/>
          <p:nvPr/>
        </p:nvSpPr>
        <p:spPr>
          <a:xfrm>
            <a:off x="1417320" y="4197096"/>
            <a:ext cx="411480" cy="411480"/>
          </a:xfrm>
          <a:prstGeom prst="rect">
            <a:avLst/>
          </a:prstGeom>
          <a:solidFill>
            <a:srgbClr val="A1BAF4"/>
          </a:solidFill>
          <a:ln w="6350">
            <a:solidFill>
              <a:srgbClr val="FFFFFF"/>
            </a:solidFill>
            <a:prstDash val="solid"/>
          </a:ln>
        </p:spPr>
        <p:txBody>
          <a:bodyPr/>
          <a:lstStyle/>
          <a:p>
            <a:endParaRPr/>
          </a:p>
        </p:txBody>
      </p:sp>
      <p:sp>
        <p:nvSpPr>
          <p:cNvPr id="54" name="Shape 52"/>
          <p:cNvSpPr/>
          <p:nvPr/>
        </p:nvSpPr>
        <p:spPr>
          <a:xfrm>
            <a:off x="1883664" y="4197096"/>
            <a:ext cx="411480" cy="411480"/>
          </a:xfrm>
          <a:prstGeom prst="rect">
            <a:avLst/>
          </a:prstGeom>
          <a:solidFill>
            <a:srgbClr val="608BEC"/>
          </a:solidFill>
          <a:ln w="6350">
            <a:solidFill>
              <a:srgbClr val="FFFFFF"/>
            </a:solidFill>
            <a:prstDash val="solid"/>
          </a:ln>
        </p:spPr>
        <p:txBody>
          <a:bodyPr/>
          <a:lstStyle/>
          <a:p>
            <a:endParaRPr/>
          </a:p>
        </p:txBody>
      </p:sp>
      <p:sp>
        <p:nvSpPr>
          <p:cNvPr id="55" name="Shape 53"/>
          <p:cNvSpPr/>
          <p:nvPr/>
        </p:nvSpPr>
        <p:spPr>
          <a:xfrm>
            <a:off x="2350008" y="4197096"/>
            <a:ext cx="411480" cy="411480"/>
          </a:xfrm>
          <a:prstGeom prst="rect">
            <a:avLst/>
          </a:prstGeom>
          <a:solidFill>
            <a:srgbClr val="B7CAF6"/>
          </a:solidFill>
          <a:ln w="6350">
            <a:solidFill>
              <a:srgbClr val="FFFFFF"/>
            </a:solidFill>
            <a:prstDash val="solid"/>
          </a:ln>
        </p:spPr>
        <p:txBody>
          <a:bodyPr/>
          <a:lstStyle/>
          <a:p>
            <a:endParaRPr/>
          </a:p>
        </p:txBody>
      </p:sp>
      <p:sp>
        <p:nvSpPr>
          <p:cNvPr id="56" name="Shape 54"/>
          <p:cNvSpPr/>
          <p:nvPr/>
        </p:nvSpPr>
        <p:spPr>
          <a:xfrm>
            <a:off x="2816352" y="4197096"/>
            <a:ext cx="411480" cy="411480"/>
          </a:xfrm>
          <a:prstGeom prst="rect">
            <a:avLst/>
          </a:prstGeom>
          <a:solidFill>
            <a:srgbClr val="6B93EE"/>
          </a:solidFill>
          <a:ln w="6350">
            <a:solidFill>
              <a:srgbClr val="FFFFFF"/>
            </a:solidFill>
            <a:prstDash val="solid"/>
          </a:ln>
        </p:spPr>
        <p:txBody>
          <a:bodyPr/>
          <a:lstStyle/>
          <a:p>
            <a:endParaRPr/>
          </a:p>
        </p:txBody>
      </p:sp>
      <p:sp>
        <p:nvSpPr>
          <p:cNvPr id="57" name="Shape 55"/>
          <p:cNvSpPr/>
          <p:nvPr/>
        </p:nvSpPr>
        <p:spPr>
          <a:xfrm>
            <a:off x="3282696" y="4197096"/>
            <a:ext cx="411480" cy="411480"/>
          </a:xfrm>
          <a:prstGeom prst="rect">
            <a:avLst/>
          </a:prstGeom>
          <a:solidFill>
            <a:srgbClr val="6790ED"/>
          </a:solidFill>
          <a:ln w="6350">
            <a:solidFill>
              <a:srgbClr val="FFFFFF"/>
            </a:solidFill>
            <a:prstDash val="solid"/>
          </a:ln>
        </p:spPr>
        <p:txBody>
          <a:bodyPr/>
          <a:lstStyle/>
          <a:p>
            <a:endParaRPr/>
          </a:p>
        </p:txBody>
      </p:sp>
      <p:sp>
        <p:nvSpPr>
          <p:cNvPr id="58" name="Shape 56"/>
          <p:cNvSpPr/>
          <p:nvPr/>
        </p:nvSpPr>
        <p:spPr>
          <a:xfrm>
            <a:off x="3749040" y="4197096"/>
            <a:ext cx="411480" cy="411480"/>
          </a:xfrm>
          <a:prstGeom prst="rect">
            <a:avLst/>
          </a:prstGeom>
          <a:solidFill>
            <a:srgbClr val="D3DEFA"/>
          </a:solidFill>
          <a:ln w="6350">
            <a:solidFill>
              <a:srgbClr val="FFFFFF"/>
            </a:solidFill>
            <a:prstDash val="solid"/>
          </a:ln>
        </p:spPr>
        <p:txBody>
          <a:bodyPr/>
          <a:lstStyle/>
          <a:p>
            <a:endParaRPr/>
          </a:p>
        </p:txBody>
      </p:sp>
      <p:sp>
        <p:nvSpPr>
          <p:cNvPr id="59" name="Shape 57"/>
          <p:cNvSpPr/>
          <p:nvPr/>
        </p:nvSpPr>
        <p:spPr>
          <a:xfrm>
            <a:off x="4215384" y="4197096"/>
            <a:ext cx="411480" cy="411480"/>
          </a:xfrm>
          <a:prstGeom prst="rect">
            <a:avLst/>
          </a:prstGeom>
          <a:solidFill>
            <a:srgbClr val="C0D0F7"/>
          </a:solidFill>
          <a:ln w="6350">
            <a:solidFill>
              <a:srgbClr val="FFFFFF"/>
            </a:solidFill>
            <a:prstDash val="solid"/>
          </a:ln>
        </p:spPr>
        <p:txBody>
          <a:bodyPr/>
          <a:lstStyle/>
          <a:p>
            <a:endParaRPr/>
          </a:p>
        </p:txBody>
      </p:sp>
      <p:sp>
        <p:nvSpPr>
          <p:cNvPr id="60" name="Shape 58"/>
          <p:cNvSpPr/>
          <p:nvPr/>
        </p:nvSpPr>
        <p:spPr>
          <a:xfrm>
            <a:off x="4681728" y="4197096"/>
            <a:ext cx="411480" cy="411480"/>
          </a:xfrm>
          <a:prstGeom prst="rect">
            <a:avLst/>
          </a:prstGeom>
          <a:solidFill>
            <a:srgbClr val="CFDBF9"/>
          </a:solidFill>
          <a:ln w="6350">
            <a:solidFill>
              <a:srgbClr val="FFFFFF"/>
            </a:solidFill>
            <a:prstDash val="solid"/>
          </a:ln>
        </p:spPr>
        <p:txBody>
          <a:bodyPr/>
          <a:lstStyle/>
          <a:p>
            <a:endParaRPr/>
          </a:p>
        </p:txBody>
      </p:sp>
      <p:sp>
        <p:nvSpPr>
          <p:cNvPr id="61" name="Shape 59"/>
          <p:cNvSpPr/>
          <p:nvPr/>
        </p:nvSpPr>
        <p:spPr>
          <a:xfrm>
            <a:off x="5148072" y="4197096"/>
            <a:ext cx="411480" cy="411480"/>
          </a:xfrm>
          <a:prstGeom prst="rect">
            <a:avLst/>
          </a:prstGeom>
          <a:solidFill>
            <a:srgbClr val="E0E7FB"/>
          </a:solidFill>
          <a:ln w="6350">
            <a:solidFill>
              <a:srgbClr val="FFFFFF"/>
            </a:solidFill>
            <a:prstDash val="solid"/>
          </a:ln>
        </p:spPr>
        <p:txBody>
          <a:bodyPr/>
          <a:lstStyle/>
          <a:p>
            <a:endParaRPr/>
          </a:p>
        </p:txBody>
      </p:sp>
      <p:sp>
        <p:nvSpPr>
          <p:cNvPr id="62" name="Shape 60"/>
          <p:cNvSpPr/>
          <p:nvPr/>
        </p:nvSpPr>
        <p:spPr>
          <a:xfrm>
            <a:off x="5614416" y="4197096"/>
            <a:ext cx="411480" cy="411480"/>
          </a:xfrm>
          <a:prstGeom prst="rect">
            <a:avLst/>
          </a:prstGeom>
          <a:solidFill>
            <a:srgbClr val="D3DEFA"/>
          </a:solidFill>
          <a:ln w="6350">
            <a:solidFill>
              <a:srgbClr val="FFFFFF"/>
            </a:solidFill>
            <a:prstDash val="solid"/>
          </a:ln>
        </p:spPr>
        <p:txBody>
          <a:bodyPr/>
          <a:lstStyle/>
          <a:p>
            <a:endParaRPr/>
          </a:p>
        </p:txBody>
      </p:sp>
      <p:sp>
        <p:nvSpPr>
          <p:cNvPr id="63" name="Text 61"/>
          <p:cNvSpPr txBox="1"/>
          <p:nvPr/>
        </p:nvSpPr>
        <p:spPr>
          <a:xfrm>
            <a:off x="548640" y="4800600"/>
            <a:ext cx="5852160" cy="502920"/>
          </a:xfrm>
          <a:prstGeom prst="rect">
            <a:avLst/>
          </a:prstGeom>
          <a:noFill/>
          <a:ln/>
        </p:spPr>
        <p:txBody>
          <a:bodyPr wrap="square" lIns="0" tIns="0" rIns="0" bIns="0" rtlCol="0" anchor="t"/>
          <a:lstStyle/>
          <a:p>
            <a:pPr marL="0" indent="0">
              <a:buNone/>
            </a:pPr>
            <a:r>
              <a:rPr lang="en-US" sz="1050" dirty="0">
                <a:solidFill>
                  <a:srgbClr val="5B6480"/>
                </a:solidFill>
                <a:latin typeface="Calibri" pitchFamily="34" charset="0"/>
                <a:ea typeface="Calibri" pitchFamily="34" charset="-122"/>
                <a:cs typeface="Calibri" pitchFamily="34" charset="-120"/>
              </a:rPr>
              <a:t>Kolom: 10 ligan sesuai urutan Excel (naproxen sampai berberine). Baris: 5 reseptor. Warna = skor terbaik dari kedua replikat; lebih gelap = lebih negatif.</a:t>
            </a:r>
            <a:endParaRPr lang="en-US" sz="1050" dirty="0"/>
          </a:p>
        </p:txBody>
      </p:sp>
      <p:sp>
        <p:nvSpPr>
          <p:cNvPr id="64" name="Text 62"/>
          <p:cNvSpPr txBox="1"/>
          <p:nvPr/>
        </p:nvSpPr>
        <p:spPr>
          <a:xfrm>
            <a:off x="548640" y="5349240"/>
            <a:ext cx="5852160" cy="868680"/>
          </a:xfrm>
          <a:prstGeom prst="roundRect">
            <a:avLst>
              <a:gd name="adj" fmla="val 10526"/>
            </a:avLst>
          </a:prstGeom>
          <a:solidFill>
            <a:srgbClr val="0E1533"/>
          </a:solidFill>
          <a:ln/>
        </p:spPr>
        <p:txBody>
          <a:bodyPr wrap="square" lIns="127000" tIns="127000" rIns="127000" bIns="127000" rtlCol="0" anchor="t"/>
          <a:lstStyle/>
          <a:p>
            <a:pPr marL="0" indent="0">
              <a:spcAft>
                <a:spcPts val="100"/>
              </a:spcAft>
              <a:buNone/>
            </a:pPr>
            <a:r>
              <a:rPr lang="en-US" sz="1050" dirty="0">
                <a:solidFill>
                  <a:srgbClr val="DCE4FF"/>
                </a:solidFill>
                <a:latin typeface="Courier New" pitchFamily="34" charset="0"/>
                <a:ea typeface="Courier New" pitchFamily="34" charset="-122"/>
                <a:cs typeface="Courier New" pitchFamily="34" charset="-120"/>
              </a:rPr>
              <a:t>seed = base_seed + replicate - 1</a:t>
            </a:r>
            <a:endParaRPr lang="en-US" sz="1050" dirty="0"/>
          </a:p>
          <a:p>
            <a:pPr marL="0" indent="0">
              <a:spcAft>
                <a:spcPts val="100"/>
              </a:spcAft>
              <a:buNone/>
            </a:pPr>
            <a:r>
              <a:rPr lang="en-US" sz="1050" dirty="0">
                <a:solidFill>
                  <a:srgbClr val="8FA3E6"/>
                </a:solidFill>
                <a:latin typeface="Courier New" pitchFamily="34" charset="0"/>
                <a:ea typeface="Courier New" pitchFamily="34" charset="-122"/>
                <a:cs typeface="Courier New" pitchFamily="34" charset="-120"/>
              </a:rPr>
              <a:t># atau random.randint(1, 2_000_000_000)</a:t>
            </a:r>
            <a:endParaRPr lang="en-US" sz="1050" dirty="0"/>
          </a:p>
          <a:p>
            <a:pPr marL="0" indent="0">
              <a:spcAft>
                <a:spcPts val="100"/>
              </a:spcAft>
              <a:buNone/>
            </a:pPr>
            <a:r>
              <a:rPr lang="en-US" sz="1050" dirty="0">
                <a:solidFill>
                  <a:srgbClr val="8FA3E6"/>
                </a:solidFill>
                <a:latin typeface="Courier New" pitchFamily="34" charset="0"/>
                <a:ea typeface="Courier New" pitchFamily="34" charset="-122"/>
                <a:cs typeface="Courier New" pitchFamily="34" charset="-120"/>
              </a:rPr>
              <a:t>#   bila --seed tidak diberikan</a:t>
            </a:r>
            <a:endParaRPr lang="en-US" sz="1050" dirty="0"/>
          </a:p>
        </p:txBody>
      </p:sp>
      <p:sp>
        <p:nvSpPr>
          <p:cNvPr id="65" name="Shape 63"/>
          <p:cNvSpPr/>
          <p:nvPr/>
        </p:nvSpPr>
        <p:spPr>
          <a:xfrm>
            <a:off x="6537960" y="1691640"/>
            <a:ext cx="2468880" cy="1188720"/>
          </a:xfrm>
          <a:prstGeom prst="roundRect">
            <a:avLst>
              <a:gd name="adj" fmla="val 9231"/>
            </a:avLst>
          </a:prstGeom>
          <a:solidFill>
            <a:srgbClr val="E8EDFC"/>
          </a:solidFill>
          <a:ln w="9525">
            <a:solidFill>
              <a:srgbClr val="E8EDFC"/>
            </a:solidFill>
            <a:prstDash val="solid"/>
          </a:ln>
        </p:spPr>
        <p:txBody>
          <a:bodyPr/>
          <a:lstStyle/>
          <a:p>
            <a:endParaRPr/>
          </a:p>
        </p:txBody>
      </p:sp>
      <p:sp>
        <p:nvSpPr>
          <p:cNvPr id="66" name="Text 64"/>
          <p:cNvSpPr txBox="1"/>
          <p:nvPr/>
        </p:nvSpPr>
        <p:spPr>
          <a:xfrm>
            <a:off x="6537960" y="1819656"/>
            <a:ext cx="2468880" cy="594360"/>
          </a:xfrm>
          <a:prstGeom prst="rect">
            <a:avLst/>
          </a:prstGeom>
          <a:noFill/>
          <a:ln/>
        </p:spPr>
        <p:txBody>
          <a:bodyPr wrap="square" lIns="0" tIns="0" rIns="0" bIns="0" rtlCol="0" anchor="ctr"/>
          <a:lstStyle/>
          <a:p>
            <a:pPr marL="0" indent="0" algn="ctr">
              <a:buNone/>
            </a:pPr>
            <a:r>
              <a:rPr lang="en-US" sz="2600" b="1" dirty="0">
                <a:solidFill>
                  <a:srgbClr val="3C71E8"/>
                </a:solidFill>
                <a:latin typeface="Cambria" pitchFamily="34" charset="0"/>
                <a:ea typeface="Cambria" pitchFamily="34" charset="-122"/>
                <a:cs typeface="Cambria" pitchFamily="34" charset="-120"/>
              </a:rPr>
              <a:t>100</a:t>
            </a:r>
            <a:endParaRPr lang="en-US" sz="2600" dirty="0"/>
          </a:p>
        </p:txBody>
      </p:sp>
      <p:sp>
        <p:nvSpPr>
          <p:cNvPr id="67" name="Text 65"/>
          <p:cNvSpPr txBox="1"/>
          <p:nvPr/>
        </p:nvSpPr>
        <p:spPr>
          <a:xfrm>
            <a:off x="6629400" y="2381098"/>
            <a:ext cx="2286000" cy="427939"/>
          </a:xfrm>
          <a:prstGeom prst="rect">
            <a:avLst/>
          </a:prstGeom>
          <a:noFill/>
          <a:ln/>
        </p:spPr>
        <p:txBody>
          <a:bodyPr wrap="square" lIns="0" tIns="0" rIns="0" bIns="0" rtlCol="0" anchor="t"/>
          <a:lstStyle/>
          <a:p>
            <a:pPr marL="0" indent="0" algn="ctr">
              <a:buNone/>
            </a:pPr>
            <a:r>
              <a:rPr lang="en-US" sz="1050" dirty="0">
                <a:solidFill>
                  <a:srgbClr val="5B6480"/>
                </a:solidFill>
                <a:latin typeface="Calibri" pitchFamily="34" charset="0"/>
                <a:ea typeface="Calibri" pitchFamily="34" charset="-122"/>
                <a:cs typeface="Calibri" pitchFamily="34" charset="-120"/>
              </a:rPr>
              <a:t>run docking</a:t>
            </a:r>
            <a:endParaRPr lang="en-US" sz="1050" dirty="0"/>
          </a:p>
        </p:txBody>
      </p:sp>
      <p:sp>
        <p:nvSpPr>
          <p:cNvPr id="68" name="Shape 66"/>
          <p:cNvSpPr/>
          <p:nvPr/>
        </p:nvSpPr>
        <p:spPr>
          <a:xfrm>
            <a:off x="9144000" y="1691640"/>
            <a:ext cx="2468880" cy="1188720"/>
          </a:xfrm>
          <a:prstGeom prst="roundRect">
            <a:avLst>
              <a:gd name="adj" fmla="val 9231"/>
            </a:avLst>
          </a:prstGeom>
          <a:solidFill>
            <a:srgbClr val="E8EDFC"/>
          </a:solidFill>
          <a:ln w="9525">
            <a:solidFill>
              <a:srgbClr val="E8EDFC"/>
            </a:solidFill>
            <a:prstDash val="solid"/>
          </a:ln>
        </p:spPr>
        <p:txBody>
          <a:bodyPr/>
          <a:lstStyle/>
          <a:p>
            <a:endParaRPr/>
          </a:p>
        </p:txBody>
      </p:sp>
      <p:sp>
        <p:nvSpPr>
          <p:cNvPr id="69" name="Text 67"/>
          <p:cNvSpPr txBox="1"/>
          <p:nvPr/>
        </p:nvSpPr>
        <p:spPr>
          <a:xfrm>
            <a:off x="9144000" y="1819656"/>
            <a:ext cx="2468880" cy="594360"/>
          </a:xfrm>
          <a:prstGeom prst="rect">
            <a:avLst/>
          </a:prstGeom>
          <a:noFill/>
          <a:ln/>
        </p:spPr>
        <p:txBody>
          <a:bodyPr wrap="square" lIns="0" tIns="0" rIns="0" bIns="0" rtlCol="0" anchor="ctr"/>
          <a:lstStyle/>
          <a:p>
            <a:pPr marL="0" indent="0" algn="ctr">
              <a:buNone/>
            </a:pPr>
            <a:r>
              <a:rPr lang="en-US" sz="2600" b="1" dirty="0">
                <a:solidFill>
                  <a:srgbClr val="3C71E8"/>
                </a:solidFill>
                <a:latin typeface="Cambria" pitchFamily="34" charset="0"/>
                <a:ea typeface="Cambria" pitchFamily="34" charset="-122"/>
                <a:cs typeface="Cambria" pitchFamily="34" charset="-120"/>
              </a:rPr>
              <a:t>100/100</a:t>
            </a:r>
            <a:endParaRPr lang="en-US" sz="2600" dirty="0"/>
          </a:p>
        </p:txBody>
      </p:sp>
      <p:sp>
        <p:nvSpPr>
          <p:cNvPr id="70" name="Text 68"/>
          <p:cNvSpPr txBox="1"/>
          <p:nvPr/>
        </p:nvSpPr>
        <p:spPr>
          <a:xfrm>
            <a:off x="9235440" y="2381098"/>
            <a:ext cx="2286000" cy="427939"/>
          </a:xfrm>
          <a:prstGeom prst="rect">
            <a:avLst/>
          </a:prstGeom>
          <a:noFill/>
          <a:ln/>
        </p:spPr>
        <p:txBody>
          <a:bodyPr wrap="square" lIns="0" tIns="0" rIns="0" bIns="0" rtlCol="0" anchor="t"/>
          <a:lstStyle/>
          <a:p>
            <a:pPr marL="0" indent="0" algn="ctr">
              <a:buNone/>
            </a:pPr>
            <a:r>
              <a:rPr lang="en-US" sz="1050" dirty="0">
                <a:solidFill>
                  <a:srgbClr val="5B6480"/>
                </a:solidFill>
                <a:latin typeface="Calibri" pitchFamily="34" charset="0"/>
                <a:ea typeface="Calibri" pitchFamily="34" charset="-122"/>
                <a:cs typeface="Calibri" pitchFamily="34" charset="-120"/>
              </a:rPr>
              <a:t>sukses</a:t>
            </a:r>
            <a:endParaRPr lang="en-US" sz="1050" dirty="0"/>
          </a:p>
        </p:txBody>
      </p:sp>
      <p:sp>
        <p:nvSpPr>
          <p:cNvPr id="71" name="Shape 69"/>
          <p:cNvSpPr/>
          <p:nvPr/>
        </p:nvSpPr>
        <p:spPr>
          <a:xfrm>
            <a:off x="6537960" y="3017520"/>
            <a:ext cx="2468880" cy="1188720"/>
          </a:xfrm>
          <a:prstGeom prst="roundRect">
            <a:avLst>
              <a:gd name="adj" fmla="val 9231"/>
            </a:avLst>
          </a:prstGeom>
          <a:solidFill>
            <a:srgbClr val="E8EDFC"/>
          </a:solidFill>
          <a:ln w="9525">
            <a:solidFill>
              <a:srgbClr val="E8EDFC"/>
            </a:solidFill>
            <a:prstDash val="solid"/>
          </a:ln>
        </p:spPr>
        <p:txBody>
          <a:bodyPr/>
          <a:lstStyle/>
          <a:p>
            <a:endParaRPr/>
          </a:p>
        </p:txBody>
      </p:sp>
      <p:sp>
        <p:nvSpPr>
          <p:cNvPr id="72" name="Text 70"/>
          <p:cNvSpPr txBox="1"/>
          <p:nvPr/>
        </p:nvSpPr>
        <p:spPr>
          <a:xfrm>
            <a:off x="6537960" y="3145536"/>
            <a:ext cx="2468880" cy="594360"/>
          </a:xfrm>
          <a:prstGeom prst="rect">
            <a:avLst/>
          </a:prstGeom>
          <a:noFill/>
          <a:ln/>
        </p:spPr>
        <p:txBody>
          <a:bodyPr wrap="square" lIns="0" tIns="0" rIns="0" bIns="0" rtlCol="0" anchor="ctr"/>
          <a:lstStyle/>
          <a:p>
            <a:pPr marL="0" indent="0" algn="ctr">
              <a:buNone/>
            </a:pPr>
            <a:r>
              <a:rPr lang="en-US" sz="2600" b="1" dirty="0">
                <a:solidFill>
                  <a:srgbClr val="3C71E8"/>
                </a:solidFill>
                <a:latin typeface="Cambria" pitchFamily="34" charset="0"/>
                <a:ea typeface="Cambria" pitchFamily="34" charset="-122"/>
                <a:cs typeface="Cambria" pitchFamily="34" charset="-120"/>
              </a:rPr>
              <a:t>±8 mnt</a:t>
            </a:r>
            <a:endParaRPr lang="en-US" sz="2600" dirty="0"/>
          </a:p>
        </p:txBody>
      </p:sp>
      <p:sp>
        <p:nvSpPr>
          <p:cNvPr id="73" name="Text 71"/>
          <p:cNvSpPr txBox="1"/>
          <p:nvPr/>
        </p:nvSpPr>
        <p:spPr>
          <a:xfrm>
            <a:off x="6629400" y="3706978"/>
            <a:ext cx="2286000" cy="427939"/>
          </a:xfrm>
          <a:prstGeom prst="rect">
            <a:avLst/>
          </a:prstGeom>
          <a:noFill/>
          <a:ln/>
        </p:spPr>
        <p:txBody>
          <a:bodyPr wrap="square" lIns="0" tIns="0" rIns="0" bIns="0" rtlCol="0" anchor="t"/>
          <a:lstStyle/>
          <a:p>
            <a:pPr marL="0" indent="0" algn="ctr">
              <a:buNone/>
            </a:pPr>
            <a:r>
              <a:rPr lang="en-US" sz="1050" dirty="0">
                <a:solidFill>
                  <a:srgbClr val="5B6480"/>
                </a:solidFill>
                <a:latin typeface="Calibri" pitchFamily="34" charset="0"/>
                <a:ea typeface="Calibri" pitchFamily="34" charset="-122"/>
                <a:cs typeface="Calibri" pitchFamily="34" charset="-120"/>
              </a:rPr>
              <a:t>waktu docking</a:t>
            </a:r>
            <a:endParaRPr lang="en-US" sz="1050" dirty="0"/>
          </a:p>
        </p:txBody>
      </p:sp>
      <p:sp>
        <p:nvSpPr>
          <p:cNvPr id="74" name="Shape 72"/>
          <p:cNvSpPr/>
          <p:nvPr/>
        </p:nvSpPr>
        <p:spPr>
          <a:xfrm>
            <a:off x="9144000" y="3017520"/>
            <a:ext cx="2468880" cy="1188720"/>
          </a:xfrm>
          <a:prstGeom prst="roundRect">
            <a:avLst>
              <a:gd name="adj" fmla="val 9231"/>
            </a:avLst>
          </a:prstGeom>
          <a:solidFill>
            <a:srgbClr val="E8EDFC"/>
          </a:solidFill>
          <a:ln w="9525">
            <a:solidFill>
              <a:srgbClr val="E8EDFC"/>
            </a:solidFill>
            <a:prstDash val="solid"/>
          </a:ln>
        </p:spPr>
        <p:txBody>
          <a:bodyPr/>
          <a:lstStyle/>
          <a:p>
            <a:endParaRPr/>
          </a:p>
        </p:txBody>
      </p:sp>
      <p:sp>
        <p:nvSpPr>
          <p:cNvPr id="75" name="Text 73"/>
          <p:cNvSpPr txBox="1"/>
          <p:nvPr/>
        </p:nvSpPr>
        <p:spPr>
          <a:xfrm>
            <a:off x="9144000" y="3145536"/>
            <a:ext cx="2468880" cy="594360"/>
          </a:xfrm>
          <a:prstGeom prst="rect">
            <a:avLst/>
          </a:prstGeom>
          <a:noFill/>
          <a:ln/>
        </p:spPr>
        <p:txBody>
          <a:bodyPr wrap="square" lIns="0" tIns="0" rIns="0" bIns="0" rtlCol="0" anchor="ctr"/>
          <a:lstStyle/>
          <a:p>
            <a:pPr marL="0" indent="0" algn="ctr">
              <a:buNone/>
            </a:pPr>
            <a:r>
              <a:rPr lang="en-US" sz="2600" b="1" dirty="0">
                <a:solidFill>
                  <a:srgbClr val="3C71E8"/>
                </a:solidFill>
                <a:latin typeface="Cambria" pitchFamily="34" charset="0"/>
                <a:ea typeface="Cambria" pitchFamily="34" charset="-122"/>
                <a:cs typeface="Cambria" pitchFamily="34" charset="-120"/>
              </a:rPr>
              <a:t>2</a:t>
            </a:r>
            <a:endParaRPr lang="en-US" sz="2600" dirty="0"/>
          </a:p>
        </p:txBody>
      </p:sp>
      <p:sp>
        <p:nvSpPr>
          <p:cNvPr id="76" name="Text 74"/>
          <p:cNvSpPr txBox="1"/>
          <p:nvPr/>
        </p:nvSpPr>
        <p:spPr>
          <a:xfrm>
            <a:off x="9235440" y="3706978"/>
            <a:ext cx="2286000" cy="427939"/>
          </a:xfrm>
          <a:prstGeom prst="rect">
            <a:avLst/>
          </a:prstGeom>
          <a:noFill/>
          <a:ln/>
        </p:spPr>
        <p:txBody>
          <a:bodyPr wrap="square" lIns="0" tIns="0" rIns="0" bIns="0" rtlCol="0" anchor="t"/>
          <a:lstStyle/>
          <a:p>
            <a:pPr marL="0" indent="0" algn="ctr">
              <a:buNone/>
            </a:pPr>
            <a:r>
              <a:rPr lang="en-US" sz="1050" dirty="0">
                <a:solidFill>
                  <a:srgbClr val="5B6480"/>
                </a:solidFill>
                <a:latin typeface="Calibri" pitchFamily="34" charset="0"/>
                <a:ea typeface="Calibri" pitchFamily="34" charset="-122"/>
                <a:cs typeface="Calibri" pitchFamily="34" charset="-120"/>
              </a:rPr>
              <a:t>replikat: seed 42, 43</a:t>
            </a:r>
            <a:endParaRPr lang="en-US" sz="1050" dirty="0"/>
          </a:p>
        </p:txBody>
      </p:sp>
      <p:sp>
        <p:nvSpPr>
          <p:cNvPr id="77" name="Text 75"/>
          <p:cNvSpPr txBox="1"/>
          <p:nvPr/>
        </p:nvSpPr>
        <p:spPr>
          <a:xfrm>
            <a:off x="6537960" y="4434840"/>
            <a:ext cx="5102352" cy="1828800"/>
          </a:xfrm>
          <a:prstGeom prst="rect">
            <a:avLst/>
          </a:prstGeom>
          <a:noFill/>
          <a:ln/>
        </p:spPr>
        <p:txBody>
          <a:bodyPr wrap="square" lIns="0" tIns="0" rIns="0" bIns="0" rtlCol="0" anchor="t"/>
          <a:lstStyle/>
          <a:p>
            <a:pPr marL="177800" indent="-177800">
              <a:spcAft>
                <a:spcPts val="400"/>
              </a:spcAft>
              <a:buSzPct val="100000"/>
              <a:buChar char="•"/>
            </a:pPr>
            <a:r>
              <a:rPr lang="en-US" sz="1150" b="1" dirty="0">
                <a:solidFill>
                  <a:srgbClr val="1B2140"/>
                </a:solidFill>
                <a:latin typeface="Calibri" pitchFamily="34" charset="0"/>
                <a:ea typeface="Calibri" pitchFamily="34" charset="-122"/>
                <a:cs typeface="Calibri" pitchFamily="34" charset="-120"/>
              </a:rPr>
              <a:t>Urutan loop: </a:t>
            </a:r>
            <a:r>
              <a:rPr lang="en-US" sz="1150" dirty="0">
                <a:solidFill>
                  <a:srgbClr val="1B2140"/>
                </a:solidFill>
                <a:latin typeface="Calibri" pitchFamily="34" charset="0"/>
                <a:ea typeface="Calibri" pitchFamily="34" charset="-122"/>
                <a:cs typeface="Calibri" pitchFamily="34" charset="-120"/>
              </a:rPr>
              <a:t>reseptor, lalu ligan, lalu replikat (docking_matrix.py:122-127)</a:t>
            </a:r>
            <a:endParaRPr lang="en-US" sz="1150" dirty="0"/>
          </a:p>
          <a:p>
            <a:pPr marL="177800" indent="-177800">
              <a:spcAft>
                <a:spcPts val="400"/>
              </a:spcAft>
              <a:buSzPct val="100000"/>
              <a:buChar char="•"/>
            </a:pPr>
            <a:r>
              <a:rPr lang="en-US" sz="1150" b="1" dirty="0">
                <a:solidFill>
                  <a:srgbClr val="1B2140"/>
                </a:solidFill>
                <a:latin typeface="Calibri" pitchFamily="34" charset="0"/>
                <a:ea typeface="Calibri" pitchFamily="34" charset="-122"/>
                <a:cs typeface="Calibri" pitchFamily="34" charset="-120"/>
              </a:rPr>
              <a:t>Kunci target: </a:t>
            </a:r>
            <a:r>
              <a:rPr lang="en-US" sz="1150" dirty="0">
                <a:solidFill>
                  <a:srgbClr val="1B2140"/>
                </a:solidFill>
                <a:latin typeface="Calibri" pitchFamily="34" charset="0"/>
                <a:ea typeface="Calibri" pitchFamily="34" charset="-122"/>
                <a:cs typeface="Calibri" pitchFamily="34" charset="-120"/>
              </a:rPr>
              <a:t>&lt;PDB&gt;_R001; mendukung multi-situs dan multi-PDB</a:t>
            </a:r>
            <a:endParaRPr lang="en-US" sz="1150" dirty="0"/>
          </a:p>
          <a:p>
            <a:pPr marL="177800" indent="-177800">
              <a:spcAft>
                <a:spcPts val="400"/>
              </a:spcAft>
              <a:buSzPct val="100000"/>
              <a:buChar char="•"/>
            </a:pPr>
            <a:r>
              <a:rPr lang="en-US" sz="1150" b="1" dirty="0">
                <a:solidFill>
                  <a:srgbClr val="1B2140"/>
                </a:solidFill>
                <a:latin typeface="Calibri" pitchFamily="34" charset="0"/>
                <a:ea typeface="Calibri" pitchFamily="34" charset="-122"/>
                <a:cs typeface="Calibri" pitchFamily="34" charset="-120"/>
              </a:rPr>
              <a:t>Statistik per pasangan: </a:t>
            </a:r>
            <a:r>
              <a:rPr lang="en-US" sz="1150" dirty="0">
                <a:solidFill>
                  <a:srgbClr val="1B2140"/>
                </a:solidFill>
                <a:latin typeface="Calibri" pitchFamily="34" charset="0"/>
                <a:ea typeface="Calibri" pitchFamily="34" charset="-122"/>
                <a:cs typeface="Calibri" pitchFamily="34" charset="-120"/>
              </a:rPr>
              <a:t>rata-rata, simpangan baku populasi (ddof = 0), terbaik = minimum</a:t>
            </a:r>
            <a:endParaRPr lang="en-US" sz="1150" dirty="0"/>
          </a:p>
          <a:p>
            <a:pPr marL="177800" indent="-177800">
              <a:spcAft>
                <a:spcPts val="400"/>
              </a:spcAft>
              <a:buSzPct val="100000"/>
              <a:buChar char="•"/>
            </a:pPr>
            <a:r>
              <a:rPr lang="en-US" sz="1150" b="1" dirty="0">
                <a:solidFill>
                  <a:srgbClr val="1B2140"/>
                </a:solidFill>
                <a:latin typeface="Calibri" pitchFamily="34" charset="0"/>
                <a:ea typeface="Calibri" pitchFamily="34" charset="-122"/>
                <a:cs typeface="Calibri" pitchFamily="34" charset="-120"/>
              </a:rPr>
              <a:t>Kegagalan: </a:t>
            </a:r>
            <a:r>
              <a:rPr lang="en-US" sz="1150" dirty="0">
                <a:solidFill>
                  <a:srgbClr val="1B2140"/>
                </a:solidFill>
                <a:latin typeface="Calibri" pitchFamily="34" charset="0"/>
                <a:ea typeface="Calibri" pitchFamily="34" charset="-122"/>
                <a:cs typeface="Calibri" pitchFamily="34" charset="-120"/>
              </a:rPr>
              <a:t>dicatat di .error, matriks lanjut. Tiap run tersimpan di repNN.json dan dilewati saat resume. Eksekusi serial; Vina sendiri multithread</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2029968"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C · PIPELINE IN SILICO</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Validasi RMSD redocking: apakah protokol menemukan kembali ligan kristal?</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17</a:t>
            </a:r>
            <a:endParaRPr lang="en-US" sz="1000" dirty="0"/>
          </a:p>
        </p:txBody>
      </p:sp>
      <p:sp>
        <p:nvSpPr>
          <p:cNvPr id="6" name="Shape 4"/>
          <p:cNvSpPr/>
          <p:nvPr/>
        </p:nvSpPr>
        <p:spPr>
          <a:xfrm>
            <a:off x="548640" y="1737360"/>
            <a:ext cx="292608" cy="292608"/>
          </a:xfrm>
          <a:prstGeom prst="ellipse">
            <a:avLst/>
          </a:prstGeom>
          <a:solidFill>
            <a:srgbClr val="3C71E8"/>
          </a:solidFill>
          <a:ln w="12700">
            <a:solidFill>
              <a:srgbClr val="3C71E8"/>
            </a:solidFill>
            <a:prstDash val="solid"/>
          </a:ln>
        </p:spPr>
        <p:txBody>
          <a:bodyPr/>
          <a:lstStyle/>
          <a:p>
            <a:endParaRPr/>
          </a:p>
        </p:txBody>
      </p:sp>
      <p:sp>
        <p:nvSpPr>
          <p:cNvPr id="7" name="Text 5"/>
          <p:cNvSpPr txBox="1"/>
          <p:nvPr/>
        </p:nvSpPr>
        <p:spPr>
          <a:xfrm>
            <a:off x="548640" y="1737360"/>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8" name="Text 6"/>
          <p:cNvSpPr txBox="1"/>
          <p:nvPr/>
        </p:nvSpPr>
        <p:spPr>
          <a:xfrm>
            <a:off x="960120" y="1655064"/>
            <a:ext cx="5029200" cy="457200"/>
          </a:xfrm>
          <a:prstGeom prst="rect">
            <a:avLst/>
          </a:prstGeom>
          <a:noFill/>
          <a:ln/>
        </p:spPr>
        <p:txBody>
          <a:bodyPr wrap="square" lIns="0" tIns="0" rIns="0" bIns="0" rtlCol="0" anchor="ctr"/>
          <a:lstStyle/>
          <a:p>
            <a:pPr marL="0" indent="0">
              <a:buNone/>
            </a:pPr>
            <a:r>
              <a:rPr lang="en-US" sz="1150" dirty="0">
                <a:solidFill>
                  <a:srgbClr val="1B2140"/>
                </a:solidFill>
                <a:latin typeface="Calibri" pitchFamily="34" charset="0"/>
                <a:ea typeface="Calibri" pitchFamily="34" charset="-122"/>
                <a:cs typeface="Calibri" pitchFamily="34" charset="-120"/>
              </a:rPr>
              <a:t>Ekstrak blok PDB ligan native (koordinat kristal apa adanya)</a:t>
            </a:r>
            <a:endParaRPr lang="en-US" sz="1150" dirty="0"/>
          </a:p>
        </p:txBody>
      </p:sp>
      <p:sp>
        <p:nvSpPr>
          <p:cNvPr id="9" name="Shape 7"/>
          <p:cNvSpPr/>
          <p:nvPr/>
        </p:nvSpPr>
        <p:spPr>
          <a:xfrm>
            <a:off x="548640" y="2286000"/>
            <a:ext cx="292608" cy="292608"/>
          </a:xfrm>
          <a:prstGeom prst="ellipse">
            <a:avLst/>
          </a:prstGeom>
          <a:solidFill>
            <a:srgbClr val="3C71E8"/>
          </a:solidFill>
          <a:ln w="12700">
            <a:solidFill>
              <a:srgbClr val="3C71E8"/>
            </a:solidFill>
            <a:prstDash val="solid"/>
          </a:ln>
        </p:spPr>
        <p:txBody>
          <a:bodyPr/>
          <a:lstStyle/>
          <a:p>
            <a:endParaRPr/>
          </a:p>
        </p:txBody>
      </p:sp>
      <p:sp>
        <p:nvSpPr>
          <p:cNvPr id="10" name="Text 8"/>
          <p:cNvSpPr txBox="1"/>
          <p:nvPr/>
        </p:nvSpPr>
        <p:spPr>
          <a:xfrm>
            <a:off x="548640" y="2286000"/>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1" name="Text 9"/>
          <p:cNvSpPr txBox="1"/>
          <p:nvPr/>
        </p:nvSpPr>
        <p:spPr>
          <a:xfrm>
            <a:off x="960120" y="2203704"/>
            <a:ext cx="5029200" cy="457200"/>
          </a:xfrm>
          <a:prstGeom prst="rect">
            <a:avLst/>
          </a:prstGeom>
          <a:noFill/>
          <a:ln/>
        </p:spPr>
        <p:txBody>
          <a:bodyPr wrap="square" lIns="0" tIns="0" rIns="0" bIns="0" rtlCol="0" anchor="ctr"/>
          <a:lstStyle/>
          <a:p>
            <a:pPr marL="0" indent="0">
              <a:buNone/>
            </a:pPr>
            <a:r>
              <a:rPr lang="en-US" sz="1150" dirty="0">
                <a:solidFill>
                  <a:srgbClr val="1B2140"/>
                </a:solidFill>
                <a:latin typeface="Calibri" pitchFamily="34" charset="0"/>
                <a:ea typeface="Calibri" pitchFamily="34" charset="-122"/>
                <a:cs typeface="Calibri" pitchFamily="34" charset="-120"/>
              </a:rPr>
              <a:t>SMILES templat dari RCSB Chemical Component Dictionary; AssignBondOrdersFromTemplate</a:t>
            </a:r>
            <a:endParaRPr lang="en-US" sz="1150" dirty="0"/>
          </a:p>
        </p:txBody>
      </p:sp>
      <p:sp>
        <p:nvSpPr>
          <p:cNvPr id="12" name="Shape 10"/>
          <p:cNvSpPr/>
          <p:nvPr/>
        </p:nvSpPr>
        <p:spPr>
          <a:xfrm>
            <a:off x="548640" y="2834640"/>
            <a:ext cx="292608" cy="292608"/>
          </a:xfrm>
          <a:prstGeom prst="ellipse">
            <a:avLst/>
          </a:prstGeom>
          <a:solidFill>
            <a:srgbClr val="3C71E8"/>
          </a:solidFill>
          <a:ln w="12700">
            <a:solidFill>
              <a:srgbClr val="3C71E8"/>
            </a:solidFill>
            <a:prstDash val="solid"/>
          </a:ln>
        </p:spPr>
        <p:txBody>
          <a:bodyPr/>
          <a:lstStyle/>
          <a:p>
            <a:endParaRPr/>
          </a:p>
        </p:txBody>
      </p:sp>
      <p:sp>
        <p:nvSpPr>
          <p:cNvPr id="13" name="Text 11"/>
          <p:cNvSpPr txBox="1"/>
          <p:nvPr/>
        </p:nvSpPr>
        <p:spPr>
          <a:xfrm>
            <a:off x="548640" y="2834640"/>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4" name="Text 12"/>
          <p:cNvSpPr txBox="1"/>
          <p:nvPr/>
        </p:nvSpPr>
        <p:spPr>
          <a:xfrm>
            <a:off x="960120" y="2752344"/>
            <a:ext cx="5029200" cy="457200"/>
          </a:xfrm>
          <a:prstGeom prst="rect">
            <a:avLst/>
          </a:prstGeom>
          <a:noFill/>
          <a:ln/>
        </p:spPr>
        <p:txBody>
          <a:bodyPr wrap="square" lIns="0" tIns="0" rIns="0" bIns="0" rtlCol="0" anchor="ctr"/>
          <a:lstStyle/>
          <a:p>
            <a:pPr marL="0" indent="0">
              <a:buNone/>
            </a:pPr>
            <a:r>
              <a:rPr lang="en-US" sz="1150" dirty="0">
                <a:solidFill>
                  <a:srgbClr val="1B2140"/>
                </a:solidFill>
                <a:latin typeface="Calibri" pitchFamily="34" charset="0"/>
                <a:ea typeface="Calibri" pitchFamily="34" charset="-122"/>
                <a:cs typeface="Calibri" pitchFamily="34" charset="-120"/>
              </a:rPr>
              <a:t>Siapkan seperti ligan uji, lalu Vina di gridbox yang sama</a:t>
            </a:r>
            <a:endParaRPr lang="en-US" sz="1150" dirty="0"/>
          </a:p>
        </p:txBody>
      </p:sp>
      <p:sp>
        <p:nvSpPr>
          <p:cNvPr id="15" name="Shape 13"/>
          <p:cNvSpPr/>
          <p:nvPr/>
        </p:nvSpPr>
        <p:spPr>
          <a:xfrm>
            <a:off x="548640" y="3383280"/>
            <a:ext cx="292608" cy="292608"/>
          </a:xfrm>
          <a:prstGeom prst="ellipse">
            <a:avLst/>
          </a:prstGeom>
          <a:solidFill>
            <a:srgbClr val="3C71E8"/>
          </a:solidFill>
          <a:ln w="12700">
            <a:solidFill>
              <a:srgbClr val="3C71E8"/>
            </a:solidFill>
            <a:prstDash val="solid"/>
          </a:ln>
        </p:spPr>
        <p:txBody>
          <a:bodyPr/>
          <a:lstStyle/>
          <a:p>
            <a:endParaRPr/>
          </a:p>
        </p:txBody>
      </p:sp>
      <p:sp>
        <p:nvSpPr>
          <p:cNvPr id="16" name="Text 14"/>
          <p:cNvSpPr txBox="1"/>
          <p:nvPr/>
        </p:nvSpPr>
        <p:spPr>
          <a:xfrm>
            <a:off x="548640" y="3383280"/>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17" name="Text 15"/>
          <p:cNvSpPr txBox="1"/>
          <p:nvPr/>
        </p:nvSpPr>
        <p:spPr>
          <a:xfrm>
            <a:off x="960120" y="3300984"/>
            <a:ext cx="5029200" cy="457200"/>
          </a:xfrm>
          <a:prstGeom prst="rect">
            <a:avLst/>
          </a:prstGeom>
          <a:noFill/>
          <a:ln/>
        </p:spPr>
        <p:txBody>
          <a:bodyPr wrap="square" lIns="0" tIns="0" rIns="0" bIns="0" rtlCol="0" anchor="ctr"/>
          <a:lstStyle/>
          <a:p>
            <a:pPr marL="0" indent="0">
              <a:buNone/>
            </a:pPr>
            <a:r>
              <a:rPr lang="en-US" sz="1150" dirty="0">
                <a:solidFill>
                  <a:srgbClr val="1B2140"/>
                </a:solidFill>
                <a:latin typeface="Calibri" pitchFamily="34" charset="0"/>
                <a:ea typeface="Calibri" pitchFamily="34" charset="-122"/>
                <a:cs typeface="Calibri" pitchFamily="34" charset="-120"/>
              </a:rPr>
              <a:t>Bandingkan pose terbaik dan kristal: hanya atom berat</a:t>
            </a:r>
            <a:endParaRPr lang="en-US" sz="1150" dirty="0"/>
          </a:p>
        </p:txBody>
      </p:sp>
      <p:sp>
        <p:nvSpPr>
          <p:cNvPr id="18" name="Shape 16"/>
          <p:cNvSpPr/>
          <p:nvPr/>
        </p:nvSpPr>
        <p:spPr>
          <a:xfrm>
            <a:off x="548640" y="3931920"/>
            <a:ext cx="292608" cy="292608"/>
          </a:xfrm>
          <a:prstGeom prst="ellipse">
            <a:avLst/>
          </a:prstGeom>
          <a:solidFill>
            <a:srgbClr val="3C71E8"/>
          </a:solidFill>
          <a:ln w="12700">
            <a:solidFill>
              <a:srgbClr val="3C71E8"/>
            </a:solidFill>
            <a:prstDash val="solid"/>
          </a:ln>
        </p:spPr>
        <p:txBody>
          <a:bodyPr/>
          <a:lstStyle/>
          <a:p>
            <a:endParaRPr/>
          </a:p>
        </p:txBody>
      </p:sp>
      <p:sp>
        <p:nvSpPr>
          <p:cNvPr id="19" name="Text 17"/>
          <p:cNvSpPr txBox="1"/>
          <p:nvPr/>
        </p:nvSpPr>
        <p:spPr>
          <a:xfrm>
            <a:off x="548640" y="3931920"/>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0" name="Text 18"/>
          <p:cNvSpPr txBox="1"/>
          <p:nvPr/>
        </p:nvSpPr>
        <p:spPr>
          <a:xfrm>
            <a:off x="960120" y="3849624"/>
            <a:ext cx="5029200" cy="457200"/>
          </a:xfrm>
          <a:prstGeom prst="rect">
            <a:avLst/>
          </a:prstGeom>
          <a:noFill/>
          <a:ln/>
        </p:spPr>
        <p:txBody>
          <a:bodyPr wrap="square" lIns="0" tIns="0" rIns="0" bIns="0" rtlCol="0" anchor="ctr"/>
          <a:lstStyle/>
          <a:p>
            <a:pPr marL="0" indent="0">
              <a:buNone/>
            </a:pPr>
            <a:r>
              <a:rPr lang="en-US" sz="1150" dirty="0">
                <a:solidFill>
                  <a:srgbClr val="1B2140"/>
                </a:solidFill>
                <a:latin typeface="Calibri" pitchFamily="34" charset="0"/>
                <a:ea typeface="Calibri" pitchFamily="34" charset="-122"/>
                <a:cs typeface="Calibri" pitchFamily="34" charset="-120"/>
              </a:rPr>
              <a:t>CalcRMS in place (symmetry-aware); cadangan: greedy per unsur</a:t>
            </a:r>
            <a:endParaRPr lang="en-US" sz="1150" dirty="0"/>
          </a:p>
        </p:txBody>
      </p:sp>
      <p:sp>
        <p:nvSpPr>
          <p:cNvPr id="21" name="Shape 19"/>
          <p:cNvSpPr/>
          <p:nvPr/>
        </p:nvSpPr>
        <p:spPr>
          <a:xfrm>
            <a:off x="548640" y="4480560"/>
            <a:ext cx="292608" cy="292608"/>
          </a:xfrm>
          <a:prstGeom prst="ellipse">
            <a:avLst/>
          </a:prstGeom>
          <a:solidFill>
            <a:srgbClr val="3C71E8"/>
          </a:solidFill>
          <a:ln w="12700">
            <a:solidFill>
              <a:srgbClr val="3C71E8"/>
            </a:solidFill>
            <a:prstDash val="solid"/>
          </a:ln>
        </p:spPr>
        <p:txBody>
          <a:bodyPr/>
          <a:lstStyle/>
          <a:p>
            <a:endParaRPr/>
          </a:p>
        </p:txBody>
      </p:sp>
      <p:sp>
        <p:nvSpPr>
          <p:cNvPr id="22" name="Text 20"/>
          <p:cNvSpPr txBox="1"/>
          <p:nvPr/>
        </p:nvSpPr>
        <p:spPr>
          <a:xfrm>
            <a:off x="548640" y="4480560"/>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23" name="Text 21"/>
          <p:cNvSpPr txBox="1"/>
          <p:nvPr/>
        </p:nvSpPr>
        <p:spPr>
          <a:xfrm>
            <a:off x="960120" y="4398264"/>
            <a:ext cx="5029200" cy="457200"/>
          </a:xfrm>
          <a:prstGeom prst="rect">
            <a:avLst/>
          </a:prstGeom>
          <a:noFill/>
          <a:ln/>
        </p:spPr>
        <p:txBody>
          <a:bodyPr wrap="square" lIns="0" tIns="0" rIns="0" bIns="0" rtlCol="0" anchor="ctr"/>
          <a:lstStyle/>
          <a:p>
            <a:pPr marL="0" indent="0">
              <a:buNone/>
            </a:pPr>
            <a:r>
              <a:rPr lang="en-US" sz="1150" dirty="0">
                <a:solidFill>
                  <a:srgbClr val="1B2140"/>
                </a:solidFill>
                <a:latin typeface="Calibri" pitchFamily="34" charset="0"/>
                <a:ea typeface="Calibri" pitchFamily="34" charset="-122"/>
                <a:cs typeface="Calibri" pitchFamily="34" charset="-120"/>
              </a:rPr>
              <a:t>Klasifikasi: &lt; 2,0 Å baik; 2,0 sampai 3,0 Å cukup; ≥ 3,0 Å buruk</a:t>
            </a:r>
            <a:endParaRPr lang="en-US" sz="1150" dirty="0"/>
          </a:p>
        </p:txBody>
      </p:sp>
      <p:sp>
        <p:nvSpPr>
          <p:cNvPr id="24" name="Shape 22"/>
          <p:cNvSpPr/>
          <p:nvPr/>
        </p:nvSpPr>
        <p:spPr>
          <a:xfrm>
            <a:off x="548640" y="5074920"/>
            <a:ext cx="5440680" cy="1097280"/>
          </a:xfrm>
          <a:prstGeom prst="roundRect">
            <a:avLst>
              <a:gd name="adj" fmla="val 10000"/>
            </a:avLst>
          </a:prstGeom>
          <a:solidFill>
            <a:srgbClr val="EDE7FC"/>
          </a:solidFill>
          <a:ln w="9525">
            <a:solidFill>
              <a:srgbClr val="EDE7FC"/>
            </a:solidFill>
            <a:prstDash val="solid"/>
          </a:ln>
        </p:spPr>
        <p:txBody>
          <a:bodyPr/>
          <a:lstStyle/>
          <a:p>
            <a:endParaRPr/>
          </a:p>
        </p:txBody>
      </p:sp>
      <p:sp>
        <p:nvSpPr>
          <p:cNvPr id="25" name="Text 23"/>
          <p:cNvSpPr txBox="1"/>
          <p:nvPr/>
        </p:nvSpPr>
        <p:spPr>
          <a:xfrm>
            <a:off x="731520" y="5166360"/>
            <a:ext cx="5120640" cy="411480"/>
          </a:xfrm>
          <a:prstGeom prst="rect">
            <a:avLst/>
          </a:prstGeom>
          <a:noFill/>
          <a:ln/>
        </p:spPr>
        <p:txBody>
          <a:bodyPr wrap="square" lIns="0" tIns="0" rIns="0" bIns="0" rtlCol="0" anchor="t"/>
          <a:lstStyle/>
          <a:p>
            <a:pPr marL="0" indent="0">
              <a:buNone/>
            </a:pPr>
            <a:r>
              <a:rPr lang="en-US" sz="1500" b="1" dirty="0">
                <a:solidFill>
                  <a:srgbClr val="3C71E8"/>
                </a:solidFill>
                <a:latin typeface="Courier New" pitchFamily="34" charset="0"/>
                <a:ea typeface="Courier New" pitchFamily="34" charset="-122"/>
                <a:cs typeface="Courier New" pitchFamily="34" charset="-120"/>
              </a:rPr>
              <a:t>RMSD = √( (1/N) Σ ‖rᵢ − rᵢ′‖² )</a:t>
            </a:r>
            <a:endParaRPr lang="en-US" sz="1500" dirty="0"/>
          </a:p>
        </p:txBody>
      </p:sp>
      <p:sp>
        <p:nvSpPr>
          <p:cNvPr id="26" name="Text 24"/>
          <p:cNvSpPr txBox="1"/>
          <p:nvPr/>
        </p:nvSpPr>
        <p:spPr>
          <a:xfrm>
            <a:off x="731520" y="5623560"/>
            <a:ext cx="5120640" cy="502920"/>
          </a:xfrm>
          <a:prstGeom prst="rect">
            <a:avLst/>
          </a:prstGeom>
          <a:noFill/>
          <a:ln/>
        </p:spPr>
        <p:txBody>
          <a:bodyPr wrap="square" lIns="0" tIns="0" rIns="0" bIns="0" rtlCol="0" anchor="t"/>
          <a:lstStyle/>
          <a:p>
            <a:pPr marL="0" indent="0">
              <a:buNone/>
            </a:pPr>
            <a:r>
              <a:rPr lang="en-US" sz="1050" dirty="0">
                <a:solidFill>
                  <a:srgbClr val="5B6480"/>
                </a:solidFill>
                <a:latin typeface="Calibri" pitchFamily="34" charset="0"/>
                <a:ea typeface="Calibri" pitchFamily="34" charset="-122"/>
                <a:cs typeface="Calibri" pitchFamily="34" charset="-120"/>
              </a:rPr>
              <a:t>N atom berat; minimum atas pemetaan simetris. Ambang 2,0 Å mengacu pada Hevener dkk. (2009); pita 3,0 Å adalah pilihan chemflow.</a:t>
            </a:r>
            <a:endParaRPr lang="en-US" sz="1050" dirty="0"/>
          </a:p>
        </p:txBody>
      </p:sp>
      <p:graphicFrame>
        <p:nvGraphicFramePr>
          <p:cNvPr id="27" name="Chart 0"/>
          <p:cNvGraphicFramePr/>
          <p:nvPr/>
        </p:nvGraphicFramePr>
        <p:xfrm>
          <a:off x="6172200" y="1600200"/>
          <a:ext cx="5468112" cy="2514600"/>
        </p:xfrm>
        <a:graphic>
          <a:graphicData uri="http://schemas.openxmlformats.org/drawingml/2006/chart">
            <c:chart xmlns:c="http://schemas.openxmlformats.org/drawingml/2006/chart" xmlns:r="http://schemas.openxmlformats.org/officeDocument/2006/relationships" r:id="rId3"/>
          </a:graphicData>
        </a:graphic>
      </p:graphicFrame>
      <p:sp>
        <p:nvSpPr>
          <p:cNvPr id="28" name="Shape 25"/>
          <p:cNvSpPr/>
          <p:nvPr/>
        </p:nvSpPr>
        <p:spPr>
          <a:xfrm>
            <a:off x="6263640" y="4206240"/>
            <a:ext cx="146304" cy="146304"/>
          </a:xfrm>
          <a:prstGeom prst="ellipse">
            <a:avLst/>
          </a:prstGeom>
          <a:solidFill>
            <a:srgbClr val="009E73"/>
          </a:solidFill>
          <a:ln w="12700">
            <a:solidFill>
              <a:srgbClr val="009E73"/>
            </a:solidFill>
            <a:prstDash val="solid"/>
          </a:ln>
        </p:spPr>
        <p:txBody>
          <a:bodyPr/>
          <a:lstStyle/>
          <a:p>
            <a:endParaRPr/>
          </a:p>
        </p:txBody>
      </p:sp>
      <p:sp>
        <p:nvSpPr>
          <p:cNvPr id="29" name="Text 26"/>
          <p:cNvSpPr txBox="1"/>
          <p:nvPr/>
        </p:nvSpPr>
        <p:spPr>
          <a:xfrm>
            <a:off x="6464808" y="4160520"/>
            <a:ext cx="1737360" cy="237744"/>
          </a:xfrm>
          <a:prstGeom prst="rect">
            <a:avLst/>
          </a:prstGeom>
          <a:noFill/>
          <a:ln/>
        </p:spPr>
        <p:txBody>
          <a:bodyPr wrap="square" lIns="0" tIns="0" rIns="0" bIns="0" rtlCol="0" anchor="t"/>
          <a:lstStyle/>
          <a:p>
            <a:pPr marL="0" indent="0">
              <a:buNone/>
            </a:pPr>
            <a:r>
              <a:rPr lang="en-US" sz="1050" dirty="0">
                <a:solidFill>
                  <a:srgbClr val="5B6480"/>
                </a:solidFill>
                <a:latin typeface="Calibri" pitchFamily="34" charset="0"/>
                <a:ea typeface="Calibri" pitchFamily="34" charset="-122"/>
                <a:cs typeface="Calibri" pitchFamily="34" charset="-120"/>
              </a:rPr>
              <a:t>baik &lt; 2,0</a:t>
            </a:r>
            <a:endParaRPr lang="en-US" sz="1050" dirty="0"/>
          </a:p>
        </p:txBody>
      </p:sp>
      <p:sp>
        <p:nvSpPr>
          <p:cNvPr id="30" name="Shape 27"/>
          <p:cNvSpPr/>
          <p:nvPr/>
        </p:nvSpPr>
        <p:spPr>
          <a:xfrm>
            <a:off x="7498080" y="4206240"/>
            <a:ext cx="146304" cy="146304"/>
          </a:xfrm>
          <a:prstGeom prst="ellipse">
            <a:avLst/>
          </a:prstGeom>
          <a:solidFill>
            <a:srgbClr val="E69F00"/>
          </a:solidFill>
          <a:ln w="12700">
            <a:solidFill>
              <a:srgbClr val="E69F00"/>
            </a:solidFill>
            <a:prstDash val="solid"/>
          </a:ln>
        </p:spPr>
        <p:txBody>
          <a:bodyPr/>
          <a:lstStyle/>
          <a:p>
            <a:endParaRPr/>
          </a:p>
        </p:txBody>
      </p:sp>
      <p:sp>
        <p:nvSpPr>
          <p:cNvPr id="31" name="Text 28"/>
          <p:cNvSpPr txBox="1"/>
          <p:nvPr/>
        </p:nvSpPr>
        <p:spPr>
          <a:xfrm>
            <a:off x="7699248" y="4160520"/>
            <a:ext cx="1737360" cy="237744"/>
          </a:xfrm>
          <a:prstGeom prst="rect">
            <a:avLst/>
          </a:prstGeom>
          <a:noFill/>
          <a:ln/>
        </p:spPr>
        <p:txBody>
          <a:bodyPr wrap="square" lIns="0" tIns="0" rIns="0" bIns="0" rtlCol="0" anchor="t"/>
          <a:lstStyle/>
          <a:p>
            <a:pPr marL="0" indent="0">
              <a:buNone/>
            </a:pPr>
            <a:r>
              <a:rPr lang="en-US" sz="1050" dirty="0">
                <a:solidFill>
                  <a:srgbClr val="5B6480"/>
                </a:solidFill>
                <a:latin typeface="Calibri" pitchFamily="34" charset="0"/>
                <a:ea typeface="Calibri" pitchFamily="34" charset="-122"/>
                <a:cs typeface="Calibri" pitchFamily="34" charset="-120"/>
              </a:rPr>
              <a:t>cukup 2,0 sampai 3,0</a:t>
            </a:r>
            <a:endParaRPr lang="en-US" sz="1050" dirty="0"/>
          </a:p>
        </p:txBody>
      </p:sp>
      <p:sp>
        <p:nvSpPr>
          <p:cNvPr id="32" name="Shape 29"/>
          <p:cNvSpPr/>
          <p:nvPr/>
        </p:nvSpPr>
        <p:spPr>
          <a:xfrm>
            <a:off x="9418320" y="4206240"/>
            <a:ext cx="146304" cy="146304"/>
          </a:xfrm>
          <a:prstGeom prst="ellipse">
            <a:avLst/>
          </a:prstGeom>
          <a:solidFill>
            <a:srgbClr val="D55E00"/>
          </a:solidFill>
          <a:ln w="12700">
            <a:solidFill>
              <a:srgbClr val="D55E00"/>
            </a:solidFill>
            <a:prstDash val="solid"/>
          </a:ln>
        </p:spPr>
        <p:txBody>
          <a:bodyPr/>
          <a:lstStyle/>
          <a:p>
            <a:endParaRPr/>
          </a:p>
        </p:txBody>
      </p:sp>
      <p:sp>
        <p:nvSpPr>
          <p:cNvPr id="33" name="Text 30"/>
          <p:cNvSpPr txBox="1"/>
          <p:nvPr/>
        </p:nvSpPr>
        <p:spPr>
          <a:xfrm>
            <a:off x="9619488" y="4160520"/>
            <a:ext cx="1737360" cy="237744"/>
          </a:xfrm>
          <a:prstGeom prst="rect">
            <a:avLst/>
          </a:prstGeom>
          <a:noFill/>
          <a:ln/>
        </p:spPr>
        <p:txBody>
          <a:bodyPr wrap="square" lIns="0" tIns="0" rIns="0" bIns="0" rtlCol="0" anchor="t"/>
          <a:lstStyle/>
          <a:p>
            <a:pPr marL="0" indent="0">
              <a:buNone/>
            </a:pPr>
            <a:r>
              <a:rPr lang="en-US" sz="1050" dirty="0">
                <a:solidFill>
                  <a:srgbClr val="5B6480"/>
                </a:solidFill>
                <a:latin typeface="Calibri" pitchFamily="34" charset="0"/>
                <a:ea typeface="Calibri" pitchFamily="34" charset="-122"/>
                <a:cs typeface="Calibri" pitchFamily="34" charset="-120"/>
              </a:rPr>
              <a:t>buruk ≥ 3,0</a:t>
            </a:r>
            <a:endParaRPr lang="en-US" sz="1050" dirty="0"/>
          </a:p>
        </p:txBody>
      </p:sp>
      <p:sp>
        <p:nvSpPr>
          <p:cNvPr id="34" name="Shape 31"/>
          <p:cNvSpPr/>
          <p:nvPr/>
        </p:nvSpPr>
        <p:spPr>
          <a:xfrm>
            <a:off x="6172200" y="4526280"/>
            <a:ext cx="5468112" cy="1417320"/>
          </a:xfrm>
          <a:prstGeom prst="roundRect">
            <a:avLst>
              <a:gd name="adj" fmla="val 6452"/>
            </a:avLst>
          </a:prstGeom>
          <a:solidFill>
            <a:srgbClr val="FCF0D6"/>
          </a:solidFill>
          <a:ln w="15875">
            <a:solidFill>
              <a:srgbClr val="E69F00"/>
            </a:solidFill>
            <a:prstDash val="solid"/>
          </a:ln>
        </p:spPr>
        <p:txBody>
          <a:bodyPr/>
          <a:lstStyle/>
          <a:p>
            <a:endParaRPr/>
          </a:p>
        </p:txBody>
      </p:sp>
      <p:sp>
        <p:nvSpPr>
          <p:cNvPr id="35" name="Text 32"/>
          <p:cNvSpPr txBox="1"/>
          <p:nvPr/>
        </p:nvSpPr>
        <p:spPr>
          <a:xfrm>
            <a:off x="6336792" y="4617720"/>
            <a:ext cx="5138928" cy="1234440"/>
          </a:xfrm>
          <a:prstGeom prst="rect">
            <a:avLst/>
          </a:prstGeom>
          <a:noFill/>
          <a:ln/>
        </p:spPr>
        <p:txBody>
          <a:bodyPr wrap="square" lIns="0" tIns="0" rIns="0" bIns="0" rtlCol="0" anchor="t"/>
          <a:lstStyle/>
          <a:p>
            <a:pPr marL="0" indent="0">
              <a:spcAft>
                <a:spcPts val="300"/>
              </a:spcAft>
              <a:buNone/>
            </a:pPr>
            <a:r>
              <a:rPr lang="en-US" sz="1250" b="1" dirty="0">
                <a:solidFill>
                  <a:srgbClr val="1B2140"/>
                </a:solidFill>
                <a:latin typeface="Calibri" pitchFamily="34" charset="0"/>
                <a:ea typeface="Calibri" pitchFamily="34" charset="-122"/>
                <a:cs typeface="Calibri" pitchFamily="34" charset="-120"/>
              </a:rPr>
              <a:t>Catatan metodologis</a:t>
            </a:r>
            <a:endParaRPr lang="en-US" sz="1250" dirty="0"/>
          </a:p>
          <a:p>
            <a:pPr marL="0" indent="0">
              <a:spcAft>
                <a:spcPts val="300"/>
              </a:spcAft>
              <a:buNone/>
            </a:pPr>
            <a:r>
              <a:rPr lang="en-US" sz="1150" dirty="0">
                <a:solidFill>
                  <a:srgbClr val="1B2140"/>
                </a:solidFill>
                <a:latin typeface="Calibri" pitchFamily="34" charset="0"/>
                <a:ea typeface="Calibri" pitchFamily="34" charset="-122"/>
                <a:cs typeface="Calibri" pitchFamily="34" charset="-120"/>
              </a:rPr>
              <a:t>RMSD dihitung in place (rdMolAlign.CalcRMS, tanpa superposisi), jadi mengukur ketepatan posisi di kantong ikat sesuai konvensi redocking. Grafik dihitung ulang dari pose demonstrasi yang sama. Metode lama (best-fit) memberi 1HSG 4,04 Å; in place 10,52 Å, dan protokol perlu ditinjau.</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2029968"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C · PIPELINE IN SILICO</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ADMET: prediksi ADMETLab 3.0 langsung, atau dari file unduhan</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18</a:t>
            </a:r>
            <a:endParaRPr lang="en-US" sz="1000" dirty="0"/>
          </a:p>
        </p:txBody>
      </p:sp>
      <p:sp>
        <p:nvSpPr>
          <p:cNvPr id="6" name="Shape 4"/>
          <p:cNvSpPr/>
          <p:nvPr/>
        </p:nvSpPr>
        <p:spPr>
          <a:xfrm>
            <a:off x="548640" y="1691640"/>
            <a:ext cx="5486400" cy="4480560"/>
          </a:xfrm>
          <a:prstGeom prst="roundRect">
            <a:avLst>
              <a:gd name="adj" fmla="val 2449"/>
            </a:avLst>
          </a:prstGeom>
          <a:solidFill>
            <a:srgbClr val="E8EDFC"/>
          </a:solidFill>
          <a:ln w="9525">
            <a:solidFill>
              <a:srgbClr val="E8EDFC"/>
            </a:solidFill>
            <a:prstDash val="solid"/>
          </a:ln>
        </p:spPr>
        <p:txBody>
          <a:bodyPr/>
          <a:lstStyle/>
          <a:p>
            <a:endParaRPr/>
          </a:p>
        </p:txBody>
      </p:sp>
      <p:sp>
        <p:nvSpPr>
          <p:cNvPr id="7" name="Text 5"/>
          <p:cNvSpPr txBox="1"/>
          <p:nvPr/>
        </p:nvSpPr>
        <p:spPr>
          <a:xfrm>
            <a:off x="777240" y="1828800"/>
            <a:ext cx="2651760" cy="256032"/>
          </a:xfrm>
          <a:prstGeom prst="roundRect">
            <a:avLst>
              <a:gd name="adj" fmla="val 50000"/>
            </a:avLst>
          </a:prstGeom>
          <a:solidFill>
            <a:srgbClr val="3C71E8"/>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Jalur A: scraper ADMETLab 3.0</a:t>
            </a:r>
            <a:endParaRPr lang="en-US" sz="1100" dirty="0"/>
          </a:p>
        </p:txBody>
      </p:sp>
      <p:sp>
        <p:nvSpPr>
          <p:cNvPr id="8" name="Shape 6"/>
          <p:cNvSpPr/>
          <p:nvPr/>
        </p:nvSpPr>
        <p:spPr>
          <a:xfrm>
            <a:off x="777240" y="2423160"/>
            <a:ext cx="292608" cy="292608"/>
          </a:xfrm>
          <a:prstGeom prst="ellipse">
            <a:avLst/>
          </a:prstGeom>
          <a:solidFill>
            <a:srgbClr val="3C71E8"/>
          </a:solidFill>
          <a:ln w="12700">
            <a:solidFill>
              <a:srgbClr val="3C71E8"/>
            </a:solidFill>
            <a:prstDash val="solid"/>
          </a:ln>
        </p:spPr>
        <p:txBody>
          <a:bodyPr/>
          <a:lstStyle/>
          <a:p>
            <a:endParaRPr/>
          </a:p>
        </p:txBody>
      </p:sp>
      <p:sp>
        <p:nvSpPr>
          <p:cNvPr id="9" name="Text 7"/>
          <p:cNvSpPr txBox="1"/>
          <p:nvPr/>
        </p:nvSpPr>
        <p:spPr>
          <a:xfrm>
            <a:off x="777240" y="2423160"/>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0" name="Text 8"/>
          <p:cNvSpPr txBox="1"/>
          <p:nvPr/>
        </p:nvSpPr>
        <p:spPr>
          <a:xfrm>
            <a:off x="1207008" y="2286000"/>
            <a:ext cx="4617720" cy="566928"/>
          </a:xfrm>
          <a:prstGeom prst="rect">
            <a:avLst/>
          </a:prstGeom>
          <a:noFill/>
          <a:ln/>
        </p:spPr>
        <p:txBody>
          <a:bodyPr wrap="square" lIns="0" tIns="0" rIns="0" bIns="0" rtlCol="0" anchor="ctr"/>
          <a:lstStyle/>
          <a:p>
            <a:pPr marL="0" indent="0">
              <a:buNone/>
            </a:pPr>
            <a:r>
              <a:rPr lang="en-US" sz="1200" dirty="0">
                <a:solidFill>
                  <a:srgbClr val="1B2140"/>
                </a:solidFill>
                <a:latin typeface="Calibri" pitchFamily="34" charset="0"/>
                <a:ea typeface="Calibri" pitchFamily="34" charset="-122"/>
                <a:cs typeface="Calibri" pitchFamily="34" charset="-120"/>
              </a:rPr>
              <a:t>GET /server/screening, ambil token CSRF</a:t>
            </a:r>
            <a:endParaRPr lang="en-US" sz="1200" dirty="0"/>
          </a:p>
        </p:txBody>
      </p:sp>
      <p:sp>
        <p:nvSpPr>
          <p:cNvPr id="11" name="Shape 9"/>
          <p:cNvSpPr/>
          <p:nvPr/>
        </p:nvSpPr>
        <p:spPr>
          <a:xfrm>
            <a:off x="777240" y="3063240"/>
            <a:ext cx="292608" cy="292608"/>
          </a:xfrm>
          <a:prstGeom prst="ellipse">
            <a:avLst/>
          </a:prstGeom>
          <a:solidFill>
            <a:srgbClr val="3C71E8"/>
          </a:solidFill>
          <a:ln w="12700">
            <a:solidFill>
              <a:srgbClr val="3C71E8"/>
            </a:solidFill>
            <a:prstDash val="solid"/>
          </a:ln>
        </p:spPr>
        <p:txBody>
          <a:bodyPr/>
          <a:lstStyle/>
          <a:p>
            <a:endParaRPr/>
          </a:p>
        </p:txBody>
      </p:sp>
      <p:sp>
        <p:nvSpPr>
          <p:cNvPr id="12" name="Text 10"/>
          <p:cNvSpPr txBox="1"/>
          <p:nvPr/>
        </p:nvSpPr>
        <p:spPr>
          <a:xfrm>
            <a:off x="777240" y="3063240"/>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3" name="Text 11"/>
          <p:cNvSpPr txBox="1"/>
          <p:nvPr/>
        </p:nvSpPr>
        <p:spPr>
          <a:xfrm>
            <a:off x="1207008" y="2926080"/>
            <a:ext cx="4617720" cy="566928"/>
          </a:xfrm>
          <a:prstGeom prst="rect">
            <a:avLst/>
          </a:prstGeom>
          <a:noFill/>
          <a:ln/>
        </p:spPr>
        <p:txBody>
          <a:bodyPr wrap="square" lIns="0" tIns="0" rIns="0" bIns="0" rtlCol="0" anchor="ctr"/>
          <a:lstStyle/>
          <a:p>
            <a:pPr marL="0" indent="0">
              <a:buNone/>
            </a:pPr>
            <a:r>
              <a:rPr lang="en-US" sz="1200" dirty="0">
                <a:solidFill>
                  <a:srgbClr val="1B2140"/>
                </a:solidFill>
                <a:latin typeface="Calibri" pitchFamily="34" charset="0"/>
                <a:ea typeface="Calibri" pitchFamily="34" charset="-122"/>
                <a:cs typeface="Calibri" pitchFamily="34" charset="-120"/>
              </a:rPr>
              <a:t>POST /server/screeningCal: SMILES unik, batch ≤ 50 (maks 100)</a:t>
            </a:r>
            <a:endParaRPr lang="en-US" sz="1200" dirty="0"/>
          </a:p>
        </p:txBody>
      </p:sp>
      <p:sp>
        <p:nvSpPr>
          <p:cNvPr id="14" name="Shape 12"/>
          <p:cNvSpPr/>
          <p:nvPr/>
        </p:nvSpPr>
        <p:spPr>
          <a:xfrm>
            <a:off x="777240" y="3703320"/>
            <a:ext cx="292608" cy="292608"/>
          </a:xfrm>
          <a:prstGeom prst="ellipse">
            <a:avLst/>
          </a:prstGeom>
          <a:solidFill>
            <a:srgbClr val="3C71E8"/>
          </a:solidFill>
          <a:ln w="12700">
            <a:solidFill>
              <a:srgbClr val="3C71E8"/>
            </a:solidFill>
            <a:prstDash val="solid"/>
          </a:ln>
        </p:spPr>
        <p:txBody>
          <a:bodyPr/>
          <a:lstStyle/>
          <a:p>
            <a:endParaRPr/>
          </a:p>
        </p:txBody>
      </p:sp>
      <p:sp>
        <p:nvSpPr>
          <p:cNvPr id="15" name="Text 13"/>
          <p:cNvSpPr txBox="1"/>
          <p:nvPr/>
        </p:nvSpPr>
        <p:spPr>
          <a:xfrm>
            <a:off x="777240" y="3703320"/>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6" name="Text 14"/>
          <p:cNvSpPr txBox="1"/>
          <p:nvPr/>
        </p:nvSpPr>
        <p:spPr>
          <a:xfrm>
            <a:off x="1207008" y="3566160"/>
            <a:ext cx="4617720" cy="566928"/>
          </a:xfrm>
          <a:prstGeom prst="rect">
            <a:avLst/>
          </a:prstGeom>
          <a:noFill/>
          <a:ln/>
        </p:spPr>
        <p:txBody>
          <a:bodyPr wrap="square" lIns="0" tIns="0" rIns="0" bIns="0" rtlCol="0" anchor="ctr"/>
          <a:lstStyle/>
          <a:p>
            <a:pPr marL="0" indent="0">
              <a:buNone/>
            </a:pPr>
            <a:r>
              <a:rPr lang="en-US" sz="1200" dirty="0">
                <a:solidFill>
                  <a:srgbClr val="1B2140"/>
                </a:solidFill>
                <a:latin typeface="Calibri" pitchFamily="34" charset="0"/>
                <a:ea typeface="Calibri" pitchFamily="34" charset="-122"/>
                <a:cs typeface="Calibri" pitchFamily="34" charset="-120"/>
              </a:rPr>
              <a:t>Cari tautan /download/csv/ di halaman hasil</a:t>
            </a:r>
            <a:endParaRPr lang="en-US" sz="1200" dirty="0"/>
          </a:p>
        </p:txBody>
      </p:sp>
      <p:sp>
        <p:nvSpPr>
          <p:cNvPr id="17" name="Shape 15"/>
          <p:cNvSpPr/>
          <p:nvPr/>
        </p:nvSpPr>
        <p:spPr>
          <a:xfrm>
            <a:off x="777240" y="4343400"/>
            <a:ext cx="292608" cy="292608"/>
          </a:xfrm>
          <a:prstGeom prst="ellipse">
            <a:avLst/>
          </a:prstGeom>
          <a:solidFill>
            <a:srgbClr val="3C71E8"/>
          </a:solidFill>
          <a:ln w="12700">
            <a:solidFill>
              <a:srgbClr val="3C71E8"/>
            </a:solidFill>
            <a:prstDash val="solid"/>
          </a:ln>
        </p:spPr>
        <p:txBody>
          <a:bodyPr/>
          <a:lstStyle/>
          <a:p>
            <a:endParaRPr/>
          </a:p>
        </p:txBody>
      </p:sp>
      <p:sp>
        <p:nvSpPr>
          <p:cNvPr id="18" name="Text 16"/>
          <p:cNvSpPr txBox="1"/>
          <p:nvPr/>
        </p:nvSpPr>
        <p:spPr>
          <a:xfrm>
            <a:off x="777240" y="4343400"/>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19" name="Text 17"/>
          <p:cNvSpPr txBox="1"/>
          <p:nvPr/>
        </p:nvSpPr>
        <p:spPr>
          <a:xfrm>
            <a:off x="1207008" y="4206240"/>
            <a:ext cx="4617720" cy="566928"/>
          </a:xfrm>
          <a:prstGeom prst="rect">
            <a:avLst/>
          </a:prstGeom>
          <a:noFill/>
          <a:ln/>
        </p:spPr>
        <p:txBody>
          <a:bodyPr wrap="square" lIns="0" tIns="0" rIns="0" bIns="0" rtlCol="0" anchor="ctr"/>
          <a:lstStyle/>
          <a:p>
            <a:pPr marL="0" indent="0">
              <a:buNone/>
            </a:pPr>
            <a:r>
              <a:rPr lang="en-US" sz="1200" dirty="0">
                <a:solidFill>
                  <a:srgbClr val="1B2140"/>
                </a:solidFill>
                <a:latin typeface="Calibri" pitchFamily="34" charset="0"/>
                <a:ea typeface="Calibri" pitchFamily="34" charset="-122"/>
                <a:cs typeface="Calibri" pitchFamily="34" charset="-120"/>
              </a:rPr>
              <a:t>Unduh CSV; baris ke-N = SMILES unik ke-N, disalin ke ligan kembar</a:t>
            </a:r>
            <a:endParaRPr lang="en-US" sz="1200" dirty="0"/>
          </a:p>
        </p:txBody>
      </p:sp>
      <p:sp>
        <p:nvSpPr>
          <p:cNvPr id="20" name="Shape 18"/>
          <p:cNvSpPr/>
          <p:nvPr/>
        </p:nvSpPr>
        <p:spPr>
          <a:xfrm>
            <a:off x="777240" y="4983480"/>
            <a:ext cx="292608" cy="292608"/>
          </a:xfrm>
          <a:prstGeom prst="ellipse">
            <a:avLst/>
          </a:prstGeom>
          <a:solidFill>
            <a:srgbClr val="3C71E8"/>
          </a:solidFill>
          <a:ln w="12700">
            <a:solidFill>
              <a:srgbClr val="3C71E8"/>
            </a:solidFill>
            <a:prstDash val="solid"/>
          </a:ln>
        </p:spPr>
        <p:txBody>
          <a:bodyPr/>
          <a:lstStyle/>
          <a:p>
            <a:endParaRPr/>
          </a:p>
        </p:txBody>
      </p:sp>
      <p:sp>
        <p:nvSpPr>
          <p:cNvPr id="21" name="Text 19"/>
          <p:cNvSpPr txBox="1"/>
          <p:nvPr/>
        </p:nvSpPr>
        <p:spPr>
          <a:xfrm>
            <a:off x="777240" y="4983480"/>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2" name="Text 20"/>
          <p:cNvSpPr txBox="1"/>
          <p:nvPr/>
        </p:nvSpPr>
        <p:spPr>
          <a:xfrm>
            <a:off x="1207008" y="4846320"/>
            <a:ext cx="4617720" cy="566928"/>
          </a:xfrm>
          <a:prstGeom prst="rect">
            <a:avLst/>
          </a:prstGeom>
          <a:noFill/>
          <a:ln/>
        </p:spPr>
        <p:txBody>
          <a:bodyPr wrap="square" lIns="0" tIns="0" rIns="0" bIns="0" rtlCol="0" anchor="ctr"/>
          <a:lstStyle/>
          <a:p>
            <a:pPr marL="0" indent="0">
              <a:buNone/>
            </a:pPr>
            <a:r>
              <a:rPr lang="en-US" sz="1200" dirty="0">
                <a:solidFill>
                  <a:srgbClr val="1B2140"/>
                </a:solidFill>
                <a:latin typeface="Calibri" pitchFamily="34" charset="0"/>
                <a:ea typeface="Calibri" pitchFamily="34" charset="-122"/>
                <a:cs typeface="Calibri" pitchFamily="34" charset="-120"/>
              </a:rPr>
              <a:t>Retry 5×, jeda 10 dtk × percobaan, untuk 429/5xx/timeout</a:t>
            </a:r>
            <a:endParaRPr lang="en-US" sz="1200" dirty="0"/>
          </a:p>
        </p:txBody>
      </p:sp>
      <p:sp>
        <p:nvSpPr>
          <p:cNvPr id="23" name="Shape 21"/>
          <p:cNvSpPr/>
          <p:nvPr/>
        </p:nvSpPr>
        <p:spPr>
          <a:xfrm>
            <a:off x="777240" y="5623560"/>
            <a:ext cx="292608" cy="292608"/>
          </a:xfrm>
          <a:prstGeom prst="ellipse">
            <a:avLst/>
          </a:prstGeom>
          <a:solidFill>
            <a:srgbClr val="3C71E8"/>
          </a:solidFill>
          <a:ln w="12700">
            <a:solidFill>
              <a:srgbClr val="3C71E8"/>
            </a:solidFill>
            <a:prstDash val="solid"/>
          </a:ln>
        </p:spPr>
        <p:txBody>
          <a:bodyPr/>
          <a:lstStyle/>
          <a:p>
            <a:endParaRPr/>
          </a:p>
        </p:txBody>
      </p:sp>
      <p:sp>
        <p:nvSpPr>
          <p:cNvPr id="24" name="Text 22"/>
          <p:cNvSpPr txBox="1"/>
          <p:nvPr/>
        </p:nvSpPr>
        <p:spPr>
          <a:xfrm>
            <a:off x="777240" y="5623560"/>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25" name="Text 23"/>
          <p:cNvSpPr txBox="1"/>
          <p:nvPr/>
        </p:nvSpPr>
        <p:spPr>
          <a:xfrm>
            <a:off x="1207008" y="5486400"/>
            <a:ext cx="4617720" cy="566928"/>
          </a:xfrm>
          <a:prstGeom prst="rect">
            <a:avLst/>
          </a:prstGeom>
          <a:noFill/>
          <a:ln/>
        </p:spPr>
        <p:txBody>
          <a:bodyPr wrap="square" lIns="0" tIns="0" rIns="0" bIns="0" rtlCol="0" anchor="ctr"/>
          <a:lstStyle/>
          <a:p>
            <a:pPr marL="0" indent="0">
              <a:buNone/>
            </a:pPr>
            <a:r>
              <a:rPr lang="en-US" sz="1200" dirty="0">
                <a:solidFill>
                  <a:srgbClr val="1B2140"/>
                </a:solidFill>
                <a:latin typeface="Calibri" pitchFamily="34" charset="0"/>
                <a:ea typeface="Calibri" pitchFamily="34" charset="-122"/>
                <a:cs typeface="Calibri" pitchFamily="34" charset="-120"/>
              </a:rPr>
              <a:t>Baris tak cocok: dicocokkan lewat raw_smiles, atau batch dilewati</a:t>
            </a:r>
            <a:endParaRPr lang="en-US" sz="1200" dirty="0"/>
          </a:p>
        </p:txBody>
      </p:sp>
      <p:sp>
        <p:nvSpPr>
          <p:cNvPr id="26" name="Shape 24"/>
          <p:cNvSpPr/>
          <p:nvPr/>
        </p:nvSpPr>
        <p:spPr>
          <a:xfrm>
            <a:off x="6263640" y="1691640"/>
            <a:ext cx="5376672" cy="1463040"/>
          </a:xfrm>
          <a:prstGeom prst="roundRect">
            <a:avLst>
              <a:gd name="adj" fmla="val 7500"/>
            </a:avLst>
          </a:prstGeom>
          <a:solidFill>
            <a:srgbClr val="E8EDFC"/>
          </a:solidFill>
          <a:ln w="9525">
            <a:solidFill>
              <a:srgbClr val="E8EDFC"/>
            </a:solidFill>
            <a:prstDash val="solid"/>
          </a:ln>
        </p:spPr>
        <p:txBody>
          <a:bodyPr/>
          <a:lstStyle/>
          <a:p>
            <a:endParaRPr/>
          </a:p>
        </p:txBody>
      </p:sp>
      <p:sp>
        <p:nvSpPr>
          <p:cNvPr id="27" name="Text 25"/>
          <p:cNvSpPr txBox="1"/>
          <p:nvPr/>
        </p:nvSpPr>
        <p:spPr>
          <a:xfrm>
            <a:off x="6492240" y="1828800"/>
            <a:ext cx="1920240" cy="256032"/>
          </a:xfrm>
          <a:prstGeom prst="roundRect">
            <a:avLst>
              <a:gd name="adj" fmla="val 50000"/>
            </a:avLst>
          </a:prstGeom>
          <a:solidFill>
            <a:srgbClr val="8E70EB"/>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Jalur B: --admet-file</a:t>
            </a:r>
            <a:endParaRPr lang="en-US" sz="1100" dirty="0"/>
          </a:p>
        </p:txBody>
      </p:sp>
      <p:sp>
        <p:nvSpPr>
          <p:cNvPr id="28" name="Text 26"/>
          <p:cNvSpPr txBox="1"/>
          <p:nvPr/>
        </p:nvSpPr>
        <p:spPr>
          <a:xfrm>
            <a:off x="6492240" y="2194560"/>
            <a:ext cx="4937760" cy="914400"/>
          </a:xfrm>
          <a:prstGeom prst="rect">
            <a:avLst/>
          </a:prstGeom>
          <a:noFill/>
          <a:ln/>
        </p:spPr>
        <p:txBody>
          <a:bodyPr wrap="square" lIns="0" tIns="0" rIns="0" bIns="0" rtlCol="0" anchor="t"/>
          <a:lstStyle/>
          <a:p>
            <a:pPr marL="0" indent="0">
              <a:buNone/>
            </a:pPr>
            <a:r>
              <a:rPr lang="en-US" sz="1150" dirty="0">
                <a:solidFill>
                  <a:srgbClr val="1B2140"/>
                </a:solidFill>
                <a:latin typeface="Calibri" pitchFamily="34" charset="0"/>
                <a:ea typeface="Calibri" pitchFamily="34" charset="-122"/>
                <a:cs typeface="Calibri" pitchFamily="34" charset="-120"/>
              </a:rPr>
              <a:t>CSV atau XLSX (sheet pertama) hasil unduhan ADMETLab3. Baris ke-N adalah ligan ke-N di Excel ligan, atau SMILES unik ke-N bila ada senyawa kembar antar grup (baris disalin); jumlah baris harus sama dengan salah satunya. Bila ada kolom smiles, dicocokkan dengan SMILES ligan dan memberi peringatan bila beda.</a:t>
            </a:r>
            <a:endParaRPr lang="en-US" sz="1150" dirty="0"/>
          </a:p>
        </p:txBody>
      </p:sp>
      <p:graphicFrame>
        <p:nvGraphicFramePr>
          <p:cNvPr id="29" name="Chart 0"/>
          <p:cNvGraphicFramePr/>
          <p:nvPr/>
        </p:nvGraphicFramePr>
        <p:xfrm>
          <a:off x="6263640" y="3291840"/>
          <a:ext cx="5376672" cy="28803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2029968"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C · PIPELINE IN SILICO</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Satu tabel aturan mengubah 120 kolom ADMET menjadi lampu hijau, kuning, merah</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19</a:t>
            </a:r>
            <a:endParaRPr lang="en-US" sz="1000" dirty="0"/>
          </a:p>
        </p:txBody>
      </p:sp>
      <p:graphicFrame>
        <p:nvGraphicFramePr>
          <p:cNvPr id="6" name="Chart 0"/>
          <p:cNvGraphicFramePr/>
          <p:nvPr/>
        </p:nvGraphicFramePr>
        <p:xfrm>
          <a:off x="548640" y="1645920"/>
          <a:ext cx="502920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548640" y="5349240"/>
            <a:ext cx="5029200" cy="365760"/>
          </a:xfrm>
          <a:prstGeom prst="rect">
            <a:avLst/>
          </a:prstGeom>
          <a:noFill/>
          <a:ln/>
        </p:spPr>
        <p:txBody>
          <a:bodyPr wrap="square" lIns="0" tIns="0" rIns="0" bIns="0" rtlCol="0" anchor="t"/>
          <a:lstStyle/>
          <a:p>
            <a:pPr marL="0" indent="0" algn="l">
              <a:buNone/>
            </a:pPr>
            <a:r>
              <a:rPr lang="en-US" sz="1000" dirty="0">
                <a:solidFill>
                  <a:srgbClr val="5B6480"/>
                </a:solidFill>
                <a:latin typeface="Calibri" pitchFamily="34" charset="0"/>
                <a:ea typeface="Calibri" pitchFamily="34" charset="-122"/>
                <a:cs typeface="Calibri" pitchFamily="34" charset="-120"/>
              </a:rPr>
              <a:t>Sumber: admet_rules.py. 108 aturan terskor dan 12 deskriptif.</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760720" y="1691640"/>
          <a:ext cx="5879592" cy="2633472"/>
        </p:xfrm>
        <a:graphic>
          <a:graphicData uri="http://schemas.openxmlformats.org/drawingml/2006/table">
            <a:tbl>
              <a:tblPr/>
              <a:tblGrid>
                <a:gridCol w="160020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2496312">
                  <a:extLst>
                    <a:ext uri="{9D8B030D-6E8A-4147-A177-3AD203B41FA5}">
                      <a16:colId xmlns:a16="http://schemas.microsoft.com/office/drawing/2014/main" val="20002"/>
                    </a:ext>
                  </a:extLst>
                </a:gridCol>
              </a:tblGrid>
              <a:tr h="32918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Kolom</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Hijau</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Kuning atau merah</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extLst>
                  <a:ext uri="{0D108BD9-81ED-4DB2-BD59-A6C34878D82A}">
                    <a16:rowId xmlns:a16="http://schemas.microsoft.com/office/drawing/2014/main" val="10000"/>
                  </a:ext>
                </a:extLst>
              </a:tr>
              <a:tr h="329184">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MW</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100 sampai 600 Da</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di luar rentang: merah</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TPSA</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0 sampai 140 Å²</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di luar rentang: merah</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2"/>
                  </a:ext>
                </a:extLst>
              </a:tr>
              <a:tr h="329184">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QED</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&gt; 0,67</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selain itu merah</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Lipinski</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 1 pelanggaran</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selain itu merah</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4"/>
                  </a:ext>
                </a:extLst>
              </a:tr>
              <a:tr h="329184">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hERG, HIA, BBB</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 0,3</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0,3 sampai 0,7 kuning; &gt; 0,7 merah</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cl-plasma</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 5 mL/min/kg</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5 sampai 15 kuning; &gt; 15 merah</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6"/>
                  </a:ext>
                </a:extLst>
              </a:tr>
              <a:tr h="329184">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PAINS, BMS</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tanpa peringatan</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00" dirty="0">
                          <a:solidFill>
                            <a:srgbClr val="1B2140"/>
                          </a:solidFill>
                          <a:latin typeface="Calibri" pitchFamily="34" charset="0"/>
                          <a:ea typeface="Calibri" pitchFamily="34" charset="-122"/>
                          <a:cs typeface="Calibri" pitchFamily="34" charset="-120"/>
                        </a:rPr>
                        <a:t>ada peringatan: merah</a:t>
                      </a:r>
                      <a:endParaRPr lang="en-US" sz="11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9" name="Shape 5"/>
          <p:cNvSpPr/>
          <p:nvPr/>
        </p:nvSpPr>
        <p:spPr>
          <a:xfrm>
            <a:off x="5760720" y="4526280"/>
            <a:ext cx="5879592" cy="777240"/>
          </a:xfrm>
          <a:prstGeom prst="roundRect">
            <a:avLst>
              <a:gd name="adj" fmla="val 14118"/>
            </a:avLst>
          </a:prstGeom>
          <a:solidFill>
            <a:srgbClr val="EDE7FC"/>
          </a:solidFill>
          <a:ln w="9525">
            <a:solidFill>
              <a:srgbClr val="EDE7FC"/>
            </a:solidFill>
            <a:prstDash val="solid"/>
          </a:ln>
        </p:spPr>
        <p:txBody>
          <a:bodyPr/>
          <a:p/>
        </p:txBody>
      </p:sp>
      <p:sp>
        <p:nvSpPr>
          <p:cNvPr id="10" name="Text 6"/>
          <p:cNvSpPr txBox="1"/>
          <p:nvPr/>
        </p:nvSpPr>
        <p:spPr>
          <a:xfrm>
            <a:off x="5943600" y="4599432"/>
            <a:ext cx="5532120" cy="640080"/>
          </a:xfrm>
          <a:prstGeom prst="rect">
            <a:avLst/>
          </a:prstGeom>
          <a:noFill/>
          <a:ln/>
        </p:spPr>
        <p:txBody>
          <a:bodyPr wrap="square" lIns="0" tIns="0" rIns="0" bIns="0" rtlCol="0" anchor="ctr"/>
          <a:lstStyle/>
          <a:p>
            <a:pPr marL="0" indent="0">
              <a:buNone/>
            </a:pPr>
            <a:r>
              <a:rPr lang="en-US" sz="1100" b="1" dirty="0">
                <a:solidFill>
                  <a:srgbClr val="3C71E8"/>
                </a:solidFill>
                <a:latin typeface="Courier New" pitchFamily="34" charset="0"/>
                <a:ea typeface="Courier New" pitchFamily="34" charset="-122"/>
                <a:cs typeface="Courier New" pitchFamily="34" charset="-120"/>
              </a:rPr>
              <a:t>skor kategori = rata-rata( hijau 1,0 · kuning 0,5 · merah 0,0 ), atas aturan terskor yang bukan N/A</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2029968"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C · PIPELINE IN SILICO</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Fisikokimia: Lipinski Rule of Five dihitung lokal dengan RDKit</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20</a:t>
            </a:r>
            <a:endParaRPr lang="en-US" sz="1000" dirty="0"/>
          </a:p>
        </p:txBody>
      </p:sp>
      <p:sp>
        <p:nvSpPr>
          <p:cNvPr id="6" name="Text 4"/>
          <p:cNvSpPr txBox="1"/>
          <p:nvPr/>
        </p:nvSpPr>
        <p:spPr>
          <a:xfrm>
            <a:off x="548640" y="1691640"/>
            <a:ext cx="5669280" cy="1874520"/>
          </a:xfrm>
          <a:prstGeom prst="roundRect">
            <a:avLst>
              <a:gd name="adj" fmla="val 4878"/>
            </a:avLst>
          </a:prstGeom>
          <a:solidFill>
            <a:srgbClr val="0E1533"/>
          </a:solidFill>
          <a:ln/>
        </p:spPr>
        <p:txBody>
          <a:bodyPr wrap="square" lIns="127000" tIns="127000" rIns="127000" bIns="127000" rtlCol="0" anchor="t"/>
          <a:lstStyle/>
          <a:p>
            <a:pPr marL="0" indent="0">
              <a:spcAft>
                <a:spcPts val="100"/>
              </a:spcAft>
              <a:buNone/>
            </a:pPr>
            <a:r>
              <a:rPr lang="en-US" sz="1150" dirty="0">
                <a:solidFill>
                  <a:srgbClr val="DCE4FF"/>
                </a:solidFill>
                <a:latin typeface="Courier New" pitchFamily="34" charset="0"/>
                <a:ea typeface="Courier New" pitchFamily="34" charset="-122"/>
                <a:cs typeface="Courier New" pitchFamily="34" charset="-120"/>
              </a:rPr>
              <a:t>mw   = Descriptors.MolWt(mol)</a:t>
            </a:r>
            <a:endParaRPr lang="en-US" sz="1150" dirty="0"/>
          </a:p>
          <a:p>
            <a:pPr marL="0" indent="0">
              <a:spcAft>
                <a:spcPts val="100"/>
              </a:spcAft>
              <a:buNone/>
            </a:pPr>
            <a:r>
              <a:rPr lang="en-US" sz="1150" dirty="0">
                <a:solidFill>
                  <a:srgbClr val="DCE4FF"/>
                </a:solidFill>
                <a:latin typeface="Courier New" pitchFamily="34" charset="0"/>
                <a:ea typeface="Courier New" pitchFamily="34" charset="-122"/>
                <a:cs typeface="Courier New" pitchFamily="34" charset="-120"/>
              </a:rPr>
              <a:t>logp = Descriptors.MolLogP(mol)   # Crippen</a:t>
            </a:r>
            <a:endParaRPr lang="en-US" sz="1150" dirty="0"/>
          </a:p>
          <a:p>
            <a:pPr marL="0" indent="0">
              <a:spcAft>
                <a:spcPts val="100"/>
              </a:spcAft>
              <a:buNone/>
            </a:pPr>
            <a:r>
              <a:rPr lang="en-US" sz="1150" dirty="0">
                <a:solidFill>
                  <a:srgbClr val="DCE4FF"/>
                </a:solidFill>
                <a:latin typeface="Courier New" pitchFamily="34" charset="0"/>
                <a:ea typeface="Courier New" pitchFamily="34" charset="-122"/>
                <a:cs typeface="Courier New" pitchFamily="34" charset="-120"/>
              </a:rPr>
              <a:t>hbd  = rdMolDescriptors.CalcNumLipinskiHBD(mol)</a:t>
            </a:r>
            <a:endParaRPr lang="en-US" sz="1150" dirty="0"/>
          </a:p>
          <a:p>
            <a:pPr marL="0" indent="0">
              <a:spcAft>
                <a:spcPts val="100"/>
              </a:spcAft>
              <a:buNone/>
            </a:pPr>
            <a:r>
              <a:rPr lang="en-US" sz="1150" dirty="0">
                <a:solidFill>
                  <a:srgbClr val="DCE4FF"/>
                </a:solidFill>
                <a:latin typeface="Courier New" pitchFamily="34" charset="0"/>
                <a:ea typeface="Courier New" pitchFamily="34" charset="-122"/>
                <a:cs typeface="Courier New" pitchFamily="34" charset="-120"/>
              </a:rPr>
              <a:t>hba  = rdMolDescriptors.CalcNumLipinskiHBA(mol)</a:t>
            </a:r>
            <a:endParaRPr lang="en-US" sz="1150" dirty="0"/>
          </a:p>
          <a:p>
            <a:pPr marL="0" indent="0">
              <a:spcAft>
                <a:spcPts val="100"/>
              </a:spcAft>
              <a:buNone/>
            </a:pPr>
            <a:endParaRPr lang="en-US" sz="1150" dirty="0"/>
          </a:p>
          <a:p>
            <a:pPr marL="0" indent="0">
              <a:spcAft>
                <a:spcPts val="100"/>
              </a:spcAft>
              <a:buNone/>
            </a:pPr>
            <a:r>
              <a:rPr lang="en-US" sz="1150" dirty="0">
                <a:solidFill>
                  <a:srgbClr val="DCE4FF"/>
                </a:solidFill>
                <a:latin typeface="Courier New" pitchFamily="34" charset="0"/>
                <a:ea typeface="Courier New" pitchFamily="34" charset="-122"/>
                <a:cs typeface="Courier New" pitchFamily="34" charset="-120"/>
              </a:rPr>
              <a:t>violations = sum([mw &gt; 500, logp &gt; 5, hbd &gt; 5, hba &gt; 10])</a:t>
            </a:r>
            <a:endParaRPr lang="en-US" sz="1150" dirty="0"/>
          </a:p>
          <a:p>
            <a:pPr marL="0" indent="0">
              <a:spcAft>
                <a:spcPts val="100"/>
              </a:spcAft>
              <a:buNone/>
            </a:pPr>
            <a:r>
              <a:rPr lang="en-US" sz="1150" dirty="0">
                <a:solidFill>
                  <a:srgbClr val="DCE4FF"/>
                </a:solidFill>
                <a:latin typeface="Courier New" pitchFamily="34" charset="0"/>
                <a:ea typeface="Courier New" pitchFamily="34" charset="-122"/>
                <a:cs typeface="Courier New" pitchFamily="34" charset="-120"/>
              </a:rPr>
              <a:t>passes_ro5 = violations &lt;= 1</a:t>
            </a:r>
            <a:endParaRPr lang="en-US" sz="1150" dirty="0"/>
          </a:p>
        </p:txBody>
      </p:sp>
      <p:sp>
        <p:nvSpPr>
          <p:cNvPr id="7" name="Text 5"/>
          <p:cNvSpPr txBox="1"/>
          <p:nvPr/>
        </p:nvSpPr>
        <p:spPr>
          <a:xfrm>
            <a:off x="548640" y="3611880"/>
            <a:ext cx="5669280" cy="365760"/>
          </a:xfrm>
          <a:prstGeom prst="rect">
            <a:avLst/>
          </a:prstGeom>
          <a:noFill/>
          <a:ln/>
        </p:spPr>
        <p:txBody>
          <a:bodyPr wrap="square" lIns="0" tIns="0" rIns="0" bIns="0" rtlCol="0" anchor="t"/>
          <a:lstStyle/>
          <a:p>
            <a:pPr marL="0" indent="0" algn="l">
              <a:buNone/>
            </a:pPr>
            <a:r>
              <a:rPr lang="en-US" sz="1000" dirty="0">
                <a:solidFill>
                  <a:srgbClr val="5B6480"/>
                </a:solidFill>
                <a:latin typeface="Calibri" pitchFamily="34" charset="0"/>
                <a:ea typeface="Calibri" pitchFamily="34" charset="-122"/>
                <a:cs typeface="Calibri" pitchFamily="34" charset="-120"/>
              </a:rPr>
              <a:t>descriptors.py:62-67 dan :33</a:t>
            </a:r>
            <a:endParaRPr lang="en-US" sz="1000" dirty="0"/>
          </a:p>
        </p:txBody>
      </p:sp>
      <p:sp>
        <p:nvSpPr>
          <p:cNvPr id="8" name="Text 6"/>
          <p:cNvSpPr txBox="1"/>
          <p:nvPr/>
        </p:nvSpPr>
        <p:spPr>
          <a:xfrm>
            <a:off x="548640" y="4023360"/>
            <a:ext cx="5669280" cy="2148840"/>
          </a:xfrm>
          <a:prstGeom prst="rect">
            <a:avLst/>
          </a:prstGeom>
          <a:noFill/>
          <a:ln/>
        </p:spPr>
        <p:txBody>
          <a:bodyPr wrap="square" lIns="0" tIns="0" rIns="0" bIns="0" rtlCol="0" anchor="t"/>
          <a:lstStyle/>
          <a:p>
            <a:pPr marL="177800" indent="-177800">
              <a:spcAft>
                <a:spcPts val="600"/>
              </a:spcAft>
              <a:buSzPct val="100000"/>
              <a:buChar char="•"/>
            </a:pPr>
            <a:r>
              <a:rPr lang="en-US" sz="1250" b="1" dirty="0">
                <a:solidFill>
                  <a:srgbClr val="1B2140"/>
                </a:solidFill>
                <a:latin typeface="Calibri" pitchFamily="34" charset="0"/>
                <a:ea typeface="Calibri" pitchFamily="34" charset="-122"/>
                <a:cs typeface="Calibri" pitchFamily="34" charset="-120"/>
              </a:rPr>
              <a:t>Batas Lipinski (1997): </a:t>
            </a:r>
            <a:r>
              <a:rPr lang="en-US" sz="1250" dirty="0">
                <a:solidFill>
                  <a:srgbClr val="1B2140"/>
                </a:solidFill>
                <a:latin typeface="Calibri" pitchFamily="34" charset="0"/>
                <a:ea typeface="Calibri" pitchFamily="34" charset="-122"/>
                <a:cs typeface="Calibri" pitchFamily="34" charset="-120"/>
              </a:rPr>
              <a:t>MW ≤ 500, logP ≤ 5, HBD ≤ 5, HBA ≤ 10; lolos bila pelanggaran ≤ 1</a:t>
            </a:r>
            <a:endParaRPr lang="en-US" sz="1250" dirty="0"/>
          </a:p>
          <a:p>
            <a:pPr marL="177800" indent="-177800">
              <a:spcAft>
                <a:spcPts val="600"/>
              </a:spcAft>
              <a:buSzPct val="100000"/>
              <a:buChar char="•"/>
            </a:pPr>
            <a:r>
              <a:rPr lang="en-US" sz="1250" b="1" dirty="0">
                <a:solidFill>
                  <a:srgbClr val="1B2140"/>
                </a:solidFill>
                <a:latin typeface="Calibri" pitchFamily="34" charset="0"/>
                <a:ea typeface="Calibri" pitchFamily="34" charset="-122"/>
                <a:cs typeface="Calibri" pitchFamily="34" charset="-120"/>
              </a:rPr>
              <a:t>Dihitung pada mol ternetralkan </a:t>
            </a:r>
            <a:r>
              <a:rPr lang="en-US" sz="1250" dirty="0">
                <a:solidFill>
                  <a:srgbClr val="1B2140"/>
                </a:solidFill>
                <a:latin typeface="Calibri" pitchFamily="34" charset="0"/>
                <a:ea typeface="Calibri" pitchFamily="34" charset="-122"/>
                <a:cs typeface="Calibri" pitchFamily="34" charset="-120"/>
              </a:rPr>
              <a:t>berhidrogen, tanpa perlu konformer 3D</a:t>
            </a:r>
            <a:endParaRPr lang="en-US" sz="1250" dirty="0"/>
          </a:p>
          <a:p>
            <a:pPr marL="177800" indent="-177800">
              <a:spcAft>
                <a:spcPts val="600"/>
              </a:spcAft>
              <a:buSzPct val="100000"/>
              <a:buChar char="•"/>
            </a:pPr>
            <a:r>
              <a:rPr lang="en-US" sz="1250" b="1" dirty="0">
                <a:solidFill>
                  <a:srgbClr val="1B2140"/>
                </a:solidFill>
                <a:latin typeface="Calibri" pitchFamily="34" charset="0"/>
                <a:ea typeface="Calibri" pitchFamily="34" charset="-122"/>
                <a:cs typeface="Calibri" pitchFamily="34" charset="-120"/>
              </a:rPr>
              <a:t>Deskriptor tambahan </a:t>
            </a:r>
            <a:r>
              <a:rPr lang="en-US" sz="1250" dirty="0">
                <a:solidFill>
                  <a:srgbClr val="1B2140"/>
                </a:solidFill>
                <a:latin typeface="Calibri" pitchFamily="34" charset="0"/>
                <a:ea typeface="Calibri" pitchFamily="34" charset="-122"/>
                <a:cs typeface="Calibri" pitchFamily="34" charset="-120"/>
              </a:rPr>
              <a:t>(TPSA, ikatan rotasi, cincin aromatik, Fsp3) ada di library tetapi belum dipakai pipeline</a:t>
            </a:r>
            <a:endParaRPr lang="en-US" sz="1250" dirty="0"/>
          </a:p>
          <a:p>
            <a:pPr marL="177800" indent="-177800">
              <a:spcAft>
                <a:spcPts val="600"/>
              </a:spcAft>
              <a:buSzPct val="100000"/>
              <a:buChar char="•"/>
            </a:pPr>
            <a:r>
              <a:rPr lang="en-US" sz="1250" b="1" dirty="0">
                <a:solidFill>
                  <a:srgbClr val="1B2140"/>
                </a:solidFill>
                <a:latin typeface="Calibri" pitchFamily="34" charset="0"/>
                <a:ea typeface="Calibri" pitchFamily="34" charset="-122"/>
                <a:cs typeface="Calibri" pitchFamily="34" charset="-120"/>
              </a:rPr>
              <a:t>PCA, HCA, dan heatmap </a:t>
            </a:r>
            <a:r>
              <a:rPr lang="en-US" sz="1250" dirty="0">
                <a:solidFill>
                  <a:srgbClr val="1B2140"/>
                </a:solidFill>
                <a:latin typeface="Calibri" pitchFamily="34" charset="0"/>
                <a:ea typeface="Calibri" pitchFamily="34" charset="-122"/>
                <a:cs typeface="Calibri" pitchFamily="34" charset="-120"/>
              </a:rPr>
              <a:t>memakai empat deskriptor ini: MW, LogP, HBD, HBA</a:t>
            </a:r>
            <a:endParaRPr lang="en-US" sz="12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537960" y="1691640"/>
          <a:ext cx="5102352" cy="3419856"/>
        </p:xfrm>
        <a:graphic>
          <a:graphicData uri="http://schemas.openxmlformats.org/drawingml/2006/table">
            <a:tbl>
              <a:tblPr/>
              <a:tblGrid>
                <a:gridCol w="118872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gridCol w="1307592">
                  <a:extLst>
                    <a:ext uri="{9D8B030D-6E8A-4147-A177-3AD203B41FA5}">
                      <a16:colId xmlns:a16="http://schemas.microsoft.com/office/drawing/2014/main" val="20005"/>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Ligan</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MW</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LogP</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HBD</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HBA</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Pelanggaran</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extLst>
                  <a:ext uri="{0D108BD9-81ED-4DB2-BD59-A6C34878D82A}">
                    <a16:rowId xmlns:a16="http://schemas.microsoft.com/office/drawing/2014/main" val="10000"/>
                  </a:ext>
                </a:extLst>
              </a:tr>
              <a:tr h="310896">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naproxen</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230,26</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3,04</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paracetamol</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151,17</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1,35</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2"/>
                  </a:ext>
                </a:extLst>
              </a:tr>
              <a:tr h="310896">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omeprazole</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345,42</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2,90</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aspirin</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180,16</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1,31</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4"/>
                  </a:ext>
                </a:extLst>
              </a:tr>
              <a:tr h="310896">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caffeine</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194,19</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0,06</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luteolin</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286,24</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2,13</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6"/>
                  </a:ext>
                </a:extLst>
              </a:tr>
              <a:tr h="310896">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piperine</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285,34</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3,00</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emodin</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270,24</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1,89</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8"/>
                  </a:ext>
                </a:extLst>
              </a:tr>
              <a:tr h="310896">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curcumin</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368,38</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3,37</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10896">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berberine</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336,37</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3,10</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150" dirty="0">
                          <a:solidFill>
                            <a:srgbClr val="1B2140"/>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10"/>
                  </a:ext>
                </a:extLst>
              </a:tr>
            </a:tbl>
          </a:graphicData>
        </a:graphic>
      </p:graphicFrame>
      <p:sp>
        <p:nvSpPr>
          <p:cNvPr id="10" name="Shape 7"/>
          <p:cNvSpPr/>
          <p:nvPr/>
        </p:nvSpPr>
        <p:spPr>
          <a:xfrm>
            <a:off x="6537960" y="5257800"/>
            <a:ext cx="5102352" cy="868680"/>
          </a:xfrm>
          <a:prstGeom prst="roundRect">
            <a:avLst>
              <a:gd name="adj" fmla="val 10526"/>
            </a:avLst>
          </a:prstGeom>
          <a:solidFill>
            <a:srgbClr val="DDF3EB"/>
          </a:solidFill>
          <a:ln w="15875">
            <a:solidFill>
              <a:srgbClr val="009E73"/>
            </a:solidFill>
            <a:prstDash val="solid"/>
          </a:ln>
        </p:spPr>
        <p:txBody>
          <a:bodyPr/>
          <a:p/>
        </p:txBody>
      </p:sp>
      <p:sp>
        <p:nvSpPr>
          <p:cNvPr id="11" name="Text 8"/>
          <p:cNvSpPr txBox="1"/>
          <p:nvPr/>
        </p:nvSpPr>
        <p:spPr>
          <a:xfrm>
            <a:off x="6702552" y="5349240"/>
            <a:ext cx="4773168" cy="685800"/>
          </a:xfrm>
          <a:prstGeom prst="rect">
            <a:avLst/>
          </a:prstGeom>
          <a:noFill/>
          <a:ln/>
        </p:spPr>
        <p:txBody>
          <a:bodyPr wrap="square" lIns="0" tIns="0" rIns="0" bIns="0" rtlCol="0" anchor="t"/>
          <a:lstStyle/>
          <a:p>
            <a:pPr marL="0" indent="0">
              <a:spcAft>
                <a:spcPts val="300"/>
              </a:spcAft>
              <a:buNone/>
            </a:pPr>
            <a:r>
              <a:rPr lang="en-US" sz="1300" b="1" dirty="0">
                <a:solidFill>
                  <a:srgbClr val="1B2140"/>
                </a:solidFill>
                <a:latin typeface="Calibri" pitchFamily="34" charset="0"/>
                <a:ea typeface="Calibri" pitchFamily="34" charset="-122"/>
                <a:cs typeface="Calibri" pitchFamily="34" charset="-120"/>
              </a:rPr>
              <a:t>Data demonstrasi</a:t>
            </a:r>
            <a:endParaRPr lang="en-US" sz="1300" dirty="0"/>
          </a:p>
          <a:p>
            <a:pPr marL="0" indent="0">
              <a:spcAft>
                <a:spcPts val="300"/>
              </a:spcAft>
              <a:buNone/>
            </a:pPr>
            <a:r>
              <a:rPr lang="en-US" sz="1150" dirty="0">
                <a:solidFill>
                  <a:srgbClr val="1B2140"/>
                </a:solidFill>
                <a:latin typeface="Calibri" pitchFamily="34" charset="0"/>
                <a:ea typeface="Calibri" pitchFamily="34" charset="-122"/>
                <a:cs typeface="Calibri" pitchFamily="34" charset="-120"/>
              </a:rPr>
              <a:t>Semua 10 ligan lolos Ro5 dengan 0 pelanggaran. Ro5 memprediksi potensi absorpsi oral, bukan aktivitas.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2029968"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C · PIPELINE IN SILICO</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Merge: pose terbaik dan reseptor bersih menjadi satu file kompleks</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21</a:t>
            </a:r>
            <a:endParaRPr lang="en-US" sz="1000" dirty="0"/>
          </a:p>
        </p:txBody>
      </p:sp>
      <p:sp>
        <p:nvSpPr>
          <p:cNvPr id="6" name="Shape 4"/>
          <p:cNvSpPr/>
          <p:nvPr/>
        </p:nvSpPr>
        <p:spPr>
          <a:xfrm>
            <a:off x="548640" y="1691640"/>
            <a:ext cx="2103120" cy="777240"/>
          </a:xfrm>
          <a:prstGeom prst="roundRect">
            <a:avLst>
              <a:gd name="adj" fmla="val 11765"/>
            </a:avLst>
          </a:prstGeom>
          <a:solidFill>
            <a:srgbClr val="E8EDFC"/>
          </a:solidFill>
          <a:ln w="12700">
            <a:solidFill>
              <a:srgbClr val="D7DFFA"/>
            </a:solidFill>
            <a:prstDash val="solid"/>
          </a:ln>
        </p:spPr>
        <p:txBody>
          <a:bodyPr/>
          <a:p/>
        </p:txBody>
      </p:sp>
      <p:sp>
        <p:nvSpPr>
          <p:cNvPr id="7" name="Text 5"/>
          <p:cNvSpPr txBox="1"/>
          <p:nvPr/>
        </p:nvSpPr>
        <p:spPr>
          <a:xfrm>
            <a:off x="640080" y="1764792"/>
            <a:ext cx="1920240" cy="388620"/>
          </a:xfrm>
          <a:prstGeom prst="rect">
            <a:avLst/>
          </a:prstGeom>
          <a:noFill/>
          <a:ln/>
        </p:spPr>
        <p:txBody>
          <a:bodyPr wrap="square" lIns="0" tIns="0" rIns="0" bIns="0" rtlCol="0" anchor="ctr"/>
          <a:lstStyle/>
          <a:p>
            <a:pPr marL="0" indent="0" algn="ctr">
              <a:buNone/>
            </a:pPr>
            <a:r>
              <a:rPr lang="en-US" sz="1150" b="1" dirty="0">
                <a:solidFill>
                  <a:srgbClr val="1B2140"/>
                </a:solidFill>
                <a:latin typeface="Courier New" pitchFamily="34" charset="0"/>
                <a:ea typeface="Courier New" pitchFamily="34" charset="-122"/>
                <a:cs typeface="Courier New" pitchFamily="34" charset="-120"/>
              </a:rPr>
              <a:t>*_clean.pdb</a:t>
            </a:r>
            <a:endParaRPr lang="en-US" sz="1150" dirty="0"/>
          </a:p>
        </p:txBody>
      </p:sp>
      <p:sp>
        <p:nvSpPr>
          <p:cNvPr id="8" name="Text 6"/>
          <p:cNvSpPr txBox="1"/>
          <p:nvPr/>
        </p:nvSpPr>
        <p:spPr>
          <a:xfrm>
            <a:off x="640080" y="2119122"/>
            <a:ext cx="1920240" cy="310896"/>
          </a:xfrm>
          <a:prstGeom prst="rect">
            <a:avLst/>
          </a:prstGeom>
          <a:noFill/>
          <a:ln/>
        </p:spPr>
        <p:txBody>
          <a:bodyPr wrap="square" lIns="0" tIns="0" rIns="0" bIns="0" rtlCol="0" anchor="t"/>
          <a:lstStyle/>
          <a:p>
            <a:pPr marL="0" indent="0" algn="ctr">
              <a:buNone/>
            </a:pPr>
            <a:r>
              <a:rPr lang="en-US" sz="1000" dirty="0">
                <a:solidFill>
                  <a:srgbClr val="5B6480"/>
                </a:solidFill>
                <a:latin typeface="Calibri" pitchFamily="34" charset="0"/>
                <a:ea typeface="Calibri" pitchFamily="34" charset="-122"/>
                <a:cs typeface="Calibri" pitchFamily="34" charset="-120"/>
              </a:rPr>
              <a:t>reseptor tanpa H dan muatan</a:t>
            </a:r>
            <a:endParaRPr lang="en-US" sz="1000" dirty="0"/>
          </a:p>
        </p:txBody>
      </p:sp>
      <p:sp>
        <p:nvSpPr>
          <p:cNvPr id="9" name="Shape 7"/>
          <p:cNvSpPr/>
          <p:nvPr/>
        </p:nvSpPr>
        <p:spPr>
          <a:xfrm>
            <a:off x="548640" y="2651760"/>
            <a:ext cx="2103120" cy="777240"/>
          </a:xfrm>
          <a:prstGeom prst="roundRect">
            <a:avLst>
              <a:gd name="adj" fmla="val 11765"/>
            </a:avLst>
          </a:prstGeom>
          <a:solidFill>
            <a:srgbClr val="E8EDFC"/>
          </a:solidFill>
          <a:ln w="12700">
            <a:solidFill>
              <a:srgbClr val="D7DFFA"/>
            </a:solidFill>
            <a:prstDash val="solid"/>
          </a:ln>
        </p:spPr>
        <p:txBody>
          <a:bodyPr/>
          <a:p/>
        </p:txBody>
      </p:sp>
      <p:sp>
        <p:nvSpPr>
          <p:cNvPr id="10" name="Text 8"/>
          <p:cNvSpPr txBox="1"/>
          <p:nvPr/>
        </p:nvSpPr>
        <p:spPr>
          <a:xfrm>
            <a:off x="640080" y="2724912"/>
            <a:ext cx="1920240" cy="388620"/>
          </a:xfrm>
          <a:prstGeom prst="rect">
            <a:avLst/>
          </a:prstGeom>
          <a:noFill/>
          <a:ln/>
        </p:spPr>
        <p:txBody>
          <a:bodyPr wrap="square" lIns="0" tIns="0" rIns="0" bIns="0" rtlCol="0" anchor="ctr"/>
          <a:lstStyle/>
          <a:p>
            <a:pPr marL="0" indent="0" algn="ctr">
              <a:buNone/>
            </a:pPr>
            <a:r>
              <a:rPr lang="en-US" sz="1200" b="1" dirty="0">
                <a:solidFill>
                  <a:srgbClr val="1B2140"/>
                </a:solidFill>
                <a:latin typeface="Calibri" pitchFamily="34" charset="0"/>
                <a:ea typeface="Calibri" pitchFamily="34" charset="-122"/>
                <a:cs typeface="Calibri" pitchFamily="34" charset="-120"/>
              </a:rPr>
              <a:t>pose docking</a:t>
            </a:r>
            <a:endParaRPr lang="en-US" sz="1200" dirty="0"/>
          </a:p>
        </p:txBody>
      </p:sp>
      <p:sp>
        <p:nvSpPr>
          <p:cNvPr id="11" name="Text 9"/>
          <p:cNvSpPr txBox="1"/>
          <p:nvPr/>
        </p:nvSpPr>
        <p:spPr>
          <a:xfrm>
            <a:off x="640080" y="3079242"/>
            <a:ext cx="1920240" cy="310896"/>
          </a:xfrm>
          <a:prstGeom prst="rect">
            <a:avLst/>
          </a:prstGeom>
          <a:noFill/>
          <a:ln/>
        </p:spPr>
        <p:txBody>
          <a:bodyPr wrap="square" lIns="0" tIns="0" rIns="0" bIns="0" rtlCol="0" anchor="t"/>
          <a:lstStyle/>
          <a:p>
            <a:pPr marL="0" indent="0" algn="ctr">
              <a:buNone/>
            </a:pPr>
            <a:r>
              <a:rPr lang="en-US" sz="1000" dirty="0">
                <a:solidFill>
                  <a:srgbClr val="5B6480"/>
                </a:solidFill>
                <a:latin typeface="Calibri" pitchFamily="34" charset="0"/>
                <a:ea typeface="Calibri" pitchFamily="34" charset="-122"/>
                <a:cs typeface="Calibri" pitchFamily="34" charset="-120"/>
              </a:rPr>
              <a:t>mode 1 dari PDBQT</a:t>
            </a:r>
            <a:endParaRPr lang="en-US" sz="1000" dirty="0"/>
          </a:p>
        </p:txBody>
      </p:sp>
      <p:sp>
        <p:nvSpPr>
          <p:cNvPr id="12" name="Shape 10"/>
          <p:cNvSpPr/>
          <p:nvPr/>
        </p:nvSpPr>
        <p:spPr>
          <a:xfrm>
            <a:off x="2651760" y="2075688"/>
            <a:ext cx="731520" cy="301752"/>
          </a:xfrm>
          <a:prstGeom prst="line">
            <a:avLst/>
          </a:prstGeom>
          <a:noFill/>
          <a:ln w="22225">
            <a:solidFill>
              <a:srgbClr val="3C71E8"/>
            </a:solidFill>
            <a:prstDash val="solid"/>
            <a:tailEnd type="triangle"/>
          </a:ln>
        </p:spPr>
        <p:txBody>
          <a:bodyPr/>
          <a:p/>
        </p:txBody>
      </p:sp>
      <p:sp>
        <p:nvSpPr>
          <p:cNvPr id="13" name="Shape 11"/>
          <p:cNvSpPr/>
          <p:nvPr/>
        </p:nvSpPr>
        <p:spPr>
          <a:xfrm flipV="1">
            <a:off x="2651760" y="2743200"/>
            <a:ext cx="731520" cy="292608"/>
          </a:xfrm>
          <a:prstGeom prst="line">
            <a:avLst/>
          </a:prstGeom>
          <a:noFill/>
          <a:ln w="22225">
            <a:solidFill>
              <a:srgbClr val="3C71E8"/>
            </a:solidFill>
            <a:prstDash val="solid"/>
            <a:tailEnd type="triangle"/>
          </a:ln>
        </p:spPr>
        <p:txBody>
          <a:bodyPr/>
          <a:p/>
        </p:txBody>
      </p:sp>
      <p:sp>
        <p:nvSpPr>
          <p:cNvPr id="14" name="Shape 12"/>
          <p:cNvSpPr/>
          <p:nvPr/>
        </p:nvSpPr>
        <p:spPr>
          <a:xfrm>
            <a:off x="3383280" y="2148840"/>
            <a:ext cx="2194560" cy="914400"/>
          </a:xfrm>
          <a:prstGeom prst="roundRect">
            <a:avLst>
              <a:gd name="adj" fmla="val 10000"/>
            </a:avLst>
          </a:prstGeom>
          <a:solidFill>
            <a:srgbClr val="3C71E8"/>
          </a:solidFill>
          <a:ln w="12700">
            <a:solidFill>
              <a:srgbClr val="3C71E8"/>
            </a:solidFill>
            <a:prstDash val="solid"/>
          </a:ln>
        </p:spPr>
        <p:txBody>
          <a:bodyPr/>
          <a:p/>
        </p:txBody>
      </p:sp>
      <p:sp>
        <p:nvSpPr>
          <p:cNvPr id="15" name="Text 13"/>
          <p:cNvSpPr txBox="1"/>
          <p:nvPr/>
        </p:nvSpPr>
        <p:spPr>
          <a:xfrm>
            <a:off x="3474720" y="2221992"/>
            <a:ext cx="20116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merge_complex()</a:t>
            </a:r>
            <a:endParaRPr lang="en-US" sz="1200" dirty="0"/>
          </a:p>
        </p:txBody>
      </p:sp>
      <p:sp>
        <p:nvSpPr>
          <p:cNvPr id="16" name="Text 14"/>
          <p:cNvSpPr txBox="1"/>
          <p:nvPr/>
        </p:nvSpPr>
        <p:spPr>
          <a:xfrm>
            <a:off x="3474720" y="2651760"/>
            <a:ext cx="2011680" cy="365760"/>
          </a:xfrm>
          <a:prstGeom prst="rect">
            <a:avLst/>
          </a:prstGeom>
          <a:noFill/>
          <a:ln/>
        </p:spPr>
        <p:txBody>
          <a:bodyPr wrap="square" lIns="0" tIns="0" rIns="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docking/merge.py</a:t>
            </a:r>
            <a:endParaRPr lang="en-US" sz="1000" dirty="0"/>
          </a:p>
        </p:txBody>
      </p:sp>
      <p:sp>
        <p:nvSpPr>
          <p:cNvPr id="17" name="Shape 15"/>
          <p:cNvSpPr/>
          <p:nvPr/>
        </p:nvSpPr>
        <p:spPr>
          <a:xfrm flipV="1">
            <a:off x="5577840" y="2148840"/>
            <a:ext cx="411480" cy="228600"/>
          </a:xfrm>
          <a:prstGeom prst="line">
            <a:avLst/>
          </a:prstGeom>
          <a:noFill/>
          <a:ln w="22225">
            <a:solidFill>
              <a:srgbClr val="3C71E8"/>
            </a:solidFill>
            <a:prstDash val="solid"/>
            <a:tailEnd type="triangle"/>
          </a:ln>
        </p:spPr>
        <p:txBody>
          <a:bodyPr/>
          <a:p/>
        </p:txBody>
      </p:sp>
      <p:sp>
        <p:nvSpPr>
          <p:cNvPr id="18" name="Shape 16"/>
          <p:cNvSpPr/>
          <p:nvPr/>
        </p:nvSpPr>
        <p:spPr>
          <a:xfrm>
            <a:off x="5577840" y="2834640"/>
            <a:ext cx="411480" cy="228600"/>
          </a:xfrm>
          <a:prstGeom prst="line">
            <a:avLst/>
          </a:prstGeom>
          <a:noFill/>
          <a:ln w="22225">
            <a:solidFill>
              <a:srgbClr val="3C71E8"/>
            </a:solidFill>
            <a:prstDash val="solid"/>
            <a:tailEnd type="triangle"/>
          </a:ln>
        </p:spPr>
        <p:txBody>
          <a:bodyPr/>
          <a:p/>
        </p:txBody>
      </p:sp>
      <p:sp>
        <p:nvSpPr>
          <p:cNvPr id="19" name="Shape 17"/>
          <p:cNvSpPr/>
          <p:nvPr/>
        </p:nvSpPr>
        <p:spPr>
          <a:xfrm>
            <a:off x="5989320" y="1691640"/>
            <a:ext cx="2194560" cy="822960"/>
          </a:xfrm>
          <a:prstGeom prst="roundRect">
            <a:avLst>
              <a:gd name="adj" fmla="val 11111"/>
            </a:avLst>
          </a:prstGeom>
          <a:solidFill>
            <a:srgbClr val="E8EDFC"/>
          </a:solidFill>
          <a:ln w="12700">
            <a:solidFill>
              <a:srgbClr val="D7DFFA"/>
            </a:solidFill>
            <a:prstDash val="solid"/>
          </a:ln>
        </p:spPr>
        <p:txBody>
          <a:bodyPr/>
          <a:p/>
        </p:txBody>
      </p:sp>
      <p:sp>
        <p:nvSpPr>
          <p:cNvPr id="20" name="Text 18"/>
          <p:cNvSpPr txBox="1"/>
          <p:nvPr/>
        </p:nvSpPr>
        <p:spPr>
          <a:xfrm>
            <a:off x="6080760" y="1764792"/>
            <a:ext cx="2011680" cy="411480"/>
          </a:xfrm>
          <a:prstGeom prst="rect">
            <a:avLst/>
          </a:prstGeom>
          <a:noFill/>
          <a:ln/>
        </p:spPr>
        <p:txBody>
          <a:bodyPr wrap="square" lIns="0" tIns="0" rIns="0" bIns="0" rtlCol="0" anchor="ctr"/>
          <a:lstStyle/>
          <a:p>
            <a:pPr marL="0" indent="0" algn="ctr">
              <a:buNone/>
            </a:pPr>
            <a:r>
              <a:rPr lang="en-US" sz="1050" b="1" dirty="0">
                <a:solidFill>
                  <a:srgbClr val="1B2140"/>
                </a:solidFill>
                <a:latin typeface="Courier New" pitchFamily="34" charset="0"/>
                <a:ea typeface="Courier New" pitchFamily="34" charset="-122"/>
                <a:cs typeface="Courier New" pitchFamily="34" charset="-120"/>
              </a:rPr>
              <a:t>&lt;ligan&gt;_complex.pdb</a:t>
            </a:r>
            <a:endParaRPr lang="en-US" sz="1050" dirty="0"/>
          </a:p>
        </p:txBody>
      </p:sp>
      <p:sp>
        <p:nvSpPr>
          <p:cNvPr id="21" name="Text 19"/>
          <p:cNvSpPr txBox="1"/>
          <p:nvPr/>
        </p:nvSpPr>
        <p:spPr>
          <a:xfrm>
            <a:off x="6080760" y="2144268"/>
            <a:ext cx="2011680" cy="329184"/>
          </a:xfrm>
          <a:prstGeom prst="rect">
            <a:avLst/>
          </a:prstGeom>
          <a:noFill/>
          <a:ln/>
        </p:spPr>
        <p:txBody>
          <a:bodyPr wrap="square" lIns="0" tIns="0" rIns="0" bIns="0" rtlCol="0" anchor="t"/>
          <a:lstStyle/>
          <a:p>
            <a:pPr marL="0" indent="0" algn="ctr">
              <a:buNone/>
            </a:pPr>
            <a:r>
              <a:rPr lang="en-US" sz="1000" dirty="0">
                <a:solidFill>
                  <a:srgbClr val="5B6480"/>
                </a:solidFill>
                <a:latin typeface="Calibri" pitchFamily="34" charset="0"/>
                <a:ea typeface="Calibri" pitchFamily="34" charset="-122"/>
                <a:cs typeface="Calibri" pitchFamily="34" charset="-120"/>
              </a:rPr>
              <a:t>reseptor + ligan, rantai terpisah</a:t>
            </a:r>
            <a:endParaRPr lang="en-US" sz="1000" dirty="0"/>
          </a:p>
        </p:txBody>
      </p:sp>
      <p:sp>
        <p:nvSpPr>
          <p:cNvPr id="22" name="Shape 20"/>
          <p:cNvSpPr/>
          <p:nvPr/>
        </p:nvSpPr>
        <p:spPr>
          <a:xfrm>
            <a:off x="5989320" y="2788920"/>
            <a:ext cx="2194560" cy="822960"/>
          </a:xfrm>
          <a:prstGeom prst="roundRect">
            <a:avLst>
              <a:gd name="adj" fmla="val 11111"/>
            </a:avLst>
          </a:prstGeom>
          <a:solidFill>
            <a:srgbClr val="E8EDFC"/>
          </a:solidFill>
          <a:ln w="12700">
            <a:solidFill>
              <a:srgbClr val="D7DFFA"/>
            </a:solidFill>
            <a:prstDash val="solid"/>
          </a:ln>
        </p:spPr>
        <p:txBody>
          <a:bodyPr/>
          <a:p/>
        </p:txBody>
      </p:sp>
      <p:sp>
        <p:nvSpPr>
          <p:cNvPr id="23" name="Text 21"/>
          <p:cNvSpPr txBox="1"/>
          <p:nvPr/>
        </p:nvSpPr>
        <p:spPr>
          <a:xfrm>
            <a:off x="6080760" y="2862072"/>
            <a:ext cx="2011680" cy="411480"/>
          </a:xfrm>
          <a:prstGeom prst="rect">
            <a:avLst/>
          </a:prstGeom>
          <a:noFill/>
          <a:ln/>
        </p:spPr>
        <p:txBody>
          <a:bodyPr wrap="square" lIns="0" tIns="0" rIns="0" bIns="0" rtlCol="0" anchor="ctr"/>
          <a:lstStyle/>
          <a:p>
            <a:pPr marL="0" indent="0" algn="ctr">
              <a:buNone/>
            </a:pPr>
            <a:r>
              <a:rPr lang="en-US" sz="1050" b="1" dirty="0">
                <a:solidFill>
                  <a:srgbClr val="1B2140"/>
                </a:solidFill>
                <a:latin typeface="Courier New" pitchFamily="34" charset="0"/>
                <a:ea typeface="Courier New" pitchFamily="34" charset="-122"/>
                <a:cs typeface="Courier New" pitchFamily="34" charset="-120"/>
              </a:rPr>
              <a:t>&lt;ligan&gt;_complex.json</a:t>
            </a:r>
            <a:endParaRPr lang="en-US" sz="1050" dirty="0"/>
          </a:p>
        </p:txBody>
      </p:sp>
      <p:sp>
        <p:nvSpPr>
          <p:cNvPr id="24" name="Text 22"/>
          <p:cNvSpPr txBox="1"/>
          <p:nvPr/>
        </p:nvSpPr>
        <p:spPr>
          <a:xfrm>
            <a:off x="6080760" y="3241548"/>
            <a:ext cx="2011680" cy="329184"/>
          </a:xfrm>
          <a:prstGeom prst="rect">
            <a:avLst/>
          </a:prstGeom>
          <a:noFill/>
          <a:ln/>
        </p:spPr>
        <p:txBody>
          <a:bodyPr wrap="square" lIns="0" tIns="0" rIns="0" bIns="0" rtlCol="0" anchor="t"/>
          <a:lstStyle/>
          <a:p>
            <a:pPr marL="0" indent="0" algn="ctr">
              <a:buNone/>
            </a:pPr>
            <a:r>
              <a:rPr lang="en-US" sz="1000" dirty="0">
                <a:solidFill>
                  <a:srgbClr val="5B6480"/>
                </a:solidFill>
                <a:latin typeface="Calibri" pitchFamily="34" charset="0"/>
                <a:ea typeface="Calibri" pitchFamily="34" charset="-122"/>
                <a:cs typeface="Calibri" pitchFamily="34" charset="-120"/>
              </a:rPr>
              <a:t>sidecar identitas ligan</a:t>
            </a:r>
            <a:endParaRPr lang="en-US" sz="1000" dirty="0"/>
          </a:p>
        </p:txBody>
      </p:sp>
      <p:sp>
        <p:nvSpPr>
          <p:cNvPr id="25" name="Text 23"/>
          <p:cNvSpPr txBox="1"/>
          <p:nvPr/>
        </p:nvSpPr>
        <p:spPr>
          <a:xfrm>
            <a:off x="8549640" y="1691640"/>
            <a:ext cx="3090672" cy="1920240"/>
          </a:xfrm>
          <a:prstGeom prst="roundRect">
            <a:avLst>
              <a:gd name="adj" fmla="val 4762"/>
            </a:avLst>
          </a:prstGeom>
          <a:solidFill>
            <a:srgbClr val="0E1533"/>
          </a:solidFill>
          <a:ln/>
        </p:spPr>
        <p:txBody>
          <a:bodyPr wrap="square" lIns="127000" tIns="127000" rIns="127000" bIns="127000" rtlCol="0" anchor="t"/>
          <a:lstStyle/>
          <a:p>
            <a:pPr marL="0" indent="0">
              <a:spcAft>
                <a:spcPts val="100"/>
              </a:spcAft>
              <a:buNone/>
            </a:pPr>
            <a:r>
              <a:rPr lang="en-US" sz="1050" dirty="0">
                <a:solidFill>
                  <a:srgbClr val="DCE4FF"/>
                </a:solidFill>
                <a:latin typeface="Courier New" pitchFamily="34" charset="0"/>
                <a:ea typeface="Courier New" pitchFamily="34" charset="-122"/>
                <a:cs typeface="Courier New" pitchFamily="34" charset="-120"/>
              </a:rPr>
              <a:t>{</a:t>
            </a:r>
            <a:endParaRPr lang="en-US" sz="1050" dirty="0"/>
          </a:p>
          <a:p>
            <a:pPr marL="0" indent="0">
              <a:spcAft>
                <a:spcPts val="100"/>
              </a:spcAft>
              <a:buNone/>
            </a:pPr>
            <a:r>
              <a:rPr lang="en-US" sz="1050" dirty="0">
                <a:solidFill>
                  <a:srgbClr val="DCE4FF"/>
                </a:solidFill>
                <a:latin typeface="Courier New" pitchFamily="34" charset="0"/>
                <a:ea typeface="Courier New" pitchFamily="34" charset="-122"/>
                <a:cs typeface="Courier New" pitchFamily="34" charset="-120"/>
              </a:rPr>
              <a:t>  "ligand_name": "curcumin",</a:t>
            </a:r>
            <a:endParaRPr lang="en-US" sz="1050" dirty="0"/>
          </a:p>
          <a:p>
            <a:pPr marL="0" indent="0">
              <a:spcAft>
                <a:spcPts val="100"/>
              </a:spcAft>
              <a:buNone/>
            </a:pPr>
            <a:r>
              <a:rPr lang="en-US" sz="1050" dirty="0">
                <a:solidFill>
                  <a:srgbClr val="DCE4FF"/>
                </a:solidFill>
                <a:latin typeface="Courier New" pitchFamily="34" charset="0"/>
                <a:ea typeface="Courier New" pitchFamily="34" charset="-122"/>
                <a:cs typeface="Courier New" pitchFamily="34" charset="-120"/>
              </a:rPr>
              <a:t>  "ligand_code": "",</a:t>
            </a:r>
            <a:endParaRPr lang="en-US" sz="1050" dirty="0"/>
          </a:p>
          <a:p>
            <a:pPr marL="0" indent="0">
              <a:spcAft>
                <a:spcPts val="100"/>
              </a:spcAft>
              <a:buNone/>
            </a:pPr>
            <a:r>
              <a:rPr lang="en-US" sz="1050" dirty="0">
                <a:solidFill>
                  <a:srgbClr val="DCE4FF"/>
                </a:solidFill>
                <a:latin typeface="Courier New" pitchFamily="34" charset="0"/>
                <a:ea typeface="Courier New" pitchFamily="34" charset="-122"/>
                <a:cs typeface="Courier New" pitchFamily="34" charset="-120"/>
              </a:rPr>
              <a:t>  "ligand_chain": "X",</a:t>
            </a:r>
            <a:endParaRPr lang="en-US" sz="1050" dirty="0"/>
          </a:p>
          <a:p>
            <a:pPr marL="0" indent="0">
              <a:spcAft>
                <a:spcPts val="100"/>
              </a:spcAft>
              <a:buNone/>
            </a:pPr>
            <a:r>
              <a:rPr lang="en-US" sz="1050" dirty="0">
                <a:solidFill>
                  <a:srgbClr val="DCE4FF"/>
                </a:solidFill>
                <a:latin typeface="Courier New" pitchFamily="34" charset="0"/>
                <a:ea typeface="Courier New" pitchFamily="34" charset="-122"/>
                <a:cs typeface="Courier New" pitchFamily="34" charset="-120"/>
              </a:rPr>
              <a:t>  "ligand_resname": "CUR",</a:t>
            </a:r>
            <a:endParaRPr lang="en-US" sz="1050" dirty="0"/>
          </a:p>
          <a:p>
            <a:pPr marL="0" indent="0">
              <a:spcAft>
                <a:spcPts val="100"/>
              </a:spcAft>
              <a:buNone/>
            </a:pPr>
            <a:r>
              <a:rPr lang="en-US" sz="1050" dirty="0">
                <a:solidFill>
                  <a:srgbClr val="DCE4FF"/>
                </a:solidFill>
                <a:latin typeface="Courier New" pitchFamily="34" charset="0"/>
                <a:ea typeface="Courier New" pitchFamily="34" charset="-122"/>
                <a:cs typeface="Courier New" pitchFamily="34" charset="-120"/>
              </a:rPr>
              <a:t>  "is_native": false</a:t>
            </a:r>
            <a:endParaRPr lang="en-US" sz="1050" dirty="0"/>
          </a:p>
          <a:p>
            <a:pPr marL="0" indent="0">
              <a:spcAft>
                <a:spcPts val="100"/>
              </a:spcAft>
              <a:buNone/>
            </a:pPr>
            <a:r>
              <a:rPr lang="en-US" sz="1050" dirty="0">
                <a:solidFill>
                  <a:srgbClr val="DCE4FF"/>
                </a:solidFill>
                <a:latin typeface="Courier New" pitchFamily="34" charset="0"/>
                <a:ea typeface="Courier New" pitchFamily="34" charset="-122"/>
                <a:cs typeface="Courier New" pitchFamily="34" charset="-120"/>
              </a:rPr>
              <a:t>}</a:t>
            </a:r>
            <a:endParaRPr lang="en-US" sz="1050" dirty="0"/>
          </a:p>
        </p:txBody>
      </p:sp>
      <p:sp>
        <p:nvSpPr>
          <p:cNvPr id="26" name="Text 24"/>
          <p:cNvSpPr txBox="1"/>
          <p:nvPr/>
        </p:nvSpPr>
        <p:spPr>
          <a:xfrm>
            <a:off x="8549640" y="3657600"/>
            <a:ext cx="3108960" cy="365760"/>
          </a:xfrm>
          <a:prstGeom prst="rect">
            <a:avLst/>
          </a:prstGeom>
          <a:noFill/>
          <a:ln/>
        </p:spPr>
        <p:txBody>
          <a:bodyPr wrap="square" lIns="0" tIns="0" rIns="0" bIns="0" rtlCol="0" anchor="t"/>
          <a:lstStyle/>
          <a:p>
            <a:pPr marL="0" indent="0" algn="l">
              <a:buNone/>
            </a:pPr>
            <a:r>
              <a:rPr lang="en-US" sz="1000" dirty="0">
                <a:solidFill>
                  <a:srgbClr val="5B6480"/>
                </a:solidFill>
                <a:latin typeface="Calibri" pitchFamily="34" charset="0"/>
                <a:ea typeface="Calibri" pitchFamily="34" charset="-122"/>
                <a:cs typeface="Calibri" pitchFamily="34" charset="-120"/>
              </a:rPr>
              <a:t>Sidecar nyata dari run demonstrasi</a:t>
            </a:r>
            <a:endParaRPr lang="en-US" sz="1000" dirty="0"/>
          </a:p>
        </p:txBody>
      </p:sp>
      <p:sp>
        <p:nvSpPr>
          <p:cNvPr id="27" name="Text 25"/>
          <p:cNvSpPr txBox="1"/>
          <p:nvPr/>
        </p:nvSpPr>
        <p:spPr>
          <a:xfrm>
            <a:off x="548640" y="3886200"/>
            <a:ext cx="5486400" cy="274320"/>
          </a:xfrm>
          <a:prstGeom prst="rect">
            <a:avLst/>
          </a:prstGeom>
          <a:noFill/>
          <a:ln/>
        </p:spPr>
        <p:txBody>
          <a:bodyPr wrap="square" lIns="0" tIns="0" rIns="0" bIns="0" rtlCol="0" anchor="t"/>
          <a:lstStyle/>
          <a:p>
            <a:pPr marL="0" indent="0">
              <a:buNone/>
            </a:pPr>
            <a:r>
              <a:rPr lang="en-US" sz="1400" b="1" dirty="0">
                <a:solidFill>
                  <a:srgbClr val="1B2140"/>
                </a:solidFill>
                <a:latin typeface="Calibri" pitchFamily="34" charset="0"/>
                <a:ea typeface="Calibri" pitchFamily="34" charset="-122"/>
                <a:cs typeface="Calibri" pitchFamily="34" charset="-120"/>
              </a:rPr>
              <a:t>Langkah merge_complex</a:t>
            </a:r>
            <a:endParaRPr lang="en-US" sz="1400" dirty="0"/>
          </a:p>
        </p:txBody>
      </p:sp>
      <p:sp>
        <p:nvSpPr>
          <p:cNvPr id="28" name="Text 26"/>
          <p:cNvSpPr txBox="1"/>
          <p:nvPr/>
        </p:nvSpPr>
        <p:spPr>
          <a:xfrm>
            <a:off x="548640" y="4224528"/>
            <a:ext cx="5486400" cy="1920240"/>
          </a:xfrm>
          <a:prstGeom prst="rect">
            <a:avLst/>
          </a:prstGeom>
          <a:noFill/>
          <a:ln/>
        </p:spPr>
        <p:txBody>
          <a:bodyPr wrap="square" lIns="0" tIns="0" rIns="0" bIns="0" rtlCol="0" anchor="t"/>
          <a:lstStyle/>
          <a:p>
            <a:pPr marL="177800" indent="-177800">
              <a:spcAft>
                <a:spcPts val="400"/>
              </a:spcAft>
              <a:buSzPct val="100000"/>
              <a:buChar char="•"/>
            </a:pPr>
            <a:r>
              <a:rPr lang="en-US" sz="1150" dirty="0">
                <a:solidFill>
                  <a:srgbClr val="1B2140"/>
                </a:solidFill>
                <a:latin typeface="Calibri" pitchFamily="34" charset="0"/>
                <a:ea typeface="Calibri" pitchFamily="34" charset="-122"/>
                <a:cs typeface="Calibri" pitchFamily="34" charset="-120"/>
              </a:rPr>
              <a:t>resName 3 karakter dari nama ligan; chain ligan = huruf bebas pertama, mundur dari X</a:t>
            </a:r>
            <a:endParaRPr lang="en-US" sz="1150" dirty="0"/>
          </a:p>
          <a:p>
            <a:pPr marL="177800" indent="-177800">
              <a:spcAft>
                <a:spcPts val="400"/>
              </a:spcAft>
              <a:buSzPct val="100000"/>
              <a:buChar char="•"/>
            </a:pPr>
            <a:r>
              <a:rPr lang="en-US" sz="1150" dirty="0">
                <a:solidFill>
                  <a:srgbClr val="1B2140"/>
                </a:solidFill>
                <a:latin typeface="Calibri" pitchFamily="34" charset="0"/>
                <a:ea typeface="Calibri" pitchFamily="34" charset="-122"/>
                <a:cs typeface="Calibri" pitchFamily="34" charset="-120"/>
              </a:rPr>
              <a:t>Atom ligan ditandai HETATM, residu 1, nama = unsur + indeks</a:t>
            </a:r>
            <a:endParaRPr lang="en-US" sz="1150" dirty="0"/>
          </a:p>
          <a:p>
            <a:pPr marL="177800" indent="-177800">
              <a:spcAft>
                <a:spcPts val="400"/>
              </a:spcAft>
              <a:buSzPct val="100000"/>
              <a:buChar char="•"/>
            </a:pPr>
            <a:r>
              <a:rPr lang="en-US" sz="1150" dirty="0">
                <a:solidFill>
                  <a:srgbClr val="1B2140"/>
                </a:solidFill>
                <a:latin typeface="Calibri" pitchFamily="34" charset="0"/>
                <a:ea typeface="Calibri" pitchFamily="34" charset="-122"/>
                <a:cs typeface="Calibri" pitchFamily="34" charset="-120"/>
              </a:rPr>
              <a:t>CombineMols dan satu konformer gabungan, disusun menurut posisi (bukan substruktur)</a:t>
            </a:r>
            <a:endParaRPr lang="en-US" sz="1150" dirty="0"/>
          </a:p>
          <a:p>
            <a:pPr marL="177800" indent="-177800">
              <a:spcAft>
                <a:spcPts val="400"/>
              </a:spcAft>
              <a:buSzPct val="100000"/>
              <a:buChar char="•"/>
            </a:pPr>
            <a:r>
              <a:rPr lang="en-US" sz="1150" dirty="0">
                <a:solidFill>
                  <a:srgbClr val="1B2140"/>
                </a:solidFill>
                <a:latin typeface="Calibri" pitchFamily="34" charset="0"/>
                <a:ea typeface="Calibri" pitchFamily="34" charset="-122"/>
                <a:cs typeface="Calibri" pitchFamily="34" charset="-120"/>
              </a:rPr>
              <a:t>TER disisipkan setelah blok reseptor dan blok ligan</a:t>
            </a:r>
            <a:endParaRPr lang="en-US" sz="1150" dirty="0"/>
          </a:p>
        </p:txBody>
      </p:sp>
      <p:sp>
        <p:nvSpPr>
          <p:cNvPr id="29" name="Shape 27"/>
          <p:cNvSpPr/>
          <p:nvPr/>
        </p:nvSpPr>
        <p:spPr>
          <a:xfrm>
            <a:off x="6263640" y="3886200"/>
            <a:ext cx="5376672" cy="2011680"/>
          </a:xfrm>
          <a:prstGeom prst="roundRect">
            <a:avLst>
              <a:gd name="adj" fmla="val 5455"/>
            </a:avLst>
          </a:prstGeom>
          <a:solidFill>
            <a:srgbClr val="E8EDFC"/>
          </a:solidFill>
          <a:ln w="9525">
            <a:solidFill>
              <a:srgbClr val="E8EDFC"/>
            </a:solidFill>
            <a:prstDash val="solid"/>
          </a:ln>
        </p:spPr>
        <p:txBody>
          <a:bodyPr/>
          <a:p/>
        </p:txBody>
      </p:sp>
      <p:sp>
        <p:nvSpPr>
          <p:cNvPr id="30" name="Text 28"/>
          <p:cNvSpPr txBox="1"/>
          <p:nvPr/>
        </p:nvSpPr>
        <p:spPr>
          <a:xfrm>
            <a:off x="6492240" y="3977640"/>
            <a:ext cx="4572000" cy="274320"/>
          </a:xfrm>
          <a:prstGeom prst="rect">
            <a:avLst/>
          </a:prstGeom>
          <a:noFill/>
          <a:ln/>
        </p:spPr>
        <p:txBody>
          <a:bodyPr wrap="square" lIns="0" tIns="0" rIns="0" bIns="0" rtlCol="0" anchor="t"/>
          <a:lstStyle/>
          <a:p>
            <a:pPr marL="0" indent="0">
              <a:buNone/>
            </a:pPr>
            <a:r>
              <a:rPr lang="en-US" sz="1400" b="1" dirty="0">
                <a:solidFill>
                  <a:srgbClr val="1B2140"/>
                </a:solidFill>
                <a:latin typeface="Calibri" pitchFamily="34" charset="0"/>
                <a:ea typeface="Calibri" pitchFamily="34" charset="-122"/>
                <a:cs typeface="Calibri" pitchFamily="34" charset="-120"/>
              </a:rPr>
              <a:t>Mode dan referensi</a:t>
            </a:r>
            <a:endParaRPr lang="en-US" sz="1400" dirty="0"/>
          </a:p>
        </p:txBody>
      </p:sp>
      <p:sp>
        <p:nvSpPr>
          <p:cNvPr id="31" name="Text 29"/>
          <p:cNvSpPr txBox="1"/>
          <p:nvPr/>
        </p:nvSpPr>
        <p:spPr>
          <a:xfrm>
            <a:off x="6492240" y="4315968"/>
            <a:ext cx="4983480" cy="1828800"/>
          </a:xfrm>
          <a:prstGeom prst="rect">
            <a:avLst/>
          </a:prstGeom>
          <a:noFill/>
          <a:ln/>
        </p:spPr>
        <p:txBody>
          <a:bodyPr wrap="square" lIns="0" tIns="0" rIns="0" bIns="0" rtlCol="0" anchor="t"/>
          <a:lstStyle/>
          <a:p>
            <a:pPr marL="177800" indent="-177800">
              <a:spcAft>
                <a:spcPts val="400"/>
              </a:spcAft>
              <a:buSzPct val="100000"/>
              <a:buChar char="•"/>
            </a:pPr>
            <a:r>
              <a:rPr lang="en-US" sz="1150" b="1" dirty="0">
                <a:solidFill>
                  <a:srgbClr val="1B2140"/>
                </a:solidFill>
                <a:latin typeface="Calibri" pitchFamily="34" charset="0"/>
                <a:ea typeface="Calibri" pitchFamily="34" charset="-122"/>
                <a:cs typeface="Calibri" pitchFamily="34" charset="-120"/>
              </a:rPr>
              <a:t>best: </a:t>
            </a:r>
            <a:r>
              <a:rPr lang="en-US" sz="1150" dirty="0">
                <a:solidFill>
                  <a:srgbClr val="1B2140"/>
                </a:solidFill>
                <a:latin typeface="Calibri" pitchFamily="34" charset="0"/>
                <a:ea typeface="Calibri" pitchFamily="34" charset="-122"/>
                <a:cs typeface="Calibri" pitchFamily="34" charset="-120"/>
              </a:rPr>
              <a:t>satu file per pasangan; pose dari replikat terbaik secara global</a:t>
            </a:r>
            <a:endParaRPr lang="en-US" sz="1150" dirty="0"/>
          </a:p>
          <a:p>
            <a:pPr marL="177800" indent="-177800">
              <a:spcAft>
                <a:spcPts val="400"/>
              </a:spcAft>
              <a:buSzPct val="100000"/>
              <a:buChar char="•"/>
            </a:pPr>
            <a:r>
              <a:rPr lang="en-US" sz="1150" b="1" dirty="0">
                <a:solidFill>
                  <a:srgbClr val="1B2140"/>
                </a:solidFill>
                <a:latin typeface="Calibri" pitchFamily="34" charset="0"/>
                <a:ea typeface="Calibri" pitchFamily="34" charset="-122"/>
                <a:cs typeface="Calibri" pitchFamily="34" charset="-120"/>
              </a:rPr>
              <a:t>all: </a:t>
            </a:r>
            <a:r>
              <a:rPr lang="en-US" sz="1150" dirty="0">
                <a:solidFill>
                  <a:srgbClr val="1B2140"/>
                </a:solidFill>
                <a:latin typeface="Calibri" pitchFamily="34" charset="0"/>
                <a:ea typeface="Calibri" pitchFamily="34" charset="-122"/>
                <a:cs typeface="Calibri" pitchFamily="34" charset="-120"/>
              </a:rPr>
              <a:t>&lt;ligan&gt;_repNN_modeMM_complex.pdb untuk setiap pose. Demo: 181 file per reseptor (180 pose + 1 native)</a:t>
            </a:r>
            <a:endParaRPr lang="en-US" sz="1150" dirty="0"/>
          </a:p>
          <a:p>
            <a:pPr marL="177800" indent="-177800">
              <a:spcAft>
                <a:spcPts val="400"/>
              </a:spcAft>
              <a:buSzPct val="100000"/>
              <a:buChar char="•"/>
            </a:pPr>
            <a:r>
              <a:rPr lang="en-US" sz="1150" b="1" dirty="0">
                <a:solidFill>
                  <a:srgbClr val="1B2140"/>
                </a:solidFill>
                <a:latin typeface="Calibri" pitchFamily="34" charset="0"/>
                <a:ea typeface="Calibri" pitchFamily="34" charset="-122"/>
                <a:cs typeface="Calibri" pitchFamily="34" charset="-120"/>
              </a:rPr>
              <a:t>NATIVE_&lt;label&gt;_complex.pdb: </a:t>
            </a:r>
            <a:r>
              <a:rPr lang="en-US" sz="1150" dirty="0">
                <a:solidFill>
                  <a:srgbClr val="1B2140"/>
                </a:solidFill>
                <a:latin typeface="Calibri" pitchFamily="34" charset="0"/>
                <a:ea typeface="Calibri" pitchFamily="34" charset="-122"/>
                <a:cs typeface="Calibri" pitchFamily="34" charset="-120"/>
              </a:rPr>
              <a:t>ligan kristal asli (bukan hasil docking) sebagai baseline similaritas</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2029968"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C · PIPELINE IN SILICO</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Keluaran: folder terstruktur dan satu workbook Excel</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22</a:t>
            </a:r>
            <a:endParaRPr lang="en-US" sz="1000" dirty="0"/>
          </a:p>
        </p:txBody>
      </p:sp>
      <p:sp>
        <p:nvSpPr>
          <p:cNvPr id="6" name="Text 4"/>
          <p:cNvSpPr txBox="1"/>
          <p:nvPr/>
        </p:nvSpPr>
        <p:spPr>
          <a:xfrm>
            <a:off x="548640" y="1691640"/>
            <a:ext cx="5943600" cy="2926080"/>
          </a:xfrm>
          <a:prstGeom prst="roundRect">
            <a:avLst>
              <a:gd name="adj" fmla="val 3125"/>
            </a:avLst>
          </a:prstGeom>
          <a:solidFill>
            <a:srgbClr val="0E1533"/>
          </a:solidFill>
          <a:ln/>
        </p:spPr>
        <p:txBody>
          <a:bodyPr wrap="square" lIns="127000" tIns="127000" rIns="127000" bIns="127000" rtlCol="0" anchor="t"/>
          <a:lstStyle/>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hasil/</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 chemflow.log</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 hasil_chemflow.xlsx</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 ligands/&lt;nama&gt;/            2D.png · .pdb · .pdbqt</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 receptors/&lt;PDB&gt;_R001/      _docking.pdbqt · _clean.pdb</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 docking/&lt;PDB&gt;_R001/&lt;ligan&gt;/ repNN_out.pdbqt · repNN.log</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   (ligan native: NATIVE_&lt;label&gt;/, isi sama)</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 complexes/&lt;PDB&gt;_R001/      &lt;ligan&gt;_complex.pdb + .json</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 analytics/                 PNG (+ SVG, PDF)</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 _state/                    config.json · progress.json · inputs/</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 _cache/                    vina · ligand_templates</a:t>
            </a:r>
            <a:endParaRPr lang="en-US" sz="1100" dirty="0"/>
          </a:p>
        </p:txBody>
      </p:sp>
      <p:sp>
        <p:nvSpPr>
          <p:cNvPr id="7" name="Text 5"/>
          <p:cNvSpPr txBox="1"/>
          <p:nvPr/>
        </p:nvSpPr>
        <p:spPr>
          <a:xfrm>
            <a:off x="548640" y="4709160"/>
            <a:ext cx="5943600" cy="365760"/>
          </a:xfrm>
          <a:prstGeom prst="rect">
            <a:avLst/>
          </a:prstGeom>
          <a:noFill/>
          <a:ln/>
        </p:spPr>
        <p:txBody>
          <a:bodyPr wrap="square" lIns="0" tIns="0" rIns="0" bIns="0" rtlCol="0" anchor="t"/>
          <a:lstStyle/>
          <a:p>
            <a:pPr marL="0" indent="0" algn="l">
              <a:buNone/>
            </a:pPr>
            <a:r>
              <a:rPr lang="en-US" sz="1000" dirty="0">
                <a:solidFill>
                  <a:srgbClr val="5B6480"/>
                </a:solidFill>
                <a:latin typeface="Calibri" pitchFamily="34" charset="0"/>
                <a:ea typeface="Calibri" pitchFamily="34" charset="-122"/>
                <a:cs typeface="Calibri" pitchFamily="34" charset="-120"/>
              </a:rPr>
              <a:t>Kunci reseptor selalu &lt;PDB&gt;_R###, juga untuk satu situs (excel_receptors.py:46-49).</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75120" y="1691640"/>
          <a:ext cx="4965192" cy="3218688"/>
        </p:xfrm>
        <a:graphic>
          <a:graphicData uri="http://schemas.openxmlformats.org/drawingml/2006/table">
            <a:tbl>
              <a:tblPr/>
              <a:tblGrid>
                <a:gridCol w="16916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2359152">
                  <a:extLst>
                    <a:ext uri="{9D8B030D-6E8A-4147-A177-3AD203B41FA5}">
                      <a16:colId xmlns:a16="http://schemas.microsoft.com/office/drawing/2014/main" val="20002"/>
                    </a:ext>
                  </a:extLst>
                </a:gridCol>
              </a:tblGrid>
              <a:tr h="402336">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Sheet</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Baris × kolom</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Isi</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extLst>
                  <a:ext uri="{0D108BD9-81ED-4DB2-BD59-A6C34878D82A}">
                    <a16:rowId xmlns:a16="http://schemas.microsoft.com/office/drawing/2014/main" val="10000"/>
                  </a:ext>
                </a:extLst>
              </a:tr>
              <a:tr h="402336">
                <a:tc>
                  <a:txBody>
                    <a:bodyPr/>
                    <a:lstStyle/>
                    <a:p>
                      <a:pPr marL="0" indent="0">
                        <a:buNone/>
                      </a:pPr>
                      <a:r>
                        <a:rPr lang="en-US" sz="1050" dirty="0">
                          <a:solidFill>
                            <a:srgbClr val="1B2140"/>
                          </a:solidFill>
                          <a:latin typeface="Calibri" pitchFamily="34" charset="0"/>
                          <a:ea typeface="Calibri" pitchFamily="34" charset="-122"/>
                          <a:cs typeface="Calibri" pitchFamily="34" charset="-120"/>
                        </a:rPr>
                        <a:t>Ringkasan Ligan</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050" dirty="0">
                          <a:solidFill>
                            <a:srgbClr val="1B2140"/>
                          </a:solidFill>
                          <a:latin typeface="Calibri" pitchFamily="34" charset="0"/>
                          <a:ea typeface="Calibri" pitchFamily="34" charset="-122"/>
                          <a:cs typeface="Calibri" pitchFamily="34" charset="-120"/>
                        </a:rPr>
                        <a:t>10 × 4</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050" dirty="0">
                          <a:solidFill>
                            <a:srgbClr val="1B2140"/>
                          </a:solidFill>
                          <a:latin typeface="Calibri" pitchFamily="34" charset="0"/>
                          <a:ea typeface="Calibri" pitchFamily="34" charset="-122"/>
                          <a:cs typeface="Calibri" pitchFamily="34" charset="-120"/>
                        </a:rPr>
                        <a:t>nama, nama_file, smiles, group, status</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050" dirty="0">
                          <a:solidFill>
                            <a:srgbClr val="1B2140"/>
                          </a:solidFill>
                          <a:latin typeface="Calibri" pitchFamily="34" charset="0"/>
                          <a:ea typeface="Calibri" pitchFamily="34" charset="-122"/>
                          <a:cs typeface="Calibri" pitchFamily="34" charset="-120"/>
                        </a:rPr>
                        <a:t>Hasil Docking</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050" dirty="0">
                          <a:solidFill>
                            <a:srgbClr val="1B2140"/>
                          </a:solidFill>
                          <a:latin typeface="Calibri" pitchFamily="34" charset="0"/>
                          <a:ea typeface="Calibri" pitchFamily="34" charset="-122"/>
                          <a:cs typeface="Calibri" pitchFamily="34" charset="-120"/>
                        </a:rPr>
                        <a:t>100 × 8</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050" dirty="0">
                          <a:solidFill>
                            <a:srgbClr val="1B2140"/>
                          </a:solidFill>
                          <a:latin typeface="Calibri" pitchFamily="34" charset="0"/>
                          <a:ea typeface="Calibri" pitchFamily="34" charset="-122"/>
                          <a:cs typeface="Calibri" pitchFamily="34" charset="-120"/>
                        </a:rPr>
                        <a:t>satu baris per run: seed, skor, jumlah pose</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2"/>
                  </a:ext>
                </a:extLst>
              </a:tr>
              <a:tr h="402336">
                <a:tc>
                  <a:txBody>
                    <a:bodyPr/>
                    <a:lstStyle/>
                    <a:p>
                      <a:pPr marL="0" indent="0">
                        <a:buNone/>
                      </a:pPr>
                      <a:r>
                        <a:rPr lang="en-US" sz="1050" dirty="0">
                          <a:solidFill>
                            <a:srgbClr val="1B2140"/>
                          </a:solidFill>
                          <a:latin typeface="Calibri" pitchFamily="34" charset="0"/>
                          <a:ea typeface="Calibri" pitchFamily="34" charset="-122"/>
                          <a:cs typeface="Calibri" pitchFamily="34" charset="-120"/>
                        </a:rPr>
                        <a:t>Fisikokimia (Lipinski)</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050" dirty="0">
                          <a:solidFill>
                            <a:srgbClr val="1B2140"/>
                          </a:solidFill>
                          <a:latin typeface="Calibri" pitchFamily="34" charset="0"/>
                          <a:ea typeface="Calibri" pitchFamily="34" charset="-122"/>
                          <a:cs typeface="Calibri" pitchFamily="34" charset="-120"/>
                        </a:rPr>
                        <a:t>10 × 7</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050" dirty="0">
                          <a:solidFill>
                            <a:srgbClr val="1B2140"/>
                          </a:solidFill>
                          <a:latin typeface="Calibri" pitchFamily="34" charset="0"/>
                          <a:ea typeface="Calibri" pitchFamily="34" charset="-122"/>
                          <a:cs typeface="Calibri" pitchFamily="34" charset="-120"/>
                        </a:rPr>
                        <a:t>MW, LogP, HBD, HBA, pelanggaran</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050" dirty="0">
                          <a:solidFill>
                            <a:srgbClr val="1B2140"/>
                          </a:solidFill>
                          <a:latin typeface="Calibri" pitchFamily="34" charset="0"/>
                          <a:ea typeface="Calibri" pitchFamily="34" charset="-122"/>
                          <a:cs typeface="Calibri" pitchFamily="34" charset="-120"/>
                        </a:rPr>
                        <a:t>ADMET</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050" dirty="0">
                          <a:solidFill>
                            <a:srgbClr val="1B2140"/>
                          </a:solidFill>
                          <a:latin typeface="Calibri" pitchFamily="34" charset="0"/>
                          <a:ea typeface="Calibri" pitchFamily="34" charset="-122"/>
                          <a:cs typeface="Calibri" pitchFamily="34" charset="-120"/>
                        </a:rPr>
                        <a:t>10 × 123</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050" dirty="0">
                          <a:solidFill>
                            <a:srgbClr val="1B2140"/>
                          </a:solidFill>
                          <a:latin typeface="Calibri" pitchFamily="34" charset="0"/>
                          <a:ea typeface="Calibri" pitchFamily="34" charset="-122"/>
                          <a:cs typeface="Calibri" pitchFamily="34" charset="-120"/>
                        </a:rPr>
                        <a:t>kolom ADMETLab3, sel berwarna</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4"/>
                  </a:ext>
                </a:extLst>
              </a:tr>
              <a:tr h="402336">
                <a:tc>
                  <a:txBody>
                    <a:bodyPr/>
                    <a:lstStyle/>
                    <a:p>
                      <a:pPr marL="0" indent="0">
                        <a:buNone/>
                      </a:pPr>
                      <a:r>
                        <a:rPr lang="en-US" sz="1050" dirty="0">
                          <a:solidFill>
                            <a:srgbClr val="1B2140"/>
                          </a:solidFill>
                          <a:latin typeface="Calibri" pitchFamily="34" charset="0"/>
                          <a:ea typeface="Calibri" pitchFamily="34" charset="-122"/>
                          <a:cs typeface="Calibri" pitchFamily="34" charset="-120"/>
                        </a:rPr>
                        <a:t>Legenda ADMET</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050" dirty="0">
                          <a:solidFill>
                            <a:srgbClr val="1B2140"/>
                          </a:solidFill>
                          <a:latin typeface="Calibri" pitchFamily="34" charset="0"/>
                          <a:ea typeface="Calibri" pitchFamily="34" charset="-122"/>
                          <a:cs typeface="Calibri" pitchFamily="34" charset="-120"/>
                        </a:rPr>
                        <a:t>120 × 7</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050" dirty="0">
                          <a:solidFill>
                            <a:srgbClr val="1B2140"/>
                          </a:solidFill>
                          <a:latin typeface="Calibri" pitchFamily="34" charset="0"/>
                          <a:ea typeface="Calibri" pitchFamily="34" charset="-122"/>
                          <a:cs typeface="Calibri" pitchFamily="34" charset="-120"/>
                        </a:rPr>
                        <a:t>kategori, satuan, ambang, rujukan</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buNone/>
                      </a:pPr>
                      <a:r>
                        <a:rPr lang="en-US" sz="1050" dirty="0">
                          <a:solidFill>
                            <a:srgbClr val="1B2140"/>
                          </a:solidFill>
                          <a:latin typeface="Calibri" pitchFamily="34" charset="0"/>
                          <a:ea typeface="Calibri" pitchFamily="34" charset="-122"/>
                          <a:cs typeface="Calibri" pitchFamily="34" charset="-120"/>
                        </a:rPr>
                        <a:t>Validasi RMSD</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050" dirty="0">
                          <a:solidFill>
                            <a:srgbClr val="1B2140"/>
                          </a:solidFill>
                          <a:latin typeface="Calibri" pitchFamily="34" charset="0"/>
                          <a:ea typeface="Calibri" pitchFamily="34" charset="-122"/>
                          <a:cs typeface="Calibri" pitchFamily="34" charset="-120"/>
                        </a:rPr>
                        <a:t>5 × 7</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050" dirty="0">
                          <a:solidFill>
                            <a:srgbClr val="1B2140"/>
                          </a:solidFill>
                          <a:latin typeface="Calibri" pitchFamily="34" charset="0"/>
                          <a:ea typeface="Calibri" pitchFamily="34" charset="-122"/>
                          <a:cs typeface="Calibri" pitchFamily="34" charset="-120"/>
                        </a:rPr>
                        <a:t>RMSD, status, skor redock, metode</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6"/>
                  </a:ext>
                </a:extLst>
              </a:tr>
              <a:tr h="402336">
                <a:tc>
                  <a:txBody>
                    <a:bodyPr/>
                    <a:lstStyle/>
                    <a:p>
                      <a:pPr marL="0" indent="0">
                        <a:buNone/>
                      </a:pPr>
                      <a:r>
                        <a:rPr lang="en-US" sz="1050" dirty="0">
                          <a:solidFill>
                            <a:srgbClr val="1B2140"/>
                          </a:solidFill>
                          <a:latin typeface="Calibri" pitchFamily="34" charset="0"/>
                          <a:ea typeface="Calibri" pitchFamily="34" charset="-122"/>
                          <a:cs typeface="Calibri" pitchFamily="34" charset="-120"/>
                        </a:rPr>
                        <a:t>Statistik Replikasi</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050" dirty="0">
                          <a:solidFill>
                            <a:srgbClr val="1B2140"/>
                          </a:solidFill>
                          <a:latin typeface="Calibri" pitchFamily="34" charset="0"/>
                          <a:ea typeface="Calibri" pitchFamily="34" charset="-122"/>
                          <a:cs typeface="Calibri" pitchFamily="34" charset="-120"/>
                        </a:rPr>
                        <a:t>50 × 6</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050" dirty="0">
                          <a:solidFill>
                            <a:srgbClr val="1B2140"/>
                          </a:solidFill>
                          <a:latin typeface="Calibri" pitchFamily="34" charset="0"/>
                          <a:ea typeface="Calibri" pitchFamily="34" charset="-122"/>
                          <a:cs typeface="Calibri" pitchFamily="34" charset="-120"/>
                        </a:rPr>
                        <a:t>rata-rata, simpangan baku, terbaik</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9" name="Text 6"/>
          <p:cNvSpPr txBox="1"/>
          <p:nvPr/>
        </p:nvSpPr>
        <p:spPr>
          <a:xfrm>
            <a:off x="6675120" y="5120640"/>
            <a:ext cx="4965192" cy="548640"/>
          </a:xfrm>
          <a:prstGeom prst="rect">
            <a:avLst/>
          </a:prstGeom>
          <a:noFill/>
          <a:ln/>
        </p:spPr>
        <p:txBody>
          <a:bodyPr wrap="square" lIns="0" tIns="0" rIns="0" bIns="0" rtlCol="0" anchor="t"/>
          <a:lstStyle/>
          <a:p>
            <a:pPr marL="0" indent="0" algn="l">
              <a:buNone/>
            </a:pPr>
            <a:r>
              <a:rPr lang="en-US" sz="1000" dirty="0">
                <a:solidFill>
                  <a:srgbClr val="5B6480"/>
                </a:solidFill>
                <a:latin typeface="Calibri" pitchFamily="34" charset="0"/>
                <a:ea typeface="Calibri" pitchFamily="34" charset="-122"/>
                <a:cs typeface="Calibri" pitchFamily="34" charset="-120"/>
              </a:rPr>
              <a:t>Baris data tanpa header, run demonstrasi. Sheet ditulis kondisional. Versi terbaru menambah kolom group, tipe, delta_vs_native, dan sheet per grup (lihat A5).</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2029968"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C · PIPELINE IN SILICO</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Analitik 1: heatmap dan peringkat afinitas dari matriks docking</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23</a:t>
            </a:r>
            <a:endParaRPr lang="en-US" sz="1000" dirty="0"/>
          </a:p>
        </p:txBody>
      </p:sp>
      <p:pic>
        <p:nvPicPr>
          <p:cNvPr id="6" name="Image 0" descr="Heatmap skor docking terbaik, reseptor pada baris dan ligan pada kolom"/>
          <p:cNvPicPr>
            <a:picLocks noChangeAspect="1"/>
          </p:cNvPicPr>
          <p:nvPr/>
        </p:nvPicPr>
        <p:blipFill>
          <a:blip r:embed="rId3"/>
          <a:stretch>
            <a:fillRect/>
          </a:stretch>
        </p:blipFill>
        <p:spPr>
          <a:xfrm>
            <a:off x="548640" y="1645920"/>
            <a:ext cx="6675120" cy="3904488"/>
          </a:xfrm>
          <a:prstGeom prst="rect">
            <a:avLst/>
          </a:prstGeom>
        </p:spPr>
      </p:pic>
      <p:sp>
        <p:nvSpPr>
          <p:cNvPr id="7" name="Text 4"/>
          <p:cNvSpPr txBox="1"/>
          <p:nvPr/>
        </p:nvSpPr>
        <p:spPr>
          <a:xfrm>
            <a:off x="548640" y="5623560"/>
            <a:ext cx="6675120" cy="548640"/>
          </a:xfrm>
          <a:prstGeom prst="rect">
            <a:avLst/>
          </a:prstGeom>
          <a:noFill/>
          <a:ln/>
        </p:spPr>
        <p:txBody>
          <a:bodyPr wrap="square" lIns="0" tIns="0" rIns="0" bIns="0" rtlCol="0" anchor="t"/>
          <a:lstStyle/>
          <a:p>
            <a:pPr marL="0" indent="0" algn="l">
              <a:buNone/>
            </a:pPr>
            <a:r>
              <a:rPr lang="en-US" sz="1000" dirty="0">
                <a:solidFill>
                  <a:srgbClr val="5B6480"/>
                </a:solidFill>
                <a:latin typeface="Calibri" pitchFamily="34" charset="0"/>
                <a:ea typeface="Calibri" pitchFamily="34" charset="-122"/>
                <a:cs typeface="Calibri" pitchFamily="34" charset="-120"/>
              </a:rPr>
              <a:t>Keluaran chemflow: heatmap_afinitas.png. Data demonstrasi: skor Vina terbaik dari 2 replikat (kcal/mol). Estimasi skor, bukan afinitas eksperimen.</a:t>
            </a:r>
            <a:endParaRPr lang="en-US" sz="1000" dirty="0"/>
          </a:p>
        </p:txBody>
      </p:sp>
      <p:graphicFrame>
        <p:nvGraphicFramePr>
          <p:cNvPr id="8" name="Chart 0"/>
          <p:cNvGraphicFramePr/>
          <p:nvPr/>
        </p:nvGraphicFramePr>
        <p:xfrm>
          <a:off x="7406640" y="1600200"/>
          <a:ext cx="4233672" cy="2788920"/>
        </p:xfrm>
        <a:graphic>
          <a:graphicData uri="http://schemas.openxmlformats.org/drawingml/2006/chart">
            <c:chart xmlns:c="http://schemas.openxmlformats.org/drawingml/2006/chart" xmlns:r="http://schemas.openxmlformats.org/officeDocument/2006/relationships" r:id="rId4"/>
          </a:graphicData>
        </a:graphic>
      </p:graphicFrame>
      <p:sp>
        <p:nvSpPr>
          <p:cNvPr id="9" name="Shape 5"/>
          <p:cNvSpPr/>
          <p:nvPr/>
        </p:nvSpPr>
        <p:spPr>
          <a:xfrm>
            <a:off x="7409383" y="4832646"/>
            <a:ext cx="4233672" cy="1287851"/>
          </a:xfrm>
          <a:prstGeom prst="roundRect">
            <a:avLst>
              <a:gd name="adj" fmla="val 10870"/>
            </a:avLst>
          </a:prstGeom>
          <a:solidFill>
            <a:srgbClr val="DDF3EB"/>
          </a:solidFill>
          <a:ln w="15875">
            <a:solidFill>
              <a:srgbClr val="009E73"/>
            </a:solidFill>
            <a:prstDash val="solid"/>
          </a:ln>
        </p:spPr>
        <p:txBody>
          <a:bodyPr/>
          <a:p/>
        </p:txBody>
      </p:sp>
      <p:sp>
        <p:nvSpPr>
          <p:cNvPr id="10" name="Text 6"/>
          <p:cNvSpPr txBox="1"/>
          <p:nvPr/>
        </p:nvSpPr>
        <p:spPr>
          <a:xfrm>
            <a:off x="7571232" y="5071544"/>
            <a:ext cx="3904488" cy="658368"/>
          </a:xfrm>
          <a:prstGeom prst="rect">
            <a:avLst/>
          </a:prstGeom>
          <a:noFill/>
          <a:ln/>
        </p:spPr>
        <p:txBody>
          <a:bodyPr wrap="square" lIns="0" tIns="0" rIns="0" bIns="0" rtlCol="0" anchor="t"/>
          <a:lstStyle/>
          <a:p>
            <a:pPr marL="0" indent="0">
              <a:spcAft>
                <a:spcPts val="300"/>
              </a:spcAft>
              <a:buNone/>
            </a:pPr>
            <a:r>
              <a:rPr lang="en-US" sz="1200" b="1" dirty="0">
                <a:solidFill>
                  <a:srgbClr val="1B2140"/>
                </a:solidFill>
                <a:latin typeface="Calibri" pitchFamily="34" charset="0"/>
                <a:ea typeface="Calibri" pitchFamily="34" charset="-122"/>
                <a:cs typeface="Calibri" pitchFamily="34" charset="-120"/>
              </a:rPr>
              <a:t>Pasangan terbaik</a:t>
            </a:r>
            <a:endParaRPr lang="en-US" sz="1200" dirty="0"/>
          </a:p>
          <a:p>
            <a:pPr marL="0" indent="0">
              <a:spcAft>
                <a:spcPts val="300"/>
              </a:spcAft>
              <a:buNone/>
            </a:pPr>
            <a:r>
              <a:rPr lang="en-US" sz="1100" dirty="0">
                <a:solidFill>
                  <a:srgbClr val="1B2140"/>
                </a:solidFill>
                <a:latin typeface="Calibri" pitchFamily="34" charset="0"/>
                <a:ea typeface="Calibri" pitchFamily="34" charset="-122"/>
                <a:cs typeface="Calibri" pitchFamily="34" charset="-120"/>
              </a:rPr>
              <a:t>curcumin dengan 4EY7: −11,05 kcal/mol (rerata dua replikat −10,92 ± 0,13).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2029968"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C · PIPELINE IN SILICO</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Analitik 2: radar gabungan dan klasifikasi ADMET per kategori</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24</a:t>
            </a:r>
            <a:endParaRPr lang="en-US" sz="1000" dirty="0"/>
          </a:p>
        </p:txBody>
      </p:sp>
      <p:pic>
        <p:nvPicPr>
          <p:cNvPr id="6" name="Image 0" descr="Radar gabungan enam ligan: ΔG docking, MW, LogP, HBD, HBA, dan skor kategori ADMET"/>
          <p:cNvPicPr>
            <a:picLocks noChangeAspect="1"/>
          </p:cNvPicPr>
          <p:nvPr/>
        </p:nvPicPr>
        <p:blipFill>
          <a:blip r:embed="rId3"/>
          <a:stretch>
            <a:fillRect/>
          </a:stretch>
        </p:blipFill>
        <p:spPr>
          <a:xfrm>
            <a:off x="548640" y="1645920"/>
            <a:ext cx="5486400" cy="4206240"/>
          </a:xfrm>
          <a:prstGeom prst="rect">
            <a:avLst/>
          </a:prstGeom>
        </p:spPr>
      </p:pic>
      <p:sp>
        <p:nvSpPr>
          <p:cNvPr id="7" name="Text 4"/>
          <p:cNvSpPr txBox="1"/>
          <p:nvPr/>
        </p:nvSpPr>
        <p:spPr>
          <a:xfrm>
            <a:off x="548640" y="5897880"/>
            <a:ext cx="5486400" cy="365760"/>
          </a:xfrm>
          <a:prstGeom prst="rect">
            <a:avLst/>
          </a:prstGeom>
          <a:noFill/>
          <a:ln/>
        </p:spPr>
        <p:txBody>
          <a:bodyPr wrap="square" lIns="0" tIns="0" rIns="0" bIns="0" rtlCol="0" anchor="t"/>
          <a:lstStyle/>
          <a:p>
            <a:pPr marL="0" indent="0" algn="l">
              <a:buNone/>
            </a:pPr>
            <a:r>
              <a:rPr lang="en-US" sz="1000" dirty="0">
                <a:solidFill>
                  <a:srgbClr val="5B6480"/>
                </a:solidFill>
                <a:latin typeface="Calibri" pitchFamily="34" charset="0"/>
                <a:ea typeface="Calibri" pitchFamily="34" charset="-122"/>
                <a:cs typeface="Calibri" pitchFamily="34" charset="-120"/>
              </a:rPr>
              <a:t>radar_combined.png (data demonstrasi). ΔG docking = skor Vina.</a:t>
            </a:r>
            <a:endParaRPr lang="en-US" sz="1000" dirty="0"/>
          </a:p>
        </p:txBody>
      </p:sp>
      <p:pic>
        <p:nvPicPr>
          <p:cNvPr id="8" name="Image 1" descr="Persentase ligan baik, sedang, buruk per parameter ADMET kategori absorpsi"/>
          <p:cNvPicPr>
            <a:picLocks noChangeAspect="1"/>
          </p:cNvPicPr>
          <p:nvPr/>
        </p:nvPicPr>
        <p:blipFill>
          <a:blip r:embed="rId4"/>
          <a:stretch>
            <a:fillRect/>
          </a:stretch>
        </p:blipFill>
        <p:spPr>
          <a:xfrm>
            <a:off x="6263640" y="1645920"/>
            <a:ext cx="5376672" cy="3227832"/>
          </a:xfrm>
          <a:prstGeom prst="rect">
            <a:avLst/>
          </a:prstGeom>
        </p:spPr>
      </p:pic>
      <p:sp>
        <p:nvSpPr>
          <p:cNvPr id="9" name="Text 5"/>
          <p:cNvSpPr txBox="1"/>
          <p:nvPr/>
        </p:nvSpPr>
        <p:spPr>
          <a:xfrm>
            <a:off x="6263640" y="4910328"/>
            <a:ext cx="5376672" cy="365760"/>
          </a:xfrm>
          <a:prstGeom prst="rect">
            <a:avLst/>
          </a:prstGeom>
          <a:noFill/>
          <a:ln/>
        </p:spPr>
        <p:txBody>
          <a:bodyPr wrap="square" lIns="0" tIns="0" rIns="0" bIns="0" rtlCol="0" anchor="t"/>
          <a:lstStyle/>
          <a:p>
            <a:pPr marL="0" indent="0" algn="l">
              <a:buNone/>
            </a:pPr>
            <a:r>
              <a:rPr lang="en-US" sz="1000" dirty="0">
                <a:solidFill>
                  <a:srgbClr val="5B6480"/>
                </a:solidFill>
                <a:latin typeface="Calibri" pitchFamily="34" charset="0"/>
                <a:ea typeface="Calibri" pitchFamily="34" charset="-122"/>
                <a:cs typeface="Calibri" pitchFamily="34" charset="-120"/>
              </a:rPr>
              <a:t>admet_klasifikasi_absorpsi.png (data demonstrasi, 10 ligan).</a:t>
            </a:r>
            <a:endParaRPr lang="en-US" sz="1000" dirty="0"/>
          </a:p>
        </p:txBody>
      </p:sp>
      <p:sp>
        <p:nvSpPr>
          <p:cNvPr id="10" name="Text 6"/>
          <p:cNvSpPr txBox="1"/>
          <p:nvPr/>
        </p:nvSpPr>
        <p:spPr>
          <a:xfrm>
            <a:off x="6263640" y="5303520"/>
            <a:ext cx="5376672" cy="914400"/>
          </a:xfrm>
          <a:prstGeom prst="rect">
            <a:avLst/>
          </a:prstGeom>
          <a:noFill/>
          <a:ln/>
        </p:spPr>
        <p:txBody>
          <a:bodyPr wrap="square" lIns="0" tIns="0" rIns="0" bIns="0" rtlCol="0" anchor="t"/>
          <a:lstStyle/>
          <a:p>
            <a:pPr marL="177800" indent="-177800">
              <a:spcAft>
                <a:spcPts val="300"/>
              </a:spcAft>
              <a:buSzPct val="100000"/>
              <a:buChar char="•"/>
            </a:pPr>
            <a:r>
              <a:rPr lang="en-US" sz="1050" b="1" dirty="0">
                <a:solidFill>
                  <a:srgbClr val="1B2140"/>
                </a:solidFill>
                <a:latin typeface="Calibri" pitchFamily="34" charset="0"/>
                <a:ea typeface="Calibri" pitchFamily="34" charset="-122"/>
                <a:cs typeface="Calibri" pitchFamily="34" charset="-120"/>
              </a:rPr>
              <a:t>Radar: </a:t>
            </a:r>
            <a:r>
              <a:rPr lang="en-US" sz="1050" dirty="0">
                <a:solidFill>
                  <a:srgbClr val="1B2140"/>
                </a:solidFill>
                <a:latin typeface="Calibri" pitchFamily="34" charset="0"/>
                <a:ea typeface="Calibri" pitchFamily="34" charset="-122"/>
                <a:cs typeface="Calibri" pitchFamily="34" charset="-120"/>
              </a:rPr>
              <a:t>ΔG, MW, LogP, HBD, HBA dibalik (kecil = lebih baik) + skor tiap kategori ADMET; min-max per kriteria; enam ligan terbaik pada reseptor terbaik masing-masing</a:t>
            </a:r>
            <a:endParaRPr lang="en-US" sz="1050" dirty="0"/>
          </a:p>
          <a:p>
            <a:pPr marL="177800" indent="-177800">
              <a:spcAft>
                <a:spcPts val="300"/>
              </a:spcAft>
              <a:buSzPct val="100000"/>
              <a:buChar char="•"/>
            </a:pPr>
            <a:r>
              <a:rPr lang="en-US" sz="1050" b="1" dirty="0">
                <a:solidFill>
                  <a:srgbClr val="1B2140"/>
                </a:solidFill>
                <a:latin typeface="Calibri" pitchFamily="34" charset="0"/>
                <a:ea typeface="Calibri" pitchFamily="34" charset="-122"/>
                <a:cs typeface="Calibri" pitchFamily="34" charset="-120"/>
              </a:rPr>
              <a:t>Batang: </a:t>
            </a:r>
            <a:r>
              <a:rPr lang="en-US" sz="1050" dirty="0">
                <a:solidFill>
                  <a:srgbClr val="1B2140"/>
                </a:solidFill>
                <a:latin typeface="Calibri" pitchFamily="34" charset="0"/>
                <a:ea typeface="Calibri" pitchFamily="34" charset="-122"/>
                <a:cs typeface="Calibri" pitchFamily="34" charset="-120"/>
              </a:rPr>
              <a:t>persentase ligan baik, sedang, buruk per parameter</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2029968"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C · PIPELINE IN SILICO</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Analitik 3: PCA dan HCA membaca ruang kimia senyawa</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25</a:t>
            </a:r>
            <a:endParaRPr lang="en-US" sz="1000" dirty="0"/>
          </a:p>
        </p:txBody>
      </p:sp>
      <p:pic>
        <p:nvPicPr>
          <p:cNvPr id="6" name="Image 0" descr="Biplot PCA dua dimensi dengan elips kepercayaan 95 persen per kelompok"/>
          <p:cNvPicPr>
            <a:picLocks noChangeAspect="1"/>
          </p:cNvPicPr>
          <p:nvPr/>
        </p:nvPicPr>
        <p:blipFill>
          <a:blip r:embed="rId3"/>
          <a:stretch>
            <a:fillRect/>
          </a:stretch>
        </p:blipFill>
        <p:spPr>
          <a:xfrm>
            <a:off x="548640" y="2179448"/>
            <a:ext cx="4114800" cy="2700271"/>
          </a:xfrm>
          <a:prstGeom prst="rect">
            <a:avLst/>
          </a:prstGeom>
        </p:spPr>
      </p:pic>
      <p:pic>
        <p:nvPicPr>
          <p:cNvPr id="7" name="Image 1" descr="Dendrogram HCA dengan label daun berwarna per kelompok"/>
          <p:cNvPicPr>
            <a:picLocks noChangeAspect="1"/>
          </p:cNvPicPr>
          <p:nvPr/>
        </p:nvPicPr>
        <p:blipFill>
          <a:blip r:embed="rId4"/>
          <a:stretch>
            <a:fillRect/>
          </a:stretch>
        </p:blipFill>
        <p:spPr>
          <a:xfrm>
            <a:off x="4754880" y="1645920"/>
            <a:ext cx="4160520" cy="3767328"/>
          </a:xfrm>
          <a:prstGeom prst="rect">
            <a:avLst/>
          </a:prstGeom>
        </p:spPr>
      </p:pic>
      <p:sp>
        <p:nvSpPr>
          <p:cNvPr id="8" name="Text 4"/>
          <p:cNvSpPr txBox="1"/>
          <p:nvPr/>
        </p:nvSpPr>
        <p:spPr>
          <a:xfrm>
            <a:off x="548640" y="5486400"/>
            <a:ext cx="8412480" cy="365760"/>
          </a:xfrm>
          <a:prstGeom prst="rect">
            <a:avLst/>
          </a:prstGeom>
          <a:noFill/>
          <a:ln/>
        </p:spPr>
        <p:txBody>
          <a:bodyPr wrap="square" lIns="0" tIns="0" rIns="0" bIns="0" rtlCol="0" anchor="t"/>
          <a:lstStyle/>
          <a:p>
            <a:pPr marL="0" indent="0" algn="l">
              <a:buNone/>
            </a:pPr>
            <a:r>
              <a:rPr lang="en-US" sz="1000" dirty="0">
                <a:solidFill>
                  <a:srgbClr val="5B6480"/>
                </a:solidFill>
                <a:latin typeface="Calibri" pitchFamily="34" charset="0"/>
                <a:ea typeface="Calibri" pitchFamily="34" charset="-122"/>
                <a:cs typeface="Calibri" pitchFamily="34" charset="-120"/>
              </a:rPr>
              <a:t>pca_2d.png (gaya jurnal, dihitung ulang dari data demonstrasi) dan hca_dendrogram.png.</a:t>
            </a:r>
            <a:endParaRPr lang="en-US" sz="1000" dirty="0"/>
          </a:p>
        </p:txBody>
      </p:sp>
      <p:sp>
        <p:nvSpPr>
          <p:cNvPr id="9" name="Shape 5"/>
          <p:cNvSpPr/>
          <p:nvPr/>
        </p:nvSpPr>
        <p:spPr>
          <a:xfrm>
            <a:off x="9144000" y="1645920"/>
            <a:ext cx="2496312" cy="4526280"/>
          </a:xfrm>
          <a:prstGeom prst="roundRect">
            <a:avLst>
              <a:gd name="adj" fmla="val 4396"/>
            </a:avLst>
          </a:prstGeom>
          <a:solidFill>
            <a:srgbClr val="EDE7FC"/>
          </a:solidFill>
          <a:ln w="9525">
            <a:solidFill>
              <a:srgbClr val="EDE7FC"/>
            </a:solidFill>
            <a:prstDash val="solid"/>
          </a:ln>
        </p:spPr>
        <p:txBody>
          <a:bodyPr/>
          <a:p/>
        </p:txBody>
      </p:sp>
      <p:sp>
        <p:nvSpPr>
          <p:cNvPr id="10" name="Text 6"/>
          <p:cNvSpPr txBox="1"/>
          <p:nvPr/>
        </p:nvSpPr>
        <p:spPr>
          <a:xfrm>
            <a:off x="9326880" y="1755648"/>
            <a:ext cx="2194560" cy="274320"/>
          </a:xfrm>
          <a:prstGeom prst="rect">
            <a:avLst/>
          </a:prstGeom>
          <a:noFill/>
          <a:ln/>
        </p:spPr>
        <p:txBody>
          <a:bodyPr wrap="square" lIns="0" tIns="0" rIns="0" bIns="0" rtlCol="0" anchor="t"/>
          <a:lstStyle/>
          <a:p>
            <a:pPr marL="0" indent="0">
              <a:buNone/>
            </a:pPr>
            <a:r>
              <a:rPr lang="en-US" sz="1400" b="1" dirty="0">
                <a:solidFill>
                  <a:srgbClr val="1B2140"/>
                </a:solidFill>
                <a:latin typeface="Calibri" pitchFamily="34" charset="0"/>
                <a:ea typeface="Calibri" pitchFamily="34" charset="-122"/>
                <a:cs typeface="Calibri" pitchFamily="34" charset="-120"/>
              </a:rPr>
              <a:t>Cara baca</a:t>
            </a:r>
            <a:endParaRPr lang="en-US" sz="1400" dirty="0"/>
          </a:p>
        </p:txBody>
      </p:sp>
      <p:sp>
        <p:nvSpPr>
          <p:cNvPr id="11" name="Text 7"/>
          <p:cNvSpPr txBox="1"/>
          <p:nvPr/>
        </p:nvSpPr>
        <p:spPr>
          <a:xfrm>
            <a:off x="9326880" y="2121408"/>
            <a:ext cx="2194560" cy="3017520"/>
          </a:xfrm>
          <a:prstGeom prst="rect">
            <a:avLst/>
          </a:prstGeom>
          <a:noFill/>
          <a:ln/>
        </p:spPr>
        <p:txBody>
          <a:bodyPr wrap="square" lIns="0" tIns="0" rIns="0" bIns="0" rtlCol="0" anchor="t"/>
          <a:lstStyle/>
          <a:p>
            <a:pPr marL="177800" indent="-177800">
              <a:spcAft>
                <a:spcPts val="400"/>
              </a:spcAft>
              <a:buSzPct val="100000"/>
              <a:buChar char="•"/>
            </a:pPr>
            <a:r>
              <a:rPr lang="en-US" sz="1100" dirty="0">
                <a:solidFill>
                  <a:srgbClr val="1B2140"/>
                </a:solidFill>
                <a:latin typeface="Calibri" pitchFamily="34" charset="0"/>
                <a:ea typeface="Calibri" pitchFamily="34" charset="-122"/>
                <a:cs typeface="Calibri" pitchFamily="34" charset="-120"/>
              </a:rPr>
              <a:t>Fitur: MW, LogP, HBD, HBA; z-score</a:t>
            </a:r>
            <a:endParaRPr lang="en-US" sz="1100" dirty="0"/>
          </a:p>
          <a:p>
            <a:pPr marL="177800" indent="-177800">
              <a:spcAft>
                <a:spcPts val="400"/>
              </a:spcAft>
              <a:buSzPct val="100000"/>
              <a:buChar char="•"/>
            </a:pPr>
            <a:r>
              <a:rPr lang="en-US" sz="1100" dirty="0">
                <a:solidFill>
                  <a:srgbClr val="1B2140"/>
                </a:solidFill>
                <a:latin typeface="Calibri" pitchFamily="34" charset="0"/>
                <a:ea typeface="Calibri" pitchFamily="34" charset="-122"/>
                <a:cs typeface="Calibri" pitchFamily="34" charset="-120"/>
              </a:rPr>
              <a:t>PCA: PC1 49,6%, PC2 28,9%, PC3 21,2%</a:t>
            </a:r>
            <a:endParaRPr lang="en-US" sz="1100" dirty="0"/>
          </a:p>
          <a:p>
            <a:pPr marL="177800" indent="-177800">
              <a:spcAft>
                <a:spcPts val="400"/>
              </a:spcAft>
              <a:buSzPct val="100000"/>
              <a:buChar char="•"/>
            </a:pPr>
            <a:r>
              <a:rPr lang="en-US" sz="1100" dirty="0">
                <a:solidFill>
                  <a:srgbClr val="1B2140"/>
                </a:solidFill>
                <a:latin typeface="Calibri" pitchFamily="34" charset="0"/>
                <a:ea typeface="Calibri" pitchFamily="34" charset="-122"/>
                <a:cs typeface="Calibri" pitchFamily="34" charset="-120"/>
              </a:rPr>
              <a:t>Elips 95% (χ² 5,991) per kelompok, minimal 3 titik</a:t>
            </a:r>
            <a:endParaRPr lang="en-US" sz="1100" dirty="0"/>
          </a:p>
          <a:p>
            <a:pPr marL="177800" indent="-177800">
              <a:spcAft>
                <a:spcPts val="400"/>
              </a:spcAft>
              <a:buSzPct val="100000"/>
              <a:buChar char="•"/>
            </a:pPr>
            <a:r>
              <a:rPr lang="en-US" sz="1100" dirty="0">
                <a:solidFill>
                  <a:srgbClr val="1B2140"/>
                </a:solidFill>
                <a:latin typeface="Calibri" pitchFamily="34" charset="0"/>
                <a:ea typeface="Calibri" pitchFamily="34" charset="-122"/>
                <a:cs typeface="Calibri" pitchFamily="34" charset="-120"/>
              </a:rPr>
              <a:t>HCA: Ward, jarak Euclid</a:t>
            </a:r>
            <a:endParaRPr lang="en-US" sz="1100" dirty="0"/>
          </a:p>
          <a:p>
            <a:pPr marL="177800" indent="-177800">
              <a:spcAft>
                <a:spcPts val="400"/>
              </a:spcAft>
              <a:buSzPct val="100000"/>
              <a:buChar char="•"/>
            </a:pPr>
            <a:r>
              <a:rPr lang="en-US" sz="1100" dirty="0">
                <a:solidFill>
                  <a:srgbClr val="1B2140"/>
                </a:solidFill>
                <a:latin typeface="Calibri" pitchFamily="34" charset="0"/>
                <a:ea typeface="Calibri" pitchFamily="34" charset="-122"/>
                <a:cs typeface="Calibri" pitchFamily="34" charset="-120"/>
              </a:rPr>
              <a:t>Kedua kelompok sumber bercampur</a:t>
            </a:r>
            <a:endParaRPr lang="en-US" sz="1100" dirty="0"/>
          </a:p>
        </p:txBody>
      </p:sp>
      <p:sp>
        <p:nvSpPr>
          <p:cNvPr id="12" name="Text 8"/>
          <p:cNvSpPr txBox="1"/>
          <p:nvPr/>
        </p:nvSpPr>
        <p:spPr>
          <a:xfrm>
            <a:off x="9326880" y="5212080"/>
            <a:ext cx="2194560" cy="822960"/>
          </a:xfrm>
          <a:prstGeom prst="rect">
            <a:avLst/>
          </a:prstGeom>
          <a:noFill/>
          <a:ln/>
        </p:spPr>
        <p:txBody>
          <a:bodyPr wrap="square" lIns="0" tIns="0" rIns="0" bIns="0" rtlCol="0" anchor="t"/>
          <a:lstStyle/>
          <a:p>
            <a:pPr marL="0" indent="0">
              <a:buNone/>
            </a:pPr>
            <a:r>
              <a:rPr lang="en-US" sz="1050" i="1" dirty="0">
                <a:solidFill>
                  <a:srgbClr val="5B6480"/>
                </a:solidFill>
                <a:latin typeface="Calibri" pitchFamily="34" charset="0"/>
                <a:ea typeface="Calibri" pitchFamily="34" charset="-122"/>
                <a:cs typeface="Calibri" pitchFamily="34" charset="-120"/>
              </a:rPr>
              <a:t>Empat deskriptor tidak memisahkan kelompok sumber.</a:t>
            </a:r>
            <a:endParaRPr lang="en-US" sz="1050" dirty="0"/>
          </a:p>
        </p:txBody>
      </p:sp>
      <p:sp>
        <p:nvSpPr>
          <p:cNvPr id="13" name="Text 9"/>
          <p:cNvSpPr txBox="1"/>
          <p:nvPr/>
        </p:nvSpPr>
        <p:spPr>
          <a:xfrm>
            <a:off x="548640" y="5806440"/>
            <a:ext cx="8412480" cy="457200"/>
          </a:xfrm>
          <a:prstGeom prst="rect">
            <a:avLst/>
          </a:prstGeom>
          <a:noFill/>
          <a:ln/>
        </p:spPr>
        <p:txBody>
          <a:bodyPr wrap="square" lIns="0" tIns="0" rIns="0" bIns="0" rtlCol="0" anchor="t"/>
          <a:lstStyle/>
          <a:p>
            <a:pPr marL="0" indent="0" algn="l">
              <a:buNone/>
            </a:pPr>
            <a:r>
              <a:rPr lang="en-US" sz="1000" dirty="0">
                <a:solidFill>
                  <a:srgbClr val="5B6480"/>
                </a:solidFill>
                <a:latin typeface="Calibri" pitchFamily="34" charset="0"/>
                <a:ea typeface="Calibri" pitchFamily="34" charset="-122"/>
                <a:cs typeface="Calibri" pitchFamily="34" charset="-120"/>
              </a:rPr>
              <a:t>Klaster k = 3: {caffeine, paracetamol, aspirin}, {naproxen, piperine, berberine}, {omeprazole, luteolin, emodin, curcumin}.</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2029968"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C · PIPELINE IN SILICO</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Similaritas interaksi: kemiripan pola kontak dengan ligan native</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26</a:t>
            </a:r>
            <a:endParaRPr lang="en-US" sz="1000" dirty="0"/>
          </a:p>
        </p:txBody>
      </p:sp>
      <p:sp>
        <p:nvSpPr>
          <p:cNvPr id="6" name="Shape 4"/>
          <p:cNvSpPr/>
          <p:nvPr/>
        </p:nvSpPr>
        <p:spPr>
          <a:xfrm>
            <a:off x="548640" y="1691640"/>
            <a:ext cx="5394960" cy="777240"/>
          </a:xfrm>
          <a:prstGeom prst="roundRect">
            <a:avLst>
              <a:gd name="adj" fmla="val 11765"/>
            </a:avLst>
          </a:prstGeom>
          <a:solidFill>
            <a:srgbClr val="E8EDFC"/>
          </a:solidFill>
          <a:ln w="12700">
            <a:solidFill>
              <a:srgbClr val="D7DFFA"/>
            </a:solidFill>
            <a:prstDash val="solid"/>
          </a:ln>
        </p:spPr>
        <p:txBody>
          <a:bodyPr/>
          <a:lstStyle/>
          <a:p>
            <a:endParaRPr/>
          </a:p>
        </p:txBody>
      </p:sp>
      <p:sp>
        <p:nvSpPr>
          <p:cNvPr id="7" name="Shape 5"/>
          <p:cNvSpPr/>
          <p:nvPr/>
        </p:nvSpPr>
        <p:spPr>
          <a:xfrm>
            <a:off x="658368" y="1792224"/>
            <a:ext cx="274320" cy="274320"/>
          </a:xfrm>
          <a:prstGeom prst="ellipse">
            <a:avLst/>
          </a:prstGeom>
          <a:solidFill>
            <a:srgbClr val="3C71E8"/>
          </a:solidFill>
          <a:ln w="12700">
            <a:solidFill>
              <a:srgbClr val="3C71E8"/>
            </a:solidFill>
            <a:prstDash val="solid"/>
          </a:ln>
        </p:spPr>
        <p:txBody>
          <a:bodyPr/>
          <a:lstStyle/>
          <a:p>
            <a:endParaRPr/>
          </a:p>
        </p:txBody>
      </p:sp>
      <p:sp>
        <p:nvSpPr>
          <p:cNvPr id="8" name="Text 6"/>
          <p:cNvSpPr txBox="1"/>
          <p:nvPr/>
        </p:nvSpPr>
        <p:spPr>
          <a:xfrm>
            <a:off x="658368" y="179222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9" name="Text 7"/>
          <p:cNvSpPr txBox="1"/>
          <p:nvPr/>
        </p:nvSpPr>
        <p:spPr>
          <a:xfrm>
            <a:off x="1051560" y="1755648"/>
            <a:ext cx="4800600" cy="292608"/>
          </a:xfrm>
          <a:prstGeom prst="rect">
            <a:avLst/>
          </a:prstGeom>
          <a:noFill/>
          <a:ln/>
        </p:spPr>
        <p:txBody>
          <a:bodyPr wrap="square" lIns="0" tIns="0" rIns="0" bIns="0" rtlCol="0" anchor="ctr"/>
          <a:lstStyle/>
          <a:p>
            <a:pPr marL="0" indent="0">
              <a:buNone/>
            </a:pPr>
            <a:r>
              <a:rPr lang="en-US" sz="1050" b="1" dirty="0">
                <a:solidFill>
                  <a:srgbClr val="1B2140"/>
                </a:solidFill>
                <a:latin typeface="Courier New" pitchFamily="34" charset="0"/>
                <a:ea typeface="Courier New" pitchFamily="34" charset="-122"/>
                <a:cs typeface="Courier New" pitchFamily="34" charset="-120"/>
              </a:rPr>
              <a:t>chemflow run</a:t>
            </a:r>
            <a:endParaRPr lang="en-US" sz="1050" dirty="0"/>
          </a:p>
        </p:txBody>
      </p:sp>
      <p:sp>
        <p:nvSpPr>
          <p:cNvPr id="10" name="Text 8"/>
          <p:cNvSpPr txBox="1"/>
          <p:nvPr/>
        </p:nvSpPr>
        <p:spPr>
          <a:xfrm>
            <a:off x="1051560" y="2057400"/>
            <a:ext cx="4800600" cy="384048"/>
          </a:xfrm>
          <a:prstGeom prst="rect">
            <a:avLst/>
          </a:prstGeom>
          <a:noFill/>
          <a:ln/>
        </p:spPr>
        <p:txBody>
          <a:bodyPr wrap="square" lIns="0" tIns="0" rIns="0" bIns="0" rtlCol="0" anchor="t"/>
          <a:lstStyle/>
          <a:p>
            <a:pPr marL="0" indent="0">
              <a:buNone/>
            </a:pPr>
            <a:r>
              <a:rPr lang="en-US" sz="1050" dirty="0">
                <a:solidFill>
                  <a:srgbClr val="5B6480"/>
                </a:solidFill>
                <a:latin typeface="Calibri" pitchFamily="34" charset="0"/>
                <a:ea typeface="Calibri" pitchFamily="34" charset="-122"/>
                <a:cs typeface="Calibri" pitchFamily="34" charset="-120"/>
              </a:rPr>
              <a:t>menghasilkan kompleks ligan dan NATIVE_*_complex.pdb</a:t>
            </a:r>
            <a:endParaRPr lang="en-US" sz="1050" dirty="0"/>
          </a:p>
        </p:txBody>
      </p:sp>
      <p:sp>
        <p:nvSpPr>
          <p:cNvPr id="11" name="Shape 9"/>
          <p:cNvSpPr/>
          <p:nvPr/>
        </p:nvSpPr>
        <p:spPr>
          <a:xfrm>
            <a:off x="548640" y="2587752"/>
            <a:ext cx="5394960" cy="777240"/>
          </a:xfrm>
          <a:prstGeom prst="roundRect">
            <a:avLst>
              <a:gd name="adj" fmla="val 11765"/>
            </a:avLst>
          </a:prstGeom>
          <a:solidFill>
            <a:srgbClr val="FCF0D6"/>
          </a:solidFill>
          <a:ln w="12700">
            <a:solidFill>
              <a:srgbClr val="E69F00"/>
            </a:solidFill>
            <a:prstDash val="solid"/>
          </a:ln>
        </p:spPr>
        <p:txBody>
          <a:bodyPr/>
          <a:lstStyle/>
          <a:p>
            <a:endParaRPr/>
          </a:p>
        </p:txBody>
      </p:sp>
      <p:sp>
        <p:nvSpPr>
          <p:cNvPr id="12" name="Shape 10"/>
          <p:cNvSpPr/>
          <p:nvPr/>
        </p:nvSpPr>
        <p:spPr>
          <a:xfrm>
            <a:off x="658368" y="2688336"/>
            <a:ext cx="274320" cy="274320"/>
          </a:xfrm>
          <a:prstGeom prst="ellipse">
            <a:avLst/>
          </a:prstGeom>
          <a:solidFill>
            <a:srgbClr val="3C71E8"/>
          </a:solidFill>
          <a:ln w="12700">
            <a:solidFill>
              <a:srgbClr val="3C71E8"/>
            </a:solidFill>
            <a:prstDash val="solid"/>
          </a:ln>
        </p:spPr>
        <p:txBody>
          <a:bodyPr/>
          <a:lstStyle/>
          <a:p>
            <a:endParaRPr/>
          </a:p>
        </p:txBody>
      </p:sp>
      <p:sp>
        <p:nvSpPr>
          <p:cNvPr id="13" name="Text 11"/>
          <p:cNvSpPr txBox="1"/>
          <p:nvPr/>
        </p:nvSpPr>
        <p:spPr>
          <a:xfrm>
            <a:off x="658368" y="268833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4" name="Text 12"/>
          <p:cNvSpPr txBox="1"/>
          <p:nvPr/>
        </p:nvSpPr>
        <p:spPr>
          <a:xfrm>
            <a:off x="1051560" y="2651760"/>
            <a:ext cx="4800600" cy="292608"/>
          </a:xfrm>
          <a:prstGeom prst="rect">
            <a:avLst/>
          </a:prstGeom>
          <a:noFill/>
          <a:ln/>
        </p:spPr>
        <p:txBody>
          <a:bodyPr wrap="square" lIns="0" tIns="0" rIns="0" bIns="0" rtlCol="0" anchor="ctr"/>
          <a:lstStyle/>
          <a:p>
            <a:pPr marL="0" indent="0">
              <a:buNone/>
            </a:pPr>
            <a:r>
              <a:rPr lang="en-US" sz="1050" b="1" dirty="0">
                <a:solidFill>
                  <a:srgbClr val="1B2140"/>
                </a:solidFill>
                <a:latin typeface="Courier New" pitchFamily="34" charset="0"/>
                <a:ea typeface="Courier New" pitchFamily="34" charset="-122"/>
                <a:cs typeface="Courier New" pitchFamily="34" charset="-120"/>
              </a:rPr>
              <a:t>Otomatis lewat BIOVIA (Windows)</a:t>
            </a:r>
            <a:endParaRPr lang="en-US" sz="1050" dirty="0"/>
          </a:p>
        </p:txBody>
      </p:sp>
      <p:sp>
        <p:nvSpPr>
          <p:cNvPr id="15" name="Text 13"/>
          <p:cNvSpPr txBox="1"/>
          <p:nvPr/>
        </p:nvSpPr>
        <p:spPr>
          <a:xfrm>
            <a:off x="1051560" y="2953512"/>
            <a:ext cx="4800600" cy="384048"/>
          </a:xfrm>
          <a:prstGeom prst="rect">
            <a:avLst/>
          </a:prstGeom>
          <a:noFill/>
          <a:ln/>
        </p:spPr>
        <p:txBody>
          <a:bodyPr wrap="square" lIns="0" tIns="0" rIns="0" bIns="0" rtlCol="0" anchor="t"/>
          <a:lstStyle/>
          <a:p>
            <a:pPr marL="0" indent="0">
              <a:buNone/>
            </a:pPr>
            <a:r>
              <a:rPr lang="en-US" sz="1050" dirty="0">
                <a:solidFill>
                  <a:srgbClr val="5B6480"/>
                </a:solidFill>
                <a:latin typeface="Calibri" pitchFamily="34" charset="0"/>
                <a:ea typeface="Calibri" pitchFamily="34" charset="-122"/>
                <a:cs typeface="Calibri" pitchFamily="34" charset="-120"/>
              </a:rPr>
              <a:t>Windows: tiap kompleks dibuka di GUI BIOVIA dengan input terkunci, diagram 2D dan tabel Non-bond diekspor sendiri; ekspor manual tetap bisa</a:t>
            </a:r>
            <a:endParaRPr lang="en-US" sz="1050" dirty="0"/>
          </a:p>
        </p:txBody>
      </p:sp>
      <p:sp>
        <p:nvSpPr>
          <p:cNvPr id="16" name="Shape 14"/>
          <p:cNvSpPr/>
          <p:nvPr/>
        </p:nvSpPr>
        <p:spPr>
          <a:xfrm>
            <a:off x="548640" y="3483864"/>
            <a:ext cx="5394960" cy="777240"/>
          </a:xfrm>
          <a:prstGeom prst="roundRect">
            <a:avLst>
              <a:gd name="adj" fmla="val 11765"/>
            </a:avLst>
          </a:prstGeom>
          <a:solidFill>
            <a:srgbClr val="E8EDFC"/>
          </a:solidFill>
          <a:ln w="12700">
            <a:solidFill>
              <a:srgbClr val="D7DFFA"/>
            </a:solidFill>
            <a:prstDash val="solid"/>
          </a:ln>
        </p:spPr>
        <p:txBody>
          <a:bodyPr/>
          <a:lstStyle/>
          <a:p>
            <a:endParaRPr/>
          </a:p>
        </p:txBody>
      </p:sp>
      <p:sp>
        <p:nvSpPr>
          <p:cNvPr id="17" name="Shape 15"/>
          <p:cNvSpPr/>
          <p:nvPr/>
        </p:nvSpPr>
        <p:spPr>
          <a:xfrm>
            <a:off x="658368" y="3584448"/>
            <a:ext cx="274320" cy="274320"/>
          </a:xfrm>
          <a:prstGeom prst="ellipse">
            <a:avLst/>
          </a:prstGeom>
          <a:solidFill>
            <a:srgbClr val="3C71E8"/>
          </a:solidFill>
          <a:ln w="12700">
            <a:solidFill>
              <a:srgbClr val="3C71E8"/>
            </a:solidFill>
            <a:prstDash val="solid"/>
          </a:ln>
        </p:spPr>
        <p:txBody>
          <a:bodyPr/>
          <a:lstStyle/>
          <a:p>
            <a:endParaRPr/>
          </a:p>
        </p:txBody>
      </p:sp>
      <p:sp>
        <p:nvSpPr>
          <p:cNvPr id="18" name="Text 16"/>
          <p:cNvSpPr txBox="1"/>
          <p:nvPr/>
        </p:nvSpPr>
        <p:spPr>
          <a:xfrm>
            <a:off x="658368" y="3584448"/>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9" name="Text 17"/>
          <p:cNvSpPr txBox="1"/>
          <p:nvPr/>
        </p:nvSpPr>
        <p:spPr>
          <a:xfrm>
            <a:off x="1051560" y="3547872"/>
            <a:ext cx="4800600" cy="292608"/>
          </a:xfrm>
          <a:prstGeom prst="rect">
            <a:avLst/>
          </a:prstGeom>
          <a:noFill/>
          <a:ln/>
        </p:spPr>
        <p:txBody>
          <a:bodyPr wrap="square" lIns="0" tIns="0" rIns="0" bIns="0" rtlCol="0" anchor="ctr"/>
          <a:lstStyle/>
          <a:p>
            <a:pPr marL="0" indent="0">
              <a:buNone/>
            </a:pPr>
            <a:r>
              <a:rPr lang="en-US" sz="1050" b="1" dirty="0">
                <a:solidFill>
                  <a:srgbClr val="1B2140"/>
                </a:solidFill>
                <a:latin typeface="Courier New" pitchFamily="34" charset="0"/>
                <a:ea typeface="Courier New" pitchFamily="34" charset="-122"/>
                <a:cs typeface="Courier New" pitchFamily="34" charset="-120"/>
              </a:rPr>
              <a:t>Simpan berkas interaksi</a:t>
            </a:r>
            <a:endParaRPr lang="en-US" sz="1050" dirty="0"/>
          </a:p>
        </p:txBody>
      </p:sp>
      <p:sp>
        <p:nvSpPr>
          <p:cNvPr id="20" name="Text 18"/>
          <p:cNvSpPr txBox="1"/>
          <p:nvPr/>
        </p:nvSpPr>
        <p:spPr>
          <a:xfrm>
            <a:off x="1051560" y="3849624"/>
            <a:ext cx="4800600" cy="384048"/>
          </a:xfrm>
          <a:prstGeom prst="rect">
            <a:avLst/>
          </a:prstGeom>
          <a:noFill/>
          <a:ln/>
        </p:spPr>
        <p:txBody>
          <a:bodyPr wrap="square" lIns="0" tIns="0" rIns="0" bIns="0" rtlCol="0" anchor="t"/>
          <a:lstStyle/>
          <a:p>
            <a:pPr marL="0" indent="0">
              <a:buNone/>
            </a:pPr>
            <a:r>
              <a:rPr lang="en-US" sz="1050" dirty="0">
                <a:solidFill>
                  <a:srgbClr val="5B6480"/>
                </a:solidFill>
                <a:latin typeface="Calibri" pitchFamily="34" charset="0"/>
                <a:ea typeface="Calibri" pitchFamily="34" charset="-122"/>
                <a:cs typeface="Calibri" pitchFamily="34" charset="-120"/>
              </a:rPr>
              <a:t>interaksi/&lt;PDB&gt;_R001/&lt;nama&gt;_complex_interaksi.xlsx dan .png</a:t>
            </a:r>
            <a:endParaRPr lang="en-US" sz="1050" dirty="0"/>
          </a:p>
        </p:txBody>
      </p:sp>
      <p:sp>
        <p:nvSpPr>
          <p:cNvPr id="21" name="Shape 19"/>
          <p:cNvSpPr/>
          <p:nvPr/>
        </p:nvSpPr>
        <p:spPr>
          <a:xfrm>
            <a:off x="548640" y="4379976"/>
            <a:ext cx="5394960" cy="777240"/>
          </a:xfrm>
          <a:prstGeom prst="roundRect">
            <a:avLst>
              <a:gd name="adj" fmla="val 11765"/>
            </a:avLst>
          </a:prstGeom>
          <a:solidFill>
            <a:srgbClr val="E8EDFC"/>
          </a:solidFill>
          <a:ln w="12700">
            <a:solidFill>
              <a:srgbClr val="D7DFFA"/>
            </a:solidFill>
            <a:prstDash val="solid"/>
          </a:ln>
        </p:spPr>
        <p:txBody>
          <a:bodyPr/>
          <a:lstStyle/>
          <a:p>
            <a:endParaRPr/>
          </a:p>
        </p:txBody>
      </p:sp>
      <p:sp>
        <p:nvSpPr>
          <p:cNvPr id="22" name="Shape 20"/>
          <p:cNvSpPr/>
          <p:nvPr/>
        </p:nvSpPr>
        <p:spPr>
          <a:xfrm>
            <a:off x="658368" y="4480560"/>
            <a:ext cx="274320" cy="274320"/>
          </a:xfrm>
          <a:prstGeom prst="ellipse">
            <a:avLst/>
          </a:prstGeom>
          <a:solidFill>
            <a:srgbClr val="3C71E8"/>
          </a:solidFill>
          <a:ln w="12700">
            <a:solidFill>
              <a:srgbClr val="3C71E8"/>
            </a:solidFill>
            <a:prstDash val="solid"/>
          </a:ln>
        </p:spPr>
        <p:txBody>
          <a:bodyPr/>
          <a:lstStyle/>
          <a:p>
            <a:endParaRPr/>
          </a:p>
        </p:txBody>
      </p:sp>
      <p:sp>
        <p:nvSpPr>
          <p:cNvPr id="23" name="Text 21"/>
          <p:cNvSpPr txBox="1"/>
          <p:nvPr/>
        </p:nvSpPr>
        <p:spPr>
          <a:xfrm>
            <a:off x="658368" y="4480560"/>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4" name="Text 22"/>
          <p:cNvSpPr txBox="1"/>
          <p:nvPr/>
        </p:nvSpPr>
        <p:spPr>
          <a:xfrm>
            <a:off x="1051560" y="4443984"/>
            <a:ext cx="4800600" cy="292608"/>
          </a:xfrm>
          <a:prstGeom prst="rect">
            <a:avLst/>
          </a:prstGeom>
          <a:noFill/>
          <a:ln/>
        </p:spPr>
        <p:txBody>
          <a:bodyPr wrap="square" lIns="0" tIns="0" rIns="0" bIns="0" rtlCol="0" anchor="ctr"/>
          <a:lstStyle/>
          <a:p>
            <a:pPr marL="0" indent="0">
              <a:buNone/>
            </a:pPr>
            <a:r>
              <a:rPr lang="en-US" sz="1050" b="1" dirty="0">
                <a:solidFill>
                  <a:srgbClr val="1B2140"/>
                </a:solidFill>
                <a:latin typeface="Courier New" pitchFamily="34" charset="0"/>
                <a:ea typeface="Courier New" pitchFamily="34" charset="-122"/>
                <a:cs typeface="Courier New" pitchFamily="34" charset="-120"/>
              </a:rPr>
              <a:t>chemflow similarity --output hasil/</a:t>
            </a:r>
            <a:endParaRPr lang="en-US" sz="1050" dirty="0"/>
          </a:p>
        </p:txBody>
      </p:sp>
      <p:sp>
        <p:nvSpPr>
          <p:cNvPr id="25" name="Text 23"/>
          <p:cNvSpPr txBox="1"/>
          <p:nvPr/>
        </p:nvSpPr>
        <p:spPr>
          <a:xfrm>
            <a:off x="1051560" y="4745736"/>
            <a:ext cx="4800600" cy="384048"/>
          </a:xfrm>
          <a:prstGeom prst="rect">
            <a:avLst/>
          </a:prstGeom>
          <a:noFill/>
          <a:ln/>
        </p:spPr>
        <p:txBody>
          <a:bodyPr wrap="square" lIns="0" tIns="0" rIns="0" bIns="0" rtlCol="0" anchor="t"/>
          <a:lstStyle/>
          <a:p>
            <a:pPr marL="0" indent="0">
              <a:buNone/>
            </a:pPr>
            <a:r>
              <a:rPr lang="en-US" sz="1050" dirty="0">
                <a:solidFill>
                  <a:srgbClr val="5B6480"/>
                </a:solidFill>
                <a:latin typeface="Calibri" pitchFamily="34" charset="0"/>
                <a:ea typeface="Calibri" pitchFamily="34" charset="-122"/>
                <a:cs typeface="Calibri" pitchFamily="34" charset="-120"/>
              </a:rPr>
              <a:t>membaca interaksi protein-ligan; ligan uji vs native</a:t>
            </a:r>
            <a:endParaRPr lang="en-US" sz="1050" dirty="0"/>
          </a:p>
        </p:txBody>
      </p:sp>
      <p:sp>
        <p:nvSpPr>
          <p:cNvPr id="26" name="Shape 24"/>
          <p:cNvSpPr/>
          <p:nvPr/>
        </p:nvSpPr>
        <p:spPr>
          <a:xfrm>
            <a:off x="548640" y="5276088"/>
            <a:ext cx="5394960" cy="777240"/>
          </a:xfrm>
          <a:prstGeom prst="roundRect">
            <a:avLst>
              <a:gd name="adj" fmla="val 11765"/>
            </a:avLst>
          </a:prstGeom>
          <a:solidFill>
            <a:srgbClr val="E8EDFC"/>
          </a:solidFill>
          <a:ln w="12700">
            <a:solidFill>
              <a:srgbClr val="D7DFFA"/>
            </a:solidFill>
            <a:prstDash val="solid"/>
          </a:ln>
        </p:spPr>
        <p:txBody>
          <a:bodyPr/>
          <a:lstStyle/>
          <a:p>
            <a:endParaRPr/>
          </a:p>
        </p:txBody>
      </p:sp>
      <p:sp>
        <p:nvSpPr>
          <p:cNvPr id="27" name="Shape 25"/>
          <p:cNvSpPr/>
          <p:nvPr/>
        </p:nvSpPr>
        <p:spPr>
          <a:xfrm>
            <a:off x="658368" y="5376672"/>
            <a:ext cx="274320" cy="274320"/>
          </a:xfrm>
          <a:prstGeom prst="ellipse">
            <a:avLst/>
          </a:prstGeom>
          <a:solidFill>
            <a:srgbClr val="3C71E8"/>
          </a:solidFill>
          <a:ln w="12700">
            <a:solidFill>
              <a:srgbClr val="3C71E8"/>
            </a:solidFill>
            <a:prstDash val="solid"/>
          </a:ln>
        </p:spPr>
        <p:txBody>
          <a:bodyPr/>
          <a:lstStyle/>
          <a:p>
            <a:endParaRPr/>
          </a:p>
        </p:txBody>
      </p:sp>
      <p:sp>
        <p:nvSpPr>
          <p:cNvPr id="28" name="Text 26"/>
          <p:cNvSpPr txBox="1"/>
          <p:nvPr/>
        </p:nvSpPr>
        <p:spPr>
          <a:xfrm>
            <a:off x="658368" y="5376672"/>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9" name="Text 27"/>
          <p:cNvSpPr txBox="1"/>
          <p:nvPr/>
        </p:nvSpPr>
        <p:spPr>
          <a:xfrm>
            <a:off x="1051560" y="5340096"/>
            <a:ext cx="4800600" cy="292608"/>
          </a:xfrm>
          <a:prstGeom prst="rect">
            <a:avLst/>
          </a:prstGeom>
          <a:noFill/>
          <a:ln/>
        </p:spPr>
        <p:txBody>
          <a:bodyPr wrap="square" lIns="0" tIns="0" rIns="0" bIns="0" rtlCol="0" anchor="ctr"/>
          <a:lstStyle/>
          <a:p>
            <a:pPr marL="0" indent="0">
              <a:buNone/>
            </a:pPr>
            <a:r>
              <a:rPr lang="en-US" sz="1050" b="1" dirty="0">
                <a:solidFill>
                  <a:srgbClr val="1B2140"/>
                </a:solidFill>
                <a:latin typeface="Courier New" pitchFamily="34" charset="0"/>
                <a:ea typeface="Courier New" pitchFamily="34" charset="-122"/>
                <a:cs typeface="Courier New" pitchFamily="34" charset="-120"/>
              </a:rPr>
              <a:t>Keluaran</a:t>
            </a:r>
            <a:endParaRPr lang="en-US" sz="1050" dirty="0"/>
          </a:p>
        </p:txBody>
      </p:sp>
      <p:sp>
        <p:nvSpPr>
          <p:cNvPr id="30" name="Text 28"/>
          <p:cNvSpPr txBox="1"/>
          <p:nvPr/>
        </p:nvSpPr>
        <p:spPr>
          <a:xfrm>
            <a:off x="1051560" y="5641848"/>
            <a:ext cx="4800600" cy="384048"/>
          </a:xfrm>
          <a:prstGeom prst="rect">
            <a:avLst/>
          </a:prstGeom>
          <a:noFill/>
          <a:ln/>
        </p:spPr>
        <p:txBody>
          <a:bodyPr wrap="square" lIns="0" tIns="0" rIns="0" bIns="0" rtlCol="0" anchor="t"/>
          <a:lstStyle/>
          <a:p>
            <a:pPr marL="0" indent="0">
              <a:buNone/>
            </a:pPr>
            <a:r>
              <a:rPr lang="en-US" sz="1050" dirty="0">
                <a:solidFill>
                  <a:srgbClr val="5B6480"/>
                </a:solidFill>
                <a:latin typeface="Calibri" pitchFamily="34" charset="0"/>
                <a:ea typeface="Calibri" pitchFamily="34" charset="-122"/>
                <a:cs typeface="Calibri" pitchFamily="34" charset="-120"/>
              </a:rPr>
              <a:t>similaritas_interaksi.xlsx, similaritas_bar.png, similaritas_vs_deltag.png, similaritas_jejak_&lt;reseptor&gt;.png</a:t>
            </a:r>
            <a:endParaRPr lang="en-US" sz="1050" dirty="0"/>
          </a:p>
        </p:txBody>
      </p:sp>
      <p:sp>
        <p:nvSpPr>
          <p:cNvPr id="31" name="Shape 29"/>
          <p:cNvSpPr/>
          <p:nvPr/>
        </p:nvSpPr>
        <p:spPr>
          <a:xfrm>
            <a:off x="6172200" y="1691640"/>
            <a:ext cx="5468112" cy="1508760"/>
          </a:xfrm>
          <a:prstGeom prst="roundRect">
            <a:avLst>
              <a:gd name="adj" fmla="val 7273"/>
            </a:avLst>
          </a:prstGeom>
          <a:solidFill>
            <a:srgbClr val="EDE7FC"/>
          </a:solidFill>
          <a:ln w="9525">
            <a:solidFill>
              <a:srgbClr val="EDE7FC"/>
            </a:solidFill>
            <a:prstDash val="solid"/>
          </a:ln>
        </p:spPr>
        <p:txBody>
          <a:bodyPr/>
          <a:lstStyle/>
          <a:p>
            <a:endParaRPr/>
          </a:p>
        </p:txBody>
      </p:sp>
      <p:sp>
        <p:nvSpPr>
          <p:cNvPr id="32" name="Text 30"/>
          <p:cNvSpPr txBox="1"/>
          <p:nvPr/>
        </p:nvSpPr>
        <p:spPr>
          <a:xfrm>
            <a:off x="6355080" y="1783080"/>
            <a:ext cx="5120640" cy="365760"/>
          </a:xfrm>
          <a:prstGeom prst="rect">
            <a:avLst/>
          </a:prstGeom>
          <a:noFill/>
          <a:ln/>
        </p:spPr>
        <p:txBody>
          <a:bodyPr wrap="square" lIns="0" tIns="0" rIns="0" bIns="0" rtlCol="0" anchor="t"/>
          <a:lstStyle/>
          <a:p>
            <a:pPr marL="0" indent="0">
              <a:buNone/>
            </a:pPr>
            <a:r>
              <a:rPr lang="en-US" sz="1050" b="1" dirty="0">
                <a:solidFill>
                  <a:srgbClr val="3C71E8"/>
                </a:solidFill>
                <a:latin typeface="Courier New" pitchFamily="34" charset="0"/>
                <a:ea typeface="Courier New" pitchFamily="34" charset="-122"/>
                <a:cs typeface="Courier New" pitchFamily="34" charset="-120"/>
              </a:rPr>
              <a:t>%sim = (0,5·nAAuji/nAAref + 0,5·intAAuji/intAAref) × 100</a:t>
            </a:r>
            <a:endParaRPr lang="en-US" sz="1050" dirty="0"/>
          </a:p>
        </p:txBody>
      </p:sp>
      <p:sp>
        <p:nvSpPr>
          <p:cNvPr id="33" name="Text 31"/>
          <p:cNvSpPr txBox="1"/>
          <p:nvPr/>
        </p:nvSpPr>
        <p:spPr>
          <a:xfrm>
            <a:off x="6355080" y="2194560"/>
            <a:ext cx="5120640" cy="1051560"/>
          </a:xfrm>
          <a:prstGeom prst="rect">
            <a:avLst/>
          </a:prstGeom>
          <a:noFill/>
          <a:ln/>
        </p:spPr>
        <p:txBody>
          <a:bodyPr wrap="square" lIns="0" tIns="0" rIns="0" bIns="0" rtlCol="0" anchor="t"/>
          <a:lstStyle/>
          <a:p>
            <a:pPr marL="0" indent="0">
              <a:buNone/>
            </a:pPr>
            <a:r>
              <a:rPr lang="en-US" sz="1100" dirty="0">
                <a:solidFill>
                  <a:srgbClr val="1B2140"/>
                </a:solidFill>
                <a:latin typeface="Calibri" pitchFamily="34" charset="0"/>
                <a:ea typeface="Calibri" pitchFamily="34" charset="-122"/>
                <a:cs typeface="Calibri" pitchFamily="34" charset="-120"/>
              </a:rPr>
              <a:t>nAA: residu yang berinteraksi dengan ligan uji dan ligan referensi. intAA: pasangan (residu, tipe interaksi) yang sama. ΔG = skor uji − skor referensi; negatif berarti lebih kuat dari native.</a:t>
            </a:r>
            <a:endParaRPr lang="en-US" sz="1100" dirty="0"/>
          </a:p>
        </p:txBody>
      </p:sp>
      <p:sp>
        <p:nvSpPr>
          <p:cNvPr id="34" name="Shape 32"/>
          <p:cNvSpPr/>
          <p:nvPr/>
        </p:nvSpPr>
        <p:spPr>
          <a:xfrm>
            <a:off x="6446520" y="3520440"/>
            <a:ext cx="1325880" cy="1051560"/>
          </a:xfrm>
          <a:prstGeom prst="rect">
            <a:avLst/>
          </a:prstGeom>
          <a:solidFill>
            <a:srgbClr val="DDF3EB"/>
          </a:solidFill>
          <a:ln w="12700">
            <a:solidFill>
              <a:srgbClr val="DDF3EB"/>
            </a:solidFill>
            <a:prstDash val="solid"/>
          </a:ln>
        </p:spPr>
        <p:txBody>
          <a:bodyPr/>
          <a:lstStyle/>
          <a:p>
            <a:endParaRPr/>
          </a:p>
        </p:txBody>
      </p:sp>
      <p:sp>
        <p:nvSpPr>
          <p:cNvPr id="35" name="Shape 33"/>
          <p:cNvSpPr/>
          <p:nvPr/>
        </p:nvSpPr>
        <p:spPr>
          <a:xfrm>
            <a:off x="6446520" y="5623560"/>
            <a:ext cx="2651760" cy="0"/>
          </a:xfrm>
          <a:prstGeom prst="line">
            <a:avLst/>
          </a:prstGeom>
          <a:noFill/>
          <a:ln w="15875">
            <a:solidFill>
              <a:srgbClr val="1B2140"/>
            </a:solidFill>
            <a:prstDash val="solid"/>
            <a:tailEnd type="triangle"/>
          </a:ln>
        </p:spPr>
        <p:txBody>
          <a:bodyPr/>
          <a:lstStyle/>
          <a:p>
            <a:endParaRPr/>
          </a:p>
        </p:txBody>
      </p:sp>
      <p:sp>
        <p:nvSpPr>
          <p:cNvPr id="36" name="Shape 34"/>
          <p:cNvSpPr/>
          <p:nvPr/>
        </p:nvSpPr>
        <p:spPr>
          <a:xfrm flipV="1">
            <a:off x="6446520" y="3520440"/>
            <a:ext cx="0" cy="2103120"/>
          </a:xfrm>
          <a:prstGeom prst="line">
            <a:avLst/>
          </a:prstGeom>
          <a:noFill/>
          <a:ln w="15875">
            <a:solidFill>
              <a:srgbClr val="1B2140"/>
            </a:solidFill>
            <a:prstDash val="solid"/>
            <a:headEnd type="triangle"/>
          </a:ln>
        </p:spPr>
        <p:txBody>
          <a:bodyPr/>
          <a:lstStyle/>
          <a:p>
            <a:endParaRPr/>
          </a:p>
        </p:txBody>
      </p:sp>
      <p:sp>
        <p:nvSpPr>
          <p:cNvPr id="37" name="Shape 35"/>
          <p:cNvSpPr/>
          <p:nvPr/>
        </p:nvSpPr>
        <p:spPr>
          <a:xfrm>
            <a:off x="7772400" y="3520440"/>
            <a:ext cx="0" cy="2103120"/>
          </a:xfrm>
          <a:prstGeom prst="line">
            <a:avLst/>
          </a:prstGeom>
          <a:noFill/>
          <a:ln w="9525">
            <a:solidFill>
              <a:srgbClr val="5B6480"/>
            </a:solidFill>
            <a:prstDash val="dash"/>
          </a:ln>
        </p:spPr>
        <p:txBody>
          <a:bodyPr/>
          <a:lstStyle/>
          <a:p>
            <a:endParaRPr/>
          </a:p>
        </p:txBody>
      </p:sp>
      <p:sp>
        <p:nvSpPr>
          <p:cNvPr id="38" name="Text 36"/>
          <p:cNvSpPr txBox="1"/>
          <p:nvPr/>
        </p:nvSpPr>
        <p:spPr>
          <a:xfrm>
            <a:off x="6492240" y="3593592"/>
            <a:ext cx="1280160" cy="822960"/>
          </a:xfrm>
          <a:prstGeom prst="rect">
            <a:avLst/>
          </a:prstGeom>
          <a:noFill/>
          <a:ln/>
        </p:spPr>
        <p:txBody>
          <a:bodyPr wrap="square" lIns="0" tIns="0" rIns="0" bIns="0" rtlCol="0" anchor="t"/>
          <a:lstStyle/>
          <a:p>
            <a:pPr marL="0" indent="0">
              <a:buNone/>
            </a:pPr>
            <a:r>
              <a:rPr lang="en-US" sz="1000" b="1" dirty="0">
                <a:solidFill>
                  <a:srgbClr val="009E73"/>
                </a:solidFill>
                <a:latin typeface="Calibri" pitchFamily="34" charset="0"/>
                <a:ea typeface="Calibri" pitchFamily="34" charset="-122"/>
                <a:cs typeface="Calibri" pitchFamily="34" charset="-120"/>
              </a:rPr>
              <a:t>terbaik: lebih kuat dan lebih mirip</a:t>
            </a:r>
            <a:endParaRPr lang="en-US" sz="1000" dirty="0"/>
          </a:p>
        </p:txBody>
      </p:sp>
      <p:sp>
        <p:nvSpPr>
          <p:cNvPr id="39" name="Text 37"/>
          <p:cNvSpPr txBox="1"/>
          <p:nvPr/>
        </p:nvSpPr>
        <p:spPr>
          <a:xfrm>
            <a:off x="6446520" y="5669280"/>
            <a:ext cx="2651760" cy="256032"/>
          </a:xfrm>
          <a:prstGeom prst="rect">
            <a:avLst/>
          </a:prstGeom>
          <a:noFill/>
          <a:ln/>
        </p:spPr>
        <p:txBody>
          <a:bodyPr wrap="square" lIns="0" tIns="0" rIns="0" bIns="0" rtlCol="0" anchor="t"/>
          <a:lstStyle/>
          <a:p>
            <a:pPr marL="0" indent="0" algn="ctr">
              <a:buNone/>
            </a:pPr>
            <a:r>
              <a:rPr lang="en-US" sz="1000" dirty="0">
                <a:solidFill>
                  <a:srgbClr val="5B6480"/>
                </a:solidFill>
                <a:latin typeface="Calibri" pitchFamily="34" charset="0"/>
                <a:ea typeface="Calibri" pitchFamily="34" charset="-122"/>
                <a:cs typeface="Calibri" pitchFamily="34" charset="-120"/>
              </a:rPr>
              <a:t>ΔG (uji − native)</a:t>
            </a:r>
            <a:endParaRPr lang="en-US" sz="1000" dirty="0"/>
          </a:p>
        </p:txBody>
      </p:sp>
      <p:sp>
        <p:nvSpPr>
          <p:cNvPr id="40" name="Text 38"/>
          <p:cNvSpPr txBox="1"/>
          <p:nvPr/>
        </p:nvSpPr>
        <p:spPr>
          <a:xfrm rot="16200000">
            <a:off x="5120640" y="4434840"/>
            <a:ext cx="2103120" cy="274320"/>
          </a:xfrm>
          <a:prstGeom prst="rect">
            <a:avLst/>
          </a:prstGeom>
          <a:noFill/>
          <a:ln/>
        </p:spPr>
        <p:txBody>
          <a:bodyPr wrap="square" lIns="0" tIns="0" rIns="0" bIns="0" rtlCol="0" anchor="ctr"/>
          <a:lstStyle/>
          <a:p>
            <a:pPr marL="0" indent="0" algn="ctr">
              <a:buNone/>
            </a:pPr>
            <a:r>
              <a:rPr lang="en-US" sz="950" dirty="0">
                <a:solidFill>
                  <a:srgbClr val="5B6480"/>
                </a:solidFill>
                <a:latin typeface="Calibri" pitchFamily="34" charset="0"/>
                <a:ea typeface="Calibri" pitchFamily="34" charset="-122"/>
                <a:cs typeface="Calibri" pitchFamily="34" charset="-120"/>
              </a:rPr>
              <a:t>similaritas (%)</a:t>
            </a:r>
            <a:endParaRPr lang="en-US" sz="950" dirty="0"/>
          </a:p>
        </p:txBody>
      </p:sp>
      <p:sp>
        <p:nvSpPr>
          <p:cNvPr id="41" name="Text 39"/>
          <p:cNvSpPr txBox="1"/>
          <p:nvPr/>
        </p:nvSpPr>
        <p:spPr>
          <a:xfrm>
            <a:off x="9372600" y="3520440"/>
            <a:ext cx="2286000" cy="2194560"/>
          </a:xfrm>
          <a:prstGeom prst="rect">
            <a:avLst/>
          </a:prstGeom>
          <a:noFill/>
          <a:ln/>
        </p:spPr>
        <p:txBody>
          <a:bodyPr wrap="square" lIns="0" tIns="0" rIns="0" bIns="0" rtlCol="0" anchor="t"/>
          <a:lstStyle/>
          <a:p>
            <a:pPr marL="177800" indent="-177800">
              <a:spcAft>
                <a:spcPts val="400"/>
              </a:spcAft>
              <a:buSzPct val="100000"/>
              <a:buChar char="•"/>
            </a:pPr>
            <a:r>
              <a:rPr lang="en-US" sz="1050" dirty="0">
                <a:solidFill>
                  <a:srgbClr val="1B2140"/>
                </a:solidFill>
                <a:latin typeface="Calibri" pitchFamily="34" charset="0"/>
                <a:ea typeface="Calibri" pitchFamily="34" charset="-122"/>
                <a:cs typeface="Calibri" pitchFamily="34" charset="-120"/>
              </a:rPr>
              <a:t>Asimetris: mengukur cakupan kontak native, bukan Jaccard</a:t>
            </a:r>
            <a:endParaRPr lang="en-US" sz="1050" dirty="0"/>
          </a:p>
          <a:p>
            <a:pPr marL="177800" indent="-177800">
              <a:spcAft>
                <a:spcPts val="400"/>
              </a:spcAft>
              <a:buSzPct val="100000"/>
              <a:buChar char="•"/>
            </a:pPr>
            <a:r>
              <a:rPr lang="en-US" sz="1050" dirty="0">
                <a:solidFill>
                  <a:srgbClr val="1B2140"/>
                </a:solidFill>
                <a:latin typeface="Calibri" pitchFamily="34" charset="0"/>
                <a:ea typeface="Calibri" pitchFamily="34" charset="-122"/>
                <a:cs typeface="Calibri" pitchFamily="34" charset="-120"/>
              </a:rPr>
              <a:t>Kunci residu tanpa chain, jadi rantai kembar bisa menyatu</a:t>
            </a:r>
            <a:endParaRPr lang="en-US" sz="1050" dirty="0"/>
          </a:p>
          <a:p>
            <a:pPr marL="177800" indent="-177800">
              <a:spcAft>
                <a:spcPts val="400"/>
              </a:spcAft>
              <a:buSzPct val="100000"/>
              <a:buChar char="•"/>
            </a:pPr>
            <a:r>
              <a:rPr lang="en-US" sz="1050" dirty="0">
                <a:solidFill>
                  <a:srgbClr val="1B2140"/>
                </a:solidFill>
                <a:latin typeface="Calibri" pitchFamily="34" charset="0"/>
                <a:ea typeface="Calibri" pitchFamily="34" charset="-122"/>
                <a:cs typeface="Calibri" pitchFamily="34" charset="-120"/>
              </a:rPr>
              <a:t>ΔG referensi: terbaik-dari-n replikat native, seperti ligan uji</a:t>
            </a:r>
            <a:endParaRPr lang="en-US" sz="1050" dirty="0"/>
          </a:p>
        </p:txBody>
      </p:sp>
      <p:sp>
        <p:nvSpPr>
          <p:cNvPr id="42" name="Text 40"/>
          <p:cNvSpPr txBox="1"/>
          <p:nvPr/>
        </p:nvSpPr>
        <p:spPr>
          <a:xfrm>
            <a:off x="6172200" y="5852160"/>
            <a:ext cx="5468112" cy="365760"/>
          </a:xfrm>
          <a:prstGeom prst="rect">
            <a:avLst/>
          </a:prstGeom>
          <a:noFill/>
          <a:ln/>
        </p:spPr>
        <p:txBody>
          <a:bodyPr wrap="square" lIns="0" tIns="0" rIns="0" bIns="0" rtlCol="0" anchor="t"/>
          <a:lstStyle/>
          <a:p>
            <a:pPr marL="0" indent="0" algn="l">
              <a:buNone/>
            </a:pPr>
            <a:r>
              <a:rPr lang="en-US" sz="1000" dirty="0">
                <a:solidFill>
                  <a:srgbClr val="5B6480"/>
                </a:solidFill>
                <a:latin typeface="Calibri" pitchFamily="34" charset="0"/>
                <a:ea typeface="Calibri" pitchFamily="34" charset="-122"/>
                <a:cs typeface="Calibri" pitchFamily="34" charset="-120"/>
              </a:rPr>
              <a:t>Diagram konsep tanpa data: run demonstrasi tidak memuat berkas interaksi BIOVIA. Metode: Pratama dkk. (2021).</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2029968"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C · PIPELINE IN SILICO</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Gaya publikasi bawaan: aman buta warna, 300 dpi, PNG, SVG, PDF</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27</a:t>
            </a:r>
            <a:endParaRPr lang="en-US" sz="1000" dirty="0"/>
          </a:p>
        </p:txBody>
      </p:sp>
      <p:sp>
        <p:nvSpPr>
          <p:cNvPr id="6" name="Text 4"/>
          <p:cNvSpPr txBox="1"/>
          <p:nvPr/>
        </p:nvSpPr>
        <p:spPr>
          <a:xfrm>
            <a:off x="548640" y="1645920"/>
            <a:ext cx="5669280" cy="274320"/>
          </a:xfrm>
          <a:prstGeom prst="rect">
            <a:avLst/>
          </a:prstGeom>
          <a:noFill/>
          <a:ln/>
        </p:spPr>
        <p:txBody>
          <a:bodyPr wrap="square" lIns="0" tIns="0" rIns="0" bIns="0" rtlCol="0" anchor="t"/>
          <a:lstStyle/>
          <a:p>
            <a:pPr marL="0" indent="0">
              <a:buNone/>
            </a:pPr>
            <a:r>
              <a:rPr lang="en-US" sz="1400" b="1" dirty="0">
                <a:solidFill>
                  <a:srgbClr val="1B2140"/>
                </a:solidFill>
                <a:latin typeface="Calibri" pitchFamily="34" charset="0"/>
                <a:ea typeface="Calibri" pitchFamily="34" charset="-122"/>
                <a:cs typeface="Calibri" pitchFamily="34" charset="-120"/>
              </a:rPr>
              <a:t>Palet kategorikal (analytics/style.py)</a:t>
            </a:r>
            <a:endParaRPr lang="en-US" sz="1400" dirty="0"/>
          </a:p>
        </p:txBody>
      </p:sp>
      <p:sp>
        <p:nvSpPr>
          <p:cNvPr id="7" name="Shape 5"/>
          <p:cNvSpPr/>
          <p:nvPr/>
        </p:nvSpPr>
        <p:spPr>
          <a:xfrm>
            <a:off x="548640" y="2011680"/>
            <a:ext cx="1024128" cy="777240"/>
          </a:xfrm>
          <a:prstGeom prst="roundRect">
            <a:avLst>
              <a:gd name="adj" fmla="val 9412"/>
            </a:avLst>
          </a:prstGeom>
          <a:solidFill>
            <a:srgbClr val="0072B2"/>
          </a:solidFill>
          <a:ln w="9525">
            <a:solidFill>
              <a:srgbClr val="D5DBF0"/>
            </a:solidFill>
            <a:prstDash val="solid"/>
          </a:ln>
        </p:spPr>
        <p:txBody>
          <a:bodyPr/>
          <a:p/>
        </p:txBody>
      </p:sp>
      <p:sp>
        <p:nvSpPr>
          <p:cNvPr id="8" name="Text 6"/>
          <p:cNvSpPr txBox="1"/>
          <p:nvPr/>
        </p:nvSpPr>
        <p:spPr>
          <a:xfrm>
            <a:off x="548640" y="2834640"/>
            <a:ext cx="1024128" cy="228600"/>
          </a:xfrm>
          <a:prstGeom prst="rect">
            <a:avLst/>
          </a:prstGeom>
          <a:noFill/>
          <a:ln/>
        </p:spPr>
        <p:txBody>
          <a:bodyPr wrap="square" lIns="0" tIns="0" rIns="0" bIns="0" rtlCol="0" anchor="t"/>
          <a:lstStyle/>
          <a:p>
            <a:pPr marL="0" indent="0" algn="ctr">
              <a:buNone/>
            </a:pPr>
            <a:r>
              <a:rPr lang="en-US" sz="950" dirty="0">
                <a:solidFill>
                  <a:srgbClr val="5B6480"/>
                </a:solidFill>
                <a:latin typeface="Courier New" pitchFamily="34" charset="0"/>
                <a:ea typeface="Courier New" pitchFamily="34" charset="-122"/>
                <a:cs typeface="Courier New" pitchFamily="34" charset="-120"/>
              </a:rPr>
              <a:t>#0072B2</a:t>
            </a:r>
            <a:endParaRPr lang="en-US" sz="950" dirty="0"/>
          </a:p>
        </p:txBody>
      </p:sp>
      <p:sp>
        <p:nvSpPr>
          <p:cNvPr id="9" name="Shape 7"/>
          <p:cNvSpPr/>
          <p:nvPr/>
        </p:nvSpPr>
        <p:spPr>
          <a:xfrm>
            <a:off x="1691640" y="2011680"/>
            <a:ext cx="1024128" cy="777240"/>
          </a:xfrm>
          <a:prstGeom prst="roundRect">
            <a:avLst>
              <a:gd name="adj" fmla="val 9412"/>
            </a:avLst>
          </a:prstGeom>
          <a:solidFill>
            <a:srgbClr val="D55E00"/>
          </a:solidFill>
          <a:ln w="9525">
            <a:solidFill>
              <a:srgbClr val="D5DBF0"/>
            </a:solidFill>
            <a:prstDash val="solid"/>
          </a:ln>
        </p:spPr>
        <p:txBody>
          <a:bodyPr/>
          <a:p/>
        </p:txBody>
      </p:sp>
      <p:sp>
        <p:nvSpPr>
          <p:cNvPr id="10" name="Text 8"/>
          <p:cNvSpPr txBox="1"/>
          <p:nvPr/>
        </p:nvSpPr>
        <p:spPr>
          <a:xfrm>
            <a:off x="1691640" y="2834640"/>
            <a:ext cx="1024128" cy="228600"/>
          </a:xfrm>
          <a:prstGeom prst="rect">
            <a:avLst/>
          </a:prstGeom>
          <a:noFill/>
          <a:ln/>
        </p:spPr>
        <p:txBody>
          <a:bodyPr wrap="square" lIns="0" tIns="0" rIns="0" bIns="0" rtlCol="0" anchor="t"/>
          <a:lstStyle/>
          <a:p>
            <a:pPr marL="0" indent="0" algn="ctr">
              <a:buNone/>
            </a:pPr>
            <a:r>
              <a:rPr lang="en-US" sz="950" dirty="0">
                <a:solidFill>
                  <a:srgbClr val="5B6480"/>
                </a:solidFill>
                <a:latin typeface="Courier New" pitchFamily="34" charset="0"/>
                <a:ea typeface="Courier New" pitchFamily="34" charset="-122"/>
                <a:cs typeface="Courier New" pitchFamily="34" charset="-120"/>
              </a:rPr>
              <a:t>#D55E00</a:t>
            </a:r>
            <a:endParaRPr lang="en-US" sz="950" dirty="0"/>
          </a:p>
        </p:txBody>
      </p:sp>
      <p:sp>
        <p:nvSpPr>
          <p:cNvPr id="11" name="Shape 9"/>
          <p:cNvSpPr/>
          <p:nvPr/>
        </p:nvSpPr>
        <p:spPr>
          <a:xfrm>
            <a:off x="2834640" y="2011680"/>
            <a:ext cx="1024128" cy="777240"/>
          </a:xfrm>
          <a:prstGeom prst="roundRect">
            <a:avLst>
              <a:gd name="adj" fmla="val 9412"/>
            </a:avLst>
          </a:prstGeom>
          <a:solidFill>
            <a:srgbClr val="009E73"/>
          </a:solidFill>
          <a:ln w="9525">
            <a:solidFill>
              <a:srgbClr val="D5DBF0"/>
            </a:solidFill>
            <a:prstDash val="solid"/>
          </a:ln>
        </p:spPr>
        <p:txBody>
          <a:bodyPr/>
          <a:p/>
        </p:txBody>
      </p:sp>
      <p:sp>
        <p:nvSpPr>
          <p:cNvPr id="12" name="Text 10"/>
          <p:cNvSpPr txBox="1"/>
          <p:nvPr/>
        </p:nvSpPr>
        <p:spPr>
          <a:xfrm>
            <a:off x="2834640" y="2834640"/>
            <a:ext cx="1024128" cy="228600"/>
          </a:xfrm>
          <a:prstGeom prst="rect">
            <a:avLst/>
          </a:prstGeom>
          <a:noFill/>
          <a:ln/>
        </p:spPr>
        <p:txBody>
          <a:bodyPr wrap="square" lIns="0" tIns="0" rIns="0" bIns="0" rtlCol="0" anchor="t"/>
          <a:lstStyle/>
          <a:p>
            <a:pPr marL="0" indent="0" algn="ctr">
              <a:buNone/>
            </a:pPr>
            <a:r>
              <a:rPr lang="en-US" sz="950" dirty="0">
                <a:solidFill>
                  <a:srgbClr val="5B6480"/>
                </a:solidFill>
                <a:latin typeface="Courier New" pitchFamily="34" charset="0"/>
                <a:ea typeface="Courier New" pitchFamily="34" charset="-122"/>
                <a:cs typeface="Courier New" pitchFamily="34" charset="-120"/>
              </a:rPr>
              <a:t>#009E73</a:t>
            </a:r>
            <a:endParaRPr lang="en-US" sz="950" dirty="0"/>
          </a:p>
        </p:txBody>
      </p:sp>
      <p:sp>
        <p:nvSpPr>
          <p:cNvPr id="13" name="Shape 11"/>
          <p:cNvSpPr/>
          <p:nvPr/>
        </p:nvSpPr>
        <p:spPr>
          <a:xfrm>
            <a:off x="3977640" y="2011680"/>
            <a:ext cx="1024128" cy="777240"/>
          </a:xfrm>
          <a:prstGeom prst="roundRect">
            <a:avLst>
              <a:gd name="adj" fmla="val 9412"/>
            </a:avLst>
          </a:prstGeom>
          <a:solidFill>
            <a:srgbClr val="E69F00"/>
          </a:solidFill>
          <a:ln w="9525">
            <a:solidFill>
              <a:srgbClr val="D5DBF0"/>
            </a:solidFill>
            <a:prstDash val="solid"/>
          </a:ln>
        </p:spPr>
        <p:txBody>
          <a:bodyPr/>
          <a:p/>
        </p:txBody>
      </p:sp>
      <p:sp>
        <p:nvSpPr>
          <p:cNvPr id="14" name="Text 12"/>
          <p:cNvSpPr txBox="1"/>
          <p:nvPr/>
        </p:nvSpPr>
        <p:spPr>
          <a:xfrm>
            <a:off x="3977640" y="2834640"/>
            <a:ext cx="1024128" cy="228600"/>
          </a:xfrm>
          <a:prstGeom prst="rect">
            <a:avLst/>
          </a:prstGeom>
          <a:noFill/>
          <a:ln/>
        </p:spPr>
        <p:txBody>
          <a:bodyPr wrap="square" lIns="0" tIns="0" rIns="0" bIns="0" rtlCol="0" anchor="t"/>
          <a:lstStyle/>
          <a:p>
            <a:pPr marL="0" indent="0" algn="ctr">
              <a:buNone/>
            </a:pPr>
            <a:r>
              <a:rPr lang="en-US" sz="950" dirty="0">
                <a:solidFill>
                  <a:srgbClr val="5B6480"/>
                </a:solidFill>
                <a:latin typeface="Courier New" pitchFamily="34" charset="0"/>
                <a:ea typeface="Courier New" pitchFamily="34" charset="-122"/>
                <a:cs typeface="Courier New" pitchFamily="34" charset="-120"/>
              </a:rPr>
              <a:t>#E69F00</a:t>
            </a:r>
            <a:endParaRPr lang="en-US" sz="950" dirty="0"/>
          </a:p>
        </p:txBody>
      </p:sp>
      <p:sp>
        <p:nvSpPr>
          <p:cNvPr id="15" name="Shape 13"/>
          <p:cNvSpPr/>
          <p:nvPr/>
        </p:nvSpPr>
        <p:spPr>
          <a:xfrm>
            <a:off x="5120640" y="2011680"/>
            <a:ext cx="1024128" cy="777240"/>
          </a:xfrm>
          <a:prstGeom prst="roundRect">
            <a:avLst>
              <a:gd name="adj" fmla="val 9412"/>
            </a:avLst>
          </a:prstGeom>
          <a:solidFill>
            <a:srgbClr val="56B4E9"/>
          </a:solidFill>
          <a:ln w="9525">
            <a:solidFill>
              <a:srgbClr val="D5DBF0"/>
            </a:solidFill>
            <a:prstDash val="solid"/>
          </a:ln>
        </p:spPr>
        <p:txBody>
          <a:bodyPr/>
          <a:p/>
        </p:txBody>
      </p:sp>
      <p:sp>
        <p:nvSpPr>
          <p:cNvPr id="16" name="Text 14"/>
          <p:cNvSpPr txBox="1"/>
          <p:nvPr/>
        </p:nvSpPr>
        <p:spPr>
          <a:xfrm>
            <a:off x="5120640" y="2834640"/>
            <a:ext cx="1024128" cy="228600"/>
          </a:xfrm>
          <a:prstGeom prst="rect">
            <a:avLst/>
          </a:prstGeom>
          <a:noFill/>
          <a:ln/>
        </p:spPr>
        <p:txBody>
          <a:bodyPr wrap="square" lIns="0" tIns="0" rIns="0" bIns="0" rtlCol="0" anchor="t"/>
          <a:lstStyle/>
          <a:p>
            <a:pPr marL="0" indent="0" algn="ctr">
              <a:buNone/>
            </a:pPr>
            <a:r>
              <a:rPr lang="en-US" sz="950" dirty="0">
                <a:solidFill>
                  <a:srgbClr val="5B6480"/>
                </a:solidFill>
                <a:latin typeface="Courier New" pitchFamily="34" charset="0"/>
                <a:ea typeface="Courier New" pitchFamily="34" charset="-122"/>
                <a:cs typeface="Courier New" pitchFamily="34" charset="-120"/>
              </a:rPr>
              <a:t>#56B4E9</a:t>
            </a:r>
            <a:endParaRPr lang="en-US" sz="950" dirty="0"/>
          </a:p>
        </p:txBody>
      </p:sp>
      <p:sp>
        <p:nvSpPr>
          <p:cNvPr id="17" name="Shape 15"/>
          <p:cNvSpPr/>
          <p:nvPr/>
        </p:nvSpPr>
        <p:spPr>
          <a:xfrm>
            <a:off x="548640" y="3200400"/>
            <a:ext cx="1024128" cy="777240"/>
          </a:xfrm>
          <a:prstGeom prst="roundRect">
            <a:avLst>
              <a:gd name="adj" fmla="val 9412"/>
            </a:avLst>
          </a:prstGeom>
          <a:solidFill>
            <a:srgbClr val="CC79A7"/>
          </a:solidFill>
          <a:ln w="9525">
            <a:solidFill>
              <a:srgbClr val="D5DBF0"/>
            </a:solidFill>
            <a:prstDash val="solid"/>
          </a:ln>
        </p:spPr>
        <p:txBody>
          <a:bodyPr/>
          <a:p/>
        </p:txBody>
      </p:sp>
      <p:sp>
        <p:nvSpPr>
          <p:cNvPr id="18" name="Text 16"/>
          <p:cNvSpPr txBox="1"/>
          <p:nvPr/>
        </p:nvSpPr>
        <p:spPr>
          <a:xfrm>
            <a:off x="548640" y="4023360"/>
            <a:ext cx="1024128" cy="228600"/>
          </a:xfrm>
          <a:prstGeom prst="rect">
            <a:avLst/>
          </a:prstGeom>
          <a:noFill/>
          <a:ln/>
        </p:spPr>
        <p:txBody>
          <a:bodyPr wrap="square" lIns="0" tIns="0" rIns="0" bIns="0" rtlCol="0" anchor="t"/>
          <a:lstStyle/>
          <a:p>
            <a:pPr marL="0" indent="0" algn="ctr">
              <a:buNone/>
            </a:pPr>
            <a:r>
              <a:rPr lang="en-US" sz="950" dirty="0">
                <a:solidFill>
                  <a:srgbClr val="5B6480"/>
                </a:solidFill>
                <a:latin typeface="Courier New" pitchFamily="34" charset="0"/>
                <a:ea typeface="Courier New" pitchFamily="34" charset="-122"/>
                <a:cs typeface="Courier New" pitchFamily="34" charset="-120"/>
              </a:rPr>
              <a:t>#CC79A7</a:t>
            </a:r>
            <a:endParaRPr lang="en-US" sz="950" dirty="0"/>
          </a:p>
        </p:txBody>
      </p:sp>
      <p:sp>
        <p:nvSpPr>
          <p:cNvPr id="19" name="Shape 17"/>
          <p:cNvSpPr/>
          <p:nvPr/>
        </p:nvSpPr>
        <p:spPr>
          <a:xfrm>
            <a:off x="1691640" y="3200400"/>
            <a:ext cx="1024128" cy="777240"/>
          </a:xfrm>
          <a:prstGeom prst="roundRect">
            <a:avLst>
              <a:gd name="adj" fmla="val 9412"/>
            </a:avLst>
          </a:prstGeom>
          <a:solidFill>
            <a:srgbClr val="F0E442"/>
          </a:solidFill>
          <a:ln w="9525">
            <a:solidFill>
              <a:srgbClr val="D5DBF0"/>
            </a:solidFill>
            <a:prstDash val="solid"/>
          </a:ln>
        </p:spPr>
        <p:txBody>
          <a:bodyPr/>
          <a:p/>
        </p:txBody>
      </p:sp>
      <p:sp>
        <p:nvSpPr>
          <p:cNvPr id="20" name="Text 18"/>
          <p:cNvSpPr txBox="1"/>
          <p:nvPr/>
        </p:nvSpPr>
        <p:spPr>
          <a:xfrm>
            <a:off x="1691640" y="4023360"/>
            <a:ext cx="1024128" cy="228600"/>
          </a:xfrm>
          <a:prstGeom prst="rect">
            <a:avLst/>
          </a:prstGeom>
          <a:noFill/>
          <a:ln/>
        </p:spPr>
        <p:txBody>
          <a:bodyPr wrap="square" lIns="0" tIns="0" rIns="0" bIns="0" rtlCol="0" anchor="t"/>
          <a:lstStyle/>
          <a:p>
            <a:pPr marL="0" indent="0" algn="ctr">
              <a:buNone/>
            </a:pPr>
            <a:r>
              <a:rPr lang="en-US" sz="950" dirty="0">
                <a:solidFill>
                  <a:srgbClr val="5B6480"/>
                </a:solidFill>
                <a:latin typeface="Courier New" pitchFamily="34" charset="0"/>
                <a:ea typeface="Courier New" pitchFamily="34" charset="-122"/>
                <a:cs typeface="Courier New" pitchFamily="34" charset="-120"/>
              </a:rPr>
              <a:t>#F0E442</a:t>
            </a:r>
            <a:endParaRPr lang="en-US" sz="950" dirty="0"/>
          </a:p>
        </p:txBody>
      </p:sp>
      <p:sp>
        <p:nvSpPr>
          <p:cNvPr id="21" name="Shape 19"/>
          <p:cNvSpPr/>
          <p:nvPr/>
        </p:nvSpPr>
        <p:spPr>
          <a:xfrm>
            <a:off x="2834640" y="3200400"/>
            <a:ext cx="1024128" cy="777240"/>
          </a:xfrm>
          <a:prstGeom prst="roundRect">
            <a:avLst>
              <a:gd name="adj" fmla="val 9412"/>
            </a:avLst>
          </a:prstGeom>
          <a:solidFill>
            <a:srgbClr val="000000"/>
          </a:solidFill>
          <a:ln w="9525">
            <a:solidFill>
              <a:srgbClr val="D5DBF0"/>
            </a:solidFill>
            <a:prstDash val="solid"/>
          </a:ln>
        </p:spPr>
        <p:txBody>
          <a:bodyPr/>
          <a:p/>
        </p:txBody>
      </p:sp>
      <p:sp>
        <p:nvSpPr>
          <p:cNvPr id="22" name="Text 20"/>
          <p:cNvSpPr txBox="1"/>
          <p:nvPr/>
        </p:nvSpPr>
        <p:spPr>
          <a:xfrm>
            <a:off x="2834640" y="4023360"/>
            <a:ext cx="1024128" cy="228600"/>
          </a:xfrm>
          <a:prstGeom prst="rect">
            <a:avLst/>
          </a:prstGeom>
          <a:noFill/>
          <a:ln/>
        </p:spPr>
        <p:txBody>
          <a:bodyPr wrap="square" lIns="0" tIns="0" rIns="0" bIns="0" rtlCol="0" anchor="t"/>
          <a:lstStyle/>
          <a:p>
            <a:pPr marL="0" indent="0" algn="ctr">
              <a:buNone/>
            </a:pPr>
            <a:r>
              <a:rPr lang="en-US" sz="950" dirty="0">
                <a:solidFill>
                  <a:srgbClr val="5B6480"/>
                </a:solidFill>
                <a:latin typeface="Courier New" pitchFamily="34" charset="0"/>
                <a:ea typeface="Courier New" pitchFamily="34" charset="-122"/>
                <a:cs typeface="Courier New" pitchFamily="34" charset="-120"/>
              </a:rPr>
              <a:t>#000000</a:t>
            </a:r>
            <a:endParaRPr lang="en-US" sz="950" dirty="0"/>
          </a:p>
        </p:txBody>
      </p:sp>
      <p:sp>
        <p:nvSpPr>
          <p:cNvPr id="23" name="Shape 21"/>
          <p:cNvSpPr/>
          <p:nvPr/>
        </p:nvSpPr>
        <p:spPr>
          <a:xfrm>
            <a:off x="3977640" y="3200400"/>
            <a:ext cx="1024128" cy="777240"/>
          </a:xfrm>
          <a:prstGeom prst="roundRect">
            <a:avLst>
              <a:gd name="adj" fmla="val 9412"/>
            </a:avLst>
          </a:prstGeom>
          <a:solidFill>
            <a:srgbClr val="999999"/>
          </a:solidFill>
          <a:ln w="9525">
            <a:solidFill>
              <a:srgbClr val="D5DBF0"/>
            </a:solidFill>
            <a:prstDash val="solid"/>
          </a:ln>
        </p:spPr>
        <p:txBody>
          <a:bodyPr/>
          <a:p/>
        </p:txBody>
      </p:sp>
      <p:sp>
        <p:nvSpPr>
          <p:cNvPr id="24" name="Text 22"/>
          <p:cNvSpPr txBox="1"/>
          <p:nvPr/>
        </p:nvSpPr>
        <p:spPr>
          <a:xfrm>
            <a:off x="3977640" y="4023360"/>
            <a:ext cx="1024128" cy="228600"/>
          </a:xfrm>
          <a:prstGeom prst="rect">
            <a:avLst/>
          </a:prstGeom>
          <a:noFill/>
          <a:ln/>
        </p:spPr>
        <p:txBody>
          <a:bodyPr wrap="square" lIns="0" tIns="0" rIns="0" bIns="0" rtlCol="0" anchor="t"/>
          <a:lstStyle/>
          <a:p>
            <a:pPr marL="0" indent="0" algn="ctr">
              <a:buNone/>
            </a:pPr>
            <a:r>
              <a:rPr lang="en-US" sz="950" dirty="0">
                <a:solidFill>
                  <a:srgbClr val="5B6480"/>
                </a:solidFill>
                <a:latin typeface="Courier New" pitchFamily="34" charset="0"/>
                <a:ea typeface="Courier New" pitchFamily="34" charset="-122"/>
                <a:cs typeface="Courier New" pitchFamily="34" charset="-120"/>
              </a:rPr>
              <a:t>#999999</a:t>
            </a:r>
            <a:endParaRPr lang="en-US" sz="950" dirty="0"/>
          </a:p>
        </p:txBody>
      </p:sp>
      <p:sp>
        <p:nvSpPr>
          <p:cNvPr id="25" name="Shape 23"/>
          <p:cNvSpPr/>
          <p:nvPr/>
        </p:nvSpPr>
        <p:spPr>
          <a:xfrm>
            <a:off x="5120640" y="3200400"/>
            <a:ext cx="1024128" cy="777240"/>
          </a:xfrm>
          <a:prstGeom prst="roundRect">
            <a:avLst>
              <a:gd name="adj" fmla="val 9412"/>
            </a:avLst>
          </a:prstGeom>
          <a:solidFill>
            <a:srgbClr val="66C2A5"/>
          </a:solidFill>
          <a:ln w="9525">
            <a:solidFill>
              <a:srgbClr val="D5DBF0"/>
            </a:solidFill>
            <a:prstDash val="solid"/>
          </a:ln>
        </p:spPr>
        <p:txBody>
          <a:bodyPr/>
          <a:p/>
        </p:txBody>
      </p:sp>
      <p:sp>
        <p:nvSpPr>
          <p:cNvPr id="26" name="Text 24"/>
          <p:cNvSpPr txBox="1"/>
          <p:nvPr/>
        </p:nvSpPr>
        <p:spPr>
          <a:xfrm>
            <a:off x="5120640" y="4023360"/>
            <a:ext cx="1024128" cy="228600"/>
          </a:xfrm>
          <a:prstGeom prst="rect">
            <a:avLst/>
          </a:prstGeom>
          <a:noFill/>
          <a:ln/>
        </p:spPr>
        <p:txBody>
          <a:bodyPr wrap="square" lIns="0" tIns="0" rIns="0" bIns="0" rtlCol="0" anchor="t"/>
          <a:lstStyle/>
          <a:p>
            <a:pPr marL="0" indent="0" algn="ctr">
              <a:buNone/>
            </a:pPr>
            <a:r>
              <a:rPr lang="en-US" sz="950" dirty="0">
                <a:solidFill>
                  <a:srgbClr val="5B6480"/>
                </a:solidFill>
                <a:latin typeface="Courier New" pitchFamily="34" charset="0"/>
                <a:ea typeface="Courier New" pitchFamily="34" charset="-122"/>
                <a:cs typeface="Courier New" pitchFamily="34" charset="-120"/>
              </a:rPr>
              <a:t>#66C2A5</a:t>
            </a:r>
            <a:endParaRPr lang="en-US" sz="950" dirty="0"/>
          </a:p>
        </p:txBody>
      </p:sp>
      <p:sp>
        <p:nvSpPr>
          <p:cNvPr id="27" name="Text 25"/>
          <p:cNvSpPr txBox="1"/>
          <p:nvPr/>
        </p:nvSpPr>
        <p:spPr>
          <a:xfrm>
            <a:off x="548640" y="4526280"/>
            <a:ext cx="5669280" cy="274320"/>
          </a:xfrm>
          <a:prstGeom prst="rect">
            <a:avLst/>
          </a:prstGeom>
          <a:noFill/>
          <a:ln/>
        </p:spPr>
        <p:txBody>
          <a:bodyPr wrap="square" lIns="0" tIns="0" rIns="0" bIns="0" rtlCol="0" anchor="t"/>
          <a:lstStyle/>
          <a:p>
            <a:pPr marL="0" indent="0">
              <a:buNone/>
            </a:pPr>
            <a:r>
              <a:rPr lang="en-US" sz="1400" b="1" dirty="0">
                <a:solidFill>
                  <a:srgbClr val="1B2140"/>
                </a:solidFill>
                <a:latin typeface="Calibri" pitchFamily="34" charset="0"/>
                <a:ea typeface="Calibri" pitchFamily="34" charset="-122"/>
                <a:cs typeface="Calibri" pitchFamily="34" charset="-120"/>
              </a:rPr>
              <a:t>Semantik kualitas</a:t>
            </a:r>
            <a:endParaRPr lang="en-US" sz="1400" dirty="0"/>
          </a:p>
        </p:txBody>
      </p:sp>
      <p:sp>
        <p:nvSpPr>
          <p:cNvPr id="28" name="Shape 26"/>
          <p:cNvSpPr/>
          <p:nvPr/>
        </p:nvSpPr>
        <p:spPr>
          <a:xfrm>
            <a:off x="548640" y="4892040"/>
            <a:ext cx="1280160" cy="548640"/>
          </a:xfrm>
          <a:prstGeom prst="roundRect">
            <a:avLst>
              <a:gd name="adj" fmla="val 13333"/>
            </a:avLst>
          </a:prstGeom>
          <a:solidFill>
            <a:srgbClr val="009E73"/>
          </a:solidFill>
          <a:ln w="12700">
            <a:solidFill>
              <a:srgbClr val="009E73"/>
            </a:solidFill>
            <a:prstDash val="solid"/>
          </a:ln>
        </p:spPr>
        <p:txBody>
          <a:bodyPr/>
          <a:p/>
        </p:txBody>
      </p:sp>
      <p:sp>
        <p:nvSpPr>
          <p:cNvPr id="29" name="Text 27"/>
          <p:cNvSpPr txBox="1"/>
          <p:nvPr/>
        </p:nvSpPr>
        <p:spPr>
          <a:xfrm>
            <a:off x="548640" y="4892040"/>
            <a:ext cx="128016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baik</a:t>
            </a:r>
            <a:endParaRPr lang="en-US" sz="1300" dirty="0"/>
          </a:p>
        </p:txBody>
      </p:sp>
      <p:sp>
        <p:nvSpPr>
          <p:cNvPr id="30" name="Shape 28"/>
          <p:cNvSpPr/>
          <p:nvPr/>
        </p:nvSpPr>
        <p:spPr>
          <a:xfrm>
            <a:off x="1965960" y="4892040"/>
            <a:ext cx="1280160" cy="548640"/>
          </a:xfrm>
          <a:prstGeom prst="roundRect">
            <a:avLst>
              <a:gd name="adj" fmla="val 13333"/>
            </a:avLst>
          </a:prstGeom>
          <a:solidFill>
            <a:srgbClr val="E69F00"/>
          </a:solidFill>
          <a:ln w="12700">
            <a:solidFill>
              <a:srgbClr val="E69F00"/>
            </a:solidFill>
            <a:prstDash val="solid"/>
          </a:ln>
        </p:spPr>
        <p:txBody>
          <a:bodyPr/>
          <a:p/>
        </p:txBody>
      </p:sp>
      <p:sp>
        <p:nvSpPr>
          <p:cNvPr id="31" name="Text 29"/>
          <p:cNvSpPr txBox="1"/>
          <p:nvPr/>
        </p:nvSpPr>
        <p:spPr>
          <a:xfrm>
            <a:off x="1965960" y="4892040"/>
            <a:ext cx="128016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sedang</a:t>
            </a:r>
            <a:endParaRPr lang="en-US" sz="1300" dirty="0"/>
          </a:p>
        </p:txBody>
      </p:sp>
      <p:sp>
        <p:nvSpPr>
          <p:cNvPr id="32" name="Shape 30"/>
          <p:cNvSpPr/>
          <p:nvPr/>
        </p:nvSpPr>
        <p:spPr>
          <a:xfrm>
            <a:off x="3383280" y="4892040"/>
            <a:ext cx="1280160" cy="548640"/>
          </a:xfrm>
          <a:prstGeom prst="roundRect">
            <a:avLst>
              <a:gd name="adj" fmla="val 13333"/>
            </a:avLst>
          </a:prstGeom>
          <a:solidFill>
            <a:srgbClr val="D55E00"/>
          </a:solidFill>
          <a:ln w="12700">
            <a:solidFill>
              <a:srgbClr val="D55E00"/>
            </a:solidFill>
            <a:prstDash val="solid"/>
          </a:ln>
        </p:spPr>
        <p:txBody>
          <a:bodyPr/>
          <a:p/>
        </p:txBody>
      </p:sp>
      <p:sp>
        <p:nvSpPr>
          <p:cNvPr id="33" name="Text 31"/>
          <p:cNvSpPr txBox="1"/>
          <p:nvPr/>
        </p:nvSpPr>
        <p:spPr>
          <a:xfrm>
            <a:off x="3383280" y="4892040"/>
            <a:ext cx="128016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buruk</a:t>
            </a:r>
            <a:endParaRPr lang="en-US" sz="1300" dirty="0"/>
          </a:p>
        </p:txBody>
      </p:sp>
      <p:sp>
        <p:nvSpPr>
          <p:cNvPr id="34" name="Shape 32"/>
          <p:cNvSpPr/>
          <p:nvPr/>
        </p:nvSpPr>
        <p:spPr>
          <a:xfrm>
            <a:off x="4800600" y="4892040"/>
            <a:ext cx="1280160" cy="548640"/>
          </a:xfrm>
          <a:prstGeom prst="roundRect">
            <a:avLst>
              <a:gd name="adj" fmla="val 13333"/>
            </a:avLst>
          </a:prstGeom>
          <a:solidFill>
            <a:srgbClr val="8C8C8C"/>
          </a:solidFill>
          <a:ln w="12700">
            <a:solidFill>
              <a:srgbClr val="8C8C8C"/>
            </a:solidFill>
            <a:prstDash val="solid"/>
          </a:ln>
        </p:spPr>
        <p:txBody>
          <a:bodyPr/>
          <a:p/>
        </p:txBody>
      </p:sp>
      <p:sp>
        <p:nvSpPr>
          <p:cNvPr id="35" name="Text 33"/>
          <p:cNvSpPr txBox="1"/>
          <p:nvPr/>
        </p:nvSpPr>
        <p:spPr>
          <a:xfrm>
            <a:off x="4800600" y="4892040"/>
            <a:ext cx="128016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netral</a:t>
            </a:r>
            <a:endParaRPr lang="en-US" sz="1300" dirty="0"/>
          </a:p>
        </p:txBody>
      </p:sp>
      <p:sp>
        <p:nvSpPr>
          <p:cNvPr id="36" name="Text 34"/>
          <p:cNvSpPr txBox="1"/>
          <p:nvPr/>
        </p:nvSpPr>
        <p:spPr>
          <a:xfrm>
            <a:off x="548640" y="5577840"/>
            <a:ext cx="5669280" cy="365760"/>
          </a:xfrm>
          <a:prstGeom prst="rect">
            <a:avLst/>
          </a:prstGeom>
          <a:noFill/>
          <a:ln/>
        </p:spPr>
        <p:txBody>
          <a:bodyPr wrap="square" lIns="0" tIns="0" rIns="0" bIns="0" rtlCol="0" anchor="t"/>
          <a:lstStyle/>
          <a:p>
            <a:pPr marL="0" indent="0" algn="l">
              <a:buNone/>
            </a:pPr>
            <a:r>
              <a:rPr lang="en-US" sz="1000" dirty="0">
                <a:solidFill>
                  <a:srgbClr val="5B6480"/>
                </a:solidFill>
                <a:latin typeface="Calibri" pitchFamily="34" charset="0"/>
                <a:ea typeface="Calibri" pitchFamily="34" charset="-122"/>
                <a:cs typeface="Calibri" pitchFamily="34" charset="-120"/>
              </a:rPr>
              <a:t>Okabe dan Ito (2008). Palet ke-10 (#66C2A5) tambahan dari chemflow.</a:t>
            </a:r>
            <a:endParaRPr lang="en-US" sz="1000" dirty="0"/>
          </a:p>
        </p:txBody>
      </p:sp>
      <p:sp>
        <p:nvSpPr>
          <p:cNvPr id="37" name="Shape 35"/>
          <p:cNvSpPr/>
          <p:nvPr/>
        </p:nvSpPr>
        <p:spPr>
          <a:xfrm>
            <a:off x="6583680" y="1737360"/>
            <a:ext cx="502920" cy="502920"/>
          </a:xfrm>
          <a:prstGeom prst="ellipse">
            <a:avLst/>
          </a:prstGeom>
          <a:solidFill>
            <a:srgbClr val="3C71E8"/>
          </a:solidFill>
          <a:ln w="12700">
            <a:solidFill>
              <a:srgbClr val="3C71E8"/>
            </a:solidFill>
            <a:prstDash val="solid"/>
          </a:ln>
        </p:spPr>
        <p:txBody>
          <a:bodyPr/>
          <a:p/>
        </p:txBody>
      </p:sp>
      <p:pic>
        <p:nvPicPr>
          <p:cNvPr id="38" name="Image 0" descr="Image"/>
          <p:cNvPicPr>
            <a:picLocks noChangeAspect="1"/>
          </p:cNvPicPr>
          <p:nvPr/>
        </p:nvPicPr>
        <p:blipFill>
          <a:blip r:embed="rId3"/>
          <a:stretch>
            <a:fillRect/>
          </a:stretch>
        </p:blipFill>
        <p:spPr>
          <a:xfrm>
            <a:off x="6709410" y="1863090"/>
            <a:ext cx="251460" cy="251460"/>
          </a:xfrm>
          <a:prstGeom prst="rect">
            <a:avLst/>
          </a:prstGeom>
        </p:spPr>
      </p:pic>
      <p:sp>
        <p:nvSpPr>
          <p:cNvPr id="39" name="Text 36"/>
          <p:cNvSpPr txBox="1"/>
          <p:nvPr/>
        </p:nvSpPr>
        <p:spPr>
          <a:xfrm>
            <a:off x="7269480" y="1691640"/>
            <a:ext cx="4343400" cy="274320"/>
          </a:xfrm>
          <a:prstGeom prst="rect">
            <a:avLst/>
          </a:prstGeom>
          <a:noFill/>
          <a:ln/>
        </p:spPr>
        <p:txBody>
          <a:bodyPr wrap="square" lIns="0" tIns="0" rIns="0" bIns="0" rtlCol="0" anchor="t"/>
          <a:lstStyle/>
          <a:p>
            <a:pPr marL="0" indent="0">
              <a:buNone/>
            </a:pPr>
            <a:r>
              <a:rPr lang="en-US" sz="1400" b="1" dirty="0">
                <a:solidFill>
                  <a:srgbClr val="1B2140"/>
                </a:solidFill>
                <a:latin typeface="Calibri" pitchFamily="34" charset="0"/>
                <a:ea typeface="Calibri" pitchFamily="34" charset="-122"/>
                <a:cs typeface="Calibri" pitchFamily="34" charset="-120"/>
              </a:rPr>
              <a:t>300 dpi, tiga format</a:t>
            </a:r>
            <a:endParaRPr lang="en-US" sz="1400" dirty="0"/>
          </a:p>
        </p:txBody>
      </p:sp>
      <p:sp>
        <p:nvSpPr>
          <p:cNvPr id="40" name="Text 37"/>
          <p:cNvSpPr txBox="1"/>
          <p:nvPr/>
        </p:nvSpPr>
        <p:spPr>
          <a:xfrm>
            <a:off x="7269480" y="1984248"/>
            <a:ext cx="4370832" cy="548640"/>
          </a:xfrm>
          <a:prstGeom prst="rect">
            <a:avLst/>
          </a:prstGeom>
          <a:noFill/>
          <a:ln/>
        </p:spPr>
        <p:txBody>
          <a:bodyPr wrap="square" lIns="0" tIns="0" rIns="0" bIns="0" rtlCol="0" anchor="t"/>
          <a:lstStyle/>
          <a:p>
            <a:pPr marL="0" indent="0">
              <a:buNone/>
            </a:pPr>
            <a:r>
              <a:rPr lang="en-US" sz="1150" dirty="0">
                <a:solidFill>
                  <a:srgbClr val="5B6480"/>
                </a:solidFill>
                <a:latin typeface="Calibri" pitchFamily="34" charset="0"/>
                <a:ea typeface="Calibri" pitchFamily="34" charset="-122"/>
                <a:cs typeface="Calibri" pitchFamily="34" charset="-120"/>
              </a:rPr>
              <a:t>--dpi dan --figure-formats png svg pdf; PNG selalu ditulis</a:t>
            </a:r>
            <a:endParaRPr lang="en-US" sz="1150" dirty="0"/>
          </a:p>
        </p:txBody>
      </p:sp>
      <p:sp>
        <p:nvSpPr>
          <p:cNvPr id="41" name="Shape 38"/>
          <p:cNvSpPr/>
          <p:nvPr/>
        </p:nvSpPr>
        <p:spPr>
          <a:xfrm>
            <a:off x="6583680" y="2633472"/>
            <a:ext cx="502920" cy="502920"/>
          </a:xfrm>
          <a:prstGeom prst="ellipse">
            <a:avLst/>
          </a:prstGeom>
          <a:solidFill>
            <a:srgbClr val="8E70EB"/>
          </a:solidFill>
          <a:ln w="12700">
            <a:solidFill>
              <a:srgbClr val="8E70EB"/>
            </a:solidFill>
            <a:prstDash val="solid"/>
          </a:ln>
        </p:spPr>
        <p:txBody>
          <a:bodyPr/>
          <a:p/>
        </p:txBody>
      </p:sp>
      <p:pic>
        <p:nvPicPr>
          <p:cNvPr id="42" name="Image 1" descr="Font"/>
          <p:cNvPicPr>
            <a:picLocks noChangeAspect="1"/>
          </p:cNvPicPr>
          <p:nvPr/>
        </p:nvPicPr>
        <p:blipFill>
          <a:blip r:embed="rId4"/>
          <a:stretch>
            <a:fillRect/>
          </a:stretch>
        </p:blipFill>
        <p:spPr>
          <a:xfrm>
            <a:off x="6709410" y="2759202"/>
            <a:ext cx="251460" cy="251460"/>
          </a:xfrm>
          <a:prstGeom prst="rect">
            <a:avLst/>
          </a:prstGeom>
        </p:spPr>
      </p:pic>
      <p:sp>
        <p:nvSpPr>
          <p:cNvPr id="43" name="Text 39"/>
          <p:cNvSpPr txBox="1"/>
          <p:nvPr/>
        </p:nvSpPr>
        <p:spPr>
          <a:xfrm>
            <a:off x="7269480" y="2587752"/>
            <a:ext cx="4343400" cy="274320"/>
          </a:xfrm>
          <a:prstGeom prst="rect">
            <a:avLst/>
          </a:prstGeom>
          <a:noFill/>
          <a:ln/>
        </p:spPr>
        <p:txBody>
          <a:bodyPr wrap="square" lIns="0" tIns="0" rIns="0" bIns="0" rtlCol="0" anchor="t"/>
          <a:lstStyle/>
          <a:p>
            <a:pPr marL="0" indent="0">
              <a:buNone/>
            </a:pPr>
            <a:r>
              <a:rPr lang="en-US" sz="1400" b="1" dirty="0">
                <a:solidFill>
                  <a:srgbClr val="1B2140"/>
                </a:solidFill>
                <a:latin typeface="Calibri" pitchFamily="34" charset="0"/>
                <a:ea typeface="Calibri" pitchFamily="34" charset="-122"/>
                <a:cs typeface="Calibri" pitchFamily="34" charset="-120"/>
              </a:rPr>
              <a:t>Teks tetap teks</a:t>
            </a:r>
            <a:endParaRPr lang="en-US" sz="1400" dirty="0"/>
          </a:p>
        </p:txBody>
      </p:sp>
      <p:sp>
        <p:nvSpPr>
          <p:cNvPr id="44" name="Text 40"/>
          <p:cNvSpPr txBox="1"/>
          <p:nvPr/>
        </p:nvSpPr>
        <p:spPr>
          <a:xfrm>
            <a:off x="7269480" y="2880360"/>
            <a:ext cx="4370832" cy="548640"/>
          </a:xfrm>
          <a:prstGeom prst="rect">
            <a:avLst/>
          </a:prstGeom>
          <a:noFill/>
          <a:ln/>
        </p:spPr>
        <p:txBody>
          <a:bodyPr wrap="square" lIns="0" tIns="0" rIns="0" bIns="0" rtlCol="0" anchor="t"/>
          <a:lstStyle/>
          <a:p>
            <a:pPr marL="0" indent="0">
              <a:buNone/>
            </a:pPr>
            <a:r>
              <a:rPr lang="en-US" sz="1150" dirty="0">
                <a:solidFill>
                  <a:srgbClr val="5B6480"/>
                </a:solidFill>
                <a:latin typeface="Calibri" pitchFamily="34" charset="0"/>
                <a:ea typeface="Calibri" pitchFamily="34" charset="-122"/>
                <a:cs typeface="Calibri" pitchFamily="34" charset="-120"/>
              </a:rPr>
              <a:t>svg.fonttype none dan pdf.fonttype 42 agar bisa disunting di Illustrator atau Inkscape</a:t>
            </a:r>
            <a:endParaRPr lang="en-US" sz="1150" dirty="0"/>
          </a:p>
        </p:txBody>
      </p:sp>
      <p:sp>
        <p:nvSpPr>
          <p:cNvPr id="45" name="Shape 41"/>
          <p:cNvSpPr/>
          <p:nvPr/>
        </p:nvSpPr>
        <p:spPr>
          <a:xfrm>
            <a:off x="6583680" y="3529584"/>
            <a:ext cx="502920" cy="502920"/>
          </a:xfrm>
          <a:prstGeom prst="ellipse">
            <a:avLst/>
          </a:prstGeom>
          <a:solidFill>
            <a:srgbClr val="3C71E8"/>
          </a:solidFill>
          <a:ln w="12700">
            <a:solidFill>
              <a:srgbClr val="3C71E8"/>
            </a:solidFill>
            <a:prstDash val="solid"/>
          </a:ln>
        </p:spPr>
        <p:txBody>
          <a:bodyPr/>
          <a:p/>
        </p:txBody>
      </p:sp>
      <p:pic>
        <p:nvPicPr>
          <p:cNvPr id="46" name="Image 2" descr="Lock"/>
          <p:cNvPicPr>
            <a:picLocks noChangeAspect="1"/>
          </p:cNvPicPr>
          <p:nvPr/>
        </p:nvPicPr>
        <p:blipFill>
          <a:blip r:embed="rId5"/>
          <a:stretch>
            <a:fillRect/>
          </a:stretch>
        </p:blipFill>
        <p:spPr>
          <a:xfrm>
            <a:off x="6709410" y="3655314"/>
            <a:ext cx="251460" cy="251460"/>
          </a:xfrm>
          <a:prstGeom prst="rect">
            <a:avLst/>
          </a:prstGeom>
        </p:spPr>
      </p:pic>
      <p:sp>
        <p:nvSpPr>
          <p:cNvPr id="47" name="Text 42"/>
          <p:cNvSpPr txBox="1"/>
          <p:nvPr/>
        </p:nvSpPr>
        <p:spPr>
          <a:xfrm>
            <a:off x="7269480" y="3483864"/>
            <a:ext cx="4343400" cy="274320"/>
          </a:xfrm>
          <a:prstGeom prst="rect">
            <a:avLst/>
          </a:prstGeom>
          <a:noFill/>
          <a:ln/>
        </p:spPr>
        <p:txBody>
          <a:bodyPr wrap="square" lIns="0" tIns="0" rIns="0" bIns="0" rtlCol="0" anchor="t"/>
          <a:lstStyle/>
          <a:p>
            <a:pPr marL="0" indent="0">
              <a:buNone/>
            </a:pPr>
            <a:r>
              <a:rPr lang="en-US" sz="1400" b="1" dirty="0">
                <a:solidFill>
                  <a:srgbClr val="1B2140"/>
                </a:solidFill>
                <a:latin typeface="Calibri" pitchFamily="34" charset="0"/>
                <a:ea typeface="Calibri" pitchFamily="34" charset="-122"/>
                <a:cs typeface="Calibri" pitchFamily="34" charset="-120"/>
              </a:rPr>
              <a:t>Tidak mengubah global</a:t>
            </a:r>
            <a:endParaRPr lang="en-US" sz="1400" dirty="0"/>
          </a:p>
        </p:txBody>
      </p:sp>
      <p:sp>
        <p:nvSpPr>
          <p:cNvPr id="48" name="Text 43"/>
          <p:cNvSpPr txBox="1"/>
          <p:nvPr/>
        </p:nvSpPr>
        <p:spPr>
          <a:xfrm>
            <a:off x="7269480" y="3776472"/>
            <a:ext cx="4370832" cy="548640"/>
          </a:xfrm>
          <a:prstGeom prst="rect">
            <a:avLst/>
          </a:prstGeom>
          <a:noFill/>
          <a:ln/>
        </p:spPr>
        <p:txBody>
          <a:bodyPr wrap="square" lIns="0" tIns="0" rIns="0" bIns="0" rtlCol="0" anchor="t"/>
          <a:lstStyle/>
          <a:p>
            <a:pPr marL="0" indent="0">
              <a:buNone/>
            </a:pPr>
            <a:r>
              <a:rPr lang="en-US" sz="1150" dirty="0">
                <a:solidFill>
                  <a:srgbClr val="5B6480"/>
                </a:solidFill>
                <a:latin typeface="Calibri" pitchFamily="34" charset="0"/>
                <a:ea typeface="Calibri" pitchFamily="34" charset="-122"/>
                <a:cs typeface="Calibri" pitchFamily="34" charset="-120"/>
              </a:rPr>
              <a:t>Gaya lewat rc_context, jadi rcParams matplotlib pemanggil utuh</a:t>
            </a:r>
            <a:endParaRPr lang="en-US" sz="1150" dirty="0"/>
          </a:p>
        </p:txBody>
      </p:sp>
      <p:sp>
        <p:nvSpPr>
          <p:cNvPr id="49" name="Shape 44"/>
          <p:cNvSpPr/>
          <p:nvPr/>
        </p:nvSpPr>
        <p:spPr>
          <a:xfrm>
            <a:off x="6583680" y="4425696"/>
            <a:ext cx="502920" cy="502920"/>
          </a:xfrm>
          <a:prstGeom prst="ellipse">
            <a:avLst/>
          </a:prstGeom>
          <a:solidFill>
            <a:srgbClr val="8E70EB"/>
          </a:solidFill>
          <a:ln w="12700">
            <a:solidFill>
              <a:srgbClr val="8E70EB"/>
            </a:solidFill>
            <a:prstDash val="solid"/>
          </a:ln>
        </p:spPr>
        <p:txBody>
          <a:bodyPr/>
          <a:p/>
        </p:txBody>
      </p:sp>
      <p:pic>
        <p:nvPicPr>
          <p:cNvPr id="50" name="Image 3" descr="Tag"/>
          <p:cNvPicPr>
            <a:picLocks noChangeAspect="1"/>
          </p:cNvPicPr>
          <p:nvPr/>
        </p:nvPicPr>
        <p:blipFill>
          <a:blip r:embed="rId6"/>
          <a:stretch>
            <a:fillRect/>
          </a:stretch>
        </p:blipFill>
        <p:spPr>
          <a:xfrm>
            <a:off x="6709410" y="4551426"/>
            <a:ext cx="251460" cy="251460"/>
          </a:xfrm>
          <a:prstGeom prst="rect">
            <a:avLst/>
          </a:prstGeom>
        </p:spPr>
      </p:pic>
      <p:sp>
        <p:nvSpPr>
          <p:cNvPr id="51" name="Text 45"/>
          <p:cNvSpPr txBox="1"/>
          <p:nvPr/>
        </p:nvSpPr>
        <p:spPr>
          <a:xfrm>
            <a:off x="7269480" y="4379976"/>
            <a:ext cx="4343400" cy="274320"/>
          </a:xfrm>
          <a:prstGeom prst="rect">
            <a:avLst/>
          </a:prstGeom>
          <a:noFill/>
          <a:ln/>
        </p:spPr>
        <p:txBody>
          <a:bodyPr wrap="square" lIns="0" tIns="0" rIns="0" bIns="0" rtlCol="0" anchor="t"/>
          <a:lstStyle/>
          <a:p>
            <a:pPr marL="0" indent="0">
              <a:buNone/>
            </a:pPr>
            <a:r>
              <a:rPr lang="en-US" sz="1400" b="1" dirty="0">
                <a:solidFill>
                  <a:srgbClr val="1B2140"/>
                </a:solidFill>
                <a:latin typeface="Calibri" pitchFamily="34" charset="0"/>
                <a:ea typeface="Calibri" pitchFamily="34" charset="-122"/>
                <a:cs typeface="Calibri" pitchFamily="34" charset="-120"/>
              </a:rPr>
              <a:t>Label tanpa tumpang tindih</a:t>
            </a:r>
            <a:endParaRPr lang="en-US" sz="1400" dirty="0"/>
          </a:p>
        </p:txBody>
      </p:sp>
      <p:sp>
        <p:nvSpPr>
          <p:cNvPr id="52" name="Text 46"/>
          <p:cNvSpPr txBox="1"/>
          <p:nvPr/>
        </p:nvSpPr>
        <p:spPr>
          <a:xfrm>
            <a:off x="7269480" y="4672584"/>
            <a:ext cx="4370832" cy="548640"/>
          </a:xfrm>
          <a:prstGeom prst="rect">
            <a:avLst/>
          </a:prstGeom>
          <a:noFill/>
          <a:ln/>
        </p:spPr>
        <p:txBody>
          <a:bodyPr wrap="square" lIns="0" tIns="0" rIns="0" bIns="0" rtlCol="0" anchor="t"/>
          <a:lstStyle/>
          <a:p>
            <a:pPr marL="0" indent="0">
              <a:buNone/>
            </a:pPr>
            <a:r>
              <a:rPr lang="en-US" sz="1150" dirty="0">
                <a:solidFill>
                  <a:srgbClr val="5B6480"/>
                </a:solidFill>
                <a:latin typeface="Calibri" pitchFamily="34" charset="0"/>
                <a:ea typeface="Calibri" pitchFamily="34" charset="-122"/>
                <a:cs typeface="Calibri" pitchFamily="34" charset="-120"/>
              </a:rPr>
              <a:t>annotate_without_overlap mencoba beberapa posisi label</a:t>
            </a:r>
            <a:endParaRPr lang="en-US" sz="1150" dirty="0"/>
          </a:p>
        </p:txBody>
      </p:sp>
      <p:sp>
        <p:nvSpPr>
          <p:cNvPr id="53" name="Shape 47"/>
          <p:cNvSpPr/>
          <p:nvPr/>
        </p:nvSpPr>
        <p:spPr>
          <a:xfrm>
            <a:off x="6583680" y="5321808"/>
            <a:ext cx="502920" cy="502920"/>
          </a:xfrm>
          <a:prstGeom prst="ellipse">
            <a:avLst/>
          </a:prstGeom>
          <a:solidFill>
            <a:srgbClr val="3C71E8"/>
          </a:solidFill>
          <a:ln w="12700">
            <a:solidFill>
              <a:srgbClr val="3C71E8"/>
            </a:solidFill>
            <a:prstDash val="solid"/>
          </a:ln>
        </p:spPr>
        <p:txBody>
          <a:bodyPr/>
          <a:p/>
        </p:txBody>
      </p:sp>
      <p:pic>
        <p:nvPicPr>
          <p:cNvPr id="54" name="Image 4" descr="Language"/>
          <p:cNvPicPr>
            <a:picLocks noChangeAspect="1"/>
          </p:cNvPicPr>
          <p:nvPr/>
        </p:nvPicPr>
        <p:blipFill>
          <a:blip r:embed="rId7"/>
          <a:stretch>
            <a:fillRect/>
          </a:stretch>
        </p:blipFill>
        <p:spPr>
          <a:xfrm>
            <a:off x="6709410" y="5447538"/>
            <a:ext cx="251460" cy="251460"/>
          </a:xfrm>
          <a:prstGeom prst="rect">
            <a:avLst/>
          </a:prstGeom>
        </p:spPr>
      </p:pic>
      <p:sp>
        <p:nvSpPr>
          <p:cNvPr id="55" name="Text 48"/>
          <p:cNvSpPr txBox="1"/>
          <p:nvPr/>
        </p:nvSpPr>
        <p:spPr>
          <a:xfrm>
            <a:off x="7269480" y="5276088"/>
            <a:ext cx="4343400" cy="274320"/>
          </a:xfrm>
          <a:prstGeom prst="rect">
            <a:avLst/>
          </a:prstGeom>
          <a:noFill/>
          <a:ln/>
        </p:spPr>
        <p:txBody>
          <a:bodyPr wrap="square" lIns="0" tIns="0" rIns="0" bIns="0" rtlCol="0" anchor="t"/>
          <a:lstStyle/>
          <a:p>
            <a:pPr marL="0" indent="0">
              <a:buNone/>
            </a:pPr>
            <a:r>
              <a:rPr lang="en-US" sz="1400" b="1" dirty="0">
                <a:solidFill>
                  <a:srgbClr val="1B2140"/>
                </a:solidFill>
                <a:latin typeface="Calibri" pitchFamily="34" charset="0"/>
                <a:ea typeface="Calibri" pitchFamily="34" charset="-122"/>
                <a:cs typeface="Calibri" pitchFamily="34" charset="-120"/>
              </a:rPr>
              <a:t>Teks grafik berbahasa Indonesia</a:t>
            </a:r>
            <a:endParaRPr lang="en-US" sz="1400" dirty="0"/>
          </a:p>
        </p:txBody>
      </p:sp>
      <p:sp>
        <p:nvSpPr>
          <p:cNvPr id="56" name="Text 49"/>
          <p:cNvSpPr txBox="1"/>
          <p:nvPr/>
        </p:nvSpPr>
        <p:spPr>
          <a:xfrm>
            <a:off x="7269480" y="5568696"/>
            <a:ext cx="4370832" cy="548640"/>
          </a:xfrm>
          <a:prstGeom prst="rect">
            <a:avLst/>
          </a:prstGeom>
          <a:noFill/>
          <a:ln/>
        </p:spPr>
        <p:txBody>
          <a:bodyPr wrap="square" lIns="0" tIns="0" rIns="0" bIns="0" rtlCol="0" anchor="t"/>
          <a:lstStyle/>
          <a:p>
            <a:pPr marL="0" indent="0">
              <a:buNone/>
            </a:pPr>
            <a:r>
              <a:rPr lang="en-US" sz="1150" dirty="0">
                <a:solidFill>
                  <a:srgbClr val="5B6480"/>
                </a:solidFill>
                <a:latin typeface="Calibri" pitchFamily="34" charset="0"/>
                <a:ea typeface="Calibri" pitchFamily="34" charset="-122"/>
                <a:cs typeface="Calibri" pitchFamily="34" charset="-120"/>
              </a:rPr>
              <a:t>Judul dan sumbu ditulis langsung di kode; naskah Inggris perlu render ulang</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75004"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D · PRAKTIK</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Instalasi dan cek kesiapan dalam lima menit</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28</a:t>
            </a:r>
            <a:endParaRPr lang="en-US" sz="1000" dirty="0"/>
          </a:p>
        </p:txBody>
      </p:sp>
      <p:sp>
        <p:nvSpPr>
          <p:cNvPr id="6" name="Shape 4"/>
          <p:cNvSpPr/>
          <p:nvPr/>
        </p:nvSpPr>
        <p:spPr>
          <a:xfrm>
            <a:off x="548640" y="1709928"/>
            <a:ext cx="329184" cy="329184"/>
          </a:xfrm>
          <a:prstGeom prst="ellipse">
            <a:avLst/>
          </a:prstGeom>
          <a:solidFill>
            <a:srgbClr val="3C71E8"/>
          </a:solidFill>
          <a:ln w="12700">
            <a:solidFill>
              <a:srgbClr val="3C71E8"/>
            </a:solidFill>
            <a:prstDash val="solid"/>
          </a:ln>
        </p:spPr>
        <p:txBody>
          <a:bodyPr/>
          <a:p/>
        </p:txBody>
      </p:sp>
      <p:sp>
        <p:nvSpPr>
          <p:cNvPr id="7" name="Text 5"/>
          <p:cNvSpPr txBox="1"/>
          <p:nvPr/>
        </p:nvSpPr>
        <p:spPr>
          <a:xfrm>
            <a:off x="548640" y="17099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005840" y="1691640"/>
            <a:ext cx="4846320" cy="365760"/>
          </a:xfrm>
          <a:prstGeom prst="rect">
            <a:avLst/>
          </a:prstGeom>
          <a:noFill/>
          <a:ln/>
        </p:spPr>
        <p:txBody>
          <a:bodyPr wrap="square" lIns="0" tIns="0" rIns="0" bIns="0" rtlCol="0" anchor="ctr"/>
          <a:lstStyle/>
          <a:p>
            <a:pPr marL="0" indent="0">
              <a:buNone/>
            </a:pPr>
            <a:r>
              <a:rPr lang="en-US" sz="1400" b="1" dirty="0">
                <a:solidFill>
                  <a:srgbClr val="1B2140"/>
                </a:solidFill>
                <a:latin typeface="Calibri" pitchFamily="34" charset="0"/>
                <a:ea typeface="Calibri" pitchFamily="34" charset="-122"/>
                <a:cs typeface="Calibri" pitchFamily="34" charset="-120"/>
              </a:rPr>
              <a:t>Pasang dependensi Python</a:t>
            </a:r>
            <a:endParaRPr lang="en-US" sz="1400" dirty="0"/>
          </a:p>
        </p:txBody>
      </p:sp>
      <p:sp>
        <p:nvSpPr>
          <p:cNvPr id="9" name="Text 7"/>
          <p:cNvSpPr txBox="1"/>
          <p:nvPr/>
        </p:nvSpPr>
        <p:spPr>
          <a:xfrm>
            <a:off x="1005840" y="2112264"/>
            <a:ext cx="4800600" cy="640080"/>
          </a:xfrm>
          <a:prstGeom prst="roundRect">
            <a:avLst>
              <a:gd name="adj" fmla="val 14286"/>
            </a:avLst>
          </a:prstGeom>
          <a:solidFill>
            <a:srgbClr val="0E1533"/>
          </a:solidFill>
          <a:ln/>
        </p:spPr>
        <p:txBody>
          <a:bodyPr wrap="square" lIns="101600" tIns="101600" rIns="101600" bIns="101600" rtlCol="0" anchor="t"/>
          <a:lstStyle/>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pip install -r requirements.txt</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pip install -e .</a:t>
            </a:r>
            <a:endParaRPr lang="en-US" sz="1100" dirty="0"/>
          </a:p>
        </p:txBody>
      </p:sp>
      <p:sp>
        <p:nvSpPr>
          <p:cNvPr id="10" name="Shape 8"/>
          <p:cNvSpPr/>
          <p:nvPr/>
        </p:nvSpPr>
        <p:spPr>
          <a:xfrm>
            <a:off x="548640" y="2953512"/>
            <a:ext cx="329184" cy="329184"/>
          </a:xfrm>
          <a:prstGeom prst="ellipse">
            <a:avLst/>
          </a:prstGeom>
          <a:solidFill>
            <a:srgbClr val="3C71E8"/>
          </a:solidFill>
          <a:ln w="12700">
            <a:solidFill>
              <a:srgbClr val="3C71E8"/>
            </a:solidFill>
            <a:prstDash val="solid"/>
          </a:ln>
        </p:spPr>
        <p:txBody>
          <a:bodyPr/>
          <a:p/>
        </p:txBody>
      </p:sp>
      <p:sp>
        <p:nvSpPr>
          <p:cNvPr id="11" name="Text 9"/>
          <p:cNvSpPr txBox="1"/>
          <p:nvPr/>
        </p:nvSpPr>
        <p:spPr>
          <a:xfrm>
            <a:off x="548640" y="295351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005840" y="2935224"/>
            <a:ext cx="4846320" cy="365760"/>
          </a:xfrm>
          <a:prstGeom prst="rect">
            <a:avLst/>
          </a:prstGeom>
          <a:noFill/>
          <a:ln/>
        </p:spPr>
        <p:txBody>
          <a:bodyPr wrap="square" lIns="0" tIns="0" rIns="0" bIns="0" rtlCol="0" anchor="ctr"/>
          <a:lstStyle/>
          <a:p>
            <a:pPr marL="0" indent="0">
              <a:buNone/>
            </a:pPr>
            <a:r>
              <a:rPr lang="en-US" sz="1400" b="1" dirty="0">
                <a:solidFill>
                  <a:srgbClr val="1B2140"/>
                </a:solidFill>
                <a:latin typeface="Calibri" pitchFamily="34" charset="0"/>
                <a:ea typeface="Calibri" pitchFamily="34" charset="-122"/>
                <a:cs typeface="Calibri" pitchFamily="34" charset="-120"/>
              </a:rPr>
              <a:t>Pasang OpenBabel (contoh via conda)</a:t>
            </a:r>
            <a:endParaRPr lang="en-US" sz="1400" dirty="0"/>
          </a:p>
        </p:txBody>
      </p:sp>
      <p:sp>
        <p:nvSpPr>
          <p:cNvPr id="13" name="Text 11"/>
          <p:cNvSpPr txBox="1"/>
          <p:nvPr/>
        </p:nvSpPr>
        <p:spPr>
          <a:xfrm>
            <a:off x="1005840" y="3355848"/>
            <a:ext cx="4800600" cy="640080"/>
          </a:xfrm>
          <a:prstGeom prst="roundRect">
            <a:avLst>
              <a:gd name="adj" fmla="val 14286"/>
            </a:avLst>
          </a:prstGeom>
          <a:solidFill>
            <a:srgbClr val="0E1533"/>
          </a:solidFill>
          <a:ln/>
        </p:spPr>
        <p:txBody>
          <a:bodyPr wrap="square" lIns="101600" tIns="101600" rIns="101600" bIns="101600" rtlCol="0" anchor="t"/>
          <a:lstStyle/>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conda create -n chemflow_tools \</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  -c conda-forge openbabel -y</a:t>
            </a:r>
            <a:endParaRPr lang="en-US" sz="1100" dirty="0"/>
          </a:p>
        </p:txBody>
      </p:sp>
      <p:sp>
        <p:nvSpPr>
          <p:cNvPr id="14" name="Shape 12"/>
          <p:cNvSpPr/>
          <p:nvPr/>
        </p:nvSpPr>
        <p:spPr>
          <a:xfrm>
            <a:off x="548640" y="4197096"/>
            <a:ext cx="329184" cy="329184"/>
          </a:xfrm>
          <a:prstGeom prst="ellipse">
            <a:avLst/>
          </a:prstGeom>
          <a:solidFill>
            <a:srgbClr val="3C71E8"/>
          </a:solidFill>
          <a:ln w="12700">
            <a:solidFill>
              <a:srgbClr val="3C71E8"/>
            </a:solidFill>
            <a:prstDash val="solid"/>
          </a:ln>
        </p:spPr>
        <p:txBody>
          <a:bodyPr/>
          <a:p/>
        </p:txBody>
      </p:sp>
      <p:sp>
        <p:nvSpPr>
          <p:cNvPr id="15" name="Text 13"/>
          <p:cNvSpPr txBox="1"/>
          <p:nvPr/>
        </p:nvSpPr>
        <p:spPr>
          <a:xfrm>
            <a:off x="548640" y="419709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txBox="1"/>
          <p:nvPr/>
        </p:nvSpPr>
        <p:spPr>
          <a:xfrm>
            <a:off x="1005840" y="4178808"/>
            <a:ext cx="4846320" cy="365760"/>
          </a:xfrm>
          <a:prstGeom prst="rect">
            <a:avLst/>
          </a:prstGeom>
          <a:noFill/>
          <a:ln/>
        </p:spPr>
        <p:txBody>
          <a:bodyPr wrap="square" lIns="0" tIns="0" rIns="0" bIns="0" rtlCol="0" anchor="ctr"/>
          <a:lstStyle/>
          <a:p>
            <a:pPr marL="0" indent="0">
              <a:buNone/>
            </a:pPr>
            <a:r>
              <a:rPr lang="en-US" sz="1400" b="1" dirty="0">
                <a:solidFill>
                  <a:srgbClr val="1B2140"/>
                </a:solidFill>
                <a:latin typeface="Calibri" pitchFamily="34" charset="0"/>
                <a:ea typeface="Calibri" pitchFamily="34" charset="-122"/>
                <a:cs typeface="Calibri" pitchFamily="34" charset="-120"/>
              </a:rPr>
              <a:t>Cek kesiapan dan buat templat</a:t>
            </a:r>
            <a:endParaRPr lang="en-US" sz="1400" dirty="0"/>
          </a:p>
        </p:txBody>
      </p:sp>
      <p:sp>
        <p:nvSpPr>
          <p:cNvPr id="17" name="Text 15"/>
          <p:cNvSpPr txBox="1"/>
          <p:nvPr/>
        </p:nvSpPr>
        <p:spPr>
          <a:xfrm>
            <a:off x="1005840" y="4599432"/>
            <a:ext cx="4800600" cy="411480"/>
          </a:xfrm>
          <a:prstGeom prst="roundRect">
            <a:avLst>
              <a:gd name="adj" fmla="val 22222"/>
            </a:avLst>
          </a:prstGeom>
          <a:solidFill>
            <a:srgbClr val="0E1533"/>
          </a:solidFill>
          <a:ln/>
        </p:spPr>
        <p:txBody>
          <a:bodyPr wrap="square" lIns="101600" tIns="101600" rIns="101600" bIns="101600" rtlCol="0" anchor="t"/>
          <a:lstStyle/>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python -m chemflow init --output contoh/</a:t>
            </a:r>
            <a:endParaRPr lang="en-US" sz="1100" dirty="0"/>
          </a:p>
        </p:txBody>
      </p:sp>
      <p:sp>
        <p:nvSpPr>
          <p:cNvPr id="18" name="Shape 16"/>
          <p:cNvSpPr/>
          <p:nvPr/>
        </p:nvSpPr>
        <p:spPr>
          <a:xfrm>
            <a:off x="548640" y="5257800"/>
            <a:ext cx="5257800" cy="914400"/>
          </a:xfrm>
          <a:prstGeom prst="roundRect">
            <a:avLst>
              <a:gd name="adj" fmla="val 10000"/>
            </a:avLst>
          </a:prstGeom>
          <a:solidFill>
            <a:srgbClr val="FCF0D6"/>
          </a:solidFill>
          <a:ln w="15875">
            <a:solidFill>
              <a:srgbClr val="E69F00"/>
            </a:solidFill>
            <a:prstDash val="solid"/>
          </a:ln>
        </p:spPr>
        <p:txBody>
          <a:bodyPr/>
          <a:p/>
        </p:txBody>
      </p:sp>
      <p:sp>
        <p:nvSpPr>
          <p:cNvPr id="19" name="Text 17"/>
          <p:cNvSpPr txBox="1"/>
          <p:nvPr/>
        </p:nvSpPr>
        <p:spPr>
          <a:xfrm>
            <a:off x="713232" y="5349240"/>
            <a:ext cx="4928616" cy="731520"/>
          </a:xfrm>
          <a:prstGeom prst="rect">
            <a:avLst/>
          </a:prstGeom>
          <a:noFill/>
          <a:ln/>
        </p:spPr>
        <p:txBody>
          <a:bodyPr wrap="square" lIns="0" tIns="0" rIns="0" bIns="0" rtlCol="0" anchor="t"/>
          <a:lstStyle/>
          <a:p>
            <a:pPr marL="0" indent="0">
              <a:spcAft>
                <a:spcPts val="300"/>
              </a:spcAft>
              <a:buNone/>
            </a:pPr>
            <a:r>
              <a:rPr lang="en-US" sz="1300" b="1" dirty="0">
                <a:solidFill>
                  <a:srgbClr val="1B2140"/>
                </a:solidFill>
                <a:latin typeface="Calibri" pitchFamily="34" charset="0"/>
                <a:ea typeface="Calibri" pitchFamily="34" charset="-122"/>
                <a:cs typeface="Calibri" pitchFamily="34" charset="-120"/>
              </a:rPr>
              <a:t>Yang perlu dicermati</a:t>
            </a:r>
            <a:endParaRPr lang="en-US" sz="1300" dirty="0"/>
          </a:p>
          <a:p>
            <a:pPr marL="0" indent="0">
              <a:spcAft>
                <a:spcPts val="300"/>
              </a:spcAft>
              <a:buNone/>
            </a:pPr>
            <a:r>
              <a:rPr lang="en-US" sz="1150" dirty="0">
                <a:solidFill>
                  <a:srgbClr val="1B2140"/>
                </a:solidFill>
                <a:latin typeface="Calibri" pitchFamily="34" charset="0"/>
                <a:ea typeface="Calibri" pitchFamily="34" charset="-122"/>
                <a:cs typeface="Calibri" pitchFamily="34" charset="-120"/>
              </a:rPr>
              <a:t>Tanda !! berarti perlu perhatian. Di mesin ini OpenBabel belum ada di PATH, sehingga run memerlukan --openbabel-path. Vina tidak perlu dipasang: diunduh otomatis.</a:t>
            </a:r>
            <a:endParaRPr lang="en-US" sz="1300" dirty="0"/>
          </a:p>
        </p:txBody>
      </p:sp>
      <p:sp>
        <p:nvSpPr>
          <p:cNvPr id="20" name="Text 18"/>
          <p:cNvSpPr txBox="1"/>
          <p:nvPr/>
        </p:nvSpPr>
        <p:spPr>
          <a:xfrm>
            <a:off x="6126480" y="1691640"/>
            <a:ext cx="5513832" cy="4160520"/>
          </a:xfrm>
          <a:prstGeom prst="roundRect">
            <a:avLst>
              <a:gd name="adj" fmla="val 2198"/>
            </a:avLst>
          </a:prstGeom>
          <a:solidFill>
            <a:srgbClr val="0E1533"/>
          </a:solidFill>
          <a:ln/>
        </p:spPr>
        <p:txBody>
          <a:bodyPr wrap="square" lIns="127000" tIns="127000" rIns="127000" bIns="127000" rtlCol="0" anchor="t"/>
          <a:lstStyle/>
          <a:p>
            <a:pPr marL="0" indent="0">
              <a:spcAft>
                <a:spcPts val="100"/>
              </a:spcAft>
              <a:buNone/>
            </a:pPr>
            <a:r>
              <a:rPr lang="en-US" sz="1000" dirty="0">
                <a:solidFill>
                  <a:srgbClr val="DCE4FF"/>
                </a:solidFill>
                <a:latin typeface="Courier New" pitchFamily="34" charset="0"/>
                <a:ea typeface="Courier New" pitchFamily="34" charset="-122"/>
                <a:cs typeface="Courier New" pitchFamily="34" charset="-120"/>
              </a:rPr>
              <a:t>=== Pemeriksaan Kesiapan Mesin chemflow ===</a:t>
            </a:r>
            <a:endParaRPr lang="en-US" sz="1000" dirty="0"/>
          </a:p>
          <a:p>
            <a:pPr marL="0" indent="0">
              <a:spcAft>
                <a:spcPts val="100"/>
              </a:spcAft>
              <a:buNone/>
            </a:pPr>
            <a:endParaRPr lang="en-US" sz="1000" dirty="0"/>
          </a:p>
          <a:p>
            <a:pPr marL="0" indent="0">
              <a:spcAft>
                <a:spcPts val="100"/>
              </a:spcAft>
              <a:buNone/>
            </a:pPr>
            <a:r>
              <a:rPr lang="en-US" sz="1000" dirty="0">
                <a:solidFill>
                  <a:srgbClr val="DCE4FF"/>
                </a:solidFill>
                <a:latin typeface="Courier New" pitchFamily="34" charset="0"/>
                <a:ea typeface="Courier New" pitchFamily="34" charset="-122"/>
                <a:cs typeface="Courier New" pitchFamily="34" charset="-120"/>
              </a:rPr>
              <a:t>[Python]</a:t>
            </a:r>
            <a:endParaRPr lang="en-US" sz="1000" dirty="0"/>
          </a:p>
          <a:p>
            <a:pPr marL="0" indent="0">
              <a:spcAft>
                <a:spcPts val="100"/>
              </a:spcAft>
              <a:buNone/>
            </a:pPr>
            <a:r>
              <a:rPr lang="en-US" sz="1000" dirty="0">
                <a:solidFill>
                  <a:srgbClr val="DCE4FF"/>
                </a:solidFill>
                <a:latin typeface="Courier New" pitchFamily="34" charset="0"/>
                <a:ea typeface="Courier New" pitchFamily="34" charset="-122"/>
                <a:cs typeface="Courier New" pitchFamily="34" charset="-120"/>
              </a:rPr>
              <a:t>  OK  Versi interpreter: 3.14.6 (OK)</a:t>
            </a:r>
            <a:endParaRPr lang="en-US" sz="1000" dirty="0"/>
          </a:p>
          <a:p>
            <a:pPr marL="0" indent="0">
              <a:spcAft>
                <a:spcPts val="100"/>
              </a:spcAft>
              <a:buNone/>
            </a:pPr>
            <a:r>
              <a:rPr lang="en-US" sz="1000" dirty="0">
                <a:solidFill>
                  <a:srgbClr val="DCE4FF"/>
                </a:solidFill>
                <a:latin typeface="Courier New" pitchFamily="34" charset="0"/>
                <a:ea typeface="Courier New" pitchFamily="34" charset="-122"/>
                <a:cs typeface="Courier New" pitchFamily="34" charset="-120"/>
              </a:rPr>
              <a:t>[Paket Python]</a:t>
            </a:r>
            <a:endParaRPr lang="en-US" sz="1000" dirty="0"/>
          </a:p>
          <a:p>
            <a:pPr marL="0" indent="0">
              <a:spcAft>
                <a:spcPts val="100"/>
              </a:spcAft>
              <a:buNone/>
            </a:pPr>
            <a:r>
              <a:rPr lang="en-US" sz="1000" dirty="0">
                <a:solidFill>
                  <a:srgbClr val="DCE4FF"/>
                </a:solidFill>
                <a:latin typeface="Courier New" pitchFamily="34" charset="0"/>
                <a:ea typeface="Courier New" pitchFamily="34" charset="-122"/>
                <a:cs typeface="Courier New" pitchFamily="34" charset="-120"/>
              </a:rPr>
              <a:t>  OK  rdkit: terpasang (v2026.03.5)</a:t>
            </a:r>
            <a:endParaRPr lang="en-US" sz="1000" dirty="0"/>
          </a:p>
          <a:p>
            <a:pPr marL="0" indent="0">
              <a:spcAft>
                <a:spcPts val="100"/>
              </a:spcAft>
              <a:buNone/>
            </a:pPr>
            <a:r>
              <a:rPr lang="en-US" sz="1000" dirty="0">
                <a:solidFill>
                  <a:srgbClr val="DCE4FF"/>
                </a:solidFill>
                <a:latin typeface="Courier New" pitchFamily="34" charset="0"/>
                <a:ea typeface="Courier New" pitchFamily="34" charset="-122"/>
                <a:cs typeface="Courier New" pitchFamily="34" charset="-120"/>
              </a:rPr>
              <a:t>  OK  pandas: terpasang (v3.0.5)</a:t>
            </a:r>
            <a:endParaRPr lang="en-US" sz="1000" dirty="0"/>
          </a:p>
          <a:p>
            <a:pPr marL="0" indent="0">
              <a:spcAft>
                <a:spcPts val="100"/>
              </a:spcAft>
              <a:buNone/>
            </a:pPr>
            <a:r>
              <a:rPr lang="en-US" sz="1000" dirty="0">
                <a:solidFill>
                  <a:srgbClr val="DCE4FF"/>
                </a:solidFill>
                <a:latin typeface="Courier New" pitchFamily="34" charset="0"/>
                <a:ea typeface="Courier New" pitchFamily="34" charset="-122"/>
                <a:cs typeface="Courier New" pitchFamily="34" charset="-120"/>
              </a:rPr>
              <a:t>  OK  openpyxl: terpasang (v3.1.5)</a:t>
            </a:r>
            <a:endParaRPr lang="en-US" sz="1000" dirty="0"/>
          </a:p>
          <a:p>
            <a:pPr marL="0" indent="0">
              <a:spcAft>
                <a:spcPts val="100"/>
              </a:spcAft>
              <a:buNone/>
            </a:pPr>
            <a:r>
              <a:rPr lang="en-US" sz="1000" dirty="0">
                <a:solidFill>
                  <a:srgbClr val="DCE4FF"/>
                </a:solidFill>
                <a:latin typeface="Courier New" pitchFamily="34" charset="0"/>
                <a:ea typeface="Courier New" pitchFamily="34" charset="-122"/>
                <a:cs typeface="Courier New" pitchFamily="34" charset="-120"/>
              </a:rPr>
              <a:t>  ... (9 paket diperiksa)</a:t>
            </a:r>
            <a:endParaRPr lang="en-US" sz="1000" dirty="0"/>
          </a:p>
          <a:p>
            <a:pPr marL="0" indent="0">
              <a:spcAft>
                <a:spcPts val="100"/>
              </a:spcAft>
              <a:buNone/>
            </a:pPr>
            <a:r>
              <a:rPr lang="en-US" sz="1000" dirty="0">
                <a:solidFill>
                  <a:srgbClr val="DCE4FF"/>
                </a:solidFill>
                <a:latin typeface="Courier New" pitchFamily="34" charset="0"/>
                <a:ea typeface="Courier New" pitchFamily="34" charset="-122"/>
                <a:cs typeface="Courier New" pitchFamily="34" charset="-120"/>
              </a:rPr>
              <a:t>[Tool eksternal]</a:t>
            </a:r>
            <a:endParaRPr lang="en-US" sz="1000" dirty="0"/>
          </a:p>
          <a:p>
            <a:pPr marL="0" indent="0">
              <a:spcAft>
                <a:spcPts val="100"/>
              </a:spcAft>
              <a:buNone/>
            </a:pPr>
            <a:r>
              <a:rPr lang="en-US" sz="1000" dirty="0">
                <a:solidFill>
                  <a:srgbClr val="DCE4FF"/>
                </a:solidFill>
                <a:latin typeface="Courier New" pitchFamily="34" charset="0"/>
                <a:ea typeface="Courier New" pitchFamily="34" charset="-122"/>
                <a:cs typeface="Courier New" pitchFamily="34" charset="-120"/>
              </a:rPr>
              <a:t>  !!  OpenBabel: tidak ditemukan di PATH</a:t>
            </a:r>
            <a:endParaRPr lang="en-US" sz="1000" dirty="0"/>
          </a:p>
          <a:p>
            <a:pPr marL="0" indent="0">
              <a:spcAft>
                <a:spcPts val="100"/>
              </a:spcAft>
              <a:buNone/>
            </a:pPr>
            <a:r>
              <a:rPr lang="en-US" sz="1000" dirty="0">
                <a:solidFill>
                  <a:srgbClr val="DCE4FF"/>
                </a:solidFill>
                <a:latin typeface="Courier New" pitchFamily="34" charset="0"/>
                <a:ea typeface="Courier New" pitchFamily="34" charset="-122"/>
                <a:cs typeface="Courier New" pitchFamily="34" charset="-120"/>
              </a:rPr>
              <a:t>[AutoDock Vina]</a:t>
            </a:r>
            <a:endParaRPr lang="en-US" sz="1000" dirty="0"/>
          </a:p>
          <a:p>
            <a:pPr marL="0" indent="0">
              <a:spcAft>
                <a:spcPts val="100"/>
              </a:spcAft>
              <a:buNone/>
            </a:pPr>
            <a:r>
              <a:rPr lang="en-US" sz="1000" dirty="0">
                <a:solidFill>
                  <a:srgbClr val="DCE4FF"/>
                </a:solidFill>
                <a:latin typeface="Courier New" pitchFamily="34" charset="0"/>
                <a:ea typeface="Courier New" pitchFamily="34" charset="-122"/>
                <a:cs typeface="Courier New" pitchFamily="34" charset="-120"/>
              </a:rPr>
              <a:t>  OK  GitHub Releases: 5 versi kompatibel</a:t>
            </a:r>
            <a:endParaRPr lang="en-US" sz="1000" dirty="0"/>
          </a:p>
          <a:p>
            <a:pPr marL="0" indent="0">
              <a:spcAft>
                <a:spcPts val="100"/>
              </a:spcAft>
              <a:buNone/>
            </a:pPr>
            <a:r>
              <a:rPr lang="en-US" sz="1000" dirty="0">
                <a:solidFill>
                  <a:srgbClr val="DCE4FF"/>
                </a:solidFill>
                <a:latin typeface="Courier New" pitchFamily="34" charset="0"/>
                <a:ea typeface="Courier New" pitchFamily="34" charset="-122"/>
                <a:cs typeface="Courier New" pitchFamily="34" charset="-120"/>
              </a:rPr>
              <a:t>      tersedia: 1.2.7, 1.2.6, 1.2.5, 1.2.4, 1.2.3</a:t>
            </a:r>
            <a:endParaRPr lang="en-US" sz="1000" dirty="0"/>
          </a:p>
          <a:p>
            <a:pPr marL="0" indent="0">
              <a:spcAft>
                <a:spcPts val="100"/>
              </a:spcAft>
              <a:buNone/>
            </a:pPr>
            <a:r>
              <a:rPr lang="en-US" sz="1000" dirty="0">
                <a:solidFill>
                  <a:srgbClr val="DCE4FF"/>
                </a:solidFill>
                <a:latin typeface="Courier New" pitchFamily="34" charset="0"/>
                <a:ea typeface="Courier New" pitchFamily="34" charset="-122"/>
                <a:cs typeface="Courier New" pitchFamily="34" charset="-120"/>
              </a:rPr>
              <a:t>[Jaringan]</a:t>
            </a:r>
            <a:endParaRPr lang="en-US" sz="1000" dirty="0"/>
          </a:p>
          <a:p>
            <a:pPr marL="0" indent="0">
              <a:spcAft>
                <a:spcPts val="100"/>
              </a:spcAft>
              <a:buNone/>
            </a:pPr>
            <a:r>
              <a:rPr lang="en-US" sz="1000" dirty="0">
                <a:solidFill>
                  <a:srgbClr val="DCE4FF"/>
                </a:solidFill>
                <a:latin typeface="Courier New" pitchFamily="34" charset="0"/>
                <a:ea typeface="Courier New" pitchFamily="34" charset="-122"/>
                <a:cs typeface="Courier New" pitchFamily="34" charset="-120"/>
              </a:rPr>
              <a:t>  OK  RCSB (unduh struktur PDB): terjangkau</a:t>
            </a:r>
            <a:endParaRPr lang="en-US" sz="1000" dirty="0"/>
          </a:p>
          <a:p>
            <a:pPr marL="0" indent="0">
              <a:spcAft>
                <a:spcPts val="100"/>
              </a:spcAft>
              <a:buNone/>
            </a:pPr>
            <a:r>
              <a:rPr lang="en-US" sz="1000" dirty="0">
                <a:solidFill>
                  <a:srgbClr val="DCE4FF"/>
                </a:solidFill>
                <a:latin typeface="Courier New" pitchFamily="34" charset="0"/>
                <a:ea typeface="Courier New" pitchFamily="34" charset="-122"/>
                <a:cs typeface="Courier New" pitchFamily="34" charset="-120"/>
              </a:rPr>
              <a:t>  OK  PubChem (resolusi SMILES): terjangkau</a:t>
            </a:r>
            <a:endParaRPr lang="en-US" sz="1000" dirty="0"/>
          </a:p>
          <a:p>
            <a:pPr marL="0" indent="0">
              <a:spcAft>
                <a:spcPts val="100"/>
              </a:spcAft>
              <a:buNone/>
            </a:pPr>
            <a:r>
              <a:rPr lang="en-US" sz="1000" dirty="0">
                <a:solidFill>
                  <a:srgbClr val="DCE4FF"/>
                </a:solidFill>
                <a:latin typeface="Courier New" pitchFamily="34" charset="0"/>
                <a:ea typeface="Courier New" pitchFamily="34" charset="-122"/>
                <a:cs typeface="Courier New" pitchFamily="34" charset="-120"/>
              </a:rPr>
              <a:t>  OK  ADMETLab3 (prediksi ADMET): terjangkau</a:t>
            </a:r>
            <a:endParaRPr lang="en-US" sz="1000" dirty="0"/>
          </a:p>
          <a:p>
            <a:pPr marL="0" indent="0">
              <a:spcAft>
                <a:spcPts val="100"/>
              </a:spcAft>
              <a:buNone/>
            </a:pPr>
            <a:r>
              <a:rPr lang="en-US" sz="1000" dirty="0">
                <a:solidFill>
                  <a:srgbClr val="DCE4FF"/>
                </a:solidFill>
                <a:latin typeface="Courier New" pitchFamily="34" charset="0"/>
                <a:ea typeface="Courier New" pitchFamily="34" charset="-122"/>
                <a:cs typeface="Courier New" pitchFamily="34" charset="-120"/>
              </a:rPr>
              <a:t>  OK  GitHub Releases (auto-download Vina): terjangkau</a:t>
            </a:r>
            <a:endParaRPr lang="en-US" sz="1000" dirty="0"/>
          </a:p>
          <a:p>
            <a:pPr marL="0" indent="0">
              <a:spcAft>
                <a:spcPts val="100"/>
              </a:spcAft>
              <a:buNone/>
            </a:pPr>
            <a:endParaRPr lang="en-US" sz="1000" dirty="0"/>
          </a:p>
          <a:p>
            <a:pPr marL="0" indent="0">
              <a:spcAft>
                <a:spcPts val="100"/>
              </a:spcAft>
              <a:buNone/>
            </a:pPr>
            <a:r>
              <a:rPr lang="en-US" sz="1000" dirty="0">
                <a:solidFill>
                  <a:srgbClr val="DCE4FF"/>
                </a:solidFill>
                <a:latin typeface="Courier New" pitchFamily="34" charset="0"/>
                <a:ea typeface="Courier New" pitchFamily="34" charset="-122"/>
                <a:cs typeface="Courier New" pitchFamily="34" charset="-120"/>
              </a:rPr>
              <a:t>1 hal butuh perhatian (lihat tanda '!!' di atas).</a:t>
            </a:r>
            <a:endParaRPr lang="en-US" sz="1000" dirty="0"/>
          </a:p>
        </p:txBody>
      </p:sp>
      <p:sp>
        <p:nvSpPr>
          <p:cNvPr id="21" name="Text 19"/>
          <p:cNvSpPr txBox="1"/>
          <p:nvPr/>
        </p:nvSpPr>
        <p:spPr>
          <a:xfrm>
            <a:off x="6126480" y="5897880"/>
            <a:ext cx="5513832" cy="365760"/>
          </a:xfrm>
          <a:prstGeom prst="rect">
            <a:avLst/>
          </a:prstGeom>
          <a:noFill/>
          <a:ln/>
        </p:spPr>
        <p:txBody>
          <a:bodyPr wrap="square" lIns="0" tIns="0" rIns="0" bIns="0" rtlCol="0" anchor="t"/>
          <a:lstStyle/>
          <a:p>
            <a:pPr marL="0" indent="0" algn="l">
              <a:buNone/>
            </a:pPr>
            <a:r>
              <a:rPr lang="en-US" sz="1000" dirty="0">
                <a:solidFill>
                  <a:srgbClr val="5B6480"/>
                </a:solidFill>
                <a:latin typeface="Calibri" pitchFamily="34" charset="0"/>
                <a:ea typeface="Calibri" pitchFamily="34" charset="-122"/>
                <a:cs typeface="Calibri" pitchFamily="34" charset="-120"/>
              </a:rPr>
              <a:t>Keluaran nyata python -m chemflow init (dipotong).</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75004"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D · PRAKTIK</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Menjalankan chemflow: dari gridbox sampai similaritas</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29</a:t>
            </a:r>
            <a:endParaRPr lang="en-US" sz="1000" dirty="0"/>
          </a:p>
        </p:txBody>
      </p:sp>
      <p:sp>
        <p:nvSpPr>
          <p:cNvPr id="6" name="Text 4"/>
          <p:cNvSpPr txBox="1"/>
          <p:nvPr/>
        </p:nvSpPr>
        <p:spPr>
          <a:xfrm>
            <a:off x="548640" y="1645920"/>
            <a:ext cx="5303520" cy="676656"/>
          </a:xfrm>
          <a:prstGeom prst="roundRect">
            <a:avLst>
              <a:gd name="adj" fmla="val 11765"/>
            </a:avLst>
          </a:prstGeom>
          <a:solidFill>
            <a:srgbClr val="0E1533"/>
          </a:solidFill>
          <a:ln/>
        </p:spPr>
        <p:txBody>
          <a:bodyPr wrap="square" lIns="127000" tIns="127000" rIns="127000" bIns="127000" rtlCol="0" anchor="t"/>
          <a:lstStyle/>
          <a:p>
            <a:pPr marL="0" indent="0">
              <a:spcAft>
                <a:spcPts val="100"/>
              </a:spcAft>
              <a:buNone/>
            </a:pPr>
            <a:r>
              <a:rPr lang="en-US" sz="1100" dirty="0">
                <a:solidFill>
                  <a:srgbClr val="8FA3E6"/>
                </a:solidFill>
                <a:latin typeface="Courier New" pitchFamily="34" charset="0"/>
                <a:ea typeface="Courier New" pitchFamily="34" charset="-122"/>
                <a:cs typeface="Courier New" pitchFamily="34" charset="-120"/>
              </a:rPr>
              <a:t># 1. susun reseptor.xlsx secara interaktif</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python -m chemflow receptor-config</a:t>
            </a:r>
            <a:endParaRPr lang="en-US" sz="1100" dirty="0"/>
          </a:p>
        </p:txBody>
      </p:sp>
      <p:sp>
        <p:nvSpPr>
          <p:cNvPr id="7" name="Text 5"/>
          <p:cNvSpPr txBox="1"/>
          <p:nvPr/>
        </p:nvSpPr>
        <p:spPr>
          <a:xfrm>
            <a:off x="548640" y="2359152"/>
            <a:ext cx="5303520" cy="1536192"/>
          </a:xfrm>
          <a:prstGeom prst="roundRect">
            <a:avLst>
              <a:gd name="adj" fmla="val 4545"/>
            </a:avLst>
          </a:prstGeom>
          <a:solidFill>
            <a:srgbClr val="0E1533"/>
          </a:solidFill>
          <a:ln/>
        </p:spPr>
        <p:txBody>
          <a:bodyPr wrap="square" lIns="127000" tIns="127000" rIns="127000" bIns="127000" rtlCol="0" anchor="t"/>
          <a:lstStyle/>
          <a:p>
            <a:pPr marL="0" indent="0">
              <a:spcAft>
                <a:spcPts val="100"/>
              </a:spcAft>
              <a:buNone/>
            </a:pPr>
            <a:r>
              <a:rPr lang="en-US" sz="1100" dirty="0">
                <a:solidFill>
                  <a:srgbClr val="8FA3E6"/>
                </a:solidFill>
                <a:latin typeface="Courier New" pitchFamily="34" charset="0"/>
                <a:ea typeface="Courier New" pitchFamily="34" charset="-122"/>
                <a:cs typeface="Courier New" pitchFamily="34" charset="-120"/>
              </a:rPr>
              <a:t># 2. pipeline penuh (contoh perintah)</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python -m chemflow run \</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  --ligands ligan.xlsx \</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  --receptors reseptor.xlsx \</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  --output hasil/ \</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  --run-rmsd-validation \</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  --n-replicates 2 --exhaustiveness 16</a:t>
            </a:r>
            <a:endParaRPr lang="en-US" sz="1100" dirty="0"/>
          </a:p>
        </p:txBody>
      </p:sp>
      <p:sp>
        <p:nvSpPr>
          <p:cNvPr id="8" name="Text 6"/>
          <p:cNvSpPr txBox="1"/>
          <p:nvPr/>
        </p:nvSpPr>
        <p:spPr>
          <a:xfrm>
            <a:off x="548640" y="4718304"/>
            <a:ext cx="5303520" cy="1188720"/>
          </a:xfrm>
          <a:prstGeom prst="roundRect">
            <a:avLst>
              <a:gd name="adj" fmla="val 11765"/>
            </a:avLst>
          </a:prstGeom>
          <a:solidFill>
            <a:srgbClr val="0E1533"/>
          </a:solidFill>
          <a:ln/>
        </p:spPr>
        <p:txBody>
          <a:bodyPr wrap="square" lIns="127000" tIns="127000" rIns="127000" bIns="127000" rtlCol="0" anchor="t"/>
          <a:lstStyle/>
          <a:p>
            <a:pPr marL="0" indent="0">
              <a:spcAft>
                <a:spcPts val="100"/>
              </a:spcAft>
              <a:buNone/>
            </a:pPr>
            <a:r>
              <a:rPr lang="en-US" sz="1100" dirty="0">
                <a:solidFill>
                  <a:srgbClr val="8FA3E6"/>
                </a:solidFill>
                <a:latin typeface="Courier New" pitchFamily="34" charset="0"/>
                <a:ea typeface="Courier New" pitchFamily="34" charset="-122"/>
                <a:cs typeface="Courier New" pitchFamily="34" charset="-120"/>
              </a:rPr>
              <a:t># 4. opsional: interaksi BIOVIA, similaritas, dan GC-MS</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python -m chemflow interactions --output hasil/</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python -m chemflow similarity --output hasil/</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python -m chemflow gcms --data data-gcms/ --output hasil/</a:t>
            </a:r>
            <a:endParaRPr lang="en-US" sz="1100" dirty="0"/>
          </a:p>
        </p:txBody>
      </p:sp>
      <p:sp>
        <p:nvSpPr>
          <p:cNvPr id="12" name="Text 6 salinan"/>
          <p:cNvSpPr txBox="1"/>
          <p:nvPr/>
        </p:nvSpPr>
        <p:spPr>
          <a:xfrm>
            <a:off x="548640" y="3968496"/>
            <a:ext cx="5303520" cy="676656"/>
          </a:xfrm>
          <a:prstGeom prst="roundRect">
            <a:avLst>
              <a:gd name="adj" fmla="val 11765"/>
            </a:avLst>
          </a:prstGeom>
          <a:solidFill>
            <a:srgbClr val="0E1533"/>
          </a:solidFill>
          <a:ln/>
        </p:spPr>
        <p:txBody>
          <a:bodyPr wrap="square" lIns="127000" tIns="127000" rIns="127000" bIns="127000" rtlCol="0" anchor="t"/>
          <a:lstStyle/>
          <a:p>
            <a:pPr marL="0" indent="0">
              <a:spcAft>
                <a:spcPts val="100"/>
              </a:spcAft>
              <a:buNone/>
            </a:pPr>
            <a:r>
              <a:rPr lang="en-US" sz="1100" dirty="0">
                <a:solidFill>
                  <a:srgbClr val="8FA3E6"/>
                </a:solidFill>
                <a:latin typeface="Courier New" pitchFamily="34" charset="0"/>
                <a:ea typeface="Courier New" pitchFamily="34" charset="-122"/>
                <a:cs typeface="Courier New" pitchFamily="34" charset="-120"/>
              </a:rPr>
              <a:t># 3. lanjutkan run yang terhenti</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python -m chemflow resume --output hasil/</a:t>
            </a:r>
            <a:endParaRPr lang="en-US" sz="1100" dirty="0"/>
          </a:p>
        </p:txBody>
      </p:sp>
      <p:sp>
        <p:nvSpPr>
          <p:cNvPr id="9" name="Text 7"/>
          <p:cNvSpPr txBox="1"/>
          <p:nvPr/>
        </p:nvSpPr>
        <p:spPr>
          <a:xfrm>
            <a:off x="548640" y="5961888"/>
            <a:ext cx="5303520" cy="365760"/>
          </a:xfrm>
          <a:prstGeom prst="rect">
            <a:avLst/>
          </a:prstGeom>
          <a:noFill/>
          <a:ln/>
        </p:spPr>
        <p:txBody>
          <a:bodyPr wrap="square" lIns="0" tIns="0" rIns="0" bIns="0" rtlCol="0" anchor="t"/>
          <a:lstStyle/>
          <a:p>
            <a:pPr marL="0" indent="0" algn="l">
              <a:buNone/>
            </a:pPr>
            <a:r>
              <a:rPr lang="en-US" sz="1000" dirty="0">
                <a:solidFill>
                  <a:srgbClr val="5B6480"/>
                </a:solidFill>
                <a:latin typeface="Calibri" pitchFamily="34" charset="0"/>
                <a:ea typeface="Calibri" pitchFamily="34" charset="-122"/>
                <a:cs typeface="Calibri" pitchFamily="34" charset="-120"/>
              </a:rPr>
              <a:t>Progress bar (tqdm) tampil di tiap tahap panjang; --no-progress mematikannya.</a:t>
            </a:r>
            <a:endParaRPr lang="en-US" sz="1000" dirty="0"/>
          </a:p>
        </p:txBody>
      </p:sp>
      <p:sp>
        <p:nvSpPr>
          <p:cNvPr id="10" name="Text 8"/>
          <p:cNvSpPr txBox="1"/>
          <p:nvPr/>
        </p:nvSpPr>
        <p:spPr>
          <a:xfrm>
            <a:off x="6080760" y="1645920"/>
            <a:ext cx="5577840" cy="274320"/>
          </a:xfrm>
          <a:prstGeom prst="rect">
            <a:avLst/>
          </a:prstGeom>
          <a:noFill/>
          <a:ln/>
        </p:spPr>
        <p:txBody>
          <a:bodyPr wrap="square" lIns="0" tIns="0" rIns="0" bIns="0" rtlCol="0" anchor="t"/>
          <a:lstStyle/>
          <a:p>
            <a:pPr marL="0" indent="0">
              <a:buNone/>
            </a:pPr>
            <a:r>
              <a:rPr lang="en-US" sz="1250" b="1" dirty="0">
                <a:solidFill>
                  <a:srgbClr val="5B6480"/>
                </a:solidFill>
                <a:latin typeface="Calibri" pitchFamily="34" charset="0"/>
                <a:ea typeface="Calibri" pitchFamily="34" charset="-122"/>
                <a:cs typeface="Calibri" pitchFamily="34" charset="-120"/>
              </a:rPr>
              <a:t>Cuplikan chemflow.log run demonstrasi (path dipendekkan)</a:t>
            </a:r>
            <a:endParaRPr lang="en-US" sz="1250" dirty="0"/>
          </a:p>
        </p:txBody>
      </p:sp>
      <p:sp>
        <p:nvSpPr>
          <p:cNvPr id="11" name="Text 9"/>
          <p:cNvSpPr txBox="1"/>
          <p:nvPr/>
        </p:nvSpPr>
        <p:spPr>
          <a:xfrm>
            <a:off x="6080760" y="1965960"/>
            <a:ext cx="5559552" cy="3657600"/>
          </a:xfrm>
          <a:prstGeom prst="roundRect">
            <a:avLst>
              <a:gd name="adj" fmla="val 2500"/>
            </a:avLst>
          </a:prstGeom>
          <a:solidFill>
            <a:srgbClr val="0E1533"/>
          </a:solidFill>
          <a:ln/>
        </p:spPr>
        <p:txBody>
          <a:bodyPr wrap="square" lIns="127000" tIns="127000" rIns="127000" bIns="127000" rtlCol="0" anchor="t"/>
          <a:lstStyle/>
          <a:p>
            <a:pPr marL="0" indent="0">
              <a:spcAft>
                <a:spcPts val="100"/>
              </a:spcAft>
              <a:buNone/>
            </a:pPr>
            <a:r>
              <a:rPr lang="en-US" sz="950" dirty="0">
                <a:solidFill>
                  <a:srgbClr val="DCE4FF"/>
                </a:solidFill>
                <a:latin typeface="Courier New" pitchFamily="34" charset="0"/>
                <a:ea typeface="Courier New" pitchFamily="34" charset="-122"/>
                <a:cs typeface="Courier New" pitchFamily="34" charset="-120"/>
              </a:rPr>
              <a:t>23:22:31 === chemflow: memulai pipeline ===</a:t>
            </a:r>
            <a:endParaRPr lang="en-US" sz="950" dirty="0"/>
          </a:p>
          <a:p>
            <a:pPr marL="0" indent="0">
              <a:spcAft>
                <a:spcPts val="100"/>
              </a:spcAft>
              <a:buNone/>
            </a:pPr>
            <a:r>
              <a:rPr lang="en-US" sz="950" dirty="0">
                <a:solidFill>
                  <a:srgbClr val="DCE4FF"/>
                </a:solidFill>
                <a:latin typeface="Courier New" pitchFamily="34" charset="0"/>
                <a:ea typeface="Courier New" pitchFamily="34" charset="-122"/>
                <a:cs typeface="Courier New" pitchFamily="34" charset="-120"/>
              </a:rPr>
              <a:t>23:22:31 [Ligan] Mode TIDY: nama='name', smiles='smiles', group='group'</a:t>
            </a:r>
            <a:endParaRPr lang="en-US" sz="950" dirty="0"/>
          </a:p>
          <a:p>
            <a:pPr marL="0" indent="0">
              <a:spcAft>
                <a:spcPts val="100"/>
              </a:spcAft>
              <a:buNone/>
            </a:pPr>
            <a:r>
              <a:rPr lang="en-US" sz="950" dirty="0">
                <a:solidFill>
                  <a:srgbClr val="DCE4FF"/>
                </a:solidFill>
                <a:latin typeface="Courier New" pitchFamily="34" charset="0"/>
                <a:ea typeface="Courier New" pitchFamily="34" charset="-122"/>
                <a:cs typeface="Courier New" pitchFamily="34" charset="-120"/>
              </a:rPr>
              <a:t>23:22:31 [Ligan] 10 senyawa dimuat (10 perlu resolusi PubChem, 2 kelompok terdeteksi).</a:t>
            </a:r>
            <a:endParaRPr lang="en-US" sz="950" dirty="0"/>
          </a:p>
          <a:p>
            <a:pPr marL="0" indent="0">
              <a:spcAft>
                <a:spcPts val="100"/>
              </a:spcAft>
              <a:buNone/>
            </a:pPr>
            <a:r>
              <a:rPr lang="en-US" sz="950" dirty="0">
                <a:solidFill>
                  <a:srgbClr val="DCE4FF"/>
                </a:solidFill>
                <a:latin typeface="Courier New" pitchFamily="34" charset="0"/>
                <a:ea typeface="Courier New" pitchFamily="34" charset="-122"/>
                <a:cs typeface="Courier New" pitchFamily="34" charset="-120"/>
              </a:rPr>
              <a:t>23:22:31 Resolusi PubChem untuk 10 senyawa tanpa SMILES ...</a:t>
            </a:r>
            <a:endParaRPr lang="en-US" sz="950" dirty="0"/>
          </a:p>
          <a:p>
            <a:pPr marL="0" indent="0">
              <a:spcAft>
                <a:spcPts val="100"/>
              </a:spcAft>
              <a:buNone/>
            </a:pPr>
            <a:r>
              <a:rPr lang="en-US" sz="950" dirty="0">
                <a:solidFill>
                  <a:srgbClr val="DCE4FF"/>
                </a:solidFill>
                <a:latin typeface="Courier New" pitchFamily="34" charset="0"/>
                <a:ea typeface="Courier New" pitchFamily="34" charset="-122"/>
                <a:cs typeface="Courier New" pitchFamily="34" charset="-120"/>
              </a:rPr>
              <a:t>23:22:42 [PubChem] 'curcumin' -&gt; COC1=C(C=CC(=C1)/C=C/C(=O)CC(=O)/C=C/C2=CC(=C(C=C2)O)OC)O</a:t>
            </a:r>
            <a:endParaRPr lang="en-US" sz="950" dirty="0"/>
          </a:p>
          <a:p>
            <a:pPr marL="0" indent="0">
              <a:spcAft>
                <a:spcPts val="100"/>
              </a:spcAft>
              <a:buNone/>
            </a:pPr>
            <a:r>
              <a:rPr lang="en-US" sz="950" dirty="0">
                <a:solidFill>
                  <a:srgbClr val="DCE4FF"/>
                </a:solidFill>
                <a:latin typeface="Courier New" pitchFamily="34" charset="0"/>
                <a:ea typeface="Courier New" pitchFamily="34" charset="-122"/>
                <a:cs typeface="Courier New" pitchFamily="34" charset="-120"/>
              </a:rPr>
              <a:t>23:22:43 Ligan siap docking: 10/10</a:t>
            </a:r>
            <a:endParaRPr lang="en-US" sz="950" dirty="0"/>
          </a:p>
          <a:p>
            <a:pPr marL="0" indent="0">
              <a:spcAft>
                <a:spcPts val="100"/>
              </a:spcAft>
              <a:buNone/>
            </a:pPr>
            <a:r>
              <a:rPr lang="en-US" sz="950" dirty="0">
                <a:solidFill>
                  <a:srgbClr val="DCE4FF"/>
                </a:solidFill>
                <a:latin typeface="Courier New" pitchFamily="34" charset="0"/>
                <a:ea typeface="Courier New" pitchFamily="34" charset="-122"/>
                <a:cs typeface="Courier New" pitchFamily="34" charset="-120"/>
              </a:rPr>
              <a:t>23:22:52 ADMET diperoleh untuk 10/10 senyawa.</a:t>
            </a:r>
            <a:endParaRPr lang="en-US" sz="950" dirty="0"/>
          </a:p>
          <a:p>
            <a:pPr marL="0" indent="0">
              <a:spcAft>
                <a:spcPts val="100"/>
              </a:spcAft>
              <a:buNone/>
            </a:pPr>
            <a:r>
              <a:rPr lang="en-US" sz="950" dirty="0">
                <a:solidFill>
                  <a:srgbClr val="DCE4FF"/>
                </a:solidFill>
                <a:latin typeface="Courier New" pitchFamily="34" charset="0"/>
                <a:ea typeface="Courier New" pitchFamily="34" charset="-122"/>
                <a:cs typeface="Courier New" pitchFamily="34" charset="-120"/>
              </a:rPr>
              <a:t>23:22:52 Mengunduh Vina 1.2.7 (windows/x86_64) dari GitHub Releases</a:t>
            </a:r>
            <a:endParaRPr lang="en-US" sz="950" dirty="0"/>
          </a:p>
          <a:p>
            <a:pPr marL="0" indent="0">
              <a:spcAft>
                <a:spcPts val="100"/>
              </a:spcAft>
              <a:buNone/>
            </a:pPr>
            <a:r>
              <a:rPr lang="en-US" sz="950" dirty="0">
                <a:solidFill>
                  <a:srgbClr val="DCE4FF"/>
                </a:solidFill>
                <a:latin typeface="Courier New" pitchFamily="34" charset="0"/>
                <a:ea typeface="Courier New" pitchFamily="34" charset="-122"/>
                <a:cs typeface="Courier New" pitchFamily="34" charset="-120"/>
              </a:rPr>
              <a:t>23:22:53 [Reseptor] Kolom gridbox ditemukan: center_x, center_y, center_z</a:t>
            </a:r>
            <a:endParaRPr lang="en-US" sz="950" dirty="0"/>
          </a:p>
          <a:p>
            <a:pPr marL="0" indent="0">
              <a:spcAft>
                <a:spcPts val="100"/>
              </a:spcAft>
              <a:buNone/>
            </a:pPr>
            <a:r>
              <a:rPr lang="en-US" sz="950" dirty="0">
                <a:solidFill>
                  <a:srgbClr val="DCE4FF"/>
                </a:solidFill>
                <a:latin typeface="Courier New" pitchFamily="34" charset="0"/>
                <a:ea typeface="Courier New" pitchFamily="34" charset="-122"/>
                <a:cs typeface="Courier New" pitchFamily="34" charset="-120"/>
              </a:rPr>
              <a:t>23:23:01 Reseptor siap docking: 5/5</a:t>
            </a:r>
            <a:endParaRPr lang="en-US" sz="950" dirty="0"/>
          </a:p>
          <a:p>
            <a:pPr marL="0" indent="0">
              <a:spcAft>
                <a:spcPts val="100"/>
              </a:spcAft>
              <a:buNone/>
            </a:pPr>
            <a:r>
              <a:rPr lang="en-US" sz="950" dirty="0">
                <a:solidFill>
                  <a:srgbClr val="DCE4FF"/>
                </a:solidFill>
                <a:latin typeface="Courier New" pitchFamily="34" charset="0"/>
                <a:ea typeface="Courier New" pitchFamily="34" charset="-122"/>
                <a:cs typeface="Courier New" pitchFamily="34" charset="-120"/>
              </a:rPr>
              <a:t>23:23:01 [1/100] Docking 'naproxen' -&gt; '1UWH_R001' (replikat 1/2)</a:t>
            </a:r>
            <a:endParaRPr lang="en-US" sz="950" dirty="0"/>
          </a:p>
          <a:p>
            <a:pPr marL="0" indent="0">
              <a:spcAft>
                <a:spcPts val="100"/>
              </a:spcAft>
              <a:buNone/>
            </a:pPr>
            <a:r>
              <a:rPr lang="en-US" sz="950" dirty="0">
                <a:solidFill>
                  <a:srgbClr val="DCE4FF"/>
                </a:solidFill>
                <a:latin typeface="Courier New" pitchFamily="34" charset="0"/>
                <a:ea typeface="Courier New" pitchFamily="34" charset="-122"/>
                <a:cs typeface="Courier New" pitchFamily="34" charset="-120"/>
              </a:rPr>
              <a:t>23:23:04 Vina selesai: 9 pose, afinitas terbaik=-8.607 kcal/mol</a:t>
            </a:r>
            <a:endParaRPr lang="en-US" sz="950" dirty="0"/>
          </a:p>
          <a:p>
            <a:pPr marL="0" indent="0">
              <a:spcAft>
                <a:spcPts val="100"/>
              </a:spcAft>
              <a:buNone/>
            </a:pPr>
            <a:r>
              <a:rPr lang="en-US" sz="950" dirty="0">
                <a:solidFill>
                  <a:srgbClr val="DCE4FF"/>
                </a:solidFill>
                <a:latin typeface="Courier New" pitchFamily="34" charset="0"/>
                <a:ea typeface="Courier New" pitchFamily="34" charset="-122"/>
                <a:cs typeface="Courier New" pitchFamily="34" charset="-120"/>
              </a:rPr>
              <a:t>23:31:14 [100/100] Docking 'berberine' -&gt; '1EVE_R005' (replikat 2/2)</a:t>
            </a:r>
            <a:endParaRPr lang="en-US" sz="950" dirty="0"/>
          </a:p>
          <a:p>
            <a:pPr marL="0" indent="0">
              <a:spcAft>
                <a:spcPts val="100"/>
              </a:spcAft>
              <a:buNone/>
            </a:pPr>
            <a:r>
              <a:rPr lang="en-US" sz="950" dirty="0">
                <a:solidFill>
                  <a:srgbClr val="DCE4FF"/>
                </a:solidFill>
                <a:latin typeface="Courier New" pitchFamily="34" charset="0"/>
                <a:ea typeface="Courier New" pitchFamily="34" charset="-122"/>
                <a:cs typeface="Courier New" pitchFamily="34" charset="-120"/>
              </a:rPr>
              <a:t>23:35:12 Hasil diekspor ke: hasil_chemflow.xlsx</a:t>
            </a:r>
            <a:endParaRPr lang="en-US" sz="950" dirty="0"/>
          </a:p>
          <a:p>
            <a:pPr marL="0" indent="0">
              <a:spcAft>
                <a:spcPts val="100"/>
              </a:spcAft>
              <a:buNone/>
            </a:pPr>
            <a:r>
              <a:rPr lang="en-US" sz="950" dirty="0">
                <a:solidFill>
                  <a:srgbClr val="DCE4FF"/>
                </a:solidFill>
                <a:latin typeface="Courier New" pitchFamily="34" charset="0"/>
                <a:ea typeface="Courier New" pitchFamily="34" charset="-122"/>
                <a:cs typeface="Courier New" pitchFamily="34" charset="-120"/>
              </a:rPr>
              <a:t>23:35:28 PCA kemometrik berhasil dibuat.</a:t>
            </a:r>
            <a:endParaRPr lang="en-US" sz="950" dirty="0"/>
          </a:p>
          <a:p>
            <a:pPr marL="0" indent="0">
              <a:spcAft>
                <a:spcPts val="100"/>
              </a:spcAft>
              <a:buNone/>
            </a:pPr>
            <a:r>
              <a:rPr lang="en-US" sz="950" dirty="0">
                <a:solidFill>
                  <a:srgbClr val="DCE4FF"/>
                </a:solidFill>
                <a:latin typeface="Courier New" pitchFamily="34" charset="0"/>
                <a:ea typeface="Courier New" pitchFamily="34" charset="-122"/>
                <a:cs typeface="Courier New" pitchFamily="34" charset="-120"/>
              </a:rPr>
              <a:t>23:35:29 === chemflow: pipeline selesai ===</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75004"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D · PRAKTIK</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Cheat-sheet opsi dan pemecahan masalah umum</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30</a:t>
            </a:r>
            <a:endParaRPr lang="en-US" sz="1000" dirty="0"/>
          </a:p>
        </p:txBody>
      </p:sp>
      <p:sp>
        <p:nvSpPr>
          <p:cNvPr id="6" name="Text 4"/>
          <p:cNvSpPr txBox="1"/>
          <p:nvPr/>
        </p:nvSpPr>
        <p:spPr>
          <a:xfrm>
            <a:off x="548640" y="1645920"/>
            <a:ext cx="5669280" cy="274320"/>
          </a:xfrm>
          <a:prstGeom prst="rect">
            <a:avLst/>
          </a:prstGeom>
          <a:noFill/>
          <a:ln/>
        </p:spPr>
        <p:txBody>
          <a:bodyPr wrap="square" lIns="0" tIns="0" rIns="0" bIns="0" rtlCol="0" anchor="t"/>
          <a:lstStyle/>
          <a:p>
            <a:pPr marL="0" indent="0">
              <a:buNone/>
            </a:pPr>
            <a:r>
              <a:rPr lang="en-US" sz="1400" b="1" dirty="0">
                <a:solidFill>
                  <a:srgbClr val="1B2140"/>
                </a:solidFill>
                <a:latin typeface="Calibri" pitchFamily="34" charset="0"/>
                <a:ea typeface="Calibri" pitchFamily="34" charset="-122"/>
                <a:cs typeface="Calibri" pitchFamily="34" charset="-120"/>
              </a:rPr>
              <a:t>Opsi penting chemflow run</a:t>
            </a:r>
            <a:endParaRPr lang="en-US" sz="14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5669280" cy="4159504"/>
        </p:xfrm>
        <a:graphic>
          <a:graphicData uri="http://schemas.openxmlformats.org/drawingml/2006/table">
            <a:tbl>
              <a:tblPr/>
              <a:tblGrid>
                <a:gridCol w="2331720">
                  <a:extLst>
                    <a:ext uri="{9D8B030D-6E8A-4147-A177-3AD203B41FA5}">
                      <a16:colId xmlns:a16="http://schemas.microsoft.com/office/drawing/2014/main" val="20000"/>
                    </a:ext>
                  </a:extLst>
                </a:gridCol>
                <a:gridCol w="3337560">
                  <a:extLst>
                    <a:ext uri="{9D8B030D-6E8A-4147-A177-3AD203B41FA5}">
                      <a16:colId xmlns:a16="http://schemas.microsoft.com/office/drawing/2014/main" val="20001"/>
                    </a:ext>
                  </a:extLst>
                </a:gridCol>
              </a:tblGrid>
              <a:tr h="292608">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Opsi</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Fungsi</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extLst>
                  <a:ext uri="{0D108BD9-81ED-4DB2-BD59-A6C34878D82A}">
                    <a16:rowId xmlns:a16="http://schemas.microsoft.com/office/drawing/2014/main" val="10000"/>
                  </a:ext>
                </a:extLst>
              </a:tr>
              <a:tr h="292608">
                <a:tc>
                  <a:txBody>
                    <a:bodyPr/>
                    <a:lstStyle/>
                    <a:p>
                      <a:pPr marL="0" indent="0">
                        <a:buNone/>
                      </a:pPr>
                      <a:r>
                        <a:rPr lang="en-US" sz="1000" dirty="0">
                          <a:solidFill>
                            <a:srgbClr val="1B2140"/>
                          </a:solidFill>
                          <a:latin typeface="Courier New" pitchFamily="34" charset="0"/>
                          <a:ea typeface="Courier New" pitchFamily="34" charset="-122"/>
                          <a:cs typeface="Courier New" pitchFamily="34" charset="-120"/>
                        </a:rPr>
                        <a:t>--run-rmsd-validation</a:t>
                      </a:r>
                      <a:endParaRPr lang="en-US" sz="100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Hitung RMSD in place ligan native (native selalu di-dock)</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000" dirty="0">
                          <a:solidFill>
                            <a:srgbClr val="1B2140"/>
                          </a:solidFill>
                          <a:latin typeface="Courier New" pitchFamily="34" charset="0"/>
                          <a:ea typeface="Courier New" pitchFamily="34" charset="-122"/>
                          <a:cs typeface="Courier New" pitchFamily="34" charset="-120"/>
                        </a:rPr>
                        <a:t>--n-replicates N</a:t>
                      </a:r>
                      <a:endParaRPr lang="en-US" sz="100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Ulangi tiap docking N kali, seed berbeda</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2"/>
                  </a:ext>
                </a:extLst>
              </a:tr>
              <a:tr h="292608">
                <a:tc>
                  <a:txBody>
                    <a:bodyPr/>
                    <a:lstStyle/>
                    <a:p>
                      <a:pPr marL="0" indent="0">
                        <a:buNone/>
                      </a:pPr>
                      <a:r>
                        <a:rPr lang="en-US" sz="1000" dirty="0">
                          <a:solidFill>
                            <a:srgbClr val="1B2140"/>
                          </a:solidFill>
                          <a:latin typeface="Courier New" pitchFamily="34" charset="0"/>
                          <a:ea typeface="Courier New" pitchFamily="34" charset="-122"/>
                          <a:cs typeface="Courier New" pitchFamily="34" charset="-120"/>
                        </a:rPr>
                        <a:t>--no-native</a:t>
                      </a:r>
                      <a:endParaRPr lang="en-US" sz="100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Jangan dock ligan native (tanpa pembanding)</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3483215250"/>
                  </a:ext>
                </a:extLst>
              </a:tr>
              <a:tr h="292608">
                <a:tc>
                  <a:txBody>
                    <a:bodyPr/>
                    <a:lstStyle/>
                    <a:p>
                      <a:pPr marL="0" indent="0">
                        <a:buNone/>
                      </a:pPr>
                      <a:r>
                        <a:rPr lang="en-US" sz="1000" dirty="0">
                          <a:solidFill>
                            <a:srgbClr val="1B2140"/>
                          </a:solidFill>
                          <a:latin typeface="Courier New" pitchFamily="34" charset="0"/>
                          <a:ea typeface="Courier New" pitchFamily="34" charset="-122"/>
                          <a:cs typeface="Courier New" pitchFamily="34" charset="-120"/>
                        </a:rPr>
                        <a:t>--box-padding N</a:t>
                      </a:r>
                      <a:endParaRPr lang="en-US" sz="100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Padding gridbox dari ukuran native (bawaan 8 Å)</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3066724162"/>
                  </a:ext>
                </a:extLst>
              </a:tr>
              <a:tr h="292608">
                <a:tc>
                  <a:txBody>
                    <a:bodyPr/>
                    <a:lstStyle/>
                    <a:p>
                      <a:pPr marL="0" indent="0">
                        <a:buNone/>
                      </a:pPr>
                      <a:r>
                        <a:rPr lang="en-US" sz="1000" dirty="0">
                          <a:solidFill>
                            <a:srgbClr val="1B2140"/>
                          </a:solidFill>
                          <a:latin typeface="Courier New" pitchFamily="34" charset="0"/>
                          <a:ea typeface="Courier New" pitchFamily="34" charset="-122"/>
                          <a:cs typeface="Courier New" pitchFamily="34" charset="-120"/>
                        </a:rPr>
                        <a:t>--exhaustiveness N</a:t>
                      </a:r>
                      <a:endParaRPr lang="en-US" sz="100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Ketelitian pencarian Vina (bawaan 8)</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000" dirty="0">
                          <a:solidFill>
                            <a:srgbClr val="1B2140"/>
                          </a:solidFill>
                          <a:latin typeface="Courier New" pitchFamily="34" charset="0"/>
                          <a:ea typeface="Courier New" pitchFamily="34" charset="-122"/>
                          <a:cs typeface="Courier New" pitchFamily="34" charset="-120"/>
                        </a:rPr>
                        <a:t>--seed N</a:t>
                      </a:r>
                      <a:endParaRPr lang="en-US" sz="100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Seed dasar; replikat = seed + n − 1</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4"/>
                  </a:ext>
                </a:extLst>
              </a:tr>
              <a:tr h="292608">
                <a:tc>
                  <a:txBody>
                    <a:bodyPr/>
                    <a:lstStyle/>
                    <a:p>
                      <a:pPr marL="0" indent="0">
                        <a:buNone/>
                      </a:pPr>
                      <a:r>
                        <a:rPr lang="en-US" sz="1000" dirty="0">
                          <a:solidFill>
                            <a:srgbClr val="1B2140"/>
                          </a:solidFill>
                          <a:latin typeface="Courier New" pitchFamily="34" charset="0"/>
                          <a:ea typeface="Courier New" pitchFamily="34" charset="-122"/>
                          <a:cs typeface="Courier New" pitchFamily="34" charset="-120"/>
                        </a:rPr>
                        <a:t>--merge-mode best|all</a:t>
                      </a:r>
                      <a:endParaRPr lang="en-US" sz="100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Satu pose terbaik atau semua pose</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1000" dirty="0">
                          <a:solidFill>
                            <a:srgbClr val="1B2140"/>
                          </a:solidFill>
                          <a:latin typeface="Courier New" pitchFamily="34" charset="0"/>
                          <a:ea typeface="Courier New" pitchFamily="34" charset="-122"/>
                          <a:cs typeface="Courier New" pitchFamily="34" charset="-120"/>
                        </a:rPr>
                        <a:t>--admet-file f</a:t>
                      </a:r>
                      <a:endParaRPr lang="en-US" sz="100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Pakai file ADMETLab3 (.csv, .xlsx)</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6"/>
                  </a:ext>
                </a:extLst>
              </a:tr>
              <a:tr h="292608">
                <a:tc>
                  <a:txBody>
                    <a:bodyPr/>
                    <a:lstStyle/>
                    <a:p>
                      <a:pPr marL="0" indent="0">
                        <a:buNone/>
                      </a:pPr>
                      <a:r>
                        <a:rPr lang="en-US" sz="1000" dirty="0">
                          <a:solidFill>
                            <a:srgbClr val="1B2140"/>
                          </a:solidFill>
                          <a:latin typeface="Courier New" pitchFamily="34" charset="0"/>
                          <a:ea typeface="Courier New" pitchFamily="34" charset="-122"/>
                          <a:cs typeface="Courier New" pitchFamily="34" charset="-120"/>
                        </a:rPr>
                        <a:t>--no-admet</a:t>
                      </a:r>
                      <a:endParaRPr lang="en-US" sz="100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Lewati ADMET</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92608">
                <a:tc>
                  <a:txBody>
                    <a:bodyPr/>
                    <a:lstStyle/>
                    <a:p>
                      <a:pPr marL="0" indent="0">
                        <a:buNone/>
                      </a:pPr>
                      <a:r>
                        <a:rPr lang="en-US" sz="1000" dirty="0">
                          <a:solidFill>
                            <a:srgbClr val="1B2140"/>
                          </a:solidFill>
                          <a:latin typeface="Courier New" pitchFamily="34" charset="0"/>
                          <a:ea typeface="Courier New" pitchFamily="34" charset="-122"/>
                          <a:cs typeface="Courier New" pitchFamily="34" charset="-120"/>
                        </a:rPr>
                        <a:t>--openbabel-path p</a:t>
                      </a:r>
                      <a:endParaRPr lang="en-US" sz="100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Lokasi obabel bila tak ada di PATH</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8"/>
                  </a:ext>
                </a:extLst>
              </a:tr>
              <a:tr h="292608">
                <a:tc>
                  <a:txBody>
                    <a:bodyPr/>
                    <a:lstStyle/>
                    <a:p>
                      <a:pPr marL="0" indent="0">
                        <a:buNone/>
                      </a:pPr>
                      <a:r>
                        <a:rPr lang="en-US" sz="1000" dirty="0">
                          <a:solidFill>
                            <a:srgbClr val="1B2140"/>
                          </a:solidFill>
                          <a:latin typeface="Courier New" pitchFamily="34" charset="0"/>
                          <a:ea typeface="Courier New" pitchFamily="34" charset="-122"/>
                          <a:cs typeface="Courier New" pitchFamily="34" charset="-120"/>
                        </a:rPr>
                        <a:t>--no-interactive-gridbox</a:t>
                      </a:r>
                      <a:endParaRPr lang="en-US" sz="100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Larang prompt; gridbox wajib di Excel</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92608">
                <a:tc>
                  <a:txBody>
                    <a:bodyPr/>
                    <a:lstStyle/>
                    <a:p>
                      <a:pPr marL="0" indent="0">
                        <a:buNone/>
                      </a:pPr>
                      <a:r>
                        <a:rPr lang="en-US" sz="1000" dirty="0">
                          <a:solidFill>
                            <a:srgbClr val="1B2140"/>
                          </a:solidFill>
                          <a:latin typeface="Courier New" pitchFamily="34" charset="0"/>
                          <a:ea typeface="Courier New" pitchFamily="34" charset="-122"/>
                          <a:cs typeface="Courier New" pitchFamily="34" charset="-120"/>
                        </a:rPr>
                        <a:t>--dpi, --figure-formats</a:t>
                      </a:r>
                      <a:endParaRPr lang="en-US" sz="100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Resolusi dan format grafik</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10"/>
                  </a:ext>
                </a:extLst>
              </a:tr>
              <a:tr h="292608">
                <a:tc>
                  <a:txBody>
                    <a:bodyPr/>
                    <a:lstStyle/>
                    <a:p>
                      <a:pPr marL="0" indent="0">
                        <a:buNone/>
                      </a:pPr>
                      <a:r>
                        <a:rPr lang="en-US" sz="1000" dirty="0">
                          <a:solidFill>
                            <a:srgbClr val="1B2140"/>
                          </a:solidFill>
                          <a:latin typeface="Courier New" pitchFamily="34" charset="0"/>
                          <a:ea typeface="Courier New" pitchFamily="34" charset="-122"/>
                          <a:cs typeface="Courier New" pitchFamily="34" charset="-120"/>
                        </a:rPr>
                        <a:t>--keep-waters</a:t>
                      </a:r>
                      <a:endParaRPr lang="en-US" sz="100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Efektif hanya bersama --keep-hetero-ligands (perilaku kode saat ini)</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8" name="Text 5"/>
          <p:cNvSpPr txBox="1"/>
          <p:nvPr/>
        </p:nvSpPr>
        <p:spPr>
          <a:xfrm>
            <a:off x="6492240" y="1645920"/>
            <a:ext cx="5120640" cy="274320"/>
          </a:xfrm>
          <a:prstGeom prst="rect">
            <a:avLst/>
          </a:prstGeom>
          <a:noFill/>
          <a:ln/>
        </p:spPr>
        <p:txBody>
          <a:bodyPr wrap="square" lIns="0" tIns="0" rIns="0" bIns="0" rtlCol="0" anchor="t"/>
          <a:lstStyle/>
          <a:p>
            <a:pPr marL="0" indent="0">
              <a:buNone/>
            </a:pPr>
            <a:r>
              <a:rPr lang="en-US" sz="1400" b="1" dirty="0">
                <a:solidFill>
                  <a:srgbClr val="1B2140"/>
                </a:solidFill>
                <a:latin typeface="Calibri" pitchFamily="34" charset="0"/>
                <a:ea typeface="Calibri" pitchFamily="34" charset="-122"/>
                <a:cs typeface="Calibri" pitchFamily="34" charset="-120"/>
              </a:rPr>
              <a:t>Gejala dan solusi</a:t>
            </a:r>
            <a:endParaRPr lang="en-US" sz="1400" dirty="0"/>
          </a:p>
        </p:txBody>
      </p:sp>
      <p:graphicFrame>
        <p:nvGraphicFramePr>
          <p:cNvPr id="61" name="Table 1"/>
          <p:cNvGraphicFramePr>
            <a:graphicFrameLocks noGrp="1"/>
          </p:cNvGraphicFramePr>
          <p:nvPr>
            <p:extLst>
              <p:ext uri="{D42A27DB-BD31-4B8C-83A1-F6EECF244321}">
                <p14:modId xmlns:p14="http://schemas.microsoft.com/office/powerpoint/2010/main" val="1579011935"/>
              </p:ext>
            </p:extLst>
          </p:nvPr>
        </p:nvGraphicFramePr>
        <p:xfrm>
          <a:off x="6492240" y="1965960"/>
          <a:ext cx="5148072" cy="4224528"/>
        </p:xfrm>
        <a:graphic>
          <a:graphicData uri="http://schemas.openxmlformats.org/drawingml/2006/table">
            <a:tbl>
              <a:tblPr/>
              <a:tblGrid>
                <a:gridCol w="2194560">
                  <a:extLst>
                    <a:ext uri="{9D8B030D-6E8A-4147-A177-3AD203B41FA5}">
                      <a16:colId xmlns:a16="http://schemas.microsoft.com/office/drawing/2014/main" val="20000"/>
                    </a:ext>
                  </a:extLst>
                </a:gridCol>
                <a:gridCol w="2953512">
                  <a:extLst>
                    <a:ext uri="{9D8B030D-6E8A-4147-A177-3AD203B41FA5}">
                      <a16:colId xmlns:a16="http://schemas.microsoft.com/office/drawing/2014/main" val="20001"/>
                    </a:ext>
                  </a:extLst>
                </a:gridCol>
              </a:tblGrid>
              <a:tr h="384048">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Gejala</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Penyebab dan solusi</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extLst>
                  <a:ext uri="{0D108BD9-81ED-4DB2-BD59-A6C34878D82A}">
                    <a16:rowId xmlns:a16="http://schemas.microsoft.com/office/drawing/2014/main" val="10000"/>
                  </a:ext>
                </a:extLst>
              </a:tr>
              <a:tr h="384048">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Executable 'obabel' tidak ditemukan</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Pasang OpenBabel atau pakai --openbabel-path</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SMILES tidak ditemukan di PubChem</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Isi kolom smiles, atau pakai nama internasional</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2"/>
                  </a:ext>
                </a:extLst>
              </a:tr>
              <a:tr h="384048">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ADMETLab3 429 atau timeout</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Retry otomatis; lanjut --admet-file atau --no-admet</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Jumlah baris file ADMET berbeda</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Jumlah baris = ligan atau SMILES unik; urutan sama dengan Excel ligan</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4"/>
                  </a:ext>
                </a:extLst>
              </a:tr>
              <a:tr h="384048">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Proses berhenti menunggu</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Pilih ligan native, atau isi gridbox / --no-interactive-gridbox</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PCA atau HCA dilewati</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Kolom group perlu minimal 2 nilai</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6"/>
                  </a:ext>
                </a:extLst>
              </a:tr>
              <a:tr h="384048">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Gagal mengunduh PDB</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Kode salah, atau struktur hanya tersedia sebagai mmCIF</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84048">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Path terlalu panjang (Windows)</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Pilih folder output lebih pendek</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8"/>
                  </a:ext>
                </a:extLst>
              </a:tr>
              <a:tr h="384048">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Run terhenti di tengah</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chemflow resume --output hasil/ (lanjut dari checkpoint)</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2981105595"/>
                  </a:ext>
                </a:extLst>
              </a:tr>
              <a:tr h="384048">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Grafik terpecah _part01of03</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1000" dirty="0">
                          <a:solidFill>
                            <a:srgbClr val="1B2140"/>
                          </a:solidFill>
                          <a:latin typeface="Calibri" pitchFamily="34" charset="0"/>
                          <a:ea typeface="Calibri" pitchFamily="34" charset="-122"/>
                          <a:cs typeface="Calibri" pitchFamily="34" charset="-120"/>
                        </a:rPr>
                        <a:t>Wajar bila ligan atau reseptor banyak; atur --plot-max-rows/cols (0 = satu gambar)</a:t>
                      </a:r>
                      <a:endParaRPr lang="en-US" sz="100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959888134"/>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75004"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D · PRAKTIK</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Library Python: pipeline penuh atau komponen tunggal</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31</a:t>
            </a:r>
            <a:endParaRPr lang="en-US" sz="1000" dirty="0"/>
          </a:p>
        </p:txBody>
      </p:sp>
      <p:sp>
        <p:nvSpPr>
          <p:cNvPr id="6" name="Text 4"/>
          <p:cNvSpPr txBox="1"/>
          <p:nvPr/>
        </p:nvSpPr>
        <p:spPr>
          <a:xfrm>
            <a:off x="548640" y="1645920"/>
            <a:ext cx="5486400" cy="274320"/>
          </a:xfrm>
          <a:prstGeom prst="rect">
            <a:avLst/>
          </a:prstGeom>
          <a:noFill/>
          <a:ln/>
        </p:spPr>
        <p:txBody>
          <a:bodyPr wrap="square" lIns="0" tIns="0" rIns="0" bIns="0" rtlCol="0" anchor="t"/>
          <a:lstStyle/>
          <a:p>
            <a:pPr marL="0" indent="0">
              <a:buNone/>
            </a:pPr>
            <a:r>
              <a:rPr lang="en-US" sz="1400" b="1" dirty="0">
                <a:solidFill>
                  <a:srgbClr val="1B2140"/>
                </a:solidFill>
                <a:latin typeface="Calibri" pitchFamily="34" charset="0"/>
                <a:ea typeface="Calibri" pitchFamily="34" charset="-122"/>
                <a:cs typeface="Calibri" pitchFamily="34" charset="-120"/>
              </a:rPr>
              <a:t>Pipeline penuh</a:t>
            </a:r>
            <a:endParaRPr lang="en-US" sz="1400" dirty="0"/>
          </a:p>
        </p:txBody>
      </p:sp>
      <p:sp>
        <p:nvSpPr>
          <p:cNvPr id="7" name="Text 5"/>
          <p:cNvSpPr txBox="1"/>
          <p:nvPr/>
        </p:nvSpPr>
        <p:spPr>
          <a:xfrm>
            <a:off x="548640" y="1965960"/>
            <a:ext cx="5486400" cy="2651760"/>
          </a:xfrm>
          <a:prstGeom prst="roundRect">
            <a:avLst>
              <a:gd name="adj" fmla="val 3448"/>
            </a:avLst>
          </a:prstGeom>
          <a:solidFill>
            <a:srgbClr val="0E1533"/>
          </a:solidFill>
          <a:ln/>
        </p:spPr>
        <p:txBody>
          <a:bodyPr wrap="square" lIns="127000" tIns="127000" rIns="127000" bIns="127000" rtlCol="0" anchor="t"/>
          <a:lstStyle/>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from chemflow import Pipeline, PipelineConfig</a:t>
            </a:r>
            <a:endParaRPr lang="en-US" sz="1100" dirty="0"/>
          </a:p>
          <a:p>
            <a:pPr marL="0" indent="0">
              <a:spcAft>
                <a:spcPts val="100"/>
              </a:spcAft>
              <a:buNone/>
            </a:pP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config = PipelineConfig(</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    ligand_excel="ligan.xlsx",</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    receptor_excel="reseptor.xlsx",</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    output_dir="hasil",</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    exhaustiveness=16,</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    n_replicates=2,</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    run_rmsd_validation=True,</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exit_code = Pipeline(config).run()   # 0 selesai, 1 fatal</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 130 bila Ctrl+C. Lanjutkan dengan:</a:t>
            </a:r>
            <a:endParaRPr lang="en-US" sz="1100" dirty="0"/>
          </a:p>
          <a:p>
            <a:pPr marL="0" indent="0">
              <a:spcAft>
                <a:spcPts val="100"/>
              </a:spcAft>
              <a:buNone/>
            </a:pPr>
            <a:r>
              <a:rPr lang="en-US" sz="1100" dirty="0">
                <a:solidFill>
                  <a:srgbClr val="DCE4FF"/>
                </a:solidFill>
                <a:latin typeface="Courier New" pitchFamily="34" charset="0"/>
                <a:ea typeface="Courier New" pitchFamily="34" charset="-122"/>
                <a:cs typeface="Courier New" pitchFamily="34" charset="-120"/>
              </a:rPr>
              <a:t>Pipeline(config, resume=True).run()</a:t>
            </a:r>
            <a:endParaRPr lang="en-US" sz="1100" dirty="0"/>
          </a:p>
        </p:txBody>
      </p:sp>
      <p:sp>
        <p:nvSpPr>
          <p:cNvPr id="8" name="Text 6"/>
          <p:cNvSpPr txBox="1"/>
          <p:nvPr/>
        </p:nvSpPr>
        <p:spPr>
          <a:xfrm>
            <a:off x="6309360" y="1645920"/>
            <a:ext cx="5486400" cy="274320"/>
          </a:xfrm>
          <a:prstGeom prst="rect">
            <a:avLst/>
          </a:prstGeom>
          <a:noFill/>
          <a:ln/>
        </p:spPr>
        <p:txBody>
          <a:bodyPr wrap="square" lIns="0" tIns="0" rIns="0" bIns="0" rtlCol="0" anchor="t"/>
          <a:lstStyle/>
          <a:p>
            <a:pPr marL="0" indent="0">
              <a:buNone/>
            </a:pPr>
            <a:r>
              <a:rPr lang="en-US" sz="1400" b="1" dirty="0">
                <a:solidFill>
                  <a:srgbClr val="1B2140"/>
                </a:solidFill>
                <a:latin typeface="Calibri" pitchFamily="34" charset="0"/>
                <a:ea typeface="Calibri" pitchFamily="34" charset="-122"/>
                <a:cs typeface="Calibri" pitchFamily="34" charset="-120"/>
              </a:rPr>
              <a:t>Komponen tunggal</a:t>
            </a:r>
            <a:endParaRPr lang="en-US" sz="1400" dirty="0"/>
          </a:p>
        </p:txBody>
      </p:sp>
      <p:sp>
        <p:nvSpPr>
          <p:cNvPr id="9" name="Text 7"/>
          <p:cNvSpPr txBox="1"/>
          <p:nvPr/>
        </p:nvSpPr>
        <p:spPr>
          <a:xfrm>
            <a:off x="6309360" y="1965960"/>
            <a:ext cx="5330952" cy="2651760"/>
          </a:xfrm>
          <a:prstGeom prst="roundRect">
            <a:avLst>
              <a:gd name="adj" fmla="val 3448"/>
            </a:avLst>
          </a:prstGeom>
          <a:solidFill>
            <a:srgbClr val="0E1533"/>
          </a:solidFill>
          <a:ln/>
        </p:spPr>
        <p:txBody>
          <a:bodyPr wrap="square" lIns="127000" tIns="127000" rIns="127000" bIns="127000" rtlCol="0" anchor="t"/>
          <a:lstStyle/>
          <a:p>
            <a:pPr marL="0" indent="0">
              <a:spcAft>
                <a:spcPts val="100"/>
              </a:spcAft>
              <a:buNone/>
            </a:pPr>
            <a:r>
              <a:rPr lang="en-US" sz="1050" dirty="0">
                <a:solidFill>
                  <a:srgbClr val="DCE4FF"/>
                </a:solidFill>
                <a:latin typeface="Courier New" pitchFamily="34" charset="0"/>
                <a:ea typeface="Courier New" pitchFamily="34" charset="-122"/>
                <a:cs typeface="Courier New" pitchFamily="34" charset="-120"/>
              </a:rPr>
              <a:t>from rdkit import Chem</a:t>
            </a:r>
            <a:endParaRPr lang="en-US" sz="1050" dirty="0"/>
          </a:p>
          <a:p>
            <a:pPr marL="0" indent="0">
              <a:spcAft>
                <a:spcPts val="100"/>
              </a:spcAft>
              <a:buNone/>
            </a:pPr>
            <a:r>
              <a:rPr lang="en-US" sz="1050" dirty="0">
                <a:solidFill>
                  <a:srgbClr val="DCE4FF"/>
                </a:solidFill>
                <a:latin typeface="Courier New" pitchFamily="34" charset="0"/>
                <a:ea typeface="Courier New" pitchFamily="34" charset="-122"/>
                <a:cs typeface="Courier New" pitchFamily="34" charset="-120"/>
              </a:rPr>
              <a:t>from chemflow import LipinskiCalculator, classify_admet_value</a:t>
            </a:r>
            <a:endParaRPr lang="en-US" sz="1050" dirty="0"/>
          </a:p>
          <a:p>
            <a:pPr marL="0" indent="0">
              <a:spcAft>
                <a:spcPts val="100"/>
              </a:spcAft>
              <a:buNone/>
            </a:pPr>
            <a:endParaRPr lang="en-US" sz="1050" dirty="0"/>
          </a:p>
          <a:p>
            <a:pPr marL="0" indent="0">
              <a:spcAft>
                <a:spcPts val="100"/>
              </a:spcAft>
              <a:buNone/>
            </a:pPr>
            <a:r>
              <a:rPr lang="en-US" sz="1050" dirty="0">
                <a:solidFill>
                  <a:srgbClr val="DCE4FF"/>
                </a:solidFill>
                <a:latin typeface="Courier New" pitchFamily="34" charset="0"/>
                <a:ea typeface="Courier New" pitchFamily="34" charset="-122"/>
                <a:cs typeface="Courier New" pitchFamily="34" charset="-120"/>
              </a:rPr>
              <a:t>mol = Chem.MolFromSmiles("CC(=O)OC1=CC=CC=C1C(=O)O")</a:t>
            </a:r>
            <a:endParaRPr lang="en-US" sz="1050" dirty="0"/>
          </a:p>
          <a:p>
            <a:pPr marL="0" indent="0">
              <a:spcAft>
                <a:spcPts val="100"/>
              </a:spcAft>
              <a:buNone/>
            </a:pPr>
            <a:r>
              <a:rPr lang="en-US" sz="1050" dirty="0">
                <a:solidFill>
                  <a:srgbClr val="DCE4FF"/>
                </a:solidFill>
                <a:latin typeface="Courier New" pitchFamily="34" charset="0"/>
                <a:ea typeface="Courier New" pitchFamily="34" charset="-122"/>
                <a:cs typeface="Courier New" pitchFamily="34" charset="-120"/>
              </a:rPr>
              <a:t>r = LipinskiCalculator.calculate(mol)</a:t>
            </a:r>
            <a:endParaRPr lang="en-US" sz="1050" dirty="0"/>
          </a:p>
          <a:p>
            <a:pPr marL="0" indent="0">
              <a:spcAft>
                <a:spcPts val="100"/>
              </a:spcAft>
              <a:buNone/>
            </a:pPr>
            <a:r>
              <a:rPr lang="en-US" sz="1050" dirty="0">
                <a:solidFill>
                  <a:srgbClr val="DCE4FF"/>
                </a:solidFill>
                <a:latin typeface="Courier New" pitchFamily="34" charset="0"/>
                <a:ea typeface="Courier New" pitchFamily="34" charset="-122"/>
                <a:cs typeface="Courier New" pitchFamily="34" charset="-120"/>
              </a:rPr>
              <a:t>print(r.molecular_weight, r.violations, r.passes_ro5)</a:t>
            </a:r>
            <a:endParaRPr lang="en-US" sz="1050" dirty="0"/>
          </a:p>
          <a:p>
            <a:pPr marL="0" indent="0">
              <a:spcAft>
                <a:spcPts val="100"/>
              </a:spcAft>
              <a:buNone/>
            </a:pPr>
            <a:endParaRPr lang="en-US" sz="1050" dirty="0"/>
          </a:p>
          <a:p>
            <a:pPr marL="0" indent="0">
              <a:spcAft>
                <a:spcPts val="100"/>
              </a:spcAft>
              <a:buNone/>
            </a:pPr>
            <a:r>
              <a:rPr lang="en-US" sz="1050" dirty="0">
                <a:solidFill>
                  <a:srgbClr val="DCE4FF"/>
                </a:solidFill>
                <a:latin typeface="Courier New" pitchFamily="34" charset="0"/>
                <a:ea typeface="Courier New" pitchFamily="34" charset="-122"/>
                <a:cs typeface="Courier New" pitchFamily="34" charset="-120"/>
              </a:rPr>
              <a:t>classify_admet_value("hERG", 0.82).flag   # Flag.RED</a:t>
            </a:r>
            <a:endParaRPr lang="en-US" sz="1050" dirty="0"/>
          </a:p>
        </p:txBody>
      </p:sp>
      <p:sp>
        <p:nvSpPr>
          <p:cNvPr id="10" name="Text 8"/>
          <p:cNvSpPr txBox="1"/>
          <p:nvPr/>
        </p:nvSpPr>
        <p:spPr>
          <a:xfrm>
            <a:off x="548640" y="4892040"/>
            <a:ext cx="10972800" cy="274320"/>
          </a:xfrm>
          <a:prstGeom prst="rect">
            <a:avLst/>
          </a:prstGeom>
          <a:noFill/>
          <a:ln/>
        </p:spPr>
        <p:txBody>
          <a:bodyPr wrap="square" lIns="0" tIns="0" rIns="0" bIns="0" rtlCol="0" anchor="t"/>
          <a:lstStyle/>
          <a:p>
            <a:pPr marL="0" indent="0">
              <a:buNone/>
            </a:pPr>
            <a:r>
              <a:rPr lang="en-US" sz="1250" dirty="0">
                <a:solidFill>
                  <a:srgbClr val="5B6480"/>
                </a:solidFill>
                <a:latin typeface="Calibri" pitchFamily="34" charset="0"/>
                <a:ea typeface="Calibri" pitchFamily="34" charset="-122"/>
                <a:cs typeface="Calibri" pitchFamily="34" charset="-120"/>
              </a:rPr>
              <a:t>64 nama publik diekspor dari chemflow/__init__.py, antara lain:</a:t>
            </a:r>
            <a:endParaRPr lang="en-US" sz="1250" dirty="0"/>
          </a:p>
        </p:txBody>
      </p:sp>
      <p:sp>
        <p:nvSpPr>
          <p:cNvPr id="11" name="Text 9"/>
          <p:cNvSpPr txBox="1"/>
          <p:nvPr/>
        </p:nvSpPr>
        <p:spPr>
          <a:xfrm>
            <a:off x="548640" y="5257800"/>
            <a:ext cx="1528877" cy="274320"/>
          </a:xfrm>
          <a:prstGeom prst="roundRect">
            <a:avLst>
              <a:gd name="adj" fmla="val 46667"/>
            </a:avLst>
          </a:prstGeom>
          <a:solidFill>
            <a:srgbClr val="E8EDFC"/>
          </a:solidFill>
          <a:ln/>
        </p:spPr>
        <p:txBody>
          <a:bodyPr wrap="square" lIns="0" tIns="0" rIns="0" bIns="0" rtlCol="0" anchor="ctr"/>
          <a:lstStyle/>
          <a:p>
            <a:pPr marL="0" indent="0" algn="ctr">
              <a:buNone/>
            </a:pPr>
            <a:r>
              <a:rPr lang="en-US" sz="950" b="1" dirty="0">
                <a:solidFill>
                  <a:srgbClr val="3C71E8"/>
                </a:solidFill>
                <a:latin typeface="Calibri" pitchFamily="34" charset="0"/>
                <a:ea typeface="Calibri" pitchFamily="34" charset="-122"/>
                <a:cs typeface="Calibri" pitchFamily="34" charset="-120"/>
              </a:rPr>
              <a:t>LigandPreparer</a:t>
            </a:r>
            <a:endParaRPr lang="en-US" sz="950" dirty="0"/>
          </a:p>
        </p:txBody>
      </p:sp>
      <p:sp>
        <p:nvSpPr>
          <p:cNvPr id="12" name="Text 10"/>
          <p:cNvSpPr txBox="1"/>
          <p:nvPr/>
        </p:nvSpPr>
        <p:spPr>
          <a:xfrm>
            <a:off x="2168957" y="5257800"/>
            <a:ext cx="1708099" cy="274320"/>
          </a:xfrm>
          <a:prstGeom prst="roundRect">
            <a:avLst>
              <a:gd name="adj" fmla="val 46667"/>
            </a:avLst>
          </a:prstGeom>
          <a:solidFill>
            <a:srgbClr val="E8EDFC"/>
          </a:solidFill>
          <a:ln/>
        </p:spPr>
        <p:txBody>
          <a:bodyPr wrap="square" lIns="0" tIns="0" rIns="0" bIns="0" rtlCol="0" anchor="ctr"/>
          <a:lstStyle/>
          <a:p>
            <a:pPr marL="0" indent="0" algn="ctr">
              <a:buNone/>
            </a:pPr>
            <a:r>
              <a:rPr lang="en-US" sz="950" b="1" dirty="0">
                <a:solidFill>
                  <a:srgbClr val="3C71E8"/>
                </a:solidFill>
                <a:latin typeface="Calibri" pitchFamily="34" charset="0"/>
                <a:ea typeface="Calibri" pitchFamily="34" charset="-122"/>
                <a:cs typeface="Calibri" pitchFamily="34" charset="-120"/>
              </a:rPr>
              <a:t>ReceptorPreparer</a:t>
            </a:r>
            <a:endParaRPr lang="en-US" sz="950" dirty="0"/>
          </a:p>
        </p:txBody>
      </p:sp>
      <p:sp>
        <p:nvSpPr>
          <p:cNvPr id="13" name="Text 11"/>
          <p:cNvSpPr txBox="1"/>
          <p:nvPr/>
        </p:nvSpPr>
        <p:spPr>
          <a:xfrm>
            <a:off x="3968496" y="5257800"/>
            <a:ext cx="1887322" cy="274320"/>
          </a:xfrm>
          <a:prstGeom prst="roundRect">
            <a:avLst>
              <a:gd name="adj" fmla="val 46667"/>
            </a:avLst>
          </a:prstGeom>
          <a:solidFill>
            <a:srgbClr val="E8EDFC"/>
          </a:solidFill>
          <a:ln/>
        </p:spPr>
        <p:txBody>
          <a:bodyPr wrap="square" lIns="0" tIns="0" rIns="0" bIns="0" rtlCol="0" anchor="ctr"/>
          <a:lstStyle/>
          <a:p>
            <a:pPr marL="0" indent="0" algn="ctr">
              <a:buNone/>
            </a:pPr>
            <a:r>
              <a:rPr lang="en-US" sz="950" b="1" dirty="0">
                <a:solidFill>
                  <a:srgbClr val="3C71E8"/>
                </a:solidFill>
                <a:latin typeface="Calibri" pitchFamily="34" charset="0"/>
                <a:ea typeface="Calibri" pitchFamily="34" charset="-122"/>
                <a:cs typeface="Calibri" pitchFamily="34" charset="-120"/>
              </a:rPr>
              <a:t>OpenBabelConverter</a:t>
            </a:r>
            <a:endParaRPr lang="en-US" sz="950" dirty="0"/>
          </a:p>
        </p:txBody>
      </p:sp>
      <p:sp>
        <p:nvSpPr>
          <p:cNvPr id="14" name="Text 12"/>
          <p:cNvSpPr txBox="1"/>
          <p:nvPr/>
        </p:nvSpPr>
        <p:spPr>
          <a:xfrm>
            <a:off x="5947258" y="5257800"/>
            <a:ext cx="1887322" cy="274320"/>
          </a:xfrm>
          <a:prstGeom prst="roundRect">
            <a:avLst>
              <a:gd name="adj" fmla="val 46667"/>
            </a:avLst>
          </a:prstGeom>
          <a:solidFill>
            <a:srgbClr val="E8EDFC"/>
          </a:solidFill>
          <a:ln/>
        </p:spPr>
        <p:txBody>
          <a:bodyPr wrap="square" lIns="0" tIns="0" rIns="0" bIns="0" rtlCol="0" anchor="ctr"/>
          <a:lstStyle/>
          <a:p>
            <a:pPr marL="0" indent="0" algn="ctr">
              <a:buNone/>
            </a:pPr>
            <a:r>
              <a:rPr lang="en-US" sz="950" b="1" dirty="0">
                <a:solidFill>
                  <a:srgbClr val="3C71E8"/>
                </a:solidFill>
                <a:latin typeface="Calibri" pitchFamily="34" charset="0"/>
                <a:ea typeface="Calibri" pitchFamily="34" charset="-122"/>
                <a:cs typeface="Calibri" pitchFamily="34" charset="-120"/>
              </a:rPr>
              <a:t>VinaReleaseManager</a:t>
            </a:r>
            <a:endParaRPr lang="en-US" sz="950" dirty="0"/>
          </a:p>
        </p:txBody>
      </p:sp>
      <p:sp>
        <p:nvSpPr>
          <p:cNvPr id="15" name="Text 13"/>
          <p:cNvSpPr txBox="1"/>
          <p:nvPr/>
        </p:nvSpPr>
        <p:spPr>
          <a:xfrm>
            <a:off x="7926019" y="5257800"/>
            <a:ext cx="1170432" cy="274320"/>
          </a:xfrm>
          <a:prstGeom prst="roundRect">
            <a:avLst>
              <a:gd name="adj" fmla="val 46667"/>
            </a:avLst>
          </a:prstGeom>
          <a:solidFill>
            <a:srgbClr val="E8EDFC"/>
          </a:solidFill>
          <a:ln/>
        </p:spPr>
        <p:txBody>
          <a:bodyPr wrap="square" lIns="0" tIns="0" rIns="0" bIns="0" rtlCol="0" anchor="ctr"/>
          <a:lstStyle/>
          <a:p>
            <a:pPr marL="0" indent="0" algn="ctr">
              <a:buNone/>
            </a:pPr>
            <a:r>
              <a:rPr lang="en-US" sz="950" b="1" dirty="0">
                <a:solidFill>
                  <a:srgbClr val="3C71E8"/>
                </a:solidFill>
                <a:latin typeface="Calibri" pitchFamily="34" charset="0"/>
                <a:ea typeface="Calibri" pitchFamily="34" charset="-122"/>
                <a:cs typeface="Calibri" pitchFamily="34" charset="-120"/>
              </a:rPr>
              <a:t>VinaRunner</a:t>
            </a:r>
            <a:endParaRPr lang="en-US" sz="950" dirty="0"/>
          </a:p>
        </p:txBody>
      </p:sp>
      <p:sp>
        <p:nvSpPr>
          <p:cNvPr id="16" name="Text 14"/>
          <p:cNvSpPr txBox="1"/>
          <p:nvPr/>
        </p:nvSpPr>
        <p:spPr>
          <a:xfrm>
            <a:off x="9187891" y="5257800"/>
            <a:ext cx="901598" cy="274320"/>
          </a:xfrm>
          <a:prstGeom prst="roundRect">
            <a:avLst>
              <a:gd name="adj" fmla="val 46667"/>
            </a:avLst>
          </a:prstGeom>
          <a:solidFill>
            <a:srgbClr val="E8EDFC"/>
          </a:solidFill>
          <a:ln/>
        </p:spPr>
        <p:txBody>
          <a:bodyPr wrap="square" lIns="0" tIns="0" rIns="0" bIns="0" rtlCol="0" anchor="ctr"/>
          <a:lstStyle/>
          <a:p>
            <a:pPr marL="0" indent="0" algn="ctr">
              <a:buNone/>
            </a:pPr>
            <a:r>
              <a:rPr lang="en-US" sz="950" b="1" dirty="0">
                <a:solidFill>
                  <a:srgbClr val="3C71E8"/>
                </a:solidFill>
                <a:latin typeface="Calibri" pitchFamily="34" charset="0"/>
                <a:ea typeface="Calibri" pitchFamily="34" charset="-122"/>
                <a:cs typeface="Calibri" pitchFamily="34" charset="-120"/>
              </a:rPr>
              <a:t>GridBox</a:t>
            </a:r>
            <a:endParaRPr lang="en-US" sz="950" dirty="0"/>
          </a:p>
        </p:txBody>
      </p:sp>
      <p:sp>
        <p:nvSpPr>
          <p:cNvPr id="17" name="Text 15"/>
          <p:cNvSpPr txBox="1"/>
          <p:nvPr/>
        </p:nvSpPr>
        <p:spPr>
          <a:xfrm>
            <a:off x="10180930" y="5257800"/>
            <a:ext cx="1349654" cy="274320"/>
          </a:xfrm>
          <a:prstGeom prst="roundRect">
            <a:avLst>
              <a:gd name="adj" fmla="val 46667"/>
            </a:avLst>
          </a:prstGeom>
          <a:solidFill>
            <a:srgbClr val="E8EDFC"/>
          </a:solidFill>
          <a:ln/>
        </p:spPr>
        <p:txBody>
          <a:bodyPr wrap="square" lIns="0" tIns="0" rIns="0" bIns="0" rtlCol="0" anchor="ctr"/>
          <a:lstStyle/>
          <a:p>
            <a:pPr marL="0" indent="0" algn="ctr">
              <a:buNone/>
            </a:pPr>
            <a:r>
              <a:rPr lang="en-US" sz="950" b="1" dirty="0">
                <a:solidFill>
                  <a:srgbClr val="3C71E8"/>
                </a:solidFill>
                <a:latin typeface="Calibri" pitchFamily="34" charset="0"/>
                <a:ea typeface="Calibri" pitchFamily="34" charset="-122"/>
                <a:cs typeface="Calibri" pitchFamily="34" charset="-120"/>
              </a:rPr>
              <a:t>ChartBuilder</a:t>
            </a:r>
            <a:endParaRPr lang="en-US" sz="950" dirty="0"/>
          </a:p>
        </p:txBody>
      </p:sp>
      <p:sp>
        <p:nvSpPr>
          <p:cNvPr id="18" name="Text 16"/>
          <p:cNvSpPr txBox="1"/>
          <p:nvPr/>
        </p:nvSpPr>
        <p:spPr>
          <a:xfrm>
            <a:off x="548640" y="5623560"/>
            <a:ext cx="1528877" cy="274320"/>
          </a:xfrm>
          <a:prstGeom prst="roundRect">
            <a:avLst>
              <a:gd name="adj" fmla="val 46667"/>
            </a:avLst>
          </a:prstGeom>
          <a:solidFill>
            <a:srgbClr val="E8EDFC"/>
          </a:solidFill>
          <a:ln/>
        </p:spPr>
        <p:txBody>
          <a:bodyPr wrap="square" lIns="0" tIns="0" rIns="0" bIns="0" rtlCol="0" anchor="ctr"/>
          <a:lstStyle/>
          <a:p>
            <a:pPr marL="0" indent="0" algn="ctr">
              <a:buNone/>
            </a:pPr>
            <a:r>
              <a:rPr lang="en-US" sz="950" b="1" dirty="0">
                <a:solidFill>
                  <a:srgbClr val="3C71E8"/>
                </a:solidFill>
                <a:latin typeface="Calibri" pitchFamily="34" charset="0"/>
                <a:ea typeface="Calibri" pitchFamily="34" charset="-122"/>
                <a:cs typeface="Calibri" pitchFamily="34" charset="-120"/>
              </a:rPr>
              <a:t>HeatmapBuilder</a:t>
            </a:r>
            <a:endParaRPr lang="en-US" sz="950" dirty="0"/>
          </a:p>
        </p:txBody>
      </p:sp>
      <p:sp>
        <p:nvSpPr>
          <p:cNvPr id="19" name="Text 17"/>
          <p:cNvSpPr txBox="1"/>
          <p:nvPr/>
        </p:nvSpPr>
        <p:spPr>
          <a:xfrm>
            <a:off x="2168957" y="5623560"/>
            <a:ext cx="1528877" cy="274320"/>
          </a:xfrm>
          <a:prstGeom prst="roundRect">
            <a:avLst>
              <a:gd name="adj" fmla="val 46667"/>
            </a:avLst>
          </a:prstGeom>
          <a:solidFill>
            <a:srgbClr val="E8EDFC"/>
          </a:solidFill>
          <a:ln/>
        </p:spPr>
        <p:txBody>
          <a:bodyPr wrap="square" lIns="0" tIns="0" rIns="0" bIns="0" rtlCol="0" anchor="ctr"/>
          <a:lstStyle/>
          <a:p>
            <a:pPr marL="0" indent="0" algn="ctr">
              <a:buNone/>
            </a:pPr>
            <a:r>
              <a:rPr lang="en-US" sz="950" b="1" dirty="0">
                <a:solidFill>
                  <a:srgbClr val="3C71E8"/>
                </a:solidFill>
                <a:latin typeface="Calibri" pitchFamily="34" charset="0"/>
                <a:ea typeface="Calibri" pitchFamily="34" charset="-122"/>
                <a:cs typeface="Calibri" pitchFamily="34" charset="-120"/>
              </a:rPr>
              <a:t>ChemometricPCA</a:t>
            </a:r>
            <a:endParaRPr lang="en-US" sz="950" dirty="0"/>
          </a:p>
        </p:txBody>
      </p:sp>
      <p:sp>
        <p:nvSpPr>
          <p:cNvPr id="20" name="Text 18"/>
          <p:cNvSpPr txBox="1"/>
          <p:nvPr/>
        </p:nvSpPr>
        <p:spPr>
          <a:xfrm>
            <a:off x="3789274" y="5623560"/>
            <a:ext cx="2245766" cy="274320"/>
          </a:xfrm>
          <a:prstGeom prst="roundRect">
            <a:avLst>
              <a:gd name="adj" fmla="val 46667"/>
            </a:avLst>
          </a:prstGeom>
          <a:solidFill>
            <a:srgbClr val="E8EDFC"/>
          </a:solidFill>
          <a:ln/>
        </p:spPr>
        <p:txBody>
          <a:bodyPr wrap="square" lIns="0" tIns="0" rIns="0" bIns="0" rtlCol="0" anchor="ctr"/>
          <a:lstStyle/>
          <a:p>
            <a:pPr marL="0" indent="0" algn="ctr">
              <a:buNone/>
            </a:pPr>
            <a:r>
              <a:rPr lang="en-US" sz="950" b="1" dirty="0">
                <a:solidFill>
                  <a:srgbClr val="3C71E8"/>
                </a:solidFill>
                <a:latin typeface="Calibri" pitchFamily="34" charset="0"/>
                <a:ea typeface="Calibri" pitchFamily="34" charset="-122"/>
                <a:cs typeface="Calibri" pitchFamily="34" charset="-120"/>
              </a:rPr>
              <a:t>HierarchicalClustering</a:t>
            </a:r>
            <a:endParaRPr lang="en-US" sz="950" dirty="0"/>
          </a:p>
        </p:txBody>
      </p:sp>
      <p:sp>
        <p:nvSpPr>
          <p:cNvPr id="21" name="Text 19"/>
          <p:cNvSpPr txBox="1"/>
          <p:nvPr/>
        </p:nvSpPr>
        <p:spPr>
          <a:xfrm>
            <a:off x="6126480" y="5623560"/>
            <a:ext cx="1887322" cy="274320"/>
          </a:xfrm>
          <a:prstGeom prst="roundRect">
            <a:avLst>
              <a:gd name="adj" fmla="val 46667"/>
            </a:avLst>
          </a:prstGeom>
          <a:solidFill>
            <a:srgbClr val="E8EDFC"/>
          </a:solidFill>
          <a:ln/>
        </p:spPr>
        <p:txBody>
          <a:bodyPr wrap="square" lIns="0" tIns="0" rIns="0" bIns="0" rtlCol="0" anchor="ctr"/>
          <a:lstStyle/>
          <a:p>
            <a:pPr marL="0" indent="0" algn="ctr">
              <a:buNone/>
            </a:pPr>
            <a:r>
              <a:rPr lang="en-US" sz="950" b="1" dirty="0">
                <a:solidFill>
                  <a:srgbClr val="3C71E8"/>
                </a:solidFill>
                <a:latin typeface="Calibri" pitchFamily="34" charset="0"/>
                <a:ea typeface="Calibri" pitchFamily="34" charset="-122"/>
                <a:cs typeface="Calibri" pitchFamily="34" charset="-120"/>
              </a:rPr>
              <a:t>SimilarityAnalyzer</a:t>
            </a:r>
            <a:endParaRPr lang="en-US" sz="950" dirty="0"/>
          </a:p>
        </p:txBody>
      </p:sp>
      <p:sp>
        <p:nvSpPr>
          <p:cNvPr id="22" name="Text 20"/>
          <p:cNvSpPr txBox="1"/>
          <p:nvPr/>
        </p:nvSpPr>
        <p:spPr>
          <a:xfrm>
            <a:off x="8105242" y="5623560"/>
            <a:ext cx="1618488" cy="274320"/>
          </a:xfrm>
          <a:prstGeom prst="roundRect">
            <a:avLst>
              <a:gd name="adj" fmla="val 46667"/>
            </a:avLst>
          </a:prstGeom>
          <a:solidFill>
            <a:srgbClr val="E8EDFC"/>
          </a:solidFill>
          <a:ln/>
        </p:spPr>
        <p:txBody>
          <a:bodyPr wrap="square" lIns="0" tIns="0" rIns="0" bIns="0" rtlCol="0" anchor="ctr"/>
          <a:lstStyle/>
          <a:p>
            <a:pPr marL="0" indent="0" algn="ctr">
              <a:buNone/>
            </a:pPr>
            <a:r>
              <a:rPr lang="en-US" sz="950" b="1" dirty="0">
                <a:solidFill>
                  <a:srgbClr val="3C71E8"/>
                </a:solidFill>
                <a:latin typeface="Calibri" pitchFamily="34" charset="0"/>
                <a:ea typeface="Calibri" pitchFamily="34" charset="-122"/>
                <a:cs typeface="Calibri" pitchFamily="34" charset="-120"/>
              </a:rPr>
              <a:t>run_gcms_analysis</a:t>
            </a:r>
            <a:endParaRPr lang="en-US" sz="950" dirty="0"/>
          </a:p>
        </p:txBody>
      </p:sp>
      <p:sp>
        <p:nvSpPr>
          <p:cNvPr id="23" name="Text 21"/>
          <p:cNvSpPr txBox="1"/>
          <p:nvPr/>
        </p:nvSpPr>
        <p:spPr>
          <a:xfrm>
            <a:off x="548640" y="5989320"/>
            <a:ext cx="11064240" cy="365760"/>
          </a:xfrm>
          <a:prstGeom prst="rect">
            <a:avLst/>
          </a:prstGeom>
          <a:noFill/>
          <a:ln/>
        </p:spPr>
        <p:txBody>
          <a:bodyPr wrap="square" lIns="0" tIns="0" rIns="0" bIns="0" rtlCol="0" anchor="t"/>
          <a:lstStyle/>
          <a:p>
            <a:pPr marL="0" indent="0" algn="l">
              <a:buNone/>
            </a:pPr>
            <a:r>
              <a:rPr lang="en-US" sz="1000" dirty="0">
                <a:solidFill>
                  <a:srgbClr val="5B6480"/>
                </a:solidFill>
                <a:latin typeface="Calibri" pitchFamily="34" charset="0"/>
                <a:ea typeface="Calibri" pitchFamily="34" charset="-122"/>
                <a:cs typeface="Calibri" pitchFamily="34" charset="-120"/>
              </a:rPr>
              <a:t>Catatan: run() mengembalikan 0 walau tidak ada pasangan yang berhasil di-docking. Periksa log atau pipeline.failed_ligands dan failed_receptors.</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75004"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D · PRAKTIK</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Kualitas: 832 tes unit berjalan ±76 detik tanpa jaringan</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32</a:t>
            </a:r>
            <a:endParaRPr lang="en-US" sz="1000" dirty="0"/>
          </a:p>
        </p:txBody>
      </p:sp>
      <p:graphicFrame>
        <p:nvGraphicFramePr>
          <p:cNvPr id="6" name="Chart 0"/>
          <p:cNvGraphicFramePr/>
          <p:nvPr/>
        </p:nvGraphicFramePr>
        <p:xfrm>
          <a:off x="548640" y="1600200"/>
          <a:ext cx="603504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858000" y="1691640"/>
            <a:ext cx="1508760" cy="1188720"/>
          </a:xfrm>
          <a:prstGeom prst="roundRect">
            <a:avLst>
              <a:gd name="adj" fmla="val 9231"/>
            </a:avLst>
          </a:prstGeom>
          <a:solidFill>
            <a:srgbClr val="E8EDFC"/>
          </a:solidFill>
          <a:ln w="9525">
            <a:solidFill>
              <a:srgbClr val="E8EDFC"/>
            </a:solidFill>
            <a:prstDash val="solid"/>
          </a:ln>
        </p:spPr>
        <p:txBody>
          <a:bodyPr/>
          <a:lstStyle/>
          <a:p>
            <a:endParaRPr/>
          </a:p>
        </p:txBody>
      </p:sp>
      <p:sp>
        <p:nvSpPr>
          <p:cNvPr id="8" name="Text 5"/>
          <p:cNvSpPr txBox="1"/>
          <p:nvPr/>
        </p:nvSpPr>
        <p:spPr>
          <a:xfrm>
            <a:off x="6858000" y="1819656"/>
            <a:ext cx="1508760" cy="594360"/>
          </a:xfrm>
          <a:prstGeom prst="rect">
            <a:avLst/>
          </a:prstGeom>
          <a:noFill/>
          <a:ln/>
        </p:spPr>
        <p:txBody>
          <a:bodyPr wrap="square" lIns="0" tIns="0" rIns="0" bIns="0" rtlCol="0" anchor="ctr"/>
          <a:lstStyle/>
          <a:p>
            <a:pPr marL="0" indent="0" algn="ctr">
              <a:buNone/>
            </a:pPr>
            <a:r>
              <a:rPr lang="en-US" sz="2200" b="1" dirty="0">
                <a:solidFill>
                  <a:srgbClr val="3C71E8"/>
                </a:solidFill>
                <a:latin typeface="Cambria" pitchFamily="34" charset="0"/>
                <a:ea typeface="Cambria" pitchFamily="34" charset="-122"/>
                <a:cs typeface="Cambria" pitchFamily="34" charset="-120"/>
              </a:rPr>
              <a:t>832</a:t>
            </a:r>
            <a:endParaRPr lang="en-US" sz="2200" dirty="0"/>
          </a:p>
        </p:txBody>
      </p:sp>
      <p:sp>
        <p:nvSpPr>
          <p:cNvPr id="9" name="Text 6"/>
          <p:cNvSpPr txBox="1"/>
          <p:nvPr/>
        </p:nvSpPr>
        <p:spPr>
          <a:xfrm>
            <a:off x="6949440" y="2381098"/>
            <a:ext cx="1325880" cy="427939"/>
          </a:xfrm>
          <a:prstGeom prst="rect">
            <a:avLst/>
          </a:prstGeom>
          <a:noFill/>
          <a:ln/>
        </p:spPr>
        <p:txBody>
          <a:bodyPr wrap="square" lIns="0" tIns="0" rIns="0" bIns="0" rtlCol="0" anchor="t"/>
          <a:lstStyle/>
          <a:p>
            <a:pPr marL="0" indent="0" algn="ctr">
              <a:buNone/>
            </a:pPr>
            <a:r>
              <a:rPr lang="en-US" sz="1050" dirty="0">
                <a:solidFill>
                  <a:srgbClr val="5B6480"/>
                </a:solidFill>
                <a:latin typeface="Calibri" pitchFamily="34" charset="0"/>
                <a:ea typeface="Calibri" pitchFamily="34" charset="-122"/>
                <a:cs typeface="Calibri" pitchFamily="34" charset="-120"/>
              </a:rPr>
              <a:t>tes lulus</a:t>
            </a:r>
            <a:endParaRPr lang="en-US" sz="1050" dirty="0"/>
          </a:p>
        </p:txBody>
      </p:sp>
      <p:sp>
        <p:nvSpPr>
          <p:cNvPr id="10" name="Shape 7"/>
          <p:cNvSpPr/>
          <p:nvPr/>
        </p:nvSpPr>
        <p:spPr>
          <a:xfrm>
            <a:off x="8503920" y="1691640"/>
            <a:ext cx="1508760" cy="1188720"/>
          </a:xfrm>
          <a:prstGeom prst="roundRect">
            <a:avLst>
              <a:gd name="adj" fmla="val 9231"/>
            </a:avLst>
          </a:prstGeom>
          <a:solidFill>
            <a:srgbClr val="E8EDFC"/>
          </a:solidFill>
          <a:ln w="9525">
            <a:solidFill>
              <a:srgbClr val="E8EDFC"/>
            </a:solidFill>
            <a:prstDash val="solid"/>
          </a:ln>
        </p:spPr>
        <p:txBody>
          <a:bodyPr/>
          <a:lstStyle/>
          <a:p>
            <a:endParaRPr/>
          </a:p>
        </p:txBody>
      </p:sp>
      <p:sp>
        <p:nvSpPr>
          <p:cNvPr id="11" name="Text 8"/>
          <p:cNvSpPr txBox="1"/>
          <p:nvPr/>
        </p:nvSpPr>
        <p:spPr>
          <a:xfrm>
            <a:off x="8503920" y="1819656"/>
            <a:ext cx="1508760" cy="594360"/>
          </a:xfrm>
          <a:prstGeom prst="rect">
            <a:avLst/>
          </a:prstGeom>
          <a:noFill/>
          <a:ln/>
        </p:spPr>
        <p:txBody>
          <a:bodyPr wrap="square" lIns="0" tIns="0" rIns="0" bIns="0" rtlCol="0" anchor="ctr"/>
          <a:lstStyle/>
          <a:p>
            <a:pPr marL="0" indent="0" algn="ctr">
              <a:buNone/>
            </a:pPr>
            <a:r>
              <a:rPr lang="en-US" sz="2200" b="1" dirty="0">
                <a:solidFill>
                  <a:srgbClr val="3C71E8"/>
                </a:solidFill>
                <a:latin typeface="Cambria" pitchFamily="34" charset="0"/>
                <a:ea typeface="Cambria" pitchFamily="34" charset="-122"/>
                <a:cs typeface="Cambria" pitchFamily="34" charset="-120"/>
              </a:rPr>
              <a:t>58</a:t>
            </a:r>
            <a:endParaRPr lang="en-US" sz="2200" dirty="0"/>
          </a:p>
        </p:txBody>
      </p:sp>
      <p:sp>
        <p:nvSpPr>
          <p:cNvPr id="12" name="Text 9"/>
          <p:cNvSpPr txBox="1"/>
          <p:nvPr/>
        </p:nvSpPr>
        <p:spPr>
          <a:xfrm>
            <a:off x="8595360" y="2381098"/>
            <a:ext cx="1325880" cy="427939"/>
          </a:xfrm>
          <a:prstGeom prst="rect">
            <a:avLst/>
          </a:prstGeom>
          <a:noFill/>
          <a:ln/>
        </p:spPr>
        <p:txBody>
          <a:bodyPr wrap="square" lIns="0" tIns="0" rIns="0" bIns="0" rtlCol="0" anchor="t"/>
          <a:lstStyle/>
          <a:p>
            <a:pPr marL="0" indent="0" algn="ctr">
              <a:buNone/>
            </a:pPr>
            <a:r>
              <a:rPr lang="en-US" sz="1050" dirty="0">
                <a:solidFill>
                  <a:srgbClr val="5B6480"/>
                </a:solidFill>
                <a:latin typeface="Calibri" pitchFamily="34" charset="0"/>
                <a:ea typeface="Calibri" pitchFamily="34" charset="-122"/>
                <a:cs typeface="Calibri" pitchFamily="34" charset="-120"/>
              </a:rPr>
              <a:t>file tes</a:t>
            </a:r>
            <a:endParaRPr lang="en-US" sz="1050" dirty="0"/>
          </a:p>
        </p:txBody>
      </p:sp>
      <p:sp>
        <p:nvSpPr>
          <p:cNvPr id="13" name="Shape 10"/>
          <p:cNvSpPr/>
          <p:nvPr/>
        </p:nvSpPr>
        <p:spPr>
          <a:xfrm>
            <a:off x="10149840" y="1691640"/>
            <a:ext cx="1508760" cy="1188720"/>
          </a:xfrm>
          <a:prstGeom prst="roundRect">
            <a:avLst>
              <a:gd name="adj" fmla="val 9231"/>
            </a:avLst>
          </a:prstGeom>
          <a:solidFill>
            <a:srgbClr val="E8EDFC"/>
          </a:solidFill>
          <a:ln w="9525">
            <a:solidFill>
              <a:srgbClr val="E8EDFC"/>
            </a:solidFill>
            <a:prstDash val="solid"/>
          </a:ln>
        </p:spPr>
        <p:txBody>
          <a:bodyPr/>
          <a:lstStyle/>
          <a:p>
            <a:endParaRPr/>
          </a:p>
        </p:txBody>
      </p:sp>
      <p:sp>
        <p:nvSpPr>
          <p:cNvPr id="14" name="Text 11"/>
          <p:cNvSpPr txBox="1"/>
          <p:nvPr/>
        </p:nvSpPr>
        <p:spPr>
          <a:xfrm>
            <a:off x="10149840" y="1819656"/>
            <a:ext cx="1508760" cy="594360"/>
          </a:xfrm>
          <a:prstGeom prst="rect">
            <a:avLst/>
          </a:prstGeom>
          <a:noFill/>
          <a:ln/>
        </p:spPr>
        <p:txBody>
          <a:bodyPr wrap="square" lIns="0" tIns="0" rIns="0" bIns="0" rtlCol="0" anchor="ctr"/>
          <a:lstStyle/>
          <a:p>
            <a:pPr marL="0" indent="0" algn="ctr">
              <a:buNone/>
            </a:pPr>
            <a:r>
              <a:rPr lang="en-US" sz="2200" b="1" dirty="0">
                <a:solidFill>
                  <a:srgbClr val="3C71E8"/>
                </a:solidFill>
                <a:latin typeface="Cambria" pitchFamily="34" charset="0"/>
                <a:ea typeface="Cambria" pitchFamily="34" charset="-122"/>
                <a:cs typeface="Cambria" pitchFamily="34" charset="-120"/>
              </a:rPr>
              <a:t>75,7 dtk</a:t>
            </a:r>
            <a:endParaRPr lang="en-US" sz="2200" dirty="0"/>
          </a:p>
        </p:txBody>
      </p:sp>
      <p:sp>
        <p:nvSpPr>
          <p:cNvPr id="15" name="Text 12"/>
          <p:cNvSpPr txBox="1"/>
          <p:nvPr/>
        </p:nvSpPr>
        <p:spPr>
          <a:xfrm>
            <a:off x="10241280" y="2381098"/>
            <a:ext cx="1325880" cy="427939"/>
          </a:xfrm>
          <a:prstGeom prst="rect">
            <a:avLst/>
          </a:prstGeom>
          <a:noFill/>
          <a:ln/>
        </p:spPr>
        <p:txBody>
          <a:bodyPr wrap="square" lIns="0" tIns="0" rIns="0" bIns="0" rtlCol="0" anchor="t"/>
          <a:lstStyle/>
          <a:p>
            <a:pPr marL="0" indent="0" algn="ctr">
              <a:buNone/>
            </a:pPr>
            <a:r>
              <a:rPr lang="en-US" sz="1050" dirty="0">
                <a:solidFill>
                  <a:srgbClr val="5B6480"/>
                </a:solidFill>
                <a:latin typeface="Calibri" pitchFamily="34" charset="0"/>
                <a:ea typeface="Calibri" pitchFamily="34" charset="-122"/>
                <a:cs typeface="Calibri" pitchFamily="34" charset="-120"/>
              </a:rPr>
              <a:t>waktu total</a:t>
            </a:r>
            <a:endParaRPr lang="en-US" sz="1050" dirty="0"/>
          </a:p>
        </p:txBody>
      </p:sp>
      <p:sp>
        <p:nvSpPr>
          <p:cNvPr id="16" name="Text 13"/>
          <p:cNvSpPr txBox="1"/>
          <p:nvPr/>
        </p:nvSpPr>
        <p:spPr>
          <a:xfrm>
            <a:off x="6858000" y="3108960"/>
            <a:ext cx="4782312" cy="3108960"/>
          </a:xfrm>
          <a:prstGeom prst="rect">
            <a:avLst/>
          </a:prstGeom>
          <a:noFill/>
          <a:ln/>
        </p:spPr>
        <p:txBody>
          <a:bodyPr wrap="square" lIns="0" tIns="0" rIns="0" bIns="0" rtlCol="0" anchor="t"/>
          <a:lstStyle/>
          <a:p>
            <a:pPr marL="177800" indent="-177800">
              <a:spcAft>
                <a:spcPts val="600"/>
              </a:spcAft>
              <a:buSzPct val="100000"/>
              <a:buChar char="•"/>
            </a:pPr>
            <a:r>
              <a:rPr lang="en-US" sz="1200" b="1" dirty="0">
                <a:solidFill>
                  <a:srgbClr val="1B2140"/>
                </a:solidFill>
                <a:latin typeface="Calibri" pitchFamily="34" charset="0"/>
                <a:ea typeface="Calibri" pitchFamily="34" charset="-122"/>
                <a:cs typeface="Calibri" pitchFamily="34" charset="-120"/>
              </a:rPr>
              <a:t>Sandbox: </a:t>
            </a:r>
            <a:r>
              <a:rPr lang="en-US" sz="1200" dirty="0">
                <a:solidFill>
                  <a:srgbClr val="1B2140"/>
                </a:solidFill>
                <a:latin typeface="Calibri" pitchFamily="34" charset="0"/>
                <a:ea typeface="Calibri" pitchFamily="34" charset="-122"/>
                <a:cs typeface="Calibri" pitchFamily="34" charset="-120"/>
              </a:rPr>
              <a:t>OpenBabel, Vina, dan jaringan diganti kelas palsu atau monkeypatch (mis. _FakeVinaRunner)</a:t>
            </a:r>
            <a:endParaRPr lang="en-US" sz="1200" dirty="0"/>
          </a:p>
          <a:p>
            <a:pPr marL="177800" indent="-177800">
              <a:spcAft>
                <a:spcPts val="600"/>
              </a:spcAft>
              <a:buSzPct val="100000"/>
              <a:buChar char="•"/>
            </a:pPr>
            <a:r>
              <a:rPr lang="en-US" sz="1200" b="1" dirty="0">
                <a:solidFill>
                  <a:srgbClr val="1B2140"/>
                </a:solidFill>
                <a:latin typeface="Calibri" pitchFamily="34" charset="0"/>
                <a:ea typeface="Calibri" pitchFamily="34" charset="-122"/>
                <a:cs typeface="Calibri" pitchFamily="34" charset="-120"/>
              </a:rPr>
              <a:t>Injeksi dependensi </a:t>
            </a:r>
            <a:r>
              <a:rPr lang="en-US" sz="1200" dirty="0">
                <a:solidFill>
                  <a:srgbClr val="1B2140"/>
                </a:solidFill>
                <a:latin typeface="Calibri" pitchFamily="34" charset="0"/>
                <a:ea typeface="Calibri" pitchFamily="34" charset="-122"/>
                <a:cs typeface="Calibri" pitchFamily="34" charset="-120"/>
              </a:rPr>
              <a:t>membuat modul bisa dites terpisah: runner, converter, dan I/O interaktif disuntik</a:t>
            </a:r>
            <a:endParaRPr lang="en-US" sz="1200" dirty="0"/>
          </a:p>
          <a:p>
            <a:pPr marL="177800" indent="-177800">
              <a:spcAft>
                <a:spcPts val="600"/>
              </a:spcAft>
              <a:buSzPct val="100000"/>
              <a:buChar char="•"/>
            </a:pPr>
            <a:r>
              <a:rPr lang="en-US" sz="1200" b="1" dirty="0">
                <a:solidFill>
                  <a:srgbClr val="1B2140"/>
                </a:solidFill>
                <a:latin typeface="Calibri" pitchFamily="34" charset="0"/>
                <a:ea typeface="Calibri" pitchFamily="34" charset="-122"/>
                <a:cs typeface="Calibri" pitchFamily="34" charset="-120"/>
              </a:rPr>
              <a:t>Lingkungan: </a:t>
            </a:r>
            <a:r>
              <a:rPr lang="en-US" sz="1200" dirty="0">
                <a:solidFill>
                  <a:srgbClr val="1B2140"/>
                </a:solidFill>
                <a:latin typeface="Calibri" pitchFamily="34" charset="0"/>
                <a:ea typeface="Calibri" pitchFamily="34" charset="-122"/>
                <a:cs typeface="Calibri" pitchFamily="34" charset="-120"/>
              </a:rPr>
              <a:t>Python 3.14.6, </a:t>
            </a:r>
            <a:r>
              <a:rPr lang="en-US" sz="1200" dirty="0" err="1">
                <a:solidFill>
                  <a:srgbClr val="1B2140"/>
                </a:solidFill>
                <a:latin typeface="Calibri" pitchFamily="34" charset="0"/>
                <a:ea typeface="Calibri" pitchFamily="34" charset="-122"/>
                <a:cs typeface="Calibri" pitchFamily="34" charset="-120"/>
              </a:rPr>
              <a:t>pytest</a:t>
            </a:r>
            <a:r>
              <a:rPr lang="en-US" sz="1200" dirty="0">
                <a:solidFill>
                  <a:srgbClr val="1B2140"/>
                </a:solidFill>
                <a:latin typeface="Calibri" pitchFamily="34" charset="0"/>
                <a:ea typeface="Calibri" pitchFamily="34" charset="-122"/>
                <a:cs typeface="Calibri" pitchFamily="34" charset="-120"/>
              </a:rPr>
              <a:t> 9.1.1</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75004"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E · PENUTUP</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Keterbatasan ilmiah sebelum menafsirkan hasil</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33</a:t>
            </a:r>
            <a:endParaRPr lang="en-US" sz="1000" dirty="0"/>
          </a:p>
        </p:txBody>
      </p:sp>
      <p:sp>
        <p:nvSpPr>
          <p:cNvPr id="6" name="Shape 4"/>
          <p:cNvSpPr/>
          <p:nvPr/>
        </p:nvSpPr>
        <p:spPr>
          <a:xfrm>
            <a:off x="548640" y="146304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7" name="Shape 5"/>
          <p:cNvSpPr/>
          <p:nvPr/>
        </p:nvSpPr>
        <p:spPr>
          <a:xfrm>
            <a:off x="731520" y="1627632"/>
            <a:ext cx="457200" cy="457200"/>
          </a:xfrm>
          <a:prstGeom prst="ellipse">
            <a:avLst/>
          </a:prstGeom>
          <a:solidFill>
            <a:srgbClr val="D55E00"/>
          </a:solidFill>
          <a:ln w="12700">
            <a:solidFill>
              <a:srgbClr val="D55E00"/>
            </a:solidFill>
            <a:prstDash val="solid"/>
          </a:ln>
        </p:spPr>
        <p:txBody>
          <a:bodyPr/>
          <a:lstStyle/>
          <a:p>
            <a:endParaRPr/>
          </a:p>
        </p:txBody>
      </p:sp>
      <p:pic>
        <p:nvPicPr>
          <p:cNvPr id="8" name="Image 0" descr="Crosshairs"/>
          <p:cNvPicPr>
            <a:picLocks noChangeAspect="1"/>
          </p:cNvPicPr>
          <p:nvPr/>
        </p:nvPicPr>
        <p:blipFill>
          <a:blip r:embed="rId3"/>
          <a:stretch>
            <a:fillRect/>
          </a:stretch>
        </p:blipFill>
        <p:spPr>
          <a:xfrm>
            <a:off x="845820" y="1741932"/>
            <a:ext cx="228600" cy="228600"/>
          </a:xfrm>
          <a:prstGeom prst="rect">
            <a:avLst/>
          </a:prstGeom>
        </p:spPr>
      </p:pic>
      <p:sp>
        <p:nvSpPr>
          <p:cNvPr id="9" name="Text 6"/>
          <p:cNvSpPr txBox="1"/>
          <p:nvPr/>
        </p:nvSpPr>
        <p:spPr>
          <a:xfrm>
            <a:off x="1325880" y="164592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RMSD in place bersifat ketat</a:t>
            </a:r>
            <a:endParaRPr lang="en-US" sz="1350" dirty="0"/>
          </a:p>
        </p:txBody>
      </p:sp>
      <p:sp>
        <p:nvSpPr>
          <p:cNvPr id="10" name="Text 7"/>
          <p:cNvSpPr txBox="1"/>
          <p:nvPr/>
        </p:nvSpPr>
        <p:spPr>
          <a:xfrm>
            <a:off x="731520" y="221284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RMSD in place mengukur ketepatan posisi, jadi ketat untuk ligan besar dan fleksibel: 1HSG 10,52 Å (4,04 Å bila diselaraskan dulu).</a:t>
            </a:r>
            <a:endParaRPr lang="en-US" sz="1200" dirty="0"/>
          </a:p>
        </p:txBody>
      </p:sp>
      <p:sp>
        <p:nvSpPr>
          <p:cNvPr id="11" name="Shape 8"/>
          <p:cNvSpPr/>
          <p:nvPr/>
        </p:nvSpPr>
        <p:spPr>
          <a:xfrm>
            <a:off x="4297680" y="146304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12" name="Shape 9"/>
          <p:cNvSpPr/>
          <p:nvPr/>
        </p:nvSpPr>
        <p:spPr>
          <a:xfrm>
            <a:off x="4480560" y="1627632"/>
            <a:ext cx="457200" cy="457200"/>
          </a:xfrm>
          <a:prstGeom prst="ellipse">
            <a:avLst/>
          </a:prstGeom>
          <a:solidFill>
            <a:srgbClr val="D55E00"/>
          </a:solidFill>
          <a:ln w="12700">
            <a:solidFill>
              <a:srgbClr val="D55E00"/>
            </a:solidFill>
            <a:prstDash val="solid"/>
          </a:ln>
        </p:spPr>
        <p:txBody>
          <a:bodyPr/>
          <a:lstStyle/>
          <a:p>
            <a:endParaRPr/>
          </a:p>
        </p:txBody>
      </p:sp>
      <p:pic>
        <p:nvPicPr>
          <p:cNvPr id="13" name="Image 1" descr="BalanceScale"/>
          <p:cNvPicPr>
            <a:picLocks noChangeAspect="1"/>
          </p:cNvPicPr>
          <p:nvPr/>
        </p:nvPicPr>
        <p:blipFill>
          <a:blip r:embed="rId4"/>
          <a:stretch>
            <a:fillRect/>
          </a:stretch>
        </p:blipFill>
        <p:spPr>
          <a:xfrm>
            <a:off x="4594860" y="1741932"/>
            <a:ext cx="228600" cy="228600"/>
          </a:xfrm>
          <a:prstGeom prst="rect">
            <a:avLst/>
          </a:prstGeom>
        </p:spPr>
      </p:pic>
      <p:sp>
        <p:nvSpPr>
          <p:cNvPr id="14" name="Text 10"/>
          <p:cNvSpPr txBox="1"/>
          <p:nvPr/>
        </p:nvSpPr>
        <p:spPr>
          <a:xfrm>
            <a:off x="5074920" y="164592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Skor Vina bukan afinitas eksperimen</a:t>
            </a:r>
            <a:endParaRPr lang="en-US" sz="1350" dirty="0"/>
          </a:p>
        </p:txBody>
      </p:sp>
      <p:sp>
        <p:nvSpPr>
          <p:cNvPr id="15" name="Text 11"/>
          <p:cNvSpPr txBox="1"/>
          <p:nvPr/>
        </p:nvSpPr>
        <p:spPr>
          <a:xfrm>
            <a:off x="4480560" y="221284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Estimasi empiris (kcal/mol) dengan kecenderungan terhadap ukuran ligan. Validasi eksperimen tetap diperlukan.</a:t>
            </a:r>
            <a:endParaRPr lang="en-US" sz="1200" dirty="0"/>
          </a:p>
        </p:txBody>
      </p:sp>
      <p:sp>
        <p:nvSpPr>
          <p:cNvPr id="16" name="Shape 12"/>
          <p:cNvSpPr/>
          <p:nvPr/>
        </p:nvSpPr>
        <p:spPr>
          <a:xfrm>
            <a:off x="8046720" y="146304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17" name="Shape 13"/>
          <p:cNvSpPr/>
          <p:nvPr/>
        </p:nvSpPr>
        <p:spPr>
          <a:xfrm>
            <a:off x="8229600" y="1627632"/>
            <a:ext cx="457200" cy="457200"/>
          </a:xfrm>
          <a:prstGeom prst="ellipse">
            <a:avLst/>
          </a:prstGeom>
          <a:solidFill>
            <a:srgbClr val="E69F00"/>
          </a:solidFill>
          <a:ln w="12700">
            <a:solidFill>
              <a:srgbClr val="E69F00"/>
            </a:solidFill>
            <a:prstDash val="solid"/>
          </a:ln>
        </p:spPr>
        <p:txBody>
          <a:bodyPr/>
          <a:lstStyle/>
          <a:p>
            <a:endParaRPr/>
          </a:p>
        </p:txBody>
      </p:sp>
      <p:pic>
        <p:nvPicPr>
          <p:cNvPr id="18" name="Image 2" descr="Cube"/>
          <p:cNvPicPr>
            <a:picLocks noChangeAspect="1"/>
          </p:cNvPicPr>
          <p:nvPr/>
        </p:nvPicPr>
        <p:blipFill>
          <a:blip r:embed="rId5"/>
          <a:stretch>
            <a:fillRect/>
          </a:stretch>
        </p:blipFill>
        <p:spPr>
          <a:xfrm>
            <a:off x="8343900" y="1741932"/>
            <a:ext cx="228600" cy="228600"/>
          </a:xfrm>
          <a:prstGeom prst="rect">
            <a:avLst/>
          </a:prstGeom>
        </p:spPr>
      </p:pic>
      <p:sp>
        <p:nvSpPr>
          <p:cNvPr id="19" name="Text 14"/>
          <p:cNvSpPr txBox="1"/>
          <p:nvPr/>
        </p:nvSpPr>
        <p:spPr>
          <a:xfrm>
            <a:off x="8823960" y="164592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Reseptor kaku dan model sederhana</a:t>
            </a:r>
            <a:endParaRPr lang="en-US" sz="1350" dirty="0"/>
          </a:p>
        </p:txBody>
      </p:sp>
      <p:sp>
        <p:nvSpPr>
          <p:cNvPr id="20" name="Text 15"/>
          <p:cNvSpPr txBox="1"/>
          <p:nvPr/>
        </p:nvSpPr>
        <p:spPr>
          <a:xfrm>
            <a:off x="8229600" y="221284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Rigid, tanpa air, tanpa model protonasi (His menjadi HIE, gugus asam dan basa netral); muatan parsial hanya sebagian tercakup.</a:t>
            </a:r>
            <a:endParaRPr lang="en-US" sz="1200" dirty="0"/>
          </a:p>
        </p:txBody>
      </p:sp>
      <p:sp>
        <p:nvSpPr>
          <p:cNvPr id="21" name="Shape 16"/>
          <p:cNvSpPr/>
          <p:nvPr/>
        </p:nvSpPr>
        <p:spPr>
          <a:xfrm>
            <a:off x="548640" y="342900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22" name="Shape 17"/>
          <p:cNvSpPr/>
          <p:nvPr/>
        </p:nvSpPr>
        <p:spPr>
          <a:xfrm>
            <a:off x="731520" y="3593592"/>
            <a:ext cx="457200" cy="457200"/>
          </a:xfrm>
          <a:prstGeom prst="ellipse">
            <a:avLst/>
          </a:prstGeom>
          <a:solidFill>
            <a:srgbClr val="E69F00"/>
          </a:solidFill>
          <a:ln w="12700">
            <a:solidFill>
              <a:srgbClr val="E69F00"/>
            </a:solidFill>
            <a:prstDash val="solid"/>
          </a:ln>
        </p:spPr>
        <p:txBody>
          <a:bodyPr/>
          <a:lstStyle/>
          <a:p>
            <a:endParaRPr/>
          </a:p>
        </p:txBody>
      </p:sp>
      <p:pic>
        <p:nvPicPr>
          <p:cNvPr id="23" name="Image 3" descr="Pills"/>
          <p:cNvPicPr>
            <a:picLocks noChangeAspect="1"/>
          </p:cNvPicPr>
          <p:nvPr/>
        </p:nvPicPr>
        <p:blipFill>
          <a:blip r:embed="rId6"/>
          <a:stretch>
            <a:fillRect/>
          </a:stretch>
        </p:blipFill>
        <p:spPr>
          <a:xfrm>
            <a:off x="845820" y="3707892"/>
            <a:ext cx="228600" cy="228600"/>
          </a:xfrm>
          <a:prstGeom prst="rect">
            <a:avLst/>
          </a:prstGeom>
        </p:spPr>
      </p:pic>
      <p:sp>
        <p:nvSpPr>
          <p:cNvPr id="24" name="Text 18"/>
          <p:cNvSpPr txBox="1"/>
          <p:nvPr/>
        </p:nvSpPr>
        <p:spPr>
          <a:xfrm>
            <a:off x="1325880" y="361188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ADMET adalah prediksi model</a:t>
            </a:r>
            <a:endParaRPr lang="en-US" sz="1350" dirty="0"/>
          </a:p>
        </p:txBody>
      </p:sp>
      <p:sp>
        <p:nvSpPr>
          <p:cNvPr id="25" name="Text 19"/>
          <p:cNvSpPr txBox="1"/>
          <p:nvPr/>
        </p:nvSpPr>
        <p:spPr>
          <a:xfrm>
            <a:off x="731520" y="417880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Keluaran ADMETLab 3.0, bukan pengukuran. Pita 0,3/0,7 generik untuk sekitar 64 endpoint adalah asumsi.</a:t>
            </a:r>
            <a:endParaRPr lang="en-US" sz="1200" dirty="0"/>
          </a:p>
        </p:txBody>
      </p:sp>
      <p:sp>
        <p:nvSpPr>
          <p:cNvPr id="26" name="Shape 20"/>
          <p:cNvSpPr/>
          <p:nvPr/>
        </p:nvSpPr>
        <p:spPr>
          <a:xfrm>
            <a:off x="4297680" y="342900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27" name="Shape 21"/>
          <p:cNvSpPr/>
          <p:nvPr/>
        </p:nvSpPr>
        <p:spPr>
          <a:xfrm>
            <a:off x="4480560" y="3593592"/>
            <a:ext cx="457200" cy="457200"/>
          </a:xfrm>
          <a:prstGeom prst="ellipse">
            <a:avLst/>
          </a:prstGeom>
          <a:solidFill>
            <a:srgbClr val="E69F00"/>
          </a:solidFill>
          <a:ln w="12700">
            <a:solidFill>
              <a:srgbClr val="E69F00"/>
            </a:solidFill>
            <a:prstDash val="solid"/>
          </a:ln>
        </p:spPr>
        <p:txBody>
          <a:bodyPr/>
          <a:lstStyle/>
          <a:p>
            <a:endParaRPr/>
          </a:p>
        </p:txBody>
      </p:sp>
      <p:pic>
        <p:nvPicPr>
          <p:cNvPr id="28" name="Image 4" descr="ProjectDiagram"/>
          <p:cNvPicPr>
            <a:picLocks noChangeAspect="1"/>
          </p:cNvPicPr>
          <p:nvPr/>
        </p:nvPicPr>
        <p:blipFill>
          <a:blip r:embed="rId7"/>
          <a:stretch>
            <a:fillRect/>
          </a:stretch>
        </p:blipFill>
        <p:spPr>
          <a:xfrm>
            <a:off x="4594860" y="3707892"/>
            <a:ext cx="228600" cy="228600"/>
          </a:xfrm>
          <a:prstGeom prst="rect">
            <a:avLst/>
          </a:prstGeom>
        </p:spPr>
      </p:pic>
      <p:sp>
        <p:nvSpPr>
          <p:cNvPr id="29" name="Text 22"/>
          <p:cNvSpPr txBox="1"/>
          <p:nvPr/>
        </p:nvSpPr>
        <p:spPr>
          <a:xfrm>
            <a:off x="5074920" y="361188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Similaritas interaksi</a:t>
            </a:r>
            <a:endParaRPr lang="en-US" sz="1350" dirty="0"/>
          </a:p>
        </p:txBody>
      </p:sp>
      <p:sp>
        <p:nvSpPr>
          <p:cNvPr id="30" name="Text 23"/>
          <p:cNvSpPr txBox="1"/>
          <p:nvPr/>
        </p:nvSpPr>
        <p:spPr>
          <a:xfrm>
            <a:off x="4480560" y="417880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Asimetris, kunci residu tanpa chain. Ekspor BIOVIA otomatis hanya di Windows; mouse dan keyboard dikunci selama ekspor.</a:t>
            </a:r>
            <a:endParaRPr lang="en-US" sz="1200" dirty="0"/>
          </a:p>
        </p:txBody>
      </p:sp>
      <p:sp>
        <p:nvSpPr>
          <p:cNvPr id="31" name="Shape 24"/>
          <p:cNvSpPr/>
          <p:nvPr/>
        </p:nvSpPr>
        <p:spPr>
          <a:xfrm>
            <a:off x="8046720" y="342900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32" name="Shape 25"/>
          <p:cNvSpPr/>
          <p:nvPr/>
        </p:nvSpPr>
        <p:spPr>
          <a:xfrm>
            <a:off x="8229600" y="3593592"/>
            <a:ext cx="457200" cy="457200"/>
          </a:xfrm>
          <a:prstGeom prst="ellipse">
            <a:avLst/>
          </a:prstGeom>
          <a:solidFill>
            <a:srgbClr val="8E70EB"/>
          </a:solidFill>
          <a:ln w="12700">
            <a:solidFill>
              <a:srgbClr val="8E70EB"/>
            </a:solidFill>
            <a:prstDash val="solid"/>
          </a:ln>
        </p:spPr>
        <p:txBody>
          <a:bodyPr/>
          <a:lstStyle/>
          <a:p>
            <a:endParaRPr/>
          </a:p>
        </p:txBody>
      </p:sp>
      <p:pic>
        <p:nvPicPr>
          <p:cNvPr id="33" name="Image 5" descr="ChartBar"/>
          <p:cNvPicPr>
            <a:picLocks noChangeAspect="1"/>
          </p:cNvPicPr>
          <p:nvPr/>
        </p:nvPicPr>
        <p:blipFill>
          <a:blip r:embed="rId8"/>
          <a:stretch>
            <a:fillRect/>
          </a:stretch>
        </p:blipFill>
        <p:spPr>
          <a:xfrm>
            <a:off x="8343900" y="3707892"/>
            <a:ext cx="228600" cy="228600"/>
          </a:xfrm>
          <a:prstGeom prst="rect">
            <a:avLst/>
          </a:prstGeom>
        </p:spPr>
      </p:pic>
      <p:sp>
        <p:nvSpPr>
          <p:cNvPr id="34" name="Text 26"/>
          <p:cNvSpPr txBox="1"/>
          <p:nvPr/>
        </p:nvSpPr>
        <p:spPr>
          <a:xfrm>
            <a:off x="8823960" y="361188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Ruang kimia sempit</a:t>
            </a:r>
            <a:endParaRPr lang="en-US" sz="1350" dirty="0"/>
          </a:p>
        </p:txBody>
      </p:sp>
      <p:sp>
        <p:nvSpPr>
          <p:cNvPr id="35" name="Text 27"/>
          <p:cNvSpPr txBox="1"/>
          <p:nvPr/>
        </p:nvSpPr>
        <p:spPr>
          <a:xfrm>
            <a:off x="8229600" y="417880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PCA dan HCA hanya memakai MW, LogP, HBD, HBA. Tanpa dinamika molekul atau perhitungan energi bebas.</a:t>
            </a:r>
            <a:endParaRPr lang="en-US" sz="1200" dirty="0"/>
          </a:p>
        </p:txBody>
      </p:sp>
      <p:sp>
        <p:nvSpPr>
          <p:cNvPr id="36" name="Shape 28"/>
          <p:cNvSpPr/>
          <p:nvPr/>
        </p:nvSpPr>
        <p:spPr>
          <a:xfrm>
            <a:off x="548640" y="5440680"/>
            <a:ext cx="11091672" cy="777240"/>
          </a:xfrm>
          <a:prstGeom prst="roundRect">
            <a:avLst>
              <a:gd name="adj" fmla="val 11765"/>
            </a:avLst>
          </a:prstGeom>
          <a:solidFill>
            <a:srgbClr val="DDF3EB"/>
          </a:solidFill>
          <a:ln w="15875">
            <a:solidFill>
              <a:srgbClr val="009E73"/>
            </a:solidFill>
            <a:prstDash val="solid"/>
          </a:ln>
        </p:spPr>
        <p:txBody>
          <a:bodyPr/>
          <a:lstStyle/>
          <a:p>
            <a:endParaRPr/>
          </a:p>
        </p:txBody>
      </p:sp>
      <p:sp>
        <p:nvSpPr>
          <p:cNvPr id="37" name="Text 29"/>
          <p:cNvSpPr txBox="1"/>
          <p:nvPr/>
        </p:nvSpPr>
        <p:spPr>
          <a:xfrm>
            <a:off x="713232" y="5532120"/>
            <a:ext cx="10762488" cy="594360"/>
          </a:xfrm>
          <a:prstGeom prst="rect">
            <a:avLst/>
          </a:prstGeom>
          <a:noFill/>
          <a:ln/>
        </p:spPr>
        <p:txBody>
          <a:bodyPr wrap="square" lIns="0" tIns="0" rIns="0" bIns="0" rtlCol="0" anchor="t"/>
          <a:lstStyle/>
          <a:p>
            <a:pPr marL="0" indent="0">
              <a:spcAft>
                <a:spcPts val="300"/>
              </a:spcAft>
              <a:buNone/>
            </a:pPr>
            <a:r>
              <a:rPr lang="en-US" sz="1250" b="1" dirty="0">
                <a:solidFill>
                  <a:srgbClr val="1B2140"/>
                </a:solidFill>
                <a:latin typeface="Calibri" pitchFamily="34" charset="0"/>
                <a:ea typeface="Calibri" pitchFamily="34" charset="-122"/>
                <a:cs typeface="Calibri" pitchFamily="34" charset="-120"/>
              </a:rPr>
              <a:t>Saran pelaporan</a:t>
            </a:r>
            <a:endParaRPr lang="en-US" sz="1250" dirty="0"/>
          </a:p>
          <a:p>
            <a:pPr marL="0" indent="0">
              <a:spcAft>
                <a:spcPts val="300"/>
              </a:spcAft>
              <a:buNone/>
            </a:pPr>
            <a:r>
              <a:rPr lang="en-US" sz="1200" dirty="0">
                <a:solidFill>
                  <a:srgbClr val="1B2140"/>
                </a:solidFill>
                <a:latin typeface="Calibri" pitchFamily="34" charset="0"/>
                <a:ea typeface="Calibri" pitchFamily="34" charset="-122"/>
                <a:cs typeface="Calibri" pitchFamily="34" charset="-120"/>
              </a:rPr>
              <a:t>Catat versi Vina, exhaustiveness, seed, replikat, gridbox, dan padding; sebutkan RMSD dihitung in place; tulis bahwa skor adalah estimasi komputasi.</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75004"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E · PENUTUP</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Keterbatasan teknis dan keamanan yang perlu dijaga saat dipakai</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34</a:t>
            </a:r>
            <a:endParaRPr lang="en-US" sz="1000" dirty="0"/>
          </a:p>
        </p:txBody>
      </p:sp>
      <p:sp>
        <p:nvSpPr>
          <p:cNvPr id="6" name="Shape 4"/>
          <p:cNvSpPr/>
          <p:nvPr/>
        </p:nvSpPr>
        <p:spPr>
          <a:xfrm>
            <a:off x="548640" y="146304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7" name="Shape 5"/>
          <p:cNvSpPr/>
          <p:nvPr/>
        </p:nvSpPr>
        <p:spPr>
          <a:xfrm>
            <a:off x="731520" y="1627632"/>
            <a:ext cx="457200" cy="457200"/>
          </a:xfrm>
          <a:prstGeom prst="ellipse">
            <a:avLst/>
          </a:prstGeom>
          <a:solidFill>
            <a:srgbClr val="D55E00"/>
          </a:solidFill>
          <a:ln w="12700">
            <a:solidFill>
              <a:srgbClr val="D55E00"/>
            </a:solidFill>
            <a:prstDash val="solid"/>
          </a:ln>
        </p:spPr>
        <p:txBody>
          <a:bodyPr/>
          <a:lstStyle/>
          <a:p>
            <a:endParaRPr/>
          </a:p>
        </p:txBody>
      </p:sp>
      <p:pic>
        <p:nvPicPr>
          <p:cNvPr id="8" name="Image 0" descr="Lock"/>
          <p:cNvPicPr>
            <a:picLocks noChangeAspect="1"/>
          </p:cNvPicPr>
          <p:nvPr/>
        </p:nvPicPr>
        <p:blipFill>
          <a:blip r:embed="rId3"/>
          <a:stretch>
            <a:fillRect/>
          </a:stretch>
        </p:blipFill>
        <p:spPr>
          <a:xfrm>
            <a:off x="845820" y="1741932"/>
            <a:ext cx="228600" cy="228600"/>
          </a:xfrm>
          <a:prstGeom prst="rect">
            <a:avLst/>
          </a:prstGeom>
        </p:spPr>
      </p:pic>
      <p:sp>
        <p:nvSpPr>
          <p:cNvPr id="9" name="Text 6"/>
          <p:cNvSpPr txBox="1"/>
          <p:nvPr/>
        </p:nvSpPr>
        <p:spPr>
          <a:xfrm>
            <a:off x="1325880" y="164592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ADMETLab3 lewat scraping</a:t>
            </a:r>
            <a:endParaRPr lang="en-US" sz="1350" dirty="0"/>
          </a:p>
        </p:txBody>
      </p:sp>
      <p:sp>
        <p:nvSpPr>
          <p:cNvPr id="10" name="Text 7"/>
          <p:cNvSpPr txBox="1"/>
          <p:nvPr/>
        </p:nvSpPr>
        <p:spPr>
          <a:xfrm>
            <a:off x="731520" y="221284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Verifikasi TLS mati secara bawaan (--admet-ssl-verify untuk mengaktifkan). SMILES dikirim ke server pihak ketiga; ketentuan layanan belum ditinjau. Untuk jalur aman, pakai file unduhan.</a:t>
            </a:r>
            <a:endParaRPr lang="en-US" sz="1200" dirty="0"/>
          </a:p>
        </p:txBody>
      </p:sp>
      <p:sp>
        <p:nvSpPr>
          <p:cNvPr id="11" name="Shape 8"/>
          <p:cNvSpPr/>
          <p:nvPr/>
        </p:nvSpPr>
        <p:spPr>
          <a:xfrm>
            <a:off x="4297680" y="146304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12" name="Shape 9"/>
          <p:cNvSpPr/>
          <p:nvPr/>
        </p:nvSpPr>
        <p:spPr>
          <a:xfrm>
            <a:off x="4480560" y="1627632"/>
            <a:ext cx="457200" cy="457200"/>
          </a:xfrm>
          <a:prstGeom prst="ellipse">
            <a:avLst/>
          </a:prstGeom>
          <a:solidFill>
            <a:srgbClr val="D55E00"/>
          </a:solidFill>
          <a:ln w="12700">
            <a:solidFill>
              <a:srgbClr val="D55E00"/>
            </a:solidFill>
            <a:prstDash val="solid"/>
          </a:ln>
        </p:spPr>
        <p:txBody>
          <a:bodyPr/>
          <a:lstStyle/>
          <a:p>
            <a:endParaRPr/>
          </a:p>
        </p:txBody>
      </p:sp>
      <p:pic>
        <p:nvPicPr>
          <p:cNvPr id="13" name="Image 1" descr="CloudDownloadAlt"/>
          <p:cNvPicPr>
            <a:picLocks noChangeAspect="1"/>
          </p:cNvPicPr>
          <p:nvPr/>
        </p:nvPicPr>
        <p:blipFill>
          <a:blip r:embed="rId4"/>
          <a:stretch>
            <a:fillRect/>
          </a:stretch>
        </p:blipFill>
        <p:spPr>
          <a:xfrm>
            <a:off x="4594860" y="1741932"/>
            <a:ext cx="228600" cy="228600"/>
          </a:xfrm>
          <a:prstGeom prst="rect">
            <a:avLst/>
          </a:prstGeom>
        </p:spPr>
      </p:pic>
      <p:sp>
        <p:nvSpPr>
          <p:cNvPr id="14" name="Text 10"/>
          <p:cNvSpPr txBox="1"/>
          <p:nvPr/>
        </p:nvSpPr>
        <p:spPr>
          <a:xfrm>
            <a:off x="5074920" y="164592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Biner Vina tanpa checksum</a:t>
            </a:r>
            <a:endParaRPr lang="en-US" sz="1350" dirty="0"/>
          </a:p>
        </p:txBody>
      </p:sp>
      <p:sp>
        <p:nvSpPr>
          <p:cNvPr id="15" name="Text 11"/>
          <p:cNvSpPr txBox="1"/>
          <p:nvPr/>
        </p:nvSpPr>
        <p:spPr>
          <a:xfrm>
            <a:off x="4480560" y="221284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Diunduh dari GitHub Releases dan dijalankan tanpa verifikasi checksum atau tanda tangan. Cache per folder output.</a:t>
            </a:r>
            <a:endParaRPr lang="en-US" sz="1200" dirty="0"/>
          </a:p>
        </p:txBody>
      </p:sp>
      <p:sp>
        <p:nvSpPr>
          <p:cNvPr id="16" name="Shape 12"/>
          <p:cNvSpPr/>
          <p:nvPr/>
        </p:nvSpPr>
        <p:spPr>
          <a:xfrm>
            <a:off x="8046720" y="146304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17" name="Shape 13"/>
          <p:cNvSpPr/>
          <p:nvPr/>
        </p:nvSpPr>
        <p:spPr>
          <a:xfrm>
            <a:off x="8229600" y="1627632"/>
            <a:ext cx="457200" cy="457200"/>
          </a:xfrm>
          <a:prstGeom prst="ellipse">
            <a:avLst/>
          </a:prstGeom>
          <a:solidFill>
            <a:srgbClr val="E69F00"/>
          </a:solidFill>
          <a:ln w="12700">
            <a:solidFill>
              <a:srgbClr val="E69F00"/>
            </a:solidFill>
            <a:prstDash val="solid"/>
          </a:ln>
        </p:spPr>
        <p:txBody>
          <a:bodyPr/>
          <a:lstStyle/>
          <a:p>
            <a:endParaRPr/>
          </a:p>
        </p:txBody>
      </p:sp>
      <p:pic>
        <p:nvPicPr>
          <p:cNvPr id="18" name="Image 2" descr="Clock"/>
          <p:cNvPicPr>
            <a:picLocks noChangeAspect="1"/>
          </p:cNvPicPr>
          <p:nvPr/>
        </p:nvPicPr>
        <p:blipFill>
          <a:blip r:embed="rId5"/>
          <a:stretch>
            <a:fillRect/>
          </a:stretch>
        </p:blipFill>
        <p:spPr>
          <a:xfrm>
            <a:off x="8343900" y="1741932"/>
            <a:ext cx="228600" cy="228600"/>
          </a:xfrm>
          <a:prstGeom prst="rect">
            <a:avLst/>
          </a:prstGeom>
        </p:spPr>
      </p:pic>
      <p:sp>
        <p:nvSpPr>
          <p:cNvPr id="19" name="Text 14"/>
          <p:cNvSpPr txBox="1"/>
          <p:nvPr/>
        </p:nvSpPr>
        <p:spPr>
          <a:xfrm>
            <a:off x="8823960" y="164592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Serial, resume tersedia</a:t>
            </a:r>
            <a:endParaRPr lang="en-US" sz="1350" dirty="0"/>
          </a:p>
        </p:txBody>
      </p:sp>
      <p:sp>
        <p:nvSpPr>
          <p:cNvPr id="20" name="Text 15"/>
          <p:cNvSpPr txBox="1"/>
          <p:nvPr/>
        </p:nvSpPr>
        <p:spPr>
          <a:xfrm>
            <a:off x="8229600" y="221284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Satu proses berurutan tanpa batas waktu subprocess; hasil per item tersimpan, jadi chemflow resume melanjutkan. --cpu tidak terekspos di CLI.</a:t>
            </a:r>
            <a:endParaRPr lang="en-US" sz="1200" dirty="0"/>
          </a:p>
        </p:txBody>
      </p:sp>
      <p:sp>
        <p:nvSpPr>
          <p:cNvPr id="21" name="Shape 16"/>
          <p:cNvSpPr/>
          <p:nvPr/>
        </p:nvSpPr>
        <p:spPr>
          <a:xfrm>
            <a:off x="548640" y="342900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22" name="Shape 17"/>
          <p:cNvSpPr/>
          <p:nvPr/>
        </p:nvSpPr>
        <p:spPr>
          <a:xfrm>
            <a:off x="731520" y="3593592"/>
            <a:ext cx="457200" cy="457200"/>
          </a:xfrm>
          <a:prstGeom prst="ellipse">
            <a:avLst/>
          </a:prstGeom>
          <a:solidFill>
            <a:srgbClr val="E69F00"/>
          </a:solidFill>
          <a:ln w="12700">
            <a:solidFill>
              <a:srgbClr val="E69F00"/>
            </a:solidFill>
            <a:prstDash val="solid"/>
          </a:ln>
        </p:spPr>
        <p:txBody>
          <a:bodyPr/>
          <a:lstStyle/>
          <a:p>
            <a:endParaRPr/>
          </a:p>
        </p:txBody>
      </p:sp>
      <p:pic>
        <p:nvPicPr>
          <p:cNvPr id="23" name="Image 3" descr="ExclamationTriangle"/>
          <p:cNvPicPr>
            <a:picLocks noChangeAspect="1"/>
          </p:cNvPicPr>
          <p:nvPr/>
        </p:nvPicPr>
        <p:blipFill>
          <a:blip r:embed="rId6"/>
          <a:stretch>
            <a:fillRect/>
          </a:stretch>
        </p:blipFill>
        <p:spPr>
          <a:xfrm>
            <a:off x="845820" y="3707892"/>
            <a:ext cx="228600" cy="228600"/>
          </a:xfrm>
          <a:prstGeom prst="rect">
            <a:avLst/>
          </a:prstGeom>
        </p:spPr>
      </p:pic>
      <p:sp>
        <p:nvSpPr>
          <p:cNvPr id="24" name="Text 18"/>
          <p:cNvSpPr txBox="1"/>
          <p:nvPr/>
        </p:nvSpPr>
        <p:spPr>
          <a:xfrm>
            <a:off x="1325880" y="361188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Kode keluar dan galat</a:t>
            </a:r>
            <a:endParaRPr lang="en-US" sz="1350" dirty="0"/>
          </a:p>
        </p:txBody>
      </p:sp>
      <p:sp>
        <p:nvSpPr>
          <p:cNvPr id="25" name="Text 19"/>
          <p:cNvSpPr txBox="1"/>
          <p:nvPr/>
        </p:nvSpPr>
        <p:spPr>
          <a:xfrm>
            <a:off x="731520" y="417880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run() bernilai 0 walau tidak ada yang berhasil di-docking. Galat konfigurasi muncul sebagai traceback.</a:t>
            </a:r>
            <a:endParaRPr lang="en-US" sz="1200" dirty="0"/>
          </a:p>
        </p:txBody>
      </p:sp>
      <p:sp>
        <p:nvSpPr>
          <p:cNvPr id="26" name="Shape 20"/>
          <p:cNvSpPr/>
          <p:nvPr/>
        </p:nvSpPr>
        <p:spPr>
          <a:xfrm>
            <a:off x="4297680" y="342900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27" name="Shape 21"/>
          <p:cNvSpPr/>
          <p:nvPr/>
        </p:nvSpPr>
        <p:spPr>
          <a:xfrm>
            <a:off x="4480560" y="3593592"/>
            <a:ext cx="457200" cy="457200"/>
          </a:xfrm>
          <a:prstGeom prst="ellipse">
            <a:avLst/>
          </a:prstGeom>
          <a:solidFill>
            <a:srgbClr val="E69F00"/>
          </a:solidFill>
          <a:ln w="12700">
            <a:solidFill>
              <a:srgbClr val="E69F00"/>
            </a:solidFill>
            <a:prstDash val="solid"/>
          </a:ln>
        </p:spPr>
        <p:txBody>
          <a:bodyPr/>
          <a:lstStyle/>
          <a:p>
            <a:endParaRPr/>
          </a:p>
        </p:txBody>
      </p:sp>
      <p:pic>
        <p:nvPicPr>
          <p:cNvPr id="28" name="Image 4" descr="FileCode"/>
          <p:cNvPicPr>
            <a:picLocks noChangeAspect="1"/>
          </p:cNvPicPr>
          <p:nvPr/>
        </p:nvPicPr>
        <p:blipFill>
          <a:blip r:embed="rId7"/>
          <a:stretch>
            <a:fillRect/>
          </a:stretch>
        </p:blipFill>
        <p:spPr>
          <a:xfrm>
            <a:off x="4594860" y="3707892"/>
            <a:ext cx="228600" cy="228600"/>
          </a:xfrm>
          <a:prstGeom prst="rect">
            <a:avLst/>
          </a:prstGeom>
        </p:spPr>
      </p:pic>
      <p:sp>
        <p:nvSpPr>
          <p:cNvPr id="29" name="Text 22"/>
          <p:cNvSpPr txBox="1"/>
          <p:nvPr/>
        </p:nvSpPr>
        <p:spPr>
          <a:xfrm>
            <a:off x="5074920" y="361188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Input terbatas</a:t>
            </a:r>
            <a:endParaRPr lang="en-US" sz="1350" dirty="0"/>
          </a:p>
        </p:txBody>
      </p:sp>
      <p:sp>
        <p:nvSpPr>
          <p:cNvPr id="30" name="Text 23"/>
          <p:cNvSpPr txBox="1"/>
          <p:nvPr/>
        </p:nvSpPr>
        <p:spPr>
          <a:xfrm>
            <a:off x="4480560" y="417880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Hanya .pdb dari RCSB (bukan mmCIF) dan Excel .xlsx. Kolom PDBQT reseptor berlebih bila serial melewati 99.999.</a:t>
            </a:r>
            <a:endParaRPr lang="en-US" sz="1200" dirty="0"/>
          </a:p>
        </p:txBody>
      </p:sp>
      <p:sp>
        <p:nvSpPr>
          <p:cNvPr id="31" name="Shape 24"/>
          <p:cNvSpPr/>
          <p:nvPr/>
        </p:nvSpPr>
        <p:spPr>
          <a:xfrm>
            <a:off x="8046720" y="342900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32" name="Shape 25"/>
          <p:cNvSpPr/>
          <p:nvPr/>
        </p:nvSpPr>
        <p:spPr>
          <a:xfrm>
            <a:off x="8229600" y="3593592"/>
            <a:ext cx="457200" cy="457200"/>
          </a:xfrm>
          <a:prstGeom prst="ellipse">
            <a:avLst/>
          </a:prstGeom>
          <a:solidFill>
            <a:srgbClr val="8E70EB"/>
          </a:solidFill>
          <a:ln w="12700">
            <a:solidFill>
              <a:srgbClr val="8E70EB"/>
            </a:solidFill>
            <a:prstDash val="solid"/>
          </a:ln>
        </p:spPr>
        <p:txBody>
          <a:bodyPr/>
          <a:lstStyle/>
          <a:p>
            <a:endParaRPr/>
          </a:p>
        </p:txBody>
      </p:sp>
      <p:pic>
        <p:nvPicPr>
          <p:cNvPr id="33" name="Image 5" descr="Server"/>
          <p:cNvPicPr>
            <a:picLocks noChangeAspect="1"/>
          </p:cNvPicPr>
          <p:nvPr/>
        </p:nvPicPr>
        <p:blipFill>
          <a:blip r:embed="rId8"/>
          <a:stretch>
            <a:fillRect/>
          </a:stretch>
        </p:blipFill>
        <p:spPr>
          <a:xfrm>
            <a:off x="8343900" y="3707892"/>
            <a:ext cx="228600" cy="228600"/>
          </a:xfrm>
          <a:prstGeom prst="rect">
            <a:avLst/>
          </a:prstGeom>
        </p:spPr>
      </p:pic>
      <p:sp>
        <p:nvSpPr>
          <p:cNvPr id="34" name="Text 26"/>
          <p:cNvSpPr txBox="1"/>
          <p:nvPr/>
        </p:nvSpPr>
        <p:spPr>
          <a:xfrm>
            <a:off x="8823960" y="361188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Windows dan library</a:t>
            </a:r>
            <a:endParaRPr lang="en-US" sz="1350" dirty="0"/>
          </a:p>
        </p:txBody>
      </p:sp>
      <p:sp>
        <p:nvSpPr>
          <p:cNvPr id="35" name="Text 27"/>
          <p:cNvSpPr txBox="1"/>
          <p:nvPr/>
        </p:nvSpPr>
        <p:spPr>
          <a:xfrm>
            <a:off x="8229600" y="417880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Batas path 260 karakter: nama file ligan dipendekkan otomatis. Mengimpor chemflow memaksa backend Agg matplotlib.</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75004"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E · PENUTUP</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Referensi</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35</a:t>
            </a:r>
            <a:endParaRPr lang="en-US" sz="1000" dirty="0"/>
          </a:p>
        </p:txBody>
      </p:sp>
      <p:sp>
        <p:nvSpPr>
          <p:cNvPr id="6" name="Text 4"/>
          <p:cNvSpPr txBox="1"/>
          <p:nvPr/>
        </p:nvSpPr>
        <p:spPr>
          <a:xfrm>
            <a:off x="548640" y="1645920"/>
            <a:ext cx="5440680" cy="4526280"/>
          </a:xfrm>
          <a:prstGeom prst="rect">
            <a:avLst/>
          </a:prstGeom>
          <a:noFill/>
          <a:ln/>
        </p:spPr>
        <p:txBody>
          <a:bodyPr wrap="square" lIns="0" tIns="0" rIns="0" bIns="0" rtlCol="0" anchor="t"/>
          <a:lstStyle/>
          <a:p>
            <a:pPr marL="0" indent="0">
              <a:spcAft>
                <a:spcPts val="900"/>
              </a:spcAft>
              <a:buNone/>
            </a:pPr>
            <a:r>
              <a:rPr lang="en-US" sz="1150" b="1" dirty="0">
                <a:solidFill>
                  <a:srgbClr val="3C71E8"/>
                </a:solidFill>
                <a:latin typeface="Calibri" pitchFamily="34" charset="0"/>
                <a:ea typeface="Calibri" pitchFamily="34" charset="-122"/>
                <a:cs typeface="Calibri" pitchFamily="34" charset="-120"/>
              </a:rPr>
              <a:t>1. </a:t>
            </a:r>
            <a:r>
              <a:rPr lang="en-US" sz="1150" dirty="0">
                <a:solidFill>
                  <a:srgbClr val="1B2140"/>
                </a:solidFill>
                <a:latin typeface="Calibri" pitchFamily="34" charset="0"/>
                <a:ea typeface="Calibri" pitchFamily="34" charset="-122"/>
                <a:cs typeface="Calibri" pitchFamily="34" charset="-120"/>
              </a:rPr>
              <a:t>Lipinski CA, Lombardo F, Dominy BW, Feeney PJ. Experimental and computational approaches to estimate solubility and permeability in drug discovery and development settings. Adv Drug Deliv Rev. 1997;23:3-25.</a:t>
            </a:r>
            <a:endParaRPr lang="en-US" sz="1150" dirty="0"/>
          </a:p>
          <a:p>
            <a:pPr marL="0" indent="0">
              <a:spcAft>
                <a:spcPts val="900"/>
              </a:spcAft>
              <a:buNone/>
            </a:pPr>
            <a:r>
              <a:rPr lang="en-US" sz="1150" b="1" dirty="0">
                <a:solidFill>
                  <a:srgbClr val="3C71E8"/>
                </a:solidFill>
                <a:latin typeface="Calibri" pitchFamily="34" charset="0"/>
                <a:ea typeface="Calibri" pitchFamily="34" charset="-122"/>
                <a:cs typeface="Calibri" pitchFamily="34" charset="-120"/>
              </a:rPr>
              <a:t>2. </a:t>
            </a:r>
            <a:r>
              <a:rPr lang="en-US" sz="1150" dirty="0">
                <a:solidFill>
                  <a:srgbClr val="1B2140"/>
                </a:solidFill>
                <a:latin typeface="Calibri" pitchFamily="34" charset="0"/>
                <a:ea typeface="Calibri" pitchFamily="34" charset="-122"/>
                <a:cs typeface="Calibri" pitchFamily="34" charset="-120"/>
              </a:rPr>
              <a:t>Trott O, Olson AJ. AutoDock Vina: improving the speed and accuracy of docking with a new scoring function, efficient optimization, and multithreading. J Comput Chem. 2010;31(2):455-461. doi:10.1002/jcc.21334</a:t>
            </a:r>
            <a:endParaRPr lang="en-US" sz="1150" dirty="0"/>
          </a:p>
          <a:p>
            <a:pPr marL="0" indent="0">
              <a:spcAft>
                <a:spcPts val="900"/>
              </a:spcAft>
              <a:buNone/>
            </a:pPr>
            <a:r>
              <a:rPr lang="en-US" sz="1150" b="1" dirty="0">
                <a:solidFill>
                  <a:srgbClr val="3C71E8"/>
                </a:solidFill>
                <a:latin typeface="Calibri" pitchFamily="34" charset="0"/>
                <a:ea typeface="Calibri" pitchFamily="34" charset="-122"/>
                <a:cs typeface="Calibri" pitchFamily="34" charset="-120"/>
              </a:rPr>
              <a:t>3. </a:t>
            </a:r>
            <a:r>
              <a:rPr lang="en-US" sz="1150" dirty="0">
                <a:solidFill>
                  <a:srgbClr val="1B2140"/>
                </a:solidFill>
                <a:latin typeface="Calibri" pitchFamily="34" charset="0"/>
                <a:ea typeface="Calibri" pitchFamily="34" charset="-122"/>
                <a:cs typeface="Calibri" pitchFamily="34" charset="-120"/>
              </a:rPr>
              <a:t>Eberhardt J, Santos-Martins D, Tillack AF, Forli S. AutoDock Vina 1.2.0: new docking methods, expanded force field, and Python bindings. J Chem Inf Model. 2021;61(8):3891-3898. doi:10.1021/acs.jcim.1c00203</a:t>
            </a:r>
            <a:endParaRPr lang="en-US" sz="1150" dirty="0"/>
          </a:p>
          <a:p>
            <a:pPr marL="0" indent="0">
              <a:spcAft>
                <a:spcPts val="900"/>
              </a:spcAft>
              <a:buNone/>
            </a:pPr>
            <a:r>
              <a:rPr lang="en-US" sz="1150" b="1" dirty="0">
                <a:solidFill>
                  <a:srgbClr val="3C71E8"/>
                </a:solidFill>
                <a:latin typeface="Calibri" pitchFamily="34" charset="0"/>
                <a:ea typeface="Calibri" pitchFamily="34" charset="-122"/>
                <a:cs typeface="Calibri" pitchFamily="34" charset="-120"/>
              </a:rPr>
              <a:t>4. </a:t>
            </a:r>
            <a:r>
              <a:rPr lang="en-US" sz="1150" dirty="0">
                <a:solidFill>
                  <a:srgbClr val="1B2140"/>
                </a:solidFill>
                <a:latin typeface="Calibri" pitchFamily="34" charset="0"/>
                <a:ea typeface="Calibri" pitchFamily="34" charset="-122"/>
                <a:cs typeface="Calibri" pitchFamily="34" charset="-120"/>
              </a:rPr>
              <a:t>Morris GM, Huey R, Lindstrom W, et al. AutoDock4 and AutoDockTools4: automated docking with selective receptor flexibility. J Comput Chem. 2009;30:2785-2791. doi:10.1002/jcc.21256</a:t>
            </a:r>
            <a:endParaRPr lang="en-US" sz="1150" dirty="0"/>
          </a:p>
          <a:p>
            <a:pPr marL="0" indent="0">
              <a:spcAft>
                <a:spcPts val="900"/>
              </a:spcAft>
              <a:buNone/>
            </a:pPr>
            <a:r>
              <a:rPr lang="en-US" sz="1150" b="1" dirty="0">
                <a:solidFill>
                  <a:srgbClr val="3C71E8"/>
                </a:solidFill>
                <a:latin typeface="Calibri" pitchFamily="34" charset="0"/>
                <a:ea typeface="Calibri" pitchFamily="34" charset="-122"/>
                <a:cs typeface="Calibri" pitchFamily="34" charset="-120"/>
              </a:rPr>
              <a:t>5. </a:t>
            </a:r>
            <a:r>
              <a:rPr lang="en-US" sz="1150" dirty="0">
                <a:solidFill>
                  <a:srgbClr val="1B2140"/>
                </a:solidFill>
                <a:latin typeface="Calibri" pitchFamily="34" charset="0"/>
                <a:ea typeface="Calibri" pitchFamily="34" charset="-122"/>
                <a:cs typeface="Calibri" pitchFamily="34" charset="-120"/>
              </a:rPr>
              <a:t>Fu L, Shi S, Yi J, et al. ADMETlab 3.0: an updated comprehensive online ADMET prediction platform enhanced with broader coverage, improved performance, API functionality and decision support. Nucleic Acids Res. 2024;52(W1):W422-W431. doi:10.1093/nar/gkae236</a:t>
            </a:r>
            <a:endParaRPr lang="en-US" sz="1150" dirty="0"/>
          </a:p>
          <a:p>
            <a:pPr marL="0" indent="0">
              <a:spcAft>
                <a:spcPts val="900"/>
              </a:spcAft>
              <a:buNone/>
            </a:pPr>
            <a:r>
              <a:rPr lang="en-US" sz="1150" b="1" dirty="0">
                <a:solidFill>
                  <a:srgbClr val="3C71E8"/>
                </a:solidFill>
                <a:latin typeface="Calibri" pitchFamily="34" charset="0"/>
                <a:ea typeface="Calibri" pitchFamily="34" charset="-122"/>
                <a:cs typeface="Calibri" pitchFamily="34" charset="-120"/>
              </a:rPr>
              <a:t>6. </a:t>
            </a:r>
            <a:r>
              <a:rPr lang="en-US" sz="1150" dirty="0">
                <a:solidFill>
                  <a:srgbClr val="1B2140"/>
                </a:solidFill>
                <a:latin typeface="Calibri" pitchFamily="34" charset="0"/>
                <a:ea typeface="Calibri" pitchFamily="34" charset="-122"/>
                <a:cs typeface="Calibri" pitchFamily="34" charset="-120"/>
              </a:rPr>
              <a:t>Xiong G, Wu Z, Yi J, et al. ADMETlab 2.0: an integrated online platform for accurate and comprehensive predictions of ADMET properties. Nucleic Acids Res. 2021;49(W1):W5-W14. doi:10.1093/nar/gkab255</a:t>
            </a:r>
            <a:endParaRPr lang="en-US" sz="1150" dirty="0"/>
          </a:p>
        </p:txBody>
      </p:sp>
      <p:sp>
        <p:nvSpPr>
          <p:cNvPr id="7" name="Text 5"/>
          <p:cNvSpPr txBox="1"/>
          <p:nvPr/>
        </p:nvSpPr>
        <p:spPr>
          <a:xfrm>
            <a:off x="6172200" y="1645920"/>
            <a:ext cx="5440680" cy="4526280"/>
          </a:xfrm>
          <a:prstGeom prst="rect">
            <a:avLst/>
          </a:prstGeom>
          <a:noFill/>
          <a:ln/>
        </p:spPr>
        <p:txBody>
          <a:bodyPr wrap="square" lIns="0" tIns="0" rIns="0" bIns="0" rtlCol="0" anchor="t"/>
          <a:lstStyle/>
          <a:p>
            <a:pPr marL="0" indent="0">
              <a:spcAft>
                <a:spcPts val="900"/>
              </a:spcAft>
              <a:buNone/>
            </a:pPr>
            <a:r>
              <a:rPr lang="en-US" sz="1150" b="1" dirty="0">
                <a:solidFill>
                  <a:srgbClr val="3C71E8"/>
                </a:solidFill>
                <a:latin typeface="Calibri" pitchFamily="34" charset="0"/>
                <a:ea typeface="Calibri" pitchFamily="34" charset="-122"/>
                <a:cs typeface="Calibri" pitchFamily="34" charset="-120"/>
              </a:rPr>
              <a:t>7. </a:t>
            </a:r>
            <a:r>
              <a:rPr lang="en-US" sz="1150" dirty="0">
                <a:solidFill>
                  <a:srgbClr val="1B2140"/>
                </a:solidFill>
                <a:latin typeface="Calibri" pitchFamily="34" charset="0"/>
                <a:ea typeface="Calibri" pitchFamily="34" charset="-122"/>
                <a:cs typeface="Calibri" pitchFamily="34" charset="-120"/>
              </a:rPr>
              <a:t>Hevener KE, Zhao W, Ball DM, et al. Validation of molecular docking programs for virtual screening against dihydropteroate synthase. J Chem Inf Model. 2009;49(2):444-460. doi:10.1021/ci800293n</a:t>
            </a:r>
            <a:endParaRPr lang="en-US" sz="1150" dirty="0"/>
          </a:p>
          <a:p>
            <a:pPr marL="0" indent="0">
              <a:spcAft>
                <a:spcPts val="900"/>
              </a:spcAft>
              <a:buNone/>
            </a:pPr>
            <a:r>
              <a:rPr lang="en-US" sz="1150" b="1" dirty="0">
                <a:solidFill>
                  <a:srgbClr val="3C71E8"/>
                </a:solidFill>
                <a:latin typeface="Calibri" pitchFamily="34" charset="0"/>
                <a:ea typeface="Calibri" pitchFamily="34" charset="-122"/>
                <a:cs typeface="Calibri" pitchFamily="34" charset="-120"/>
              </a:rPr>
              <a:t>8. </a:t>
            </a:r>
            <a:r>
              <a:rPr lang="en-US" sz="1150" dirty="0">
                <a:solidFill>
                  <a:srgbClr val="1B2140"/>
                </a:solidFill>
                <a:latin typeface="Calibri" pitchFamily="34" charset="0"/>
                <a:ea typeface="Calibri" pitchFamily="34" charset="-122"/>
                <a:cs typeface="Calibri" pitchFamily="34" charset="-120"/>
              </a:rPr>
              <a:t>Pratama MRF, Poerwono H, Siswodihardjo S. Introducing a two-dimensional graph of docking score difference vs. similarity of ligand-receptor interactions. Indones J Biotechnol. 2021;26(1):54-60. doi:10.22146/ijbiotech.62194</a:t>
            </a:r>
            <a:endParaRPr lang="en-US" sz="1150" dirty="0"/>
          </a:p>
          <a:p>
            <a:pPr marL="0" indent="0">
              <a:spcAft>
                <a:spcPts val="900"/>
              </a:spcAft>
              <a:buNone/>
            </a:pPr>
            <a:r>
              <a:rPr lang="en-US" sz="1150" b="1" dirty="0">
                <a:solidFill>
                  <a:srgbClr val="3C71E8"/>
                </a:solidFill>
                <a:latin typeface="Calibri" pitchFamily="34" charset="0"/>
                <a:ea typeface="Calibri" pitchFamily="34" charset="-122"/>
                <a:cs typeface="Calibri" pitchFamily="34" charset="-120"/>
              </a:rPr>
              <a:t>9. </a:t>
            </a:r>
            <a:r>
              <a:rPr lang="en-US" sz="1150" dirty="0">
                <a:solidFill>
                  <a:srgbClr val="1B2140"/>
                </a:solidFill>
                <a:latin typeface="Calibri" pitchFamily="34" charset="0"/>
                <a:ea typeface="Calibri" pitchFamily="34" charset="-122"/>
                <a:cs typeface="Calibri" pitchFamily="34" charset="-120"/>
              </a:rPr>
              <a:t>Cornell WD, Cieplak P, Bayly CI, et al. A second generation force field for the simulation of proteins, nucleic acids, and organic molecules. J Am Chem Soc. 1995;117:5179-5197. doi:10.1021/ja00124a002</a:t>
            </a:r>
            <a:endParaRPr lang="en-US" sz="1150" dirty="0"/>
          </a:p>
          <a:p>
            <a:pPr marL="0" indent="0">
              <a:spcAft>
                <a:spcPts val="900"/>
              </a:spcAft>
              <a:buNone/>
            </a:pPr>
            <a:r>
              <a:rPr lang="en-US" sz="1150" b="1" dirty="0">
                <a:solidFill>
                  <a:srgbClr val="3C71E8"/>
                </a:solidFill>
                <a:latin typeface="Calibri" pitchFamily="34" charset="0"/>
                <a:ea typeface="Calibri" pitchFamily="34" charset="-122"/>
                <a:cs typeface="Calibri" pitchFamily="34" charset="-120"/>
              </a:rPr>
              <a:t>10. </a:t>
            </a:r>
            <a:r>
              <a:rPr lang="en-US" sz="1150" dirty="0">
                <a:solidFill>
                  <a:srgbClr val="1B2140"/>
                </a:solidFill>
                <a:latin typeface="Calibri" pitchFamily="34" charset="0"/>
                <a:ea typeface="Calibri" pitchFamily="34" charset="-122"/>
                <a:cs typeface="Calibri" pitchFamily="34" charset="-120"/>
              </a:rPr>
              <a:t>O'Boyle NM, Banck M, James CA, et al. Open Babel: an open chemical toolbox. J Cheminform. 2011;3:33. doi:10.1186/1758-2946-3-33</a:t>
            </a:r>
            <a:endParaRPr lang="en-US" sz="1150" dirty="0"/>
          </a:p>
          <a:p>
            <a:pPr marL="0" indent="0">
              <a:spcAft>
                <a:spcPts val="900"/>
              </a:spcAft>
              <a:buNone/>
            </a:pPr>
            <a:r>
              <a:rPr lang="en-US" sz="1150" b="1" dirty="0">
                <a:solidFill>
                  <a:srgbClr val="3C71E8"/>
                </a:solidFill>
                <a:latin typeface="Calibri" pitchFamily="34" charset="0"/>
                <a:ea typeface="Calibri" pitchFamily="34" charset="-122"/>
                <a:cs typeface="Calibri" pitchFamily="34" charset="-120"/>
              </a:rPr>
              <a:t>11. </a:t>
            </a:r>
            <a:r>
              <a:rPr lang="en-US" sz="1150" dirty="0">
                <a:solidFill>
                  <a:srgbClr val="1B2140"/>
                </a:solidFill>
                <a:latin typeface="Calibri" pitchFamily="34" charset="0"/>
                <a:ea typeface="Calibri" pitchFamily="34" charset="-122"/>
                <a:cs typeface="Calibri" pitchFamily="34" charset="-120"/>
              </a:rPr>
              <a:t>Okabe M, Ito K. Color Universal Design (CUD): how to make figures and presentations that are friendly to colorblind people. 2008.</a:t>
            </a:r>
            <a:endParaRPr lang="en-US" sz="1150" dirty="0"/>
          </a:p>
          <a:p>
            <a:pPr marL="0" indent="0">
              <a:spcAft>
                <a:spcPts val="900"/>
              </a:spcAft>
              <a:buNone/>
            </a:pPr>
            <a:r>
              <a:rPr lang="en-US" sz="1150" b="1" dirty="0">
                <a:solidFill>
                  <a:srgbClr val="3C71E8"/>
                </a:solidFill>
                <a:latin typeface="Calibri" pitchFamily="34" charset="0"/>
                <a:ea typeface="Calibri" pitchFamily="34" charset="-122"/>
                <a:cs typeface="Calibri" pitchFamily="34" charset="-120"/>
              </a:rPr>
              <a:t>12. </a:t>
            </a:r>
            <a:r>
              <a:rPr lang="en-US" sz="1150" dirty="0">
                <a:solidFill>
                  <a:srgbClr val="1B2140"/>
                </a:solidFill>
                <a:latin typeface="Calibri" pitchFamily="34" charset="0"/>
                <a:ea typeface="Calibri" pitchFamily="34" charset="-122"/>
                <a:cs typeface="Calibri" pitchFamily="34" charset="-120"/>
              </a:rPr>
              <a:t>Landrum G. RDKit: open-source cheminformatics. https://www.rdkit.org</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21A3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175004" cy="256032"/>
          </a:xfrm>
          <a:prstGeom prst="roundRect">
            <a:avLst>
              <a:gd name="adj" fmla="val 50000"/>
            </a:avLst>
          </a:prstGeom>
          <a:solidFill>
            <a:srgbClr val="1C2757"/>
          </a:solidFill>
          <a:ln/>
        </p:spPr>
        <p:txBody>
          <a:bodyPr wrap="square" lIns="0" tIns="0" rIns="0" bIns="0" rtlCol="0" anchor="ctr"/>
          <a:lstStyle/>
          <a:p>
            <a:pPr marL="0" indent="0" algn="ctr">
              <a:buNone/>
            </a:pPr>
            <a:r>
              <a:rPr lang="en-US" sz="1000" b="1" dirty="0">
                <a:solidFill>
                  <a:srgbClr val="C9D3FF"/>
                </a:solidFill>
                <a:latin typeface="Calibri" pitchFamily="34" charset="0"/>
                <a:ea typeface="Calibri" pitchFamily="34" charset="-122"/>
                <a:cs typeface="Calibri" pitchFamily="34" charset="-120"/>
              </a:rPr>
              <a:t>E · PENUTUP</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FFFFFF"/>
                </a:solidFill>
                <a:latin typeface="Cambria" pitchFamily="34" charset="0"/>
                <a:ea typeface="Cambria" pitchFamily="34" charset="-122"/>
                <a:cs typeface="Cambria" pitchFamily="34" charset="-120"/>
              </a:rPr>
              <a:t>Kesimpulan: dari dua Excel ke hasil yang dapat diuji ulang</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C9D3FF"/>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C9D3FF"/>
                </a:solidFill>
                <a:latin typeface="Calibri" pitchFamily="34" charset="0"/>
                <a:ea typeface="Calibri" pitchFamily="34" charset="-122"/>
                <a:cs typeface="Calibri" pitchFamily="34" charset="-120"/>
              </a:rPr>
              <a:t>36</a:t>
            </a:r>
            <a:endParaRPr lang="en-US" sz="1000" dirty="0"/>
          </a:p>
        </p:txBody>
      </p:sp>
      <p:sp>
        <p:nvSpPr>
          <p:cNvPr id="6" name="Shape 4"/>
          <p:cNvSpPr/>
          <p:nvPr/>
        </p:nvSpPr>
        <p:spPr>
          <a:xfrm>
            <a:off x="548640" y="1737360"/>
            <a:ext cx="411480" cy="411480"/>
          </a:xfrm>
          <a:prstGeom prst="ellipse">
            <a:avLst/>
          </a:prstGeom>
          <a:solidFill>
            <a:srgbClr val="3C71E8"/>
          </a:solidFill>
          <a:ln w="12700">
            <a:solidFill>
              <a:srgbClr val="3C71E8"/>
            </a:solidFill>
            <a:prstDash val="solid"/>
          </a:ln>
        </p:spPr>
        <p:txBody>
          <a:bodyPr/>
          <a:p/>
        </p:txBody>
      </p:sp>
      <p:sp>
        <p:nvSpPr>
          <p:cNvPr id="7" name="Text 5"/>
          <p:cNvSpPr txBox="1"/>
          <p:nvPr/>
        </p:nvSpPr>
        <p:spPr>
          <a:xfrm>
            <a:off x="548640" y="173736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43000" y="1691640"/>
            <a:ext cx="5669280" cy="77724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Pipeline in silico dapat diotomasi dari dua file Excel dengan Python, RDKit, OpenBabel, dan AutoDock Vina.</a:t>
            </a:r>
            <a:endParaRPr lang="en-US" sz="1500" dirty="0"/>
          </a:p>
        </p:txBody>
      </p:sp>
      <p:sp>
        <p:nvSpPr>
          <p:cNvPr id="9" name="Shape 7"/>
          <p:cNvSpPr/>
          <p:nvPr/>
        </p:nvSpPr>
        <p:spPr>
          <a:xfrm>
            <a:off x="548640" y="2606040"/>
            <a:ext cx="411480" cy="411480"/>
          </a:xfrm>
          <a:prstGeom prst="ellipse">
            <a:avLst/>
          </a:prstGeom>
          <a:solidFill>
            <a:srgbClr val="3C71E8"/>
          </a:solidFill>
          <a:ln w="12700">
            <a:solidFill>
              <a:srgbClr val="3C71E8"/>
            </a:solidFill>
            <a:prstDash val="solid"/>
          </a:ln>
        </p:spPr>
        <p:txBody>
          <a:bodyPr/>
          <a:p/>
        </p:txBody>
      </p:sp>
      <p:sp>
        <p:nvSpPr>
          <p:cNvPr id="10" name="Text 8"/>
          <p:cNvSpPr txBox="1"/>
          <p:nvPr/>
        </p:nvSpPr>
        <p:spPr>
          <a:xfrm>
            <a:off x="548640" y="26060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43000" y="2560320"/>
            <a:ext cx="5669280" cy="77724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Validasi redocking dan ADMET memberi konteks, tetapi skor docking tetap estimasi.</a:t>
            </a:r>
            <a:endParaRPr lang="en-US" sz="1500" dirty="0"/>
          </a:p>
        </p:txBody>
      </p:sp>
      <p:sp>
        <p:nvSpPr>
          <p:cNvPr id="12" name="Shape 10"/>
          <p:cNvSpPr/>
          <p:nvPr/>
        </p:nvSpPr>
        <p:spPr>
          <a:xfrm>
            <a:off x="548640" y="3474720"/>
            <a:ext cx="411480" cy="411480"/>
          </a:xfrm>
          <a:prstGeom prst="ellipse">
            <a:avLst/>
          </a:prstGeom>
          <a:solidFill>
            <a:srgbClr val="3C71E8"/>
          </a:solidFill>
          <a:ln w="12700">
            <a:solidFill>
              <a:srgbClr val="3C71E8"/>
            </a:solidFill>
            <a:prstDash val="solid"/>
          </a:ln>
        </p:spPr>
        <p:txBody>
          <a:bodyPr/>
          <a:p/>
        </p:txBody>
      </p:sp>
      <p:sp>
        <p:nvSpPr>
          <p:cNvPr id="13" name="Text 11"/>
          <p:cNvSpPr txBox="1"/>
          <p:nvPr/>
        </p:nvSpPr>
        <p:spPr>
          <a:xfrm>
            <a:off x="548640" y="34747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43000" y="3547872"/>
            <a:ext cx="5669280" cy="77724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Keluaran siap publikasi: Excel berwarna, grafik 300 dpi, kompleks PDB.</a:t>
            </a:r>
            <a:endParaRPr lang="en-US" sz="1500" dirty="0"/>
          </a:p>
        </p:txBody>
      </p:sp>
      <p:sp>
        <p:nvSpPr>
          <p:cNvPr id="15" name="Shape 13"/>
          <p:cNvSpPr/>
          <p:nvPr/>
        </p:nvSpPr>
        <p:spPr>
          <a:xfrm>
            <a:off x="548640" y="4343400"/>
            <a:ext cx="411480" cy="411480"/>
          </a:xfrm>
          <a:prstGeom prst="ellipse">
            <a:avLst/>
          </a:prstGeom>
          <a:solidFill>
            <a:srgbClr val="3C71E8"/>
          </a:solidFill>
          <a:ln w="12700">
            <a:solidFill>
              <a:srgbClr val="3C71E8"/>
            </a:solidFill>
            <a:prstDash val="solid"/>
          </a:ln>
        </p:spPr>
        <p:txBody>
          <a:bodyPr/>
          <a:p/>
        </p:txBody>
      </p:sp>
      <p:sp>
        <p:nvSpPr>
          <p:cNvPr id="16" name="Text 14"/>
          <p:cNvSpPr txBox="1"/>
          <p:nvPr/>
        </p:nvSpPr>
        <p:spPr>
          <a:xfrm>
            <a:off x="548640" y="434340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143000" y="4297680"/>
            <a:ext cx="5669280" cy="77724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Baca hasil secara kritis: tinjau RMSD, replikat, dan asumsi sebelum menyimpulkan.</a:t>
            </a:r>
            <a:endParaRPr lang="en-US" sz="1500" dirty="0"/>
          </a:p>
        </p:txBody>
      </p:sp>
      <p:sp>
        <p:nvSpPr>
          <p:cNvPr id="21" name="Shape 19"/>
          <p:cNvSpPr/>
          <p:nvPr/>
        </p:nvSpPr>
        <p:spPr>
          <a:xfrm>
            <a:off x="548640" y="5257800"/>
            <a:ext cx="11091672" cy="914400"/>
          </a:xfrm>
          <a:prstGeom prst="roundRect">
            <a:avLst>
              <a:gd name="adj" fmla="val 12000"/>
            </a:avLst>
          </a:prstGeom>
          <a:solidFill>
            <a:srgbClr val="3C71E8"/>
          </a:solidFill>
          <a:ln w="12700">
            <a:solidFill>
              <a:srgbClr val="3C71E8"/>
            </a:solidFill>
            <a:prstDash val="solid"/>
          </a:ln>
        </p:spPr>
        <p:txBody>
          <a:bodyPr/>
          <a:p/>
        </p:txBody>
      </p:sp>
      <p:sp>
        <p:nvSpPr>
          <p:cNvPr id="22" name="Text 20"/>
          <p:cNvSpPr txBox="1"/>
          <p:nvPr/>
        </p:nvSpPr>
        <p:spPr>
          <a:xfrm>
            <a:off x="868680" y="5376672"/>
            <a:ext cx="3200400" cy="365760"/>
          </a:xfrm>
          <a:prstGeom prst="rect">
            <a:avLst/>
          </a:prstGeom>
          <a:noFill/>
          <a:ln/>
        </p:spPr>
        <p:txBody>
          <a:bodyPr wrap="square" lIns="0" tIns="0" rIns="0" bIns="0" rtlCol="0" anchor="t"/>
          <a:lstStyle/>
          <a:p>
            <a:pPr marL="0" indent="0">
              <a:buNone/>
            </a:pPr>
            <a:r>
              <a:rPr lang="en-US" sz="2200" b="1" dirty="0">
                <a:solidFill>
                  <a:srgbClr val="FFFFFF"/>
                </a:solidFill>
                <a:latin typeface="Cambria" pitchFamily="34" charset="0"/>
                <a:ea typeface="Cambria" pitchFamily="34" charset="-122"/>
                <a:cs typeface="Cambria" pitchFamily="34" charset="-120"/>
              </a:rPr>
              <a:t>Tanya jawab</a:t>
            </a:r>
            <a:endParaRPr lang="en-US" sz="2200" dirty="0"/>
          </a:p>
        </p:txBody>
      </p:sp>
      <p:sp>
        <p:nvSpPr>
          <p:cNvPr id="23" name="Text 21"/>
          <p:cNvSpPr txBox="1"/>
          <p:nvPr/>
        </p:nvSpPr>
        <p:spPr>
          <a:xfrm>
            <a:off x="868680" y="5779008"/>
            <a:ext cx="10424160" cy="292608"/>
          </a:xfrm>
          <a:prstGeom prst="rect">
            <a:avLst/>
          </a:prstGeom>
          <a:noFill/>
          <a:ln/>
        </p:spPr>
        <p:txBody>
          <a:bodyPr wrap="square" lIns="0" tIns="0" rIns="0" bIns="0" rtlCol="0" anchor="t"/>
          <a:lstStyle/>
          <a:p>
            <a:pPr marL="0" indent="0">
              <a:buNone/>
            </a:pPr>
            <a:r>
              <a:rPr lang="en-US" sz="1350" dirty="0">
                <a:solidFill>
                  <a:srgbClr val="FFFFFF"/>
                </a:solidFill>
                <a:latin typeface="Calibri" pitchFamily="34" charset="0"/>
                <a:ea typeface="Calibri" pitchFamily="34" charset="-122"/>
                <a:cs typeface="Calibri" pitchFamily="34" charset="-120"/>
              </a:rPr>
              <a:t>Arif Maulana Azis  ·  github.com/Arifmaulanaazis/chemflow  ·  Lisensi MIT</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941832"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APPENDIX</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Ambang ADMET (1/2): aturan dengan batas numerik</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A1</a:t>
            </a:r>
            <a:endParaRPr lang="en-US" sz="10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5120640" cy="4608576"/>
        </p:xfrm>
        <a:graphic>
          <a:graphicData uri="http://schemas.openxmlformats.org/drawingml/2006/table">
            <a:tbl>
              <a:tblPr/>
              <a:tblGrid>
                <a:gridCol w="118872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tblGrid>
              <a:tr h="192024">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Kolom</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Parameter</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Hijau bila</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extLst>
                  <a:ext uri="{0D108BD9-81ED-4DB2-BD59-A6C34878D82A}">
                    <a16:rowId xmlns:a16="http://schemas.microsoft.com/office/drawing/2014/main" val="10000"/>
                  </a:ext>
                </a:extLst>
              </a:tr>
              <a:tr h="192024">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MW</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Molecular Weight (Da)</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100 s.d. 600</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92024">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nHA</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H-Bond Acceptors</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0 s.d. 12</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2"/>
                  </a:ext>
                </a:extLst>
              </a:tr>
              <a:tr h="192024">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nHD</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H-Bond Donors</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0 s.d. 7</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92024">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TPSA</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TPSA (Å²)</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0 s.d. 140</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4"/>
                  </a:ext>
                </a:extLst>
              </a:tr>
              <a:tr h="192024">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nRot</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Rotatable Bonds</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0 s.d. 11</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92024">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nRing</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Ring Count</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0 s.d. 6</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6"/>
                  </a:ext>
                </a:extLst>
              </a:tr>
              <a:tr h="192024">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MaxRing</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Max Ring Size (atoms)</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0 s.d. 18</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92024">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nHet</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Heteroatom Count</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1 s.d. 15</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8"/>
                  </a:ext>
                </a:extLst>
              </a:tr>
              <a:tr h="192024">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fChar</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Formal Charge</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−4 s.d. 4</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192024">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nRig</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Rigid Bonds</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0 s.d. 30</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10"/>
                  </a:ext>
                </a:extLst>
              </a:tr>
              <a:tr h="192024">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nStereo</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Stereo Centers</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 2</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192024">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logS</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logS (log mol/L)</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−4 s.d. 0,5</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12"/>
                  </a:ext>
                </a:extLst>
              </a:tr>
              <a:tr h="192024">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logP</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logP (log mol/L)</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0 s.d. 3</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192024">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logD</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logD 7.4 (log mol/L)</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1 s.d. 3</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14"/>
                  </a:ext>
                </a:extLst>
              </a:tr>
              <a:tr h="192024">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QED</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QED</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&gt; 0,67</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r h="192024">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Synth</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SAscore (1-10)</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&lt; 6</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16"/>
                  </a:ext>
                </a:extLst>
              </a:tr>
              <a:tr h="192024">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gasa</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GASA (0/1)</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17"/>
                  </a:ext>
                </a:extLst>
              </a:tr>
              <a:tr h="192024">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Fsp3</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Fsp3</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 0,42</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18"/>
                  </a:ext>
                </a:extLst>
              </a:tr>
              <a:tr h="192024">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MCE-18</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MCE-18</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 45</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19"/>
                  </a:ext>
                </a:extLst>
              </a:tr>
              <a:tr h="192024">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Lipinski</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Lipinski Rule (pelanggaran)</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 1</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20"/>
                  </a:ext>
                </a:extLst>
              </a:tr>
              <a:tr h="192024">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Pfizer</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Pfizer Rule (pelanggaran)</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 1</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21"/>
                  </a:ext>
                </a:extLst>
              </a:tr>
              <a:tr h="192024">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GSK</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GSK Rule (pelanggaran)</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 0</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22"/>
                  </a:ext>
                </a:extLst>
              </a:tr>
              <a:tr h="192024">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GoldenTriangle</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Golden Triangle (pelanggaran)</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 0</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23"/>
                  </a:ext>
                </a:extLst>
              </a:tr>
            </a:tbl>
          </a:graphicData>
        </a:graphic>
      </p:graphicFrame>
      <p:sp>
        <p:nvSpPr>
          <p:cNvPr id="7" name="Text 4"/>
          <p:cNvSpPr txBox="1"/>
          <p:nvPr/>
        </p:nvSpPr>
        <p:spPr>
          <a:xfrm>
            <a:off x="548640" y="1298448"/>
            <a:ext cx="5120640" cy="228600"/>
          </a:xfrm>
          <a:prstGeom prst="rect">
            <a:avLst/>
          </a:prstGeom>
          <a:noFill/>
          <a:ln/>
        </p:spPr>
        <p:txBody>
          <a:bodyPr wrap="square" lIns="0" tIns="0" rIns="0" bIns="0" rtlCol="0" anchor="t"/>
          <a:lstStyle/>
          <a:p>
            <a:pPr marL="0" indent="0">
              <a:buNone/>
            </a:pPr>
            <a:r>
              <a:rPr lang="en-US" sz="1100" b="1" dirty="0">
                <a:solidFill>
                  <a:srgbClr val="3C71E8"/>
                </a:solidFill>
                <a:latin typeface="Calibri" pitchFamily="34" charset="0"/>
                <a:ea typeface="Calibri" pitchFamily="34" charset="-122"/>
                <a:cs typeface="Calibri" pitchFamily="34" charset="-120"/>
              </a:rPr>
              <a:t>Fisikokimia (aturan numerik; alert dan tiered di A2)</a:t>
            </a:r>
            <a:endParaRPr lang="en-US" sz="1100" dirty="0"/>
          </a:p>
        </p:txBody>
      </p:sp>
      <p:sp>
        <p:nvSpPr>
          <p:cNvPr id="8" name="Text 5"/>
          <p:cNvSpPr txBox="1"/>
          <p:nvPr/>
        </p:nvSpPr>
        <p:spPr>
          <a:xfrm>
            <a:off x="6355080" y="1298448"/>
            <a:ext cx="4572000" cy="228600"/>
          </a:xfrm>
          <a:prstGeom prst="rect">
            <a:avLst/>
          </a:prstGeom>
          <a:noFill/>
          <a:ln/>
        </p:spPr>
        <p:txBody>
          <a:bodyPr wrap="square" lIns="0" tIns="0" rIns="0" bIns="0" rtlCol="0" anchor="t"/>
          <a:lstStyle/>
          <a:p>
            <a:pPr marL="0" indent="0">
              <a:buNone/>
            </a:pPr>
            <a:r>
              <a:rPr lang="en-US" sz="1100" b="1" dirty="0">
                <a:solidFill>
                  <a:srgbClr val="3C71E8"/>
                </a:solidFill>
                <a:latin typeface="Calibri" pitchFamily="34" charset="0"/>
                <a:ea typeface="Calibri" pitchFamily="34" charset="-122"/>
                <a:cs typeface="Calibri" pitchFamily="34" charset="-120"/>
              </a:rPr>
              <a:t>Absorpsi, Distribusi, Ekskresi</a:t>
            </a:r>
            <a:endParaRPr lang="en-US" sz="1100" dirty="0"/>
          </a:p>
        </p:txBody>
      </p:sp>
      <p:graphicFrame>
        <p:nvGraphicFramePr>
          <p:cNvPr id="75" name="Table 1"/>
          <p:cNvGraphicFramePr>
            <a:graphicFrameLocks noGrp="1"/>
          </p:cNvGraphicFramePr>
          <p:nvPr>
            <p:extLst>
              <p:ext uri="{D42A27DB-BD31-4B8C-83A1-F6EECF244321}">
                <p14:modId xmlns:p14="http://schemas.microsoft.com/office/powerpoint/2010/main" val="1579011935"/>
              </p:ext>
            </p:extLst>
          </p:nvPr>
        </p:nvGraphicFramePr>
        <p:xfrm>
          <a:off x="6355080" y="1554480"/>
          <a:ext cx="5285232" cy="1755648"/>
        </p:xfrm>
        <a:graphic>
          <a:graphicData uri="http://schemas.openxmlformats.org/drawingml/2006/table">
            <a:tbl>
              <a:tblPr/>
              <a:tblGrid>
                <a:gridCol w="10972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810512">
                  <a:extLst>
                    <a:ext uri="{9D8B030D-6E8A-4147-A177-3AD203B41FA5}">
                      <a16:colId xmlns:a16="http://schemas.microsoft.com/office/drawing/2014/main" val="20002"/>
                    </a:ext>
                  </a:extLst>
                </a:gridCol>
              </a:tblGrid>
              <a:tr h="219456">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Kolom</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Parameter</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Hijau bila</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extLst>
                  <a:ext uri="{0D108BD9-81ED-4DB2-BD59-A6C34878D82A}">
                    <a16:rowId xmlns:a16="http://schemas.microsoft.com/office/drawing/2014/main" val="10000"/>
                  </a:ext>
                </a:extLst>
              </a:tr>
              <a:tr h="219456">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caco2</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Caco-2 Permeability (log cm/s)</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&gt; −5,15</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MDCK</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MDCK Permeability (log cm/s)</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 −5,7</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2"/>
                  </a:ext>
                </a:extLst>
              </a:tr>
              <a:tr h="219456">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PPB</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Plasma Protein Binding (%)</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 90</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19456">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VDss</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VDss (log10(L/kg))</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−1,4 s.d. 1,3</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4"/>
                  </a:ext>
                </a:extLst>
              </a:tr>
              <a:tr h="219456">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Fu</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Fraction Unbound (%)</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 5</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19456">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cl-plasma</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Plasma Clearance (mL/min/kg)</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 5 hijau / 5-15 kuning / &gt; 15 merah</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6"/>
                  </a:ext>
                </a:extLst>
              </a:tr>
              <a:tr h="219456">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t0.5</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Half-life (jam)</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&gt; 8 hijau / 1-8 kuning / &lt; 1 merah</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0" name="Shape 6"/>
          <p:cNvSpPr/>
          <p:nvPr/>
        </p:nvSpPr>
        <p:spPr>
          <a:xfrm>
            <a:off x="6355080" y="3657600"/>
            <a:ext cx="5285232" cy="1005840"/>
          </a:xfrm>
          <a:prstGeom prst="roundRect">
            <a:avLst>
              <a:gd name="adj" fmla="val 9091"/>
            </a:avLst>
          </a:prstGeom>
          <a:solidFill>
            <a:srgbClr val="FCF0D6"/>
          </a:solidFill>
          <a:ln w="15875">
            <a:solidFill>
              <a:srgbClr val="E69F00"/>
            </a:solidFill>
            <a:prstDash val="solid"/>
          </a:ln>
        </p:spPr>
        <p:txBody>
          <a:bodyPr/>
          <a:p/>
        </p:txBody>
      </p:sp>
      <p:sp>
        <p:nvSpPr>
          <p:cNvPr id="11" name="Text 7"/>
          <p:cNvSpPr txBox="1"/>
          <p:nvPr/>
        </p:nvSpPr>
        <p:spPr>
          <a:xfrm>
            <a:off x="6519672" y="3749040"/>
            <a:ext cx="4956048" cy="822960"/>
          </a:xfrm>
          <a:prstGeom prst="rect">
            <a:avLst/>
          </a:prstGeom>
          <a:noFill/>
          <a:ln/>
        </p:spPr>
        <p:txBody>
          <a:bodyPr wrap="square" lIns="0" tIns="0" rIns="0" bIns="0" rtlCol="0" anchor="t"/>
          <a:lstStyle/>
          <a:p>
            <a:pPr marL="0" indent="0">
              <a:spcAft>
                <a:spcPts val="300"/>
              </a:spcAft>
              <a:buNone/>
            </a:pPr>
            <a:r>
              <a:rPr lang="en-US" sz="1150" b="1" dirty="0">
                <a:solidFill>
                  <a:srgbClr val="1B2140"/>
                </a:solidFill>
                <a:latin typeface="Calibri" pitchFamily="34" charset="0"/>
                <a:ea typeface="Calibri" pitchFamily="34" charset="-122"/>
                <a:cs typeface="Calibri" pitchFamily="34" charset="-120"/>
              </a:rPr>
              <a:t>Cara baca</a:t>
            </a:r>
            <a:endParaRPr lang="en-US" sz="1150" dirty="0"/>
          </a:p>
          <a:p>
            <a:pPr marL="0" indent="0">
              <a:spcAft>
                <a:spcPts val="300"/>
              </a:spcAft>
              <a:buNone/>
            </a:pPr>
            <a:r>
              <a:rPr lang="en-US" sz="1050" dirty="0">
                <a:solidFill>
                  <a:srgbClr val="1B2140"/>
                </a:solidFill>
                <a:latin typeface="Calibri" pitchFamily="34" charset="0"/>
                <a:ea typeface="Calibri" pitchFamily="34" charset="-122"/>
                <a:cs typeface="Calibri" pitchFamily="34" charset="-120"/>
              </a:rPr>
              <a:t>Di luar batas hijau berarti merah, kecuali tipe tiered_range (Ekskresi) yang punya pita kuning. Batas strik (&gt;, &lt;) di kode ditulis dengan toleransi 1e-9. Sumber: admet_rules.py.</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941832"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APPENDIX</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Ambang ADMET (2/2): kelompok probabilitas dan peringatan</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A2</a:t>
            </a:r>
            <a:endParaRPr lang="en-US" sz="1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3421380"/>
        </p:xfrm>
        <a:graphic>
          <a:graphicData uri="http://schemas.openxmlformats.org/drawingml/2006/table">
            <a:tbl>
              <a:tblPr/>
              <a:tblGrid>
                <a:gridCol w="12801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6885432">
                  <a:extLst>
                    <a:ext uri="{9D8B030D-6E8A-4147-A177-3AD203B41FA5}">
                      <a16:colId xmlns:a16="http://schemas.microsoft.com/office/drawing/2014/main" val="20002"/>
                    </a:ext>
                  </a:extLst>
                </a:gridCol>
              </a:tblGrid>
              <a:tr h="274320">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Kategori</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Tipe</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Kolom</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extLst>
                  <a:ext uri="{0D108BD9-81ED-4DB2-BD59-A6C34878D82A}">
                    <a16:rowId xmlns:a16="http://schemas.microsoft.com/office/drawing/2014/main" val="10000"/>
                  </a:ext>
                </a:extLst>
              </a:tr>
              <a:tr h="274320">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Fisikokimia</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tiered: ≤ 0,3 hijau, ≤ 0,7 kuning, &gt; 0,7 merah</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750" dirty="0">
                          <a:solidFill>
                            <a:srgbClr val="1B2140"/>
                          </a:solidFill>
                          <a:latin typeface="Courier New" pitchFamily="34" charset="0"/>
                          <a:ea typeface="Courier New" pitchFamily="34" charset="-122"/>
                          <a:cs typeface="Courier New" pitchFamily="34" charset="-120"/>
                        </a:rPr>
                        <a:t>Aggregators, Fluc, Blue_fluorescence, Green_fluorescence, Reactive, Promiscuous, Other_assay_interference</a:t>
                      </a:r>
                      <a:endParaRPr lang="en-US" sz="7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Fisikokimia</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alert: tanpa peringatan hijau, ada peringatan merah</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750" dirty="0">
                          <a:solidFill>
                            <a:srgbClr val="1B2140"/>
                          </a:solidFill>
                          <a:latin typeface="Courier New" pitchFamily="34" charset="0"/>
                          <a:ea typeface="Courier New" pitchFamily="34" charset="-122"/>
                          <a:cs typeface="Courier New" pitchFamily="34" charset="-120"/>
                        </a:rPr>
                        <a:t>Alarm_NMR, BMS, Chelating, PAINS</a:t>
                      </a:r>
                      <a:endParaRPr lang="en-US" sz="7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2"/>
                  </a:ext>
                </a:extLst>
              </a:tr>
              <a:tr h="274320">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Fisikokimia</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deskriptif: tanpa ambang</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750" dirty="0">
                          <a:solidFill>
                            <a:srgbClr val="1B2140"/>
                          </a:solidFill>
                          <a:latin typeface="Courier New" pitchFamily="34" charset="0"/>
                          <a:ea typeface="Courier New" pitchFamily="34" charset="-122"/>
                          <a:cs typeface="Courier New" pitchFamily="34" charset="-120"/>
                        </a:rPr>
                        <a:t>Vol, Dense, Flex, mp, bp, pka_acidic, pka_basic, Natural Product-likeness</a:t>
                      </a:r>
                      <a:endParaRPr lang="en-US" sz="7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Absorpsi</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tiered: ≤ 0,3 hijau, ≤ 0,7 kuning, &gt; 0,7 merah</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750" dirty="0">
                          <a:solidFill>
                            <a:srgbClr val="1B2140"/>
                          </a:solidFill>
                          <a:latin typeface="Courier New" pitchFamily="34" charset="0"/>
                          <a:ea typeface="Courier New" pitchFamily="34" charset="-122"/>
                          <a:cs typeface="Courier New" pitchFamily="34" charset="-120"/>
                        </a:rPr>
                        <a:t>PAMPA, pgp_inh, pgp_sub, hia, f20, f30, f50</a:t>
                      </a:r>
                      <a:endParaRPr lang="en-US" sz="7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4"/>
                  </a:ext>
                </a:extLst>
              </a:tr>
              <a:tr h="274320">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Distribusi</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tiered: ≤ 0,3 hijau, ≤ 0,7 kuning, &gt; 0,7 merah</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750" dirty="0">
                          <a:solidFill>
                            <a:srgbClr val="1B2140"/>
                          </a:solidFill>
                          <a:latin typeface="Courier New" pitchFamily="34" charset="0"/>
                          <a:ea typeface="Courier New" pitchFamily="34" charset="-122"/>
                          <a:cs typeface="Courier New" pitchFamily="34" charset="-120"/>
                        </a:rPr>
                        <a:t>OATP1B1, OATP1B3, BSEP, MRP1, BBB</a:t>
                      </a:r>
                      <a:endParaRPr lang="en-US" sz="7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Distribusi</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tiered terbalik: ≤ 0,3 merah, ≤ 0,7 kuning, &gt; 0,7 hijau</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750" dirty="0">
                          <a:solidFill>
                            <a:srgbClr val="1B2140"/>
                          </a:solidFill>
                          <a:latin typeface="Courier New" pitchFamily="34" charset="0"/>
                          <a:ea typeface="Courier New" pitchFamily="34" charset="-122"/>
                          <a:cs typeface="Courier New" pitchFamily="34" charset="-120"/>
                        </a:rPr>
                        <a:t>BCRP</a:t>
                      </a:r>
                      <a:endParaRPr lang="en-US" sz="7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6"/>
                  </a:ext>
                </a:extLst>
              </a:tr>
              <a:tr h="274320">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Metabolisme</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tiered: ≤ 0,3 hijau, ≤ 0,7 kuning, &gt; 0,7 merah</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750" dirty="0">
                          <a:solidFill>
                            <a:srgbClr val="1B2140"/>
                          </a:solidFill>
                          <a:latin typeface="Courier New" pitchFamily="34" charset="0"/>
                          <a:ea typeface="Courier New" pitchFamily="34" charset="-122"/>
                          <a:cs typeface="Courier New" pitchFamily="34" charset="-120"/>
                        </a:rPr>
                        <a:t>CYP1A2-inh, CYP1A2-sub, CYP2C19-inh, CYP2C19-sub, CYP2C9-inh, CYP2C9-sub, CYP2D6-inh, CYP2D6-sub, CYP3A4-inh, CYP3A4-sub, CYP2B6-inh, CYP2B6-sub, CYP2C8-inh</a:t>
                      </a:r>
                      <a:endParaRPr lang="en-US" sz="7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74320">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Metabolisme</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tiered terbalik: ≤ 0,3 merah, ≤ 0,7 kuning, &gt; 0,7 hijau</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750" dirty="0">
                          <a:solidFill>
                            <a:srgbClr val="1B2140"/>
                          </a:solidFill>
                          <a:latin typeface="Courier New" pitchFamily="34" charset="0"/>
                          <a:ea typeface="Courier New" pitchFamily="34" charset="-122"/>
                          <a:cs typeface="Courier New" pitchFamily="34" charset="-120"/>
                        </a:rPr>
                        <a:t>LM-human</a:t>
                      </a:r>
                      <a:endParaRPr lang="en-US" sz="7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8"/>
                  </a:ext>
                </a:extLst>
              </a:tr>
              <a:tr h="274320">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Toksisitas</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tiered: ≤ 0,3 hijau, ≤ 0,7 kuning, &gt; 0,7 merah</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750" dirty="0">
                          <a:solidFill>
                            <a:srgbClr val="1B2140"/>
                          </a:solidFill>
                          <a:latin typeface="Courier New" pitchFamily="34" charset="0"/>
                          <a:ea typeface="Courier New" pitchFamily="34" charset="-122"/>
                          <a:cs typeface="Courier New" pitchFamily="34" charset="-120"/>
                        </a:rPr>
                        <a:t>Neurotoxicity-DI, Ototoxicity, Hematotoxicity, Nephrotoxicity-DI, Genotoxicity, RPMI-8226, A549, HEK293, hERG-10um, hERG, H-HT, DILI, Ames, ROA, FDAMDD, SkinSen, Carcinogenicity, EC, EI, Respiratory, NR-AhR, NR-AR, NR-AR-LBD, NR-Aromatase, NR-ER, NR-ER-LBD, NR-PPAR-gamma, SR-ARE, SR-ATAD5, SR-HSE, SR-MMP, SR-p53</a:t>
                      </a:r>
                      <a:endParaRPr lang="en-US" sz="7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74320">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Toksisitas</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alert: tanpa peringatan hijau, ada peringatan merah</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750" dirty="0">
                          <a:solidFill>
                            <a:srgbClr val="1B2140"/>
                          </a:solidFill>
                          <a:latin typeface="Courier New" pitchFamily="34" charset="0"/>
                          <a:ea typeface="Courier New" pitchFamily="34" charset="-122"/>
                          <a:cs typeface="Courier New" pitchFamily="34" charset="-120"/>
                        </a:rPr>
                        <a:t>LD50_oral, NonBiodegradable, NonGenotoxic_Carcinogenicity, SureChEMBL, Skin_Sensitization, Acute_Aquatic_Toxicity, Genotoxic_Carcinogenicity_Mutagenicity, FAF-Drugs4 Rule</a:t>
                      </a:r>
                      <a:endParaRPr lang="en-US" sz="7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10"/>
                  </a:ext>
                </a:extLst>
              </a:tr>
              <a:tr h="274320">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Toksisitas</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deskriptif: tanpa ambang</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750" dirty="0">
                          <a:solidFill>
                            <a:srgbClr val="1B2140"/>
                          </a:solidFill>
                          <a:latin typeface="Courier New" pitchFamily="34" charset="0"/>
                          <a:ea typeface="Courier New" pitchFamily="34" charset="-122"/>
                          <a:cs typeface="Courier New" pitchFamily="34" charset="-120"/>
                        </a:rPr>
                        <a:t>BCF, IGC50, LC50DM, LC50FM</a:t>
                      </a:r>
                      <a:endParaRPr lang="en-US" sz="7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941832"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APPENDIX</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Semua opsi chemflow run (bawaan dalam kurung)</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A3</a:t>
            </a:r>
            <a:endParaRPr lang="en-US" sz="10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486400" cy="3657600"/>
        </p:xfrm>
        <a:graphic>
          <a:graphicData uri="http://schemas.openxmlformats.org/drawingml/2006/table">
            <a:tbl>
              <a:tblPr/>
              <a:tblGrid>
                <a:gridCol w="1234440">
                  <a:extLst>
                    <a:ext uri="{9D8B030D-6E8A-4147-A177-3AD203B41FA5}">
                      <a16:colId xmlns:a16="http://schemas.microsoft.com/office/drawing/2014/main" val="20000"/>
                    </a:ext>
                  </a:extLst>
                </a:gridCol>
                <a:gridCol w="4251960">
                  <a:extLst>
                    <a:ext uri="{9D8B030D-6E8A-4147-A177-3AD203B41FA5}">
                      <a16:colId xmlns:a16="http://schemas.microsoft.com/office/drawing/2014/main" val="20001"/>
                    </a:ext>
                  </a:extLst>
                </a:gridCol>
              </a:tblGrid>
              <a:tr h="457200">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Grup</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Opsi</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extLst>
                  <a:ext uri="{0D108BD9-81ED-4DB2-BD59-A6C34878D82A}">
                    <a16:rowId xmlns:a16="http://schemas.microsoft.com/office/drawing/2014/main" val="10000"/>
                  </a:ext>
                </a:extLst>
              </a:tr>
              <a:tr h="457200">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Input</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--ligands, --receptors (wajib); --output (chemflow_output)</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Kolom Excel</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--ligand-name-col, --ligand-smiles-col, --ligand-group-col, --receptor-pdb-col (otomatis)</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2"/>
                  </a:ext>
                </a:extLst>
              </a:tr>
              <a:tr h="457200">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Gridbox</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--default-box-size (20.0, hanya cadangan); --box-padding (8.0); --no-interactive-gridbox</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Preparasi ligan</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--force-field {MMFF94, UFF} (MMFF94); --minimize-max-iters (1000); --no-2d-image</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4"/>
                  </a:ext>
                </a:extLst>
              </a:tr>
              <a:tr h="457200">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Preparasi reseptor</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--keep-waters; --keep-hetero-ligands; --no-keep-metals; --kollman-fallback {zero, gasteiger} (zero)</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Docking</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--vina-version; --vina-executable; --exhaustiveness (8); --num-modes (9); --energy-range (3.0); --seed (acak); --n-replicates (1)</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6"/>
                  </a:ext>
                </a:extLst>
              </a:tr>
              <a:tr h="457200">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Merge</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--merge-mode {best, all} (best)</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graphicFrame>
        <p:nvGraphicFramePr>
          <p:cNvPr id="79" name="Table 1"/>
          <p:cNvGraphicFramePr>
            <a:graphicFrameLocks noGrp="1"/>
          </p:cNvGraphicFramePr>
          <p:nvPr>
            <p:extLst>
              <p:ext uri="{D42A27DB-BD31-4B8C-83A1-F6EECF244321}">
                <p14:modId xmlns:p14="http://schemas.microsoft.com/office/powerpoint/2010/main" val="1579011935"/>
              </p:ext>
            </p:extLst>
          </p:nvPr>
        </p:nvGraphicFramePr>
        <p:xfrm>
          <a:off x="6263640" y="1463040"/>
          <a:ext cx="5376672" cy="2743200"/>
        </p:xfrm>
        <a:graphic>
          <a:graphicData uri="http://schemas.openxmlformats.org/drawingml/2006/table">
            <a:tbl>
              <a:tblPr/>
              <a:tblGrid>
                <a:gridCol w="1234440">
                  <a:extLst>
                    <a:ext uri="{9D8B030D-6E8A-4147-A177-3AD203B41FA5}">
                      <a16:colId xmlns:a16="http://schemas.microsoft.com/office/drawing/2014/main" val="20000"/>
                    </a:ext>
                  </a:extLst>
                </a:gridCol>
                <a:gridCol w="4142232">
                  <a:extLst>
                    <a:ext uri="{9D8B030D-6E8A-4147-A177-3AD203B41FA5}">
                      <a16:colId xmlns:a16="http://schemas.microsoft.com/office/drawing/2014/main" val="20001"/>
                    </a:ext>
                  </a:extLst>
                </a:gridCol>
              </a:tblGrid>
              <a:tr h="274320">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Grup</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Opsi</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extLst>
                  <a:ext uri="{0D108BD9-81ED-4DB2-BD59-A6C34878D82A}">
                    <a16:rowId xmlns:a16="http://schemas.microsoft.com/office/drawing/2014/main" val="10000"/>
                  </a:ext>
                </a:extLst>
              </a:tr>
              <a:tr h="274320">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Native dan RMSD</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--no-native; --run-rmsd-validation; --rmsd-threshold-good (2.0); --rmsd-threshold-acceptable (3.0)</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Interaksi BIOVIA</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--similarity / --no-similarity (otomatis bila terdeteksi); --biovia-exe (otomatis); --biovia-timeout (90); --no-lock-input</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OpenBabel</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--openbabel-path</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2"/>
                  </a:ext>
                </a:extLst>
              </a:tr>
              <a:tr h="274320">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ADMET</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--no-admet; --admet-file; --admet-batch-size (50); --admet-ssl-verify</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PubChem</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--no-pubchem-fetch; --no-pubchem-interactive-fallback</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4"/>
                  </a:ext>
                </a:extLst>
              </a:tr>
              <a:tr h="274320">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Analitik</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--no-charts; --no-pca; --no-hca; --no-heatmap; --dpi (300); --figure-formats {png, svg, pdf} (png); --plot-max-rows (30); --plot-max-cols (20)</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GC-MS (opsional)</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--gcms PATH...; --gcms-groups; --gcms-library</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Logging</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--verbose (tanpa efek saat ini); --log-level (INFO); --no-progress</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6"/>
                  </a:ext>
                </a:extLst>
              </a:tr>
              <a:tr h="274320">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Subperintah lain</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950" dirty="0">
                          <a:solidFill>
                            <a:srgbClr val="1B2140"/>
                          </a:solidFill>
                          <a:latin typeface="Calibri" pitchFamily="34" charset="0"/>
                          <a:ea typeface="Calibri" pitchFamily="34" charset="-122"/>
                          <a:cs typeface="Calibri" pitchFamily="34" charset="-120"/>
                        </a:rPr>
                        <a:t>init; resume --output DIR [--biovia-exe ...]; receptor-config; list-vina-versions; interactions --output DIR [--receptor --force --biovia-exe --biovia-timeout --no-lock-input]; similarity --output DIR [--interactions-dir --result-filename --no-plots --dpi]; gcms --output DIR [--data --groups --library --alkanes --scaling --normalization --permutations --no-plots]</a:t>
                      </a:r>
                      <a:endParaRPr lang="en-US" sz="9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941832"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APPENDIX</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Format PDBQT: reseptor datar, ligan dengan pohon torsi</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A4</a:t>
            </a:r>
            <a:endParaRPr lang="en-US" sz="1000" dirty="0"/>
          </a:p>
        </p:txBody>
      </p:sp>
      <p:sp>
        <p:nvSpPr>
          <p:cNvPr id="6" name="Text 4"/>
          <p:cNvSpPr txBox="1"/>
          <p:nvPr/>
        </p:nvSpPr>
        <p:spPr>
          <a:xfrm>
            <a:off x="548640" y="1325880"/>
            <a:ext cx="6400800" cy="256032"/>
          </a:xfrm>
          <a:prstGeom prst="rect">
            <a:avLst/>
          </a:prstGeom>
          <a:noFill/>
          <a:ln/>
        </p:spPr>
        <p:txBody>
          <a:bodyPr wrap="square" lIns="0" tIns="0" rIns="0" bIns="0" rtlCol="0" anchor="t"/>
          <a:lstStyle/>
          <a:p>
            <a:pPr marL="0" indent="0">
              <a:buNone/>
            </a:pPr>
            <a:r>
              <a:rPr lang="en-US" sz="1100" b="1" dirty="0">
                <a:solidFill>
                  <a:srgbClr val="3C71E8"/>
                </a:solidFill>
                <a:latin typeface="Calibri" pitchFamily="34" charset="0"/>
                <a:ea typeface="Calibri" pitchFamily="34" charset="-122"/>
                <a:cs typeface="Calibri" pitchFamily="34" charset="-120"/>
              </a:rPr>
              <a:t>Reseptor (4EY7_R002, 10.028 atom): 9 baris pertama</a:t>
            </a:r>
            <a:endParaRPr lang="en-US" sz="1100" dirty="0"/>
          </a:p>
        </p:txBody>
      </p:sp>
      <p:sp>
        <p:nvSpPr>
          <p:cNvPr id="7" name="Text 5"/>
          <p:cNvSpPr txBox="1"/>
          <p:nvPr/>
        </p:nvSpPr>
        <p:spPr>
          <a:xfrm>
            <a:off x="548640" y="1627632"/>
            <a:ext cx="6675120" cy="1965960"/>
          </a:xfrm>
          <a:prstGeom prst="roundRect">
            <a:avLst>
              <a:gd name="adj" fmla="val 4651"/>
            </a:avLst>
          </a:prstGeom>
          <a:solidFill>
            <a:srgbClr val="0E1533"/>
          </a:solidFill>
          <a:ln/>
        </p:spPr>
        <p:txBody>
          <a:bodyPr wrap="square" lIns="101600" tIns="101600" rIns="101600" bIns="101600" rtlCol="0" anchor="t"/>
          <a:lstStyle/>
          <a:p>
            <a:pPr marL="0" indent="0">
              <a:spcAft>
                <a:spcPts val="100"/>
              </a:spcAft>
              <a:buNone/>
            </a:pPr>
            <a:r>
              <a:rPr lang="en-US" sz="850" dirty="0">
                <a:solidFill>
                  <a:srgbClr val="DCE4FF"/>
                </a:solidFill>
                <a:latin typeface="Courier New" pitchFamily="34" charset="0"/>
                <a:ea typeface="Courier New" pitchFamily="34" charset="-122"/>
                <a:cs typeface="Courier New" pitchFamily="34" charset="-120"/>
              </a:rPr>
              <a:t>REMARK  Reseptor rigid, ditulis oleh chemflow.chem.pdbqt_writer</a:t>
            </a:r>
            <a:endParaRPr lang="en-US" sz="850" dirty="0"/>
          </a:p>
          <a:p>
            <a:pPr marL="0" indent="0">
              <a:spcAft>
                <a:spcPts val="100"/>
              </a:spcAft>
              <a:buNone/>
            </a:pPr>
            <a:r>
              <a:rPr lang="en-US" sz="850" dirty="0">
                <a:solidFill>
                  <a:srgbClr val="DCE4FF"/>
                </a:solidFill>
                <a:latin typeface="Courier New" pitchFamily="34" charset="0"/>
                <a:ea typeface="Courier New" pitchFamily="34" charset="-122"/>
                <a:cs typeface="Courier New" pitchFamily="34" charset="-120"/>
              </a:rPr>
              <a:t>ATOM      1 N    GLU A   4       2.514 -35.401  69.696  1.00  0.00    -0.416 NA</a:t>
            </a:r>
            <a:endParaRPr lang="en-US" sz="850" dirty="0"/>
          </a:p>
          <a:p>
            <a:pPr marL="0" indent="0">
              <a:spcAft>
                <a:spcPts val="100"/>
              </a:spcAft>
              <a:buNone/>
            </a:pPr>
            <a:r>
              <a:rPr lang="en-US" sz="850" dirty="0">
                <a:solidFill>
                  <a:srgbClr val="DCE4FF"/>
                </a:solidFill>
                <a:latin typeface="Courier New" pitchFamily="34" charset="0"/>
                <a:ea typeface="Courier New" pitchFamily="34" charset="-122"/>
                <a:cs typeface="Courier New" pitchFamily="34" charset="-120"/>
              </a:rPr>
              <a:t>ATOM      2 CA   GLU A   4       2.230 -35.193  68.280  1.00  0.00     0.034 C</a:t>
            </a:r>
            <a:endParaRPr lang="en-US" sz="850" dirty="0"/>
          </a:p>
          <a:p>
            <a:pPr marL="0" indent="0">
              <a:spcAft>
                <a:spcPts val="100"/>
              </a:spcAft>
              <a:buNone/>
            </a:pPr>
            <a:r>
              <a:rPr lang="en-US" sz="850" dirty="0">
                <a:solidFill>
                  <a:srgbClr val="DCE4FF"/>
                </a:solidFill>
                <a:latin typeface="Courier New" pitchFamily="34" charset="0"/>
                <a:ea typeface="Courier New" pitchFamily="34" charset="-122"/>
                <a:cs typeface="Courier New" pitchFamily="34" charset="-120"/>
              </a:rPr>
              <a:t>ATOM      3 C    GLU A   4       3.436 -35.566  67.408  1.00  0.00     0.597 C</a:t>
            </a:r>
            <a:endParaRPr lang="en-US" sz="850" dirty="0"/>
          </a:p>
          <a:p>
            <a:pPr marL="0" indent="0">
              <a:spcAft>
                <a:spcPts val="100"/>
              </a:spcAft>
              <a:buNone/>
            </a:pPr>
            <a:r>
              <a:rPr lang="en-US" sz="850" dirty="0">
                <a:solidFill>
                  <a:srgbClr val="DCE4FF"/>
                </a:solidFill>
                <a:latin typeface="Courier New" pitchFamily="34" charset="0"/>
                <a:ea typeface="Courier New" pitchFamily="34" charset="-122"/>
                <a:cs typeface="Courier New" pitchFamily="34" charset="-120"/>
              </a:rPr>
              <a:t>ATOM      4 O    GLU A   4       4.572 -35.606  67.889  1.00  0.00    -0.568 OA</a:t>
            </a:r>
            <a:endParaRPr lang="en-US" sz="850" dirty="0"/>
          </a:p>
          <a:p>
            <a:pPr marL="0" indent="0">
              <a:spcAft>
                <a:spcPts val="100"/>
              </a:spcAft>
              <a:buNone/>
            </a:pPr>
            <a:r>
              <a:rPr lang="en-US" sz="850" dirty="0">
                <a:solidFill>
                  <a:srgbClr val="DCE4FF"/>
                </a:solidFill>
                <a:latin typeface="Courier New" pitchFamily="34" charset="0"/>
                <a:ea typeface="Courier New" pitchFamily="34" charset="-122"/>
                <a:cs typeface="Courier New" pitchFamily="34" charset="-120"/>
              </a:rPr>
              <a:t>ATOM      5 CB   GLU A   4       1.808 -33.745  68.027  1.00  0.00     0.000 C</a:t>
            </a:r>
            <a:endParaRPr lang="en-US" sz="850" dirty="0"/>
          </a:p>
          <a:p>
            <a:pPr marL="0" indent="0">
              <a:spcAft>
                <a:spcPts val="100"/>
              </a:spcAft>
              <a:buNone/>
            </a:pPr>
            <a:r>
              <a:rPr lang="en-US" sz="850" dirty="0">
                <a:solidFill>
                  <a:srgbClr val="DCE4FF"/>
                </a:solidFill>
                <a:latin typeface="Courier New" pitchFamily="34" charset="0"/>
                <a:ea typeface="Courier New" pitchFamily="34" charset="-122"/>
                <a:cs typeface="Courier New" pitchFamily="34" charset="-120"/>
              </a:rPr>
              <a:t>ATOM      6 CG   GLU A   4       1.007 -33.544  66.749  1.00  0.00     0.000 C</a:t>
            </a:r>
            <a:endParaRPr lang="en-US" sz="850" dirty="0"/>
          </a:p>
          <a:p>
            <a:pPr marL="0" indent="0">
              <a:spcAft>
                <a:spcPts val="100"/>
              </a:spcAft>
              <a:buNone/>
            </a:pPr>
            <a:r>
              <a:rPr lang="en-US" sz="850" dirty="0">
                <a:solidFill>
                  <a:srgbClr val="DCE4FF"/>
                </a:solidFill>
                <a:latin typeface="Courier New" pitchFamily="34" charset="0"/>
                <a:ea typeface="Courier New" pitchFamily="34" charset="-122"/>
                <a:cs typeface="Courier New" pitchFamily="34" charset="-120"/>
              </a:rPr>
              <a:t>ATOM      7 CD   GLU A   4       0.729 -32.081  66.462  1.00  0.00     0.805 C</a:t>
            </a:r>
            <a:endParaRPr lang="en-US" sz="850" dirty="0"/>
          </a:p>
          <a:p>
            <a:pPr marL="0" indent="0">
              <a:spcAft>
                <a:spcPts val="100"/>
              </a:spcAft>
              <a:buNone/>
            </a:pPr>
            <a:r>
              <a:rPr lang="en-US" sz="850" dirty="0">
                <a:solidFill>
                  <a:srgbClr val="DCE4FF"/>
                </a:solidFill>
                <a:latin typeface="Courier New" pitchFamily="34" charset="0"/>
                <a:ea typeface="Courier New" pitchFamily="34" charset="-122"/>
                <a:cs typeface="Courier New" pitchFamily="34" charset="-120"/>
              </a:rPr>
              <a:t>ATOM      8 OE1  GLU A   4       1.240 -31.222  67.218  1.00  0.00    -0.819 OA</a:t>
            </a:r>
            <a:endParaRPr lang="en-US" sz="850" dirty="0"/>
          </a:p>
        </p:txBody>
      </p:sp>
      <p:sp>
        <p:nvSpPr>
          <p:cNvPr id="8" name="Text 6"/>
          <p:cNvSpPr txBox="1"/>
          <p:nvPr/>
        </p:nvSpPr>
        <p:spPr>
          <a:xfrm>
            <a:off x="548640" y="3703320"/>
            <a:ext cx="6400800" cy="256032"/>
          </a:xfrm>
          <a:prstGeom prst="rect">
            <a:avLst/>
          </a:prstGeom>
          <a:noFill/>
          <a:ln/>
        </p:spPr>
        <p:txBody>
          <a:bodyPr wrap="square" lIns="0" tIns="0" rIns="0" bIns="0" rtlCol="0" anchor="t"/>
          <a:lstStyle/>
          <a:p>
            <a:pPr marL="0" indent="0">
              <a:buNone/>
            </a:pPr>
            <a:r>
              <a:rPr lang="en-US" sz="1100" b="1" dirty="0">
                <a:solidFill>
                  <a:srgbClr val="3C71E8"/>
                </a:solidFill>
                <a:latin typeface="Calibri" pitchFamily="34" charset="0"/>
                <a:ea typeface="Calibri" pitchFamily="34" charset="-122"/>
                <a:cs typeface="Calibri" pitchFamily="34" charset="-120"/>
              </a:rPr>
              <a:t>Ligan (curcumin): cuplikan</a:t>
            </a:r>
            <a:endParaRPr lang="en-US" sz="1100" dirty="0"/>
          </a:p>
        </p:txBody>
      </p:sp>
      <p:sp>
        <p:nvSpPr>
          <p:cNvPr id="9" name="Text 7"/>
          <p:cNvSpPr txBox="1"/>
          <p:nvPr/>
        </p:nvSpPr>
        <p:spPr>
          <a:xfrm>
            <a:off x="548640" y="4005072"/>
            <a:ext cx="6675120" cy="2194560"/>
          </a:xfrm>
          <a:prstGeom prst="roundRect">
            <a:avLst>
              <a:gd name="adj" fmla="val 4167"/>
            </a:avLst>
          </a:prstGeom>
          <a:solidFill>
            <a:srgbClr val="0E1533"/>
          </a:solidFill>
          <a:ln/>
        </p:spPr>
        <p:txBody>
          <a:bodyPr wrap="square" lIns="101600" tIns="101600" rIns="101600" bIns="101600" rtlCol="0" anchor="t"/>
          <a:lstStyle/>
          <a:p>
            <a:pPr marL="0" indent="0">
              <a:spcAft>
                <a:spcPts val="100"/>
              </a:spcAft>
              <a:buNone/>
            </a:pPr>
            <a:r>
              <a:rPr lang="en-US" sz="850" dirty="0">
                <a:solidFill>
                  <a:srgbClr val="DCE4FF"/>
                </a:solidFill>
                <a:latin typeface="Courier New" pitchFamily="34" charset="0"/>
                <a:ea typeface="Courier New" pitchFamily="34" charset="-122"/>
                <a:cs typeface="Courier New" pitchFamily="34" charset="-120"/>
              </a:rPr>
              <a:t>REMARK  12 active torsions:</a:t>
            </a:r>
            <a:endParaRPr lang="en-US" sz="850" dirty="0"/>
          </a:p>
          <a:p>
            <a:pPr marL="0" indent="0">
              <a:spcAft>
                <a:spcPts val="100"/>
              </a:spcAft>
              <a:buNone/>
            </a:pPr>
            <a:r>
              <a:rPr lang="en-US" sz="850" dirty="0">
                <a:solidFill>
                  <a:srgbClr val="DCE4FF"/>
                </a:solidFill>
                <a:latin typeface="Courier New" pitchFamily="34" charset="0"/>
                <a:ea typeface="Courier New" pitchFamily="34" charset="-122"/>
                <a:cs typeface="Courier New" pitchFamily="34" charset="-120"/>
              </a:rPr>
              <a:t>ROOT</a:t>
            </a:r>
            <a:endParaRPr lang="en-US" sz="850" dirty="0"/>
          </a:p>
          <a:p>
            <a:pPr marL="0" indent="0">
              <a:spcAft>
                <a:spcPts val="100"/>
              </a:spcAft>
              <a:buNone/>
            </a:pPr>
            <a:r>
              <a:rPr lang="en-US" sz="850" dirty="0">
                <a:solidFill>
                  <a:srgbClr val="DCE4FF"/>
                </a:solidFill>
                <a:latin typeface="Courier New" pitchFamily="34" charset="0"/>
                <a:ea typeface="Courier New" pitchFamily="34" charset="-122"/>
                <a:cs typeface="Courier New" pitchFamily="34" charset="-120"/>
              </a:rPr>
              <a:t>ATOM      1  C11 UNL     1      -0.715  -0.229  -2.653  1.00  0.00    +0.000 C</a:t>
            </a:r>
            <a:endParaRPr lang="en-US" sz="850" dirty="0"/>
          </a:p>
          <a:p>
            <a:pPr marL="0" indent="0">
              <a:spcAft>
                <a:spcPts val="100"/>
              </a:spcAft>
              <a:buNone/>
            </a:pPr>
            <a:r>
              <a:rPr lang="en-US" sz="850" dirty="0">
                <a:solidFill>
                  <a:srgbClr val="DCE4FF"/>
                </a:solidFill>
                <a:latin typeface="Courier New" pitchFamily="34" charset="0"/>
                <a:ea typeface="Courier New" pitchFamily="34" charset="-122"/>
                <a:cs typeface="Courier New" pitchFamily="34" charset="-120"/>
              </a:rPr>
              <a:t>ENDROOT</a:t>
            </a:r>
            <a:endParaRPr lang="en-US" sz="850" dirty="0"/>
          </a:p>
          <a:p>
            <a:pPr marL="0" indent="0">
              <a:spcAft>
                <a:spcPts val="100"/>
              </a:spcAft>
              <a:buNone/>
            </a:pPr>
            <a:r>
              <a:rPr lang="en-US" sz="850" dirty="0">
                <a:solidFill>
                  <a:srgbClr val="DCE4FF"/>
                </a:solidFill>
                <a:latin typeface="Courier New" pitchFamily="34" charset="0"/>
                <a:ea typeface="Courier New" pitchFamily="34" charset="-122"/>
                <a:cs typeface="Courier New" pitchFamily="34" charset="-120"/>
              </a:rPr>
              <a:t>BRANCH   1   2</a:t>
            </a:r>
            <a:endParaRPr lang="en-US" sz="850" dirty="0"/>
          </a:p>
          <a:p>
            <a:pPr marL="0" indent="0">
              <a:spcAft>
                <a:spcPts val="100"/>
              </a:spcAft>
              <a:buNone/>
            </a:pPr>
            <a:r>
              <a:rPr lang="en-US" sz="850" dirty="0">
                <a:solidFill>
                  <a:srgbClr val="DCE4FF"/>
                </a:solidFill>
                <a:latin typeface="Courier New" pitchFamily="34" charset="0"/>
                <a:ea typeface="Courier New" pitchFamily="34" charset="-122"/>
                <a:cs typeface="Courier New" pitchFamily="34" charset="-120"/>
              </a:rPr>
              <a:t>ATOM      2  C10 UNL     1       0.550  -0.854  -2.134  1.00  0.00    +0.000 C</a:t>
            </a:r>
            <a:endParaRPr lang="en-US" sz="850" dirty="0"/>
          </a:p>
          <a:p>
            <a:pPr marL="0" indent="0">
              <a:spcAft>
                <a:spcPts val="100"/>
              </a:spcAft>
              <a:buNone/>
            </a:pPr>
            <a:r>
              <a:rPr lang="en-US" sz="850" dirty="0">
                <a:solidFill>
                  <a:srgbClr val="DCE4FF"/>
                </a:solidFill>
                <a:latin typeface="Courier New" pitchFamily="34" charset="0"/>
                <a:ea typeface="Courier New" pitchFamily="34" charset="-122"/>
                <a:cs typeface="Courier New" pitchFamily="34" charset="-120"/>
              </a:rPr>
              <a:t>ATOM      3  O2  UNL     1       0.606  -2.063  -1.900  1.00  0.00    +0.000 OA</a:t>
            </a:r>
            <a:endParaRPr lang="en-US" sz="850" dirty="0"/>
          </a:p>
          <a:p>
            <a:pPr marL="0" indent="0">
              <a:spcAft>
                <a:spcPts val="100"/>
              </a:spcAft>
              <a:buNone/>
            </a:pPr>
            <a:r>
              <a:rPr lang="en-US" sz="850" dirty="0">
                <a:solidFill>
                  <a:srgbClr val="DCE4FF"/>
                </a:solidFill>
                <a:latin typeface="Courier New" pitchFamily="34" charset="0"/>
                <a:ea typeface="Courier New" pitchFamily="34" charset="-122"/>
                <a:cs typeface="Courier New" pitchFamily="34" charset="-120"/>
              </a:rPr>
              <a:t>BRANCH   2   5</a:t>
            </a:r>
            <a:endParaRPr lang="en-US" sz="850" dirty="0"/>
          </a:p>
          <a:p>
            <a:pPr marL="0" indent="0">
              <a:spcAft>
                <a:spcPts val="100"/>
              </a:spcAft>
              <a:buNone/>
            </a:pPr>
            <a:r>
              <a:rPr lang="en-US" sz="850" dirty="0">
                <a:solidFill>
                  <a:srgbClr val="DCE4FF"/>
                </a:solidFill>
                <a:latin typeface="Courier New" pitchFamily="34" charset="0"/>
                <a:ea typeface="Courier New" pitchFamily="34" charset="-122"/>
                <a:cs typeface="Courier New" pitchFamily="34" charset="-120"/>
              </a:rPr>
              <a:t>ATOM      4  C8  UNL     1       1.794   1.314  -1.914  1.00  0.00    +0.000 C</a:t>
            </a:r>
            <a:endParaRPr lang="en-US" sz="850" dirty="0"/>
          </a:p>
          <a:p>
            <a:pPr marL="0" indent="0">
              <a:spcAft>
                <a:spcPts val="100"/>
              </a:spcAft>
              <a:buNone/>
            </a:pPr>
            <a:r>
              <a:rPr lang="en-US" sz="850" dirty="0">
                <a:solidFill>
                  <a:srgbClr val="DCE4FF"/>
                </a:solidFill>
                <a:latin typeface="Courier New" pitchFamily="34" charset="0"/>
                <a:ea typeface="Courier New" pitchFamily="34" charset="-122"/>
                <a:cs typeface="Courier New" pitchFamily="34" charset="-120"/>
              </a:rPr>
              <a:t>ATOM      5  C9  UNL     1       1.758  -0.026  -1.868  1.00  0.00    +0.000 C</a:t>
            </a:r>
            <a:endParaRPr lang="en-US" sz="850" dirty="0"/>
          </a:p>
          <a:p>
            <a:pPr marL="0" indent="0">
              <a:spcAft>
                <a:spcPts val="100"/>
              </a:spcAft>
              <a:buNone/>
            </a:pPr>
            <a:r>
              <a:rPr lang="en-US" sz="850" dirty="0">
                <a:solidFill>
                  <a:srgbClr val="DCE4FF"/>
                </a:solidFill>
                <a:latin typeface="Courier New" pitchFamily="34" charset="0"/>
                <a:ea typeface="Courier New" pitchFamily="34" charset="-122"/>
                <a:cs typeface="Courier New" pitchFamily="34" charset="-120"/>
              </a:rPr>
              <a:t>...</a:t>
            </a:r>
            <a:endParaRPr lang="en-US" sz="850" dirty="0"/>
          </a:p>
          <a:p>
            <a:pPr marL="0" indent="0">
              <a:spcAft>
                <a:spcPts val="100"/>
              </a:spcAft>
              <a:buNone/>
            </a:pPr>
            <a:r>
              <a:rPr lang="en-US" sz="850" dirty="0">
                <a:solidFill>
                  <a:srgbClr val="DCE4FF"/>
                </a:solidFill>
                <a:latin typeface="Courier New" pitchFamily="34" charset="0"/>
                <a:ea typeface="Courier New" pitchFamily="34" charset="-122"/>
                <a:cs typeface="Courier New" pitchFamily="34" charset="-120"/>
              </a:rPr>
              <a:t>ENDBRANCH   1  16</a:t>
            </a:r>
            <a:endParaRPr lang="en-US" sz="850" dirty="0"/>
          </a:p>
          <a:p>
            <a:pPr marL="0" indent="0">
              <a:spcAft>
                <a:spcPts val="100"/>
              </a:spcAft>
              <a:buNone/>
            </a:pPr>
            <a:r>
              <a:rPr lang="en-US" sz="850" dirty="0">
                <a:solidFill>
                  <a:srgbClr val="DCE4FF"/>
                </a:solidFill>
                <a:latin typeface="Courier New" pitchFamily="34" charset="0"/>
                <a:ea typeface="Courier New" pitchFamily="34" charset="-122"/>
                <a:cs typeface="Courier New" pitchFamily="34" charset="-120"/>
              </a:rPr>
              <a:t>TORSDOF 10</a:t>
            </a:r>
            <a:endParaRPr lang="en-US" sz="850" dirty="0"/>
          </a:p>
        </p:txBody>
      </p:sp>
      <p:sp>
        <p:nvSpPr>
          <p:cNvPr id="10" name="Text 8"/>
          <p:cNvSpPr txBox="1"/>
          <p:nvPr/>
        </p:nvSpPr>
        <p:spPr>
          <a:xfrm>
            <a:off x="7498080" y="1371600"/>
            <a:ext cx="4142232" cy="4754880"/>
          </a:xfrm>
          <a:prstGeom prst="rect">
            <a:avLst/>
          </a:prstGeom>
          <a:noFill/>
          <a:ln/>
        </p:spPr>
        <p:txBody>
          <a:bodyPr wrap="square" lIns="0" tIns="0" rIns="0" bIns="0" rtlCol="0" anchor="t"/>
          <a:lstStyle/>
          <a:p>
            <a:pPr marL="177800" indent="-177800">
              <a:spcAft>
                <a:spcPts val="600"/>
              </a:spcAft>
              <a:buSzPct val="100000"/>
              <a:buChar char="•"/>
            </a:pPr>
            <a:r>
              <a:rPr lang="en-US" sz="1100" b="1" dirty="0">
                <a:solidFill>
                  <a:srgbClr val="1B2140"/>
                </a:solidFill>
                <a:latin typeface="Calibri" pitchFamily="34" charset="0"/>
                <a:ea typeface="Calibri" pitchFamily="34" charset="-122"/>
                <a:cs typeface="Calibri" pitchFamily="34" charset="-120"/>
              </a:rPr>
              <a:t>Kolom: </a:t>
            </a:r>
            <a:r>
              <a:rPr lang="en-US" sz="1100" dirty="0">
                <a:solidFill>
                  <a:srgbClr val="1B2140"/>
                </a:solidFill>
                <a:latin typeface="Calibri" pitchFamily="34" charset="0"/>
                <a:ea typeface="Calibri" pitchFamily="34" charset="-122"/>
                <a:cs typeface="Calibri" pitchFamily="34" charset="-120"/>
              </a:rPr>
              <a:t>record PDB standar, lalu occupancy 1,00, B 0,00, muatan parsial (6 lebar), tipe AD4 (2 lebar)</a:t>
            </a:r>
            <a:endParaRPr lang="en-US" sz="1100" dirty="0"/>
          </a:p>
          <a:p>
            <a:pPr marL="177800" indent="-177800">
              <a:spcAft>
                <a:spcPts val="600"/>
              </a:spcAft>
              <a:buSzPct val="100000"/>
              <a:buChar char="•"/>
            </a:pPr>
            <a:r>
              <a:rPr lang="en-US" sz="1100" b="1" dirty="0">
                <a:solidFill>
                  <a:srgbClr val="1B2140"/>
                </a:solidFill>
                <a:latin typeface="Calibri" pitchFamily="34" charset="0"/>
                <a:ea typeface="Calibri" pitchFamily="34" charset="-122"/>
                <a:cs typeface="Calibri" pitchFamily="34" charset="-120"/>
              </a:rPr>
              <a:t>Reseptor: </a:t>
            </a:r>
            <a:r>
              <a:rPr lang="en-US" sz="1100" dirty="0">
                <a:solidFill>
                  <a:srgbClr val="1B2140"/>
                </a:solidFill>
                <a:latin typeface="Calibri" pitchFamily="34" charset="0"/>
                <a:ea typeface="Calibri" pitchFamily="34" charset="-122"/>
                <a:cs typeface="Calibri" pitchFamily="34" charset="-120"/>
              </a:rPr>
              <a:t>datar tanpa ROOT/BRANCH, TER per rantai. Ditulis chemflow, bukan OpenBabel, agar muatan tidak tertimpa</a:t>
            </a:r>
            <a:endParaRPr lang="en-US" sz="1100" dirty="0"/>
          </a:p>
          <a:p>
            <a:pPr marL="177800" indent="-177800">
              <a:spcAft>
                <a:spcPts val="600"/>
              </a:spcAft>
              <a:buSzPct val="100000"/>
              <a:buChar char="•"/>
            </a:pPr>
            <a:r>
              <a:rPr lang="en-US" sz="1100" b="1" dirty="0">
                <a:solidFill>
                  <a:srgbClr val="1B2140"/>
                </a:solidFill>
                <a:latin typeface="Calibri" pitchFamily="34" charset="0"/>
                <a:ea typeface="Calibri" pitchFamily="34" charset="-122"/>
                <a:cs typeface="Calibri" pitchFamily="34" charset="-120"/>
              </a:rPr>
              <a:t>Ligan: </a:t>
            </a:r>
            <a:r>
              <a:rPr lang="en-US" sz="1100" dirty="0">
                <a:solidFill>
                  <a:srgbClr val="1B2140"/>
                </a:solidFill>
                <a:latin typeface="Calibri" pitchFamily="34" charset="0"/>
                <a:ea typeface="Calibri" pitchFamily="34" charset="-122"/>
                <a:cs typeface="Calibri" pitchFamily="34" charset="-120"/>
              </a:rPr>
              <a:t>OpenBabel menulis REMARK torsi aktif, ROOT/ENDROOT, BRANCH/ENDBRANCH, dan TORSDOF</a:t>
            </a:r>
            <a:endParaRPr lang="en-US" sz="1100" dirty="0"/>
          </a:p>
          <a:p>
            <a:pPr marL="177800" indent="-177800">
              <a:spcAft>
                <a:spcPts val="600"/>
              </a:spcAft>
              <a:buSzPct val="100000"/>
              <a:buChar char="•"/>
            </a:pPr>
            <a:r>
              <a:rPr lang="en-US" sz="1100" b="1" dirty="0">
                <a:solidFill>
                  <a:srgbClr val="1B2140"/>
                </a:solidFill>
                <a:latin typeface="Calibri" pitchFamily="34" charset="0"/>
                <a:ea typeface="Calibri" pitchFamily="34" charset="-122"/>
                <a:cs typeface="Calibri" pitchFamily="34" charset="-120"/>
              </a:rPr>
              <a:t>Tipe AD4 umum: </a:t>
            </a:r>
            <a:r>
              <a:rPr lang="en-US" sz="1100" dirty="0">
                <a:solidFill>
                  <a:srgbClr val="1B2140"/>
                </a:solidFill>
                <a:latin typeface="Calibri" pitchFamily="34" charset="0"/>
                <a:ea typeface="Calibri" pitchFamily="34" charset="-122"/>
                <a:cs typeface="Calibri" pitchFamily="34" charset="-120"/>
              </a:rPr>
              <a:t>C, A, N, NA, OA, SA, HD, H</a:t>
            </a:r>
            <a:endParaRPr lang="en-US" sz="1100" dirty="0"/>
          </a:p>
          <a:p>
            <a:pPr marL="177800" indent="-177800">
              <a:spcAft>
                <a:spcPts val="600"/>
              </a:spcAft>
              <a:buSzPct val="100000"/>
              <a:buChar char="•"/>
            </a:pPr>
            <a:r>
              <a:rPr lang="en-US" sz="1100" b="1" dirty="0">
                <a:solidFill>
                  <a:srgbClr val="1B2140"/>
                </a:solidFill>
                <a:latin typeface="Calibri" pitchFamily="34" charset="0"/>
                <a:ea typeface="Calibri" pitchFamily="34" charset="-122"/>
                <a:cs typeface="Calibri" pitchFamily="34" charset="-120"/>
              </a:rPr>
              <a:t>Run demonstrasi: </a:t>
            </a:r>
            <a:r>
              <a:rPr lang="en-US" sz="1100" dirty="0">
                <a:solidFill>
                  <a:srgbClr val="1B2140"/>
                </a:solidFill>
                <a:latin typeface="Calibri" pitchFamily="34" charset="0"/>
                <a:ea typeface="Calibri" pitchFamily="34" charset="-122"/>
                <a:cs typeface="Calibri" pitchFamily="34" charset="-120"/>
              </a:rPr>
              <a:t>ligan versi lama bermuatan 0,000 (10 dari 10); versi sekarang menulis muatan Gasteiger. Reseptor tercakup tabel muatan sebagian</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941832"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APPENDIX</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Skema kolom setiap sheet hasil_chemflow.xlsx</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A5</a:t>
            </a:r>
            <a:endParaRPr lang="en-US" sz="1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4023360"/>
        </p:xfrm>
        <a:graphic>
          <a:graphicData uri="http://schemas.openxmlformats.org/drawingml/2006/table">
            <a:tbl>
              <a:tblPr/>
              <a:tblGrid>
                <a:gridCol w="2377440">
                  <a:extLst>
                    <a:ext uri="{9D8B030D-6E8A-4147-A177-3AD203B41FA5}">
                      <a16:colId xmlns:a16="http://schemas.microsoft.com/office/drawing/2014/main" val="20000"/>
                    </a:ext>
                  </a:extLst>
                </a:gridCol>
                <a:gridCol w="8714232">
                  <a:extLst>
                    <a:ext uri="{9D8B030D-6E8A-4147-A177-3AD203B41FA5}">
                      <a16:colId xmlns:a16="http://schemas.microsoft.com/office/drawing/2014/main" val="20001"/>
                    </a:ext>
                  </a:extLst>
                </a:gridCol>
              </a:tblGrid>
              <a:tr h="402336">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Sheet</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Kolom</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extLst>
                  <a:ext uri="{0D108BD9-81ED-4DB2-BD59-A6C34878D82A}">
                    <a16:rowId xmlns:a16="http://schemas.microsoft.com/office/drawing/2014/main" val="10000"/>
                  </a:ext>
                </a:extLst>
              </a:tr>
              <a:tr h="402336">
                <a:tc>
                  <a:txBody>
                    <a:bodyPr/>
                    <a:lstStyle/>
                    <a:p>
                      <a:pPr marL="0" indent="0">
                        <a:buNone/>
                      </a:pPr>
                      <a:r>
                        <a:rPr lang="en-US" sz="1050" b="1" dirty="0">
                          <a:solidFill>
                            <a:srgbClr val="1B2140"/>
                          </a:solidFill>
                          <a:latin typeface="Calibri" pitchFamily="34" charset="0"/>
                          <a:ea typeface="Calibri" pitchFamily="34" charset="-122"/>
                          <a:cs typeface="Calibri" pitchFamily="34" charset="-120"/>
                        </a:rPr>
                        <a:t>Ringkasan Ligan</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950" dirty="0">
                          <a:solidFill>
                            <a:srgbClr val="1B2140"/>
                          </a:solidFill>
                          <a:latin typeface="Courier New" pitchFamily="34" charset="0"/>
                          <a:ea typeface="Courier New" pitchFamily="34" charset="-122"/>
                          <a:cs typeface="Courier New" pitchFamily="34" charset="-120"/>
                        </a:rPr>
                        <a:t>name, nama_file, smiles, group, tipe (uji atau native), status</a:t>
                      </a:r>
                      <a:endParaRPr lang="en-US" sz="9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050" b="1" dirty="0">
                          <a:solidFill>
                            <a:srgbClr val="1B2140"/>
                          </a:solidFill>
                          <a:latin typeface="Calibri" pitchFamily="34" charset="0"/>
                          <a:ea typeface="Calibri" pitchFamily="34" charset="-122"/>
                          <a:cs typeface="Calibri" pitchFamily="34" charset="-120"/>
                        </a:rPr>
                        <a:t>Hasil Docking</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950" dirty="0">
                          <a:solidFill>
                            <a:srgbClr val="1B2140"/>
                          </a:solidFill>
                          <a:latin typeface="Courier New" pitchFamily="34" charset="0"/>
                          <a:ea typeface="Courier New" pitchFamily="34" charset="-122"/>
                          <a:cs typeface="Courier New" pitchFamily="34" charset="-120"/>
                        </a:rPr>
                        <a:t>ligand, group, receptor, replicate, seed, affinity_best, n_poses, status, error</a:t>
                      </a:r>
                      <a:endParaRPr lang="en-US" sz="9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2"/>
                  </a:ext>
                </a:extLst>
              </a:tr>
              <a:tr h="402336">
                <a:tc>
                  <a:txBody>
                    <a:bodyPr/>
                    <a:lstStyle/>
                    <a:p>
                      <a:pPr marL="0" indent="0">
                        <a:buNone/>
                      </a:pPr>
                      <a:r>
                        <a:rPr lang="en-US" sz="1050" b="1" dirty="0">
                          <a:solidFill>
                            <a:srgbClr val="1B2140"/>
                          </a:solidFill>
                          <a:latin typeface="Calibri" pitchFamily="34" charset="0"/>
                          <a:ea typeface="Calibri" pitchFamily="34" charset="-122"/>
                          <a:cs typeface="Calibri" pitchFamily="34" charset="-120"/>
                        </a:rPr>
                        <a:t>Fisikokimia (Lipinski)</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950" dirty="0">
                          <a:solidFill>
                            <a:srgbClr val="1B2140"/>
                          </a:solidFill>
                          <a:latin typeface="Courier New" pitchFamily="34" charset="0"/>
                          <a:ea typeface="Courier New" pitchFamily="34" charset="-122"/>
                          <a:cs typeface="Courier New" pitchFamily="34" charset="-120"/>
                        </a:rPr>
                        <a:t>ligand, group, MW, LogP, HBD, HBA, Lipinski_Violations, Lolos_Ro5</a:t>
                      </a:r>
                      <a:endParaRPr lang="en-US" sz="9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050" b="1" dirty="0">
                          <a:solidFill>
                            <a:srgbClr val="1B2140"/>
                          </a:solidFill>
                          <a:latin typeface="Calibri" pitchFamily="34" charset="0"/>
                          <a:ea typeface="Calibri" pitchFamily="34" charset="-122"/>
                          <a:cs typeface="Calibri" pitchFamily="34" charset="-120"/>
                        </a:rPr>
                        <a:t>ADMET</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950" dirty="0">
                          <a:solidFill>
                            <a:srgbClr val="1B2140"/>
                          </a:solidFill>
                          <a:latin typeface="Courier New" pitchFamily="34" charset="0"/>
                          <a:ea typeface="Courier New" pitchFamily="34" charset="-122"/>
                          <a:cs typeface="Courier New" pitchFamily="34" charset="-120"/>
                        </a:rPr>
                        <a:t>ligand, group, raw_smiles, smiles, lalu 120 kolom parameter ADMETLab3 berurutan per kategori (MW, Vol, Dense, ...)</a:t>
                      </a:r>
                      <a:endParaRPr lang="en-US" sz="9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4"/>
                  </a:ext>
                </a:extLst>
              </a:tr>
              <a:tr h="402336">
                <a:tc>
                  <a:txBody>
                    <a:bodyPr/>
                    <a:lstStyle/>
                    <a:p>
                      <a:pPr marL="0" indent="0">
                        <a:buNone/>
                      </a:pPr>
                      <a:r>
                        <a:rPr lang="en-US" sz="1050" b="1" dirty="0">
                          <a:solidFill>
                            <a:srgbClr val="1B2140"/>
                          </a:solidFill>
                          <a:latin typeface="Calibri" pitchFamily="34" charset="0"/>
                          <a:ea typeface="Calibri" pitchFamily="34" charset="-122"/>
                          <a:cs typeface="Calibri" pitchFamily="34" charset="-120"/>
                        </a:rPr>
                        <a:t>Legenda ADMET</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950" dirty="0">
                          <a:solidFill>
                            <a:srgbClr val="1B2140"/>
                          </a:solidFill>
                          <a:latin typeface="Courier New" pitchFamily="34" charset="0"/>
                          <a:ea typeface="Courier New" pitchFamily="34" charset="-122"/>
                          <a:cs typeface="Courier New" pitchFamily="34" charset="-120"/>
                        </a:rPr>
                        <a:t>Kategori, Kolom, Label, Satuan, Ambang, Rujukan, Catatan</a:t>
                      </a:r>
                      <a:endParaRPr lang="en-US" sz="9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buNone/>
                      </a:pPr>
                      <a:r>
                        <a:rPr lang="en-US" sz="1050" b="1" dirty="0">
                          <a:solidFill>
                            <a:srgbClr val="1B2140"/>
                          </a:solidFill>
                          <a:latin typeface="Calibri" pitchFamily="34" charset="0"/>
                          <a:ea typeface="Calibri" pitchFamily="34" charset="-122"/>
                          <a:cs typeface="Calibri" pitchFamily="34" charset="-120"/>
                        </a:rPr>
                        <a:t>Validasi RMSD</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950" dirty="0">
                          <a:solidFill>
                            <a:srgbClr val="1B2140"/>
                          </a:solidFill>
                          <a:latin typeface="Courier New" pitchFamily="34" charset="0"/>
                          <a:ea typeface="Courier New" pitchFamily="34" charset="-122"/>
                          <a:cs typeface="Courier New" pitchFamily="34" charset="-120"/>
                        </a:rPr>
                        <a:t>receptor, native_ligand, rmsd_angstrom, status, redock_affinity, metode, catatan</a:t>
                      </a:r>
                      <a:endParaRPr lang="en-US" sz="9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6"/>
                  </a:ext>
                </a:extLst>
              </a:tr>
              <a:tr h="402336">
                <a:tc>
                  <a:txBody>
                    <a:bodyPr/>
                    <a:lstStyle/>
                    <a:p>
                      <a:pPr marL="0" indent="0">
                        <a:buNone/>
                      </a:pPr>
                      <a:r>
                        <a:rPr lang="en-US" sz="1050" b="1" dirty="0">
                          <a:solidFill>
                            <a:srgbClr val="1B2140"/>
                          </a:solidFill>
                          <a:latin typeface="Calibri" pitchFamily="34" charset="0"/>
                          <a:ea typeface="Calibri" pitchFamily="34" charset="-122"/>
                          <a:cs typeface="Calibri" pitchFamily="34" charset="-120"/>
                        </a:rPr>
                        <a:t>Statistik Replikasi</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950" dirty="0">
                          <a:solidFill>
                            <a:srgbClr val="1B2140"/>
                          </a:solidFill>
                          <a:latin typeface="Courier New" pitchFamily="34" charset="0"/>
                          <a:ea typeface="Courier New" pitchFamily="34" charset="-122"/>
                          <a:cs typeface="Courier New" pitchFamily="34" charset="-120"/>
                        </a:rPr>
                        <a:t>ligand, group, receptor, n_replicates_success, affinity_mean, affinity_std, affinity_best, delta_vs_native</a:t>
                      </a:r>
                      <a:endParaRPr lang="en-US" sz="9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02336">
                <a:tc>
                  <a:txBody>
                    <a:bodyPr/>
                    <a:lstStyle/>
                    <a:p>
                      <a:pPr marL="0" indent="0">
                        <a:buNone/>
                      </a:pPr>
                      <a:r>
                        <a:rPr lang="en-US" sz="1050" b="1" dirty="0">
                          <a:solidFill>
                            <a:srgbClr val="1B2140"/>
                          </a:solidFill>
                          <a:latin typeface="Calibri" pitchFamily="34" charset="0"/>
                          <a:ea typeface="Calibri" pitchFamily="34" charset="-122"/>
                          <a:cs typeface="Calibri" pitchFamily="34" charset="-120"/>
                        </a:rPr>
                        <a:t>Ringkasan per Grup</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950" dirty="0">
                          <a:solidFill>
                            <a:srgbClr val="1B2140"/>
                          </a:solidFill>
                          <a:latin typeface="Courier New" pitchFamily="34" charset="0"/>
                          <a:ea typeface="Courier New" pitchFamily="34" charset="-122"/>
                          <a:cs typeface="Courier New" pitchFamily="34" charset="-120"/>
                        </a:rPr>
                        <a:t>grup, n_ligan, lolos_Ro5_persen, MW_rata2, LogP_rata2, HBD_rata2, HBA_rata2, ADMET_&lt;kategori&gt;</a:t>
                      </a:r>
                      <a:endParaRPr lang="en-US" sz="9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928858730"/>
                  </a:ext>
                </a:extLst>
              </a:tr>
              <a:tr h="402336">
                <a:tc>
                  <a:txBody>
                    <a:bodyPr/>
                    <a:lstStyle/>
                    <a:p>
                      <a:pPr marL="0" indent="0">
                        <a:buNone/>
                      </a:pPr>
                      <a:r>
                        <a:rPr lang="en-US" sz="1050" b="1" dirty="0">
                          <a:solidFill>
                            <a:srgbClr val="1B2140"/>
                          </a:solidFill>
                          <a:latin typeface="Calibri" pitchFamily="34" charset="0"/>
                          <a:ea typeface="Calibri" pitchFamily="34" charset="-122"/>
                          <a:cs typeface="Calibri" pitchFamily="34" charset="-120"/>
                        </a:rPr>
                        <a:t>Docking per Grup</a:t>
                      </a:r>
                      <a:endParaRPr lang="en-US" sz="10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950" dirty="0">
                          <a:solidFill>
                            <a:srgbClr val="1B2140"/>
                          </a:solidFill>
                          <a:latin typeface="Courier New" pitchFamily="34" charset="0"/>
                          <a:ea typeface="Courier New" pitchFamily="34" charset="-122"/>
                          <a:cs typeface="Courier New" pitchFamily="34" charset="-120"/>
                        </a:rPr>
                        <a:t>reseptor, grup, n_ligan, dG_rata2, dG_sd, dG_terbaik, dG_native</a:t>
                      </a:r>
                      <a:endParaRPr lang="en-US" sz="9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298830554"/>
                  </a:ext>
                </a:extLst>
              </a:tr>
            </a:tbl>
          </a:graphicData>
        </a:graphic>
      </p:graphicFrame>
      <p:sp>
        <p:nvSpPr>
          <p:cNvPr id="7" name="Text 4"/>
          <p:cNvSpPr txBox="1"/>
          <p:nvPr/>
        </p:nvSpPr>
        <p:spPr>
          <a:xfrm>
            <a:off x="548640" y="5669280"/>
            <a:ext cx="11064240" cy="365760"/>
          </a:xfrm>
          <a:prstGeom prst="rect">
            <a:avLst/>
          </a:prstGeom>
          <a:noFill/>
          <a:ln/>
        </p:spPr>
        <p:txBody>
          <a:bodyPr wrap="square" lIns="0" tIns="0" rIns="0" bIns="0" rtlCol="0" anchor="t"/>
          <a:lstStyle/>
          <a:p>
            <a:pPr marL="0" indent="0" algn="l">
              <a:buNone/>
            </a:pPr>
            <a:r>
              <a:rPr lang="en-US" sz="1000" dirty="0">
                <a:solidFill>
                  <a:srgbClr val="5B6480"/>
                </a:solidFill>
                <a:latin typeface="Calibri" pitchFamily="34" charset="0"/>
                <a:ea typeface="Calibri" pitchFamily="34" charset="-122"/>
                <a:cs typeface="Calibri" pitchFamily="34" charset="-120"/>
              </a:rPr>
              <a:t>Nama kolom mengikuti versi terbaru; run demonstrasi lama belum memuat group, tipe, delta_vs_native, dan dua sheet per grup. Sheet ADMET diwarnai per sel menurut tabel aturan; header diwarnai per kategori.</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941832"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APPENDIX</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Modul dan tanggung jawabnya</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A6</a:t>
            </a:r>
            <a:endParaRPr lang="en-US" sz="1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5532120" cy="4690872"/>
        </p:xfrm>
        <a:graphic>
          <a:graphicData uri="http://schemas.openxmlformats.org/drawingml/2006/table">
            <a:tbl>
              <a:tblPr/>
              <a:tblGrid>
                <a:gridCol w="25146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tblGrid>
              <a:tr h="246888">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Modul</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Tanggung jawab</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extLst>
                  <a:ext uri="{0D108BD9-81ED-4DB2-BD59-A6C34878D82A}">
                    <a16:rowId xmlns:a16="http://schemas.microsoft.com/office/drawing/2014/main" val="10000"/>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pipeline.py</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Orkestrasi 12 tahap, fail-soft, resume</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cli.py</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argparse: init, run, resume, receptor-config, interactions, similarity, gcms</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2"/>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config.py</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PipelineConfig tervalidasi, to_dict/from_dict</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state.py, checkpoints.py</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Folder _state dan checkpoint atomik untuk resume</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2744137545"/>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chem/ligand_preparer</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SMILES ke PDB/PDBQT</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4"/>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chem/receptor_preparer</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Bersihkan, H polar, dua keluaran</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chem/kollman_charges</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Muatan parsial (tabel AMBER)</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6"/>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chem/atom_typing</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Tipe atom AutoDock4</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chem/pdbqt_writer</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PDBQT reseptor datar</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8"/>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chem/mol_converter</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Pembungkus OpenBabel, muatan Gasteiger</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chem/pubchem_client</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SMILES dari nama</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10"/>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chem/descriptors</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Lipinski dan deskriptor tambahan</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io/excel_ligands, excel_receptors</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Baca Excel (tidy, wide, gridbox)</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12"/>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io/pdb_fetcher</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Unduh RCSB, ligan native</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io/receptor_config</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Excel reseptor interaktif</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14"/>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io/ligand_template</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SMILES templat CCD RCSB</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io/pdbqt_reader, result_exporter</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Baca pose; tulis Excel berwarna</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16"/>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interaction/*</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Ekspor interaksi lewat GUI BIOVIA (Windows), kunci input</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16"/>
                  </a:ext>
                </a:extLst>
              </a:tr>
            </a:tbl>
          </a:graphicData>
        </a:graphic>
      </p:graphicFrame>
      <p:graphicFrame>
        <p:nvGraphicFramePr>
          <p:cNvPr id="85" name="Table 1"/>
          <p:cNvGraphicFramePr>
            <a:graphicFrameLocks noGrp="1"/>
          </p:cNvGraphicFramePr>
          <p:nvPr>
            <p:extLst>
              <p:ext uri="{D42A27DB-BD31-4B8C-83A1-F6EECF244321}">
                <p14:modId xmlns:p14="http://schemas.microsoft.com/office/powerpoint/2010/main" val="1579011935"/>
              </p:ext>
            </p:extLst>
          </p:nvPr>
        </p:nvGraphicFramePr>
        <p:xfrm>
          <a:off x="6263640" y="1325880"/>
          <a:ext cx="5376672" cy="4937760"/>
        </p:xfrm>
        <a:graphic>
          <a:graphicData uri="http://schemas.openxmlformats.org/drawingml/2006/table">
            <a:tbl>
              <a:tblPr/>
              <a:tblGrid>
                <a:gridCol w="2514600">
                  <a:extLst>
                    <a:ext uri="{9D8B030D-6E8A-4147-A177-3AD203B41FA5}">
                      <a16:colId xmlns:a16="http://schemas.microsoft.com/office/drawing/2014/main" val="20000"/>
                    </a:ext>
                  </a:extLst>
                </a:gridCol>
                <a:gridCol w="2862072">
                  <a:extLst>
                    <a:ext uri="{9D8B030D-6E8A-4147-A177-3AD203B41FA5}">
                      <a16:colId xmlns:a16="http://schemas.microsoft.com/office/drawing/2014/main" val="20001"/>
                    </a:ext>
                  </a:extLst>
                </a:gridCol>
              </a:tblGrid>
              <a:tr h="246888">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Modul</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Tanggung jawab</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3C71E8"/>
                    </a:solidFill>
                  </a:tcPr>
                </a:tc>
                <a:extLst>
                  <a:ext uri="{0D108BD9-81ED-4DB2-BD59-A6C34878D82A}">
                    <a16:rowId xmlns:a16="http://schemas.microsoft.com/office/drawing/2014/main" val="10000"/>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docking/vina_manager, vina_runner</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Unduh biner Vina; jalankan dan parse skor</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docking/docking_matrix</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Loop ligan × reseptor × replikat, resume</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docking/grid_box</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Parameter gridbox, ukuran dari native</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4"/>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docking/rmsd_validation</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RMSD in place (CalcRMS)</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docking/merge</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Kompleks PDB + JSON</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6"/>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admet/admetlab_scraper</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Scraper ADMETLab 3.0</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admet/admet_file</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Baca CSV/XLSX ADMET</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08"/>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admet/dedup</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SMILES unik, salin ke ligan kembar</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345181158"/>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admet/admet_rules</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120 aturan klasifikasi</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analytics/charts, heatmap</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Bar, radar, heatmap (terpecah otomatis)</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10"/>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analytics/pca, hca</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PCA gaya jurnal dan HCA</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analytics/paging</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Pemecahan plot menjadi bagian</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12"/>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analytics/group_stats, group_charts</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Statistik dan grafik per grup</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3748788540"/>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analytics/style</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Gaya grafik bersama</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2441932505"/>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similarity/*</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Pembaca BIOVIA, rumus, plot, laporan</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gcms/*</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GC-MS: pembaca, sinyal, statistik, pustaka, grafik</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utils/name_sanitizer, residue_backbone</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Nama file aman, deteksi backbone</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14"/>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utils/subprocess_stream</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Subprocess dan log (logging_setup)</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E8EDFC"/>
                    </a:solidFill>
                  </a:tcPr>
                </a:tc>
                <a:extLst>
                  <a:ext uri="{0D108BD9-81ED-4DB2-BD59-A6C34878D82A}">
                    <a16:rowId xmlns:a16="http://schemas.microsoft.com/office/drawing/2014/main" val="10016"/>
                  </a:ext>
                </a:extLst>
              </a:tr>
              <a:tr h="246888">
                <a:tc>
                  <a:txBody>
                    <a:bodyPr/>
                    <a:lstStyle/>
                    <a:p>
                      <a:pPr marL="0" indent="0">
                        <a:buNone/>
                      </a:pPr>
                      <a:r>
                        <a:rPr lang="en-US" sz="850" dirty="0">
                          <a:solidFill>
                            <a:srgbClr val="1B2140"/>
                          </a:solidFill>
                          <a:latin typeface="Courier New" pitchFamily="34" charset="0"/>
                          <a:ea typeface="Courier New" pitchFamily="34" charset="-122"/>
                          <a:cs typeface="Courier New" pitchFamily="34" charset="-120"/>
                        </a:rPr>
                        <a:t>templates, system_check, banner</a:t>
                      </a:r>
                      <a:endParaRPr lang="en-US" sz="850" dirty="0">
                        <a:latin typeface="Courier New" charset="0"/>
                        <a:ea typeface="Courier New" charset="0"/>
                        <a:cs typeface="Courier New"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tc>
                  <a:txBody>
                    <a:bodyPr/>
                    <a:lstStyle/>
                    <a:p>
                      <a:pPr marL="0" indent="0">
                        <a:buNone/>
                      </a:pPr>
                      <a:r>
                        <a:rPr lang="en-US" sz="850" dirty="0">
                          <a:solidFill>
                            <a:srgbClr val="1B2140"/>
                          </a:solidFill>
                          <a:latin typeface="Calibri" pitchFamily="34" charset="0"/>
                          <a:ea typeface="Calibri" pitchFamily="34" charset="-122"/>
                          <a:cs typeface="Calibri" pitchFamily="34" charset="-120"/>
                        </a:rPr>
                        <a:t>Templat, cek kesiapan, header</a:t>
                      </a:r>
                      <a:endParaRPr lang="en-US" sz="850" dirty="0">
                        <a:latin typeface="Calibri" charset="0"/>
                        <a:ea typeface="Calibri" charset="0"/>
                        <a:cs typeface="Calibri" charset="0"/>
                      </a:endParaRPr>
                    </a:p>
                  </a:txBody>
                  <a:tcPr marL="76200" marR="76200" marT="25400" marB="25400" anchor="ctr">
                    <a:lnL w="6350" cap="flat" cmpd="sng" algn="ctr">
                      <a:solidFill>
                        <a:srgbClr val="D5DBF0"/>
                      </a:solidFill>
                      <a:prstDash val="solid"/>
                      <a:round/>
                      <a:headEnd type="none" w="med" len="med"/>
                      <a:tailEnd type="none" w="med" len="med"/>
                    </a:lnL>
                    <a:lnR w="6350" cap="flat" cmpd="sng" algn="ctr">
                      <a:solidFill>
                        <a:srgbClr val="D5DBF0"/>
                      </a:solidFill>
                      <a:prstDash val="solid"/>
                      <a:round/>
                      <a:headEnd type="none" w="med" len="med"/>
                      <a:tailEnd type="none" w="med" len="med"/>
                    </a:lnR>
                    <a:lnT w="6350" cap="flat" cmpd="sng" algn="ctr">
                      <a:solidFill>
                        <a:srgbClr val="D5DBF0"/>
                      </a:solidFill>
                      <a:prstDash val="solid"/>
                      <a:round/>
                      <a:headEnd type="none" w="med" len="med"/>
                      <a:tailEnd type="none" w="med" len="med"/>
                    </a:lnT>
                    <a:lnB w="6350" cap="flat" cmpd="sng" algn="ctr">
                      <a:solidFill>
                        <a:srgbClr val="D5DBF0"/>
                      </a:solidFill>
                      <a:prstDash val="solid"/>
                      <a:round/>
                      <a:headEnd type="none" w="med" len="med"/>
                      <a:tailEnd type="none" w="med" len="med"/>
                    </a:lnB>
                    <a:solidFill>
                      <a:srgbClr val="FFFFFF"/>
                    </a:solidFill>
                  </a:tcPr>
                </a:tc>
                <a:extLst>
                  <a:ext uri="{0D108BD9-81ED-4DB2-BD59-A6C34878D82A}">
                    <a16:rowId xmlns:a16="http://schemas.microsoft.com/office/drawing/2014/main" val="10017"/>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941832"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APPENDIX</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Resume: melanjutkan run dari titik terakhir</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A7</a:t>
            </a:r>
            <a:endParaRPr lang="en-US" sz="1000" dirty="0"/>
          </a:p>
        </p:txBody>
      </p:sp>
      <p:sp>
        <p:nvSpPr>
          <p:cNvPr id="6" name="Shape 4"/>
          <p:cNvSpPr/>
          <p:nvPr/>
        </p:nvSpPr>
        <p:spPr>
          <a:xfrm>
            <a:off x="548640" y="146304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7" name="Shape 5"/>
          <p:cNvSpPr/>
          <p:nvPr/>
        </p:nvSpPr>
        <p:spPr>
          <a:xfrm>
            <a:off x="731520" y="1627632"/>
            <a:ext cx="457200" cy="457200"/>
          </a:xfrm>
          <a:prstGeom prst="ellipse">
            <a:avLst/>
          </a:prstGeom>
          <a:solidFill>
            <a:srgbClr val="3C71E8"/>
          </a:solidFill>
          <a:ln w="12700">
            <a:solidFill>
              <a:srgbClr val="3C71E8"/>
            </a:solidFill>
            <a:prstDash val="solid"/>
          </a:ln>
        </p:spPr>
        <p:txBody>
          <a:bodyPr/>
          <a:lstStyle/>
          <a:p>
            <a:endParaRPr/>
          </a:p>
        </p:txBody>
      </p:sp>
      <p:pic>
        <p:nvPicPr>
          <p:cNvPr id="8" name="Image 0" descr="ShieldAlt"/>
          <p:cNvPicPr>
            <a:picLocks noChangeAspect="1"/>
          </p:cNvPicPr>
          <p:nvPr/>
        </p:nvPicPr>
        <p:blipFill>
          <a:blip r:embed="rId3"/>
          <a:stretch>
            <a:fillRect/>
          </a:stretch>
        </p:blipFill>
        <p:spPr>
          <a:xfrm>
            <a:off x="845820" y="1741932"/>
            <a:ext cx="228600" cy="228600"/>
          </a:xfrm>
          <a:prstGeom prst="rect">
            <a:avLst/>
          </a:prstGeom>
        </p:spPr>
      </p:pic>
      <p:sp>
        <p:nvSpPr>
          <p:cNvPr id="9" name="Text 6"/>
          <p:cNvSpPr txBox="1"/>
          <p:nvPr/>
        </p:nvSpPr>
        <p:spPr>
          <a:xfrm>
            <a:off x="1325880" y="164592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Checkpoint atomik</a:t>
            </a:r>
            <a:endParaRPr lang="en-US" sz="1350" dirty="0"/>
          </a:p>
        </p:txBody>
      </p:sp>
      <p:sp>
        <p:nvSpPr>
          <p:cNvPr id="10" name="Text 7"/>
          <p:cNvSpPr txBox="1"/>
          <p:nvPr/>
        </p:nvSpPr>
        <p:spPr>
          <a:xfrm>
            <a:off x="731520" y="221284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Tiap item yang selesai (ligan, reseptor beserta gridbox, satu run Vina, hasil ADMET) ditulis ke file sementara lalu diganti atomik, jadi aman terhadap mati listrik.</a:t>
            </a:r>
            <a:endParaRPr lang="en-US" sz="1200" dirty="0"/>
          </a:p>
        </p:txBody>
      </p:sp>
      <p:sp>
        <p:nvSpPr>
          <p:cNvPr id="11" name="Shape 8"/>
          <p:cNvSpPr/>
          <p:nvPr/>
        </p:nvSpPr>
        <p:spPr>
          <a:xfrm>
            <a:off x="4297680" y="146304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12" name="Shape 9"/>
          <p:cNvSpPr/>
          <p:nvPr/>
        </p:nvSpPr>
        <p:spPr>
          <a:xfrm>
            <a:off x="4480560" y="1627632"/>
            <a:ext cx="457200" cy="457200"/>
          </a:xfrm>
          <a:prstGeom prst="ellipse">
            <a:avLst/>
          </a:prstGeom>
          <a:solidFill>
            <a:srgbClr val="8E70EB"/>
          </a:solidFill>
          <a:ln w="12700">
            <a:solidFill>
              <a:srgbClr val="8E70EB"/>
            </a:solidFill>
            <a:prstDash val="solid"/>
          </a:ln>
        </p:spPr>
        <p:txBody>
          <a:bodyPr/>
          <a:lstStyle/>
          <a:p>
            <a:endParaRPr/>
          </a:p>
        </p:txBody>
      </p:sp>
      <p:pic>
        <p:nvPicPr>
          <p:cNvPr id="13" name="Image 1" descr="FileCode"/>
          <p:cNvPicPr>
            <a:picLocks noChangeAspect="1"/>
          </p:cNvPicPr>
          <p:nvPr/>
        </p:nvPicPr>
        <p:blipFill>
          <a:blip r:embed="rId4"/>
          <a:stretch>
            <a:fillRect/>
          </a:stretch>
        </p:blipFill>
        <p:spPr>
          <a:xfrm>
            <a:off x="4594860" y="1741932"/>
            <a:ext cx="228600" cy="228600"/>
          </a:xfrm>
          <a:prstGeom prst="rect">
            <a:avLst/>
          </a:prstGeom>
        </p:spPr>
      </p:pic>
      <p:sp>
        <p:nvSpPr>
          <p:cNvPr id="14" name="Text 10"/>
          <p:cNvSpPr txBox="1"/>
          <p:nvPr/>
        </p:nvSpPr>
        <p:spPr>
          <a:xfrm>
            <a:off x="5074920" y="164592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Folder _state/</a:t>
            </a:r>
            <a:endParaRPr lang="en-US" sz="1350" dirty="0"/>
          </a:p>
        </p:txBody>
      </p:sp>
      <p:sp>
        <p:nvSpPr>
          <p:cNvPr id="15" name="Text 11"/>
          <p:cNvSpPr txBox="1"/>
          <p:nvPr/>
        </p:nvSpPr>
        <p:spPr>
          <a:xfrm>
            <a:off x="4480560" y="221284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Berisi config.json, progress.json, salinan Excel input (inputs/), dan admet_cache.json. Path disimpan relatif, jadi folder hasil boleh dipindah.</a:t>
            </a:r>
            <a:endParaRPr lang="en-US" sz="1200" dirty="0"/>
          </a:p>
        </p:txBody>
      </p:sp>
      <p:sp>
        <p:nvSpPr>
          <p:cNvPr id="16" name="Shape 12"/>
          <p:cNvSpPr/>
          <p:nvPr/>
        </p:nvSpPr>
        <p:spPr>
          <a:xfrm>
            <a:off x="8046720" y="146304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17" name="Shape 13"/>
          <p:cNvSpPr/>
          <p:nvPr/>
        </p:nvSpPr>
        <p:spPr>
          <a:xfrm>
            <a:off x="8229600" y="1627632"/>
            <a:ext cx="457200" cy="457200"/>
          </a:xfrm>
          <a:prstGeom prst="ellipse">
            <a:avLst/>
          </a:prstGeom>
          <a:solidFill>
            <a:srgbClr val="3C71E8"/>
          </a:solidFill>
          <a:ln w="12700">
            <a:solidFill>
              <a:srgbClr val="3C71E8"/>
            </a:solidFill>
            <a:prstDash val="solid"/>
          </a:ln>
        </p:spPr>
        <p:txBody>
          <a:bodyPr/>
          <a:lstStyle/>
          <a:p>
            <a:endParaRPr/>
          </a:p>
        </p:txBody>
      </p:sp>
      <p:pic>
        <p:nvPicPr>
          <p:cNvPr id="18" name="Image 2" descr="SyncAlt"/>
          <p:cNvPicPr>
            <a:picLocks noChangeAspect="1"/>
          </p:cNvPicPr>
          <p:nvPr/>
        </p:nvPicPr>
        <p:blipFill>
          <a:blip r:embed="rId5"/>
          <a:stretch>
            <a:fillRect/>
          </a:stretch>
        </p:blipFill>
        <p:spPr>
          <a:xfrm>
            <a:off x="8343900" y="1741932"/>
            <a:ext cx="228600" cy="228600"/>
          </a:xfrm>
          <a:prstGeom prst="rect">
            <a:avLst/>
          </a:prstGeom>
        </p:spPr>
      </p:pic>
      <p:sp>
        <p:nvSpPr>
          <p:cNvPr id="19" name="Text 14"/>
          <p:cNvSpPr txBox="1"/>
          <p:nvPr/>
        </p:nvSpPr>
        <p:spPr>
          <a:xfrm>
            <a:off x="8823960" y="164592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chemflow resume</a:t>
            </a:r>
            <a:endParaRPr lang="en-US" sz="1350" dirty="0"/>
          </a:p>
        </p:txBody>
      </p:sp>
      <p:sp>
        <p:nvSpPr>
          <p:cNvPr id="20" name="Text 15"/>
          <p:cNvSpPr txBox="1"/>
          <p:nvPr/>
        </p:nvSpPr>
        <p:spPr>
          <a:xfrm>
            <a:off x="8229600" y="221284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chemflow resume --output hasil/ membaca konfigurasi dari _state/ lalu melanjutkan. Ringkasan awal menyebut berapa ligan, reseptor, run docking, dan batch ADMET yang dipakai ulang.</a:t>
            </a:r>
            <a:endParaRPr lang="en-US" sz="1200" dirty="0"/>
          </a:p>
        </p:txBody>
      </p:sp>
      <p:sp>
        <p:nvSpPr>
          <p:cNvPr id="21" name="Shape 16"/>
          <p:cNvSpPr/>
          <p:nvPr/>
        </p:nvSpPr>
        <p:spPr>
          <a:xfrm>
            <a:off x="548640" y="342900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22" name="Shape 17"/>
          <p:cNvSpPr/>
          <p:nvPr/>
        </p:nvSpPr>
        <p:spPr>
          <a:xfrm>
            <a:off x="731520" y="3593592"/>
            <a:ext cx="457200" cy="457200"/>
          </a:xfrm>
          <a:prstGeom prst="ellipse">
            <a:avLst/>
          </a:prstGeom>
          <a:solidFill>
            <a:srgbClr val="8E70EB"/>
          </a:solidFill>
          <a:ln w="12700">
            <a:solidFill>
              <a:srgbClr val="8E70EB"/>
            </a:solidFill>
            <a:prstDash val="solid"/>
          </a:ln>
        </p:spPr>
        <p:txBody>
          <a:bodyPr/>
          <a:lstStyle/>
          <a:p>
            <a:endParaRPr/>
          </a:p>
        </p:txBody>
      </p:sp>
      <p:pic>
        <p:nvPicPr>
          <p:cNvPr id="23" name="Image 3" descr="ExclamationTriangle"/>
          <p:cNvPicPr>
            <a:picLocks noChangeAspect="1"/>
          </p:cNvPicPr>
          <p:nvPr/>
        </p:nvPicPr>
        <p:blipFill>
          <a:blip r:embed="rId6"/>
          <a:stretch>
            <a:fillRect/>
          </a:stretch>
        </p:blipFill>
        <p:spPr>
          <a:xfrm>
            <a:off x="845820" y="3707892"/>
            <a:ext cx="228600" cy="228600"/>
          </a:xfrm>
          <a:prstGeom prst="rect">
            <a:avLst/>
          </a:prstGeom>
        </p:spPr>
      </p:pic>
      <p:sp>
        <p:nvSpPr>
          <p:cNvPr id="24" name="Text 18"/>
          <p:cNvSpPr txBox="1"/>
          <p:nvPr/>
        </p:nvSpPr>
        <p:spPr>
          <a:xfrm>
            <a:off x="1325880" y="361188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Ctrl+C dan child process</a:t>
            </a:r>
            <a:endParaRPr lang="en-US" sz="1350" dirty="0"/>
          </a:p>
        </p:txBody>
      </p:sp>
      <p:sp>
        <p:nvSpPr>
          <p:cNvPr id="25" name="Text 19"/>
          <p:cNvSpPr txBox="1"/>
          <p:nvPr/>
        </p:nvSpPr>
        <p:spPr>
          <a:xfrm>
            <a:off x="731520" y="417880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Ctrl+C mengembalikan kode 130 dan mencetak perintah resume. </a:t>
            </a:r>
            <a:r>
              <a:rPr lang="en-US" sz="1200">
                <a:solidFill>
                  <a:srgbClr val="5B6480"/>
                </a:solidFill>
                <a:latin typeface="Calibri" pitchFamily="34" charset="0"/>
                <a:ea typeface="Calibri" pitchFamily="34" charset="-122"/>
                <a:cs typeface="Calibri" pitchFamily="34" charset="-120"/>
              </a:rPr>
              <a:t>Child process Vina </a:t>
            </a:r>
            <a:r>
              <a:rPr lang="en-US" sz="1200" dirty="0" err="1">
                <a:solidFill>
                  <a:srgbClr val="5B6480"/>
                </a:solidFill>
                <a:latin typeface="Calibri" pitchFamily="34" charset="0"/>
                <a:ea typeface="Calibri" pitchFamily="34" charset="-122"/>
                <a:cs typeface="Calibri" pitchFamily="34" charset="-120"/>
              </a:rPr>
              <a:t>ikut</a:t>
            </a:r>
            <a:r>
              <a:rPr lang="en-US" sz="1200" dirty="0">
                <a:solidFill>
                  <a:srgbClr val="5B6480"/>
                </a:solidFill>
                <a:latin typeface="Calibri" pitchFamily="34" charset="0"/>
                <a:ea typeface="Calibri" pitchFamily="34" charset="-122"/>
                <a:cs typeface="Calibri" pitchFamily="34" charset="-120"/>
              </a:rPr>
              <a:t> dimatikan, jadi tidak ada proses yatim setelah interupsi.</a:t>
            </a:r>
            <a:endParaRPr lang="en-US" sz="1200" dirty="0"/>
          </a:p>
        </p:txBody>
      </p:sp>
      <p:sp>
        <p:nvSpPr>
          <p:cNvPr id="26" name="Shape 20"/>
          <p:cNvSpPr/>
          <p:nvPr/>
        </p:nvSpPr>
        <p:spPr>
          <a:xfrm>
            <a:off x="4297680" y="342900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27" name="Shape 21"/>
          <p:cNvSpPr/>
          <p:nvPr/>
        </p:nvSpPr>
        <p:spPr>
          <a:xfrm>
            <a:off x="4480560" y="3593592"/>
            <a:ext cx="457200" cy="457200"/>
          </a:xfrm>
          <a:prstGeom prst="ellipse">
            <a:avLst/>
          </a:prstGeom>
          <a:solidFill>
            <a:srgbClr val="3C71E8"/>
          </a:solidFill>
          <a:ln w="12700">
            <a:solidFill>
              <a:srgbClr val="3C71E8"/>
            </a:solidFill>
            <a:prstDash val="solid"/>
          </a:ln>
        </p:spPr>
        <p:txBody>
          <a:bodyPr/>
          <a:lstStyle/>
          <a:p>
            <a:endParaRPr/>
          </a:p>
        </p:txBody>
      </p:sp>
      <p:pic>
        <p:nvPicPr>
          <p:cNvPr id="28" name="Image 4" descr="Tasks"/>
          <p:cNvPicPr>
            <a:picLocks noChangeAspect="1"/>
          </p:cNvPicPr>
          <p:nvPr/>
        </p:nvPicPr>
        <p:blipFill>
          <a:blip r:embed="rId7"/>
          <a:stretch>
            <a:fillRect/>
          </a:stretch>
        </p:blipFill>
        <p:spPr>
          <a:xfrm>
            <a:off x="4594860" y="3707892"/>
            <a:ext cx="228600" cy="228600"/>
          </a:xfrm>
          <a:prstGeom prst="rect">
            <a:avLst/>
          </a:prstGeom>
        </p:spPr>
      </p:pic>
      <p:sp>
        <p:nvSpPr>
          <p:cNvPr id="29" name="Text 22"/>
          <p:cNvSpPr txBox="1"/>
          <p:nvPr/>
        </p:nvSpPr>
        <p:spPr>
          <a:xfrm>
            <a:off x="5074920" y="361188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Dilewati dan diulang</a:t>
            </a:r>
            <a:endParaRPr lang="en-US" sz="1350" dirty="0"/>
          </a:p>
        </p:txBody>
      </p:sp>
      <p:sp>
        <p:nvSpPr>
          <p:cNvPr id="30" name="Text 23"/>
          <p:cNvSpPr txBox="1"/>
          <p:nvPr/>
        </p:nvSpPr>
        <p:spPr>
          <a:xfrm>
            <a:off x="4480560" y="417880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Run Vina yang sukses dan berkas keluarannya ada dilewati. Run gagal, run terputus, atau checkpoint rusak diulang. Kompleks dianggap selesai bila PDB dan JSON-nya ada.</a:t>
            </a:r>
            <a:endParaRPr lang="en-US" sz="1200" dirty="0"/>
          </a:p>
        </p:txBody>
      </p:sp>
      <p:sp>
        <p:nvSpPr>
          <p:cNvPr id="31" name="Shape 24"/>
          <p:cNvSpPr/>
          <p:nvPr/>
        </p:nvSpPr>
        <p:spPr>
          <a:xfrm>
            <a:off x="8046720" y="342900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32" name="Shape 25"/>
          <p:cNvSpPr/>
          <p:nvPr/>
        </p:nvSpPr>
        <p:spPr>
          <a:xfrm>
            <a:off x="8229600" y="3593592"/>
            <a:ext cx="457200" cy="457200"/>
          </a:xfrm>
          <a:prstGeom prst="ellipse">
            <a:avLst/>
          </a:prstGeom>
          <a:solidFill>
            <a:srgbClr val="8E70EB"/>
          </a:solidFill>
          <a:ln w="12700">
            <a:solidFill>
              <a:srgbClr val="8E70EB"/>
            </a:solidFill>
            <a:prstDash val="solid"/>
          </a:ln>
        </p:spPr>
        <p:txBody>
          <a:bodyPr/>
          <a:lstStyle/>
          <a:p>
            <a:endParaRPr/>
          </a:p>
        </p:txBody>
      </p:sp>
      <p:pic>
        <p:nvPicPr>
          <p:cNvPr id="33" name="Image 5" descr="Cogs"/>
          <p:cNvPicPr>
            <a:picLocks noChangeAspect="1"/>
          </p:cNvPicPr>
          <p:nvPr/>
        </p:nvPicPr>
        <p:blipFill>
          <a:blip r:embed="rId8"/>
          <a:stretch>
            <a:fillRect/>
          </a:stretch>
        </p:blipFill>
        <p:spPr>
          <a:xfrm>
            <a:off x="8343900" y="3707892"/>
            <a:ext cx="228600" cy="228600"/>
          </a:xfrm>
          <a:prstGeom prst="rect">
            <a:avLst/>
          </a:prstGeom>
        </p:spPr>
      </p:pic>
      <p:sp>
        <p:nvSpPr>
          <p:cNvPr id="34" name="Text 26"/>
          <p:cNvSpPr txBox="1"/>
          <p:nvPr/>
        </p:nvSpPr>
        <p:spPr>
          <a:xfrm>
            <a:off x="8823960" y="361188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Setelan dan batasan</a:t>
            </a:r>
            <a:endParaRPr lang="en-US" sz="1350" dirty="0"/>
          </a:p>
        </p:txBody>
      </p:sp>
      <p:sp>
        <p:nvSpPr>
          <p:cNvPr id="35" name="Text 27"/>
          <p:cNvSpPr txBox="1"/>
          <p:nvPr/>
        </p:nvSpPr>
        <p:spPr>
          <a:xfrm>
            <a:off x="8229600" y="417880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Log level serta jalur OpenBabel atau Vina boleh diganti saat resume; parameter ilmiah tetap dari run awal. Folder tanpa _state (versi lama) ditolak dengan pesan jelas.</a:t>
            </a:r>
            <a:endParaRPr lang="en-US" sz="1200" dirty="0"/>
          </a:p>
        </p:txBody>
      </p:sp>
      <p:sp>
        <p:nvSpPr>
          <p:cNvPr id="36" name="Shape 28"/>
          <p:cNvSpPr/>
          <p:nvPr/>
        </p:nvSpPr>
        <p:spPr>
          <a:xfrm>
            <a:off x="548640" y="5440680"/>
            <a:ext cx="11091672" cy="777240"/>
          </a:xfrm>
          <a:prstGeom prst="roundRect">
            <a:avLst>
              <a:gd name="adj" fmla="val 11765"/>
            </a:avLst>
          </a:prstGeom>
          <a:solidFill>
            <a:srgbClr val="DDF3EB"/>
          </a:solidFill>
          <a:ln w="15875">
            <a:solidFill>
              <a:srgbClr val="009E73"/>
            </a:solidFill>
            <a:prstDash val="solid"/>
          </a:ln>
        </p:spPr>
        <p:txBody>
          <a:bodyPr/>
          <a:lstStyle/>
          <a:p>
            <a:endParaRPr/>
          </a:p>
        </p:txBody>
      </p:sp>
      <p:sp>
        <p:nvSpPr>
          <p:cNvPr id="37" name="Text 29"/>
          <p:cNvSpPr txBox="1"/>
          <p:nvPr/>
        </p:nvSpPr>
        <p:spPr>
          <a:xfrm>
            <a:off x="713232" y="5532120"/>
            <a:ext cx="10762488" cy="594360"/>
          </a:xfrm>
          <a:prstGeom prst="rect">
            <a:avLst/>
          </a:prstGeom>
          <a:noFill/>
          <a:ln/>
        </p:spPr>
        <p:txBody>
          <a:bodyPr wrap="square" lIns="0" tIns="0" rIns="0" bIns="0" rtlCol="0" anchor="t"/>
          <a:lstStyle/>
          <a:p>
            <a:pPr marL="0" indent="0">
              <a:spcAft>
                <a:spcPts val="300"/>
              </a:spcAft>
              <a:buNone/>
            </a:pPr>
            <a:r>
              <a:rPr lang="en-US" sz="1250" b="1" dirty="0">
                <a:solidFill>
                  <a:srgbClr val="1B2140"/>
                </a:solidFill>
                <a:latin typeface="Calibri" pitchFamily="34" charset="0"/>
                <a:ea typeface="Calibri" pitchFamily="34" charset="-122"/>
                <a:cs typeface="Calibri" pitchFamily="34" charset="-120"/>
              </a:rPr>
              <a:t>Pemakaian</a:t>
            </a:r>
            <a:endParaRPr lang="en-US" sz="1250" dirty="0"/>
          </a:p>
          <a:p>
            <a:pPr marL="0" indent="0">
              <a:spcAft>
                <a:spcPts val="300"/>
              </a:spcAft>
              <a:buNone/>
            </a:pPr>
            <a:r>
              <a:rPr lang="en-US" sz="1200" dirty="0">
                <a:solidFill>
                  <a:srgbClr val="1B2140"/>
                </a:solidFill>
                <a:latin typeface="Calibri" pitchFamily="34" charset="0"/>
                <a:ea typeface="Calibri" pitchFamily="34" charset="-122"/>
                <a:cs typeface="Calibri" pitchFamily="34" charset="-120"/>
              </a:rPr>
              <a:t>chemflow resume --output hasil/  ·  dari kode: Pipeline(RunState("hasil").load_config(), resume=True).run(). Ekspor Excel dan analitik selalu dibuat ulang karena murah.</a:t>
            </a:r>
            <a:endParaRPr lang="en-US" sz="12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941832"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APPENDIX</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Native, plot per grup, dan pemecahan plot otomatis</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A8</a:t>
            </a:r>
            <a:endParaRPr lang="en-US" sz="1000" dirty="0"/>
          </a:p>
        </p:txBody>
      </p:sp>
      <p:sp>
        <p:nvSpPr>
          <p:cNvPr id="6" name="Shape 4"/>
          <p:cNvSpPr/>
          <p:nvPr/>
        </p:nvSpPr>
        <p:spPr>
          <a:xfrm>
            <a:off x="548640" y="146304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7" name="Shape 5"/>
          <p:cNvSpPr/>
          <p:nvPr/>
        </p:nvSpPr>
        <p:spPr>
          <a:xfrm>
            <a:off x="731520" y="1627632"/>
            <a:ext cx="457200" cy="457200"/>
          </a:xfrm>
          <a:prstGeom prst="ellipse">
            <a:avLst/>
          </a:prstGeom>
          <a:solidFill>
            <a:srgbClr val="3C71E8"/>
          </a:solidFill>
          <a:ln w="12700">
            <a:solidFill>
              <a:srgbClr val="3C71E8"/>
            </a:solidFill>
            <a:prstDash val="solid"/>
          </a:ln>
        </p:spPr>
        <p:txBody>
          <a:bodyPr/>
          <a:lstStyle/>
          <a:p>
            <a:endParaRPr/>
          </a:p>
        </p:txBody>
      </p:sp>
      <p:pic>
        <p:nvPicPr>
          <p:cNvPr id="8" name="Image 0" descr="Bullseye"/>
          <p:cNvPicPr>
            <a:picLocks noChangeAspect="1"/>
          </p:cNvPicPr>
          <p:nvPr/>
        </p:nvPicPr>
        <p:blipFill>
          <a:blip r:embed="rId3"/>
          <a:stretch>
            <a:fillRect/>
          </a:stretch>
        </p:blipFill>
        <p:spPr>
          <a:xfrm>
            <a:off x="845820" y="1741932"/>
            <a:ext cx="228600" cy="228600"/>
          </a:xfrm>
          <a:prstGeom prst="rect">
            <a:avLst/>
          </a:prstGeom>
        </p:spPr>
      </p:pic>
      <p:sp>
        <p:nvSpPr>
          <p:cNvPr id="9" name="Text 6"/>
          <p:cNvSpPr txBox="1"/>
          <p:nvPr/>
        </p:nvSpPr>
        <p:spPr>
          <a:xfrm>
            <a:off x="1325880" y="164592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Native otomatis</a:t>
            </a:r>
            <a:endParaRPr lang="en-US" sz="1350" dirty="0"/>
          </a:p>
        </p:txBody>
      </p:sp>
      <p:sp>
        <p:nvSpPr>
          <p:cNvPr id="10" name="Text 7"/>
          <p:cNvSpPr txBox="1"/>
          <p:nvPr/>
        </p:nvSpPr>
        <p:spPr>
          <a:xfrm>
            <a:off x="731520" y="221284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Ligan native di-dock ulang dengan parameter dan replikat yang sama, lalu ikut ADMET, Lipinski, heatmap, PCA, dan HCA sebagai grup Native. Matikan dengan --no-native.</a:t>
            </a:r>
            <a:endParaRPr lang="en-US" sz="1200" dirty="0"/>
          </a:p>
        </p:txBody>
      </p:sp>
      <p:sp>
        <p:nvSpPr>
          <p:cNvPr id="11" name="Shape 8"/>
          <p:cNvSpPr/>
          <p:nvPr/>
        </p:nvSpPr>
        <p:spPr>
          <a:xfrm>
            <a:off x="4297680" y="146304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12" name="Shape 9"/>
          <p:cNvSpPr/>
          <p:nvPr/>
        </p:nvSpPr>
        <p:spPr>
          <a:xfrm>
            <a:off x="4480560" y="1627632"/>
            <a:ext cx="457200" cy="457200"/>
          </a:xfrm>
          <a:prstGeom prst="ellipse">
            <a:avLst/>
          </a:prstGeom>
          <a:solidFill>
            <a:srgbClr val="8E70EB"/>
          </a:solidFill>
          <a:ln w="12700">
            <a:solidFill>
              <a:srgbClr val="8E70EB"/>
            </a:solidFill>
            <a:prstDash val="solid"/>
          </a:ln>
        </p:spPr>
        <p:txBody>
          <a:bodyPr/>
          <a:lstStyle/>
          <a:p>
            <a:endParaRPr/>
          </a:p>
        </p:txBody>
      </p:sp>
      <p:pic>
        <p:nvPicPr>
          <p:cNvPr id="13" name="Image 1" descr="Cube"/>
          <p:cNvPicPr>
            <a:picLocks noChangeAspect="1"/>
          </p:cNvPicPr>
          <p:nvPr/>
        </p:nvPicPr>
        <p:blipFill>
          <a:blip r:embed="rId4"/>
          <a:stretch>
            <a:fillRect/>
          </a:stretch>
        </p:blipFill>
        <p:spPr>
          <a:xfrm>
            <a:off x="4594860" y="1741932"/>
            <a:ext cx="228600" cy="228600"/>
          </a:xfrm>
          <a:prstGeom prst="rect">
            <a:avLst/>
          </a:prstGeom>
        </p:spPr>
      </p:pic>
      <p:sp>
        <p:nvSpPr>
          <p:cNvPr id="14" name="Text 10"/>
          <p:cNvSpPr txBox="1"/>
          <p:nvPr/>
        </p:nvSpPr>
        <p:spPr>
          <a:xfrm>
            <a:off x="5074920" y="164592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Gridbox dari native</a:t>
            </a:r>
            <a:endParaRPr lang="en-US" sz="1350" dirty="0"/>
          </a:p>
        </p:txBody>
      </p:sp>
      <p:sp>
        <p:nvSpPr>
          <p:cNvPr id="15" name="Text 11"/>
          <p:cNvSpPr txBox="1"/>
          <p:nvPr/>
        </p:nvSpPr>
        <p:spPr>
          <a:xfrm>
            <a:off x="4480560" y="221284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Ukuran kubus = ekstensi native + padding 8 Å (minimal 18, maksimal 30). Berlaku pada mode interaktif dan Excel tanpa ukuran; --default-box-size hanya cadangan.</a:t>
            </a:r>
            <a:endParaRPr lang="en-US" sz="1200" dirty="0"/>
          </a:p>
        </p:txBody>
      </p:sp>
      <p:sp>
        <p:nvSpPr>
          <p:cNvPr id="16" name="Shape 12"/>
          <p:cNvSpPr/>
          <p:nvPr/>
        </p:nvSpPr>
        <p:spPr>
          <a:xfrm>
            <a:off x="8046720" y="146304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17" name="Shape 13"/>
          <p:cNvSpPr/>
          <p:nvPr/>
        </p:nvSpPr>
        <p:spPr>
          <a:xfrm>
            <a:off x="8229600" y="1627632"/>
            <a:ext cx="457200" cy="457200"/>
          </a:xfrm>
          <a:prstGeom prst="ellipse">
            <a:avLst/>
          </a:prstGeom>
          <a:solidFill>
            <a:srgbClr val="3C71E8"/>
          </a:solidFill>
          <a:ln w="12700">
            <a:solidFill>
              <a:srgbClr val="3C71E8"/>
            </a:solidFill>
            <a:prstDash val="solid"/>
          </a:ln>
        </p:spPr>
        <p:txBody>
          <a:bodyPr/>
          <a:lstStyle/>
          <a:p>
            <a:endParaRPr/>
          </a:p>
        </p:txBody>
      </p:sp>
      <p:pic>
        <p:nvPicPr>
          <p:cNvPr id="18" name="Image 2" descr="Pills"/>
          <p:cNvPicPr>
            <a:picLocks noChangeAspect="1"/>
          </p:cNvPicPr>
          <p:nvPr/>
        </p:nvPicPr>
        <p:blipFill>
          <a:blip r:embed="rId5"/>
          <a:stretch>
            <a:fillRect/>
          </a:stretch>
        </p:blipFill>
        <p:spPr>
          <a:xfrm>
            <a:off x="8343900" y="1741932"/>
            <a:ext cx="228600" cy="228600"/>
          </a:xfrm>
          <a:prstGeom prst="rect">
            <a:avLst/>
          </a:prstGeom>
        </p:spPr>
      </p:pic>
      <p:sp>
        <p:nvSpPr>
          <p:cNvPr id="19" name="Text 14"/>
          <p:cNvSpPr txBox="1"/>
          <p:nvPr/>
        </p:nvSpPr>
        <p:spPr>
          <a:xfrm>
            <a:off x="8823960" y="164592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ADMET multi-grup</a:t>
            </a:r>
            <a:endParaRPr lang="en-US" sz="1350" dirty="0"/>
          </a:p>
        </p:txBody>
      </p:sp>
      <p:sp>
        <p:nvSpPr>
          <p:cNvPr id="20" name="Text 15"/>
          <p:cNvSpPr txBox="1"/>
          <p:nvPr/>
        </p:nvSpPr>
        <p:spPr>
          <a:xfrm>
            <a:off x="8229600" y="221284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Senyawa yang sama di beberapa grup dikirim sekali (SMILES kanonik), lalu hasilnya disalin ke tiap ligan menurut indeksnya. Berlaku juga untuk --admet-file.</a:t>
            </a:r>
            <a:endParaRPr lang="en-US" sz="1200" dirty="0"/>
          </a:p>
        </p:txBody>
      </p:sp>
      <p:sp>
        <p:nvSpPr>
          <p:cNvPr id="21" name="Shape 16"/>
          <p:cNvSpPr/>
          <p:nvPr/>
        </p:nvSpPr>
        <p:spPr>
          <a:xfrm>
            <a:off x="548640" y="342900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22" name="Shape 17"/>
          <p:cNvSpPr/>
          <p:nvPr/>
        </p:nvSpPr>
        <p:spPr>
          <a:xfrm>
            <a:off x="731520" y="3593592"/>
            <a:ext cx="457200" cy="457200"/>
          </a:xfrm>
          <a:prstGeom prst="ellipse">
            <a:avLst/>
          </a:prstGeom>
          <a:solidFill>
            <a:srgbClr val="8E70EB"/>
          </a:solidFill>
          <a:ln w="12700">
            <a:solidFill>
              <a:srgbClr val="8E70EB"/>
            </a:solidFill>
            <a:prstDash val="solid"/>
          </a:ln>
        </p:spPr>
        <p:txBody>
          <a:bodyPr/>
          <a:lstStyle/>
          <a:p>
            <a:endParaRPr/>
          </a:p>
        </p:txBody>
      </p:sp>
      <p:pic>
        <p:nvPicPr>
          <p:cNvPr id="23" name="Image 3" descr="ChartBar"/>
          <p:cNvPicPr>
            <a:picLocks noChangeAspect="1"/>
          </p:cNvPicPr>
          <p:nvPr/>
        </p:nvPicPr>
        <p:blipFill>
          <a:blip r:embed="rId6"/>
          <a:stretch>
            <a:fillRect/>
          </a:stretch>
        </p:blipFill>
        <p:spPr>
          <a:xfrm>
            <a:off x="845820" y="3707892"/>
            <a:ext cx="228600" cy="228600"/>
          </a:xfrm>
          <a:prstGeom prst="rect">
            <a:avLst/>
          </a:prstGeom>
        </p:spPr>
      </p:pic>
      <p:sp>
        <p:nvSpPr>
          <p:cNvPr id="24" name="Text 18"/>
          <p:cNvSpPr txBox="1"/>
          <p:nvPr/>
        </p:nvSpPr>
        <p:spPr>
          <a:xfrm>
            <a:off x="1325880" y="361188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Plot per grup</a:t>
            </a:r>
            <a:endParaRPr lang="en-US" sz="1350" dirty="0"/>
          </a:p>
        </p:txBody>
      </p:sp>
      <p:sp>
        <p:nvSpPr>
          <p:cNvPr id="25" name="Text 19"/>
          <p:cNvSpPr txBox="1"/>
          <p:nvPr/>
        </p:nvSpPr>
        <p:spPr>
          <a:xfrm>
            <a:off x="731520" y="417880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Box plot ΔG per reseptor, heatmap grup × reseptor, persentase ligan lebih baik dari native, dan ADMET per grup (heatmap, radar, klasifikasi), plus sheet Ringkasan per Grup.</a:t>
            </a:r>
            <a:endParaRPr lang="en-US" sz="1200" dirty="0"/>
          </a:p>
        </p:txBody>
      </p:sp>
      <p:sp>
        <p:nvSpPr>
          <p:cNvPr id="26" name="Shape 20"/>
          <p:cNvSpPr/>
          <p:nvPr/>
        </p:nvSpPr>
        <p:spPr>
          <a:xfrm>
            <a:off x="4297680" y="342900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27" name="Shape 21"/>
          <p:cNvSpPr/>
          <p:nvPr/>
        </p:nvSpPr>
        <p:spPr>
          <a:xfrm>
            <a:off x="4480560" y="3593592"/>
            <a:ext cx="457200" cy="457200"/>
          </a:xfrm>
          <a:prstGeom prst="ellipse">
            <a:avLst/>
          </a:prstGeom>
          <a:solidFill>
            <a:srgbClr val="3C71E8"/>
          </a:solidFill>
          <a:ln w="12700">
            <a:solidFill>
              <a:srgbClr val="3C71E8"/>
            </a:solidFill>
            <a:prstDash val="solid"/>
          </a:ln>
        </p:spPr>
        <p:txBody>
          <a:bodyPr/>
          <a:lstStyle/>
          <a:p>
            <a:endParaRPr/>
          </a:p>
        </p:txBody>
      </p:sp>
      <p:pic>
        <p:nvPicPr>
          <p:cNvPr id="28" name="Image 4" descr="Table"/>
          <p:cNvPicPr>
            <a:picLocks noChangeAspect="1"/>
          </p:cNvPicPr>
          <p:nvPr/>
        </p:nvPicPr>
        <p:blipFill>
          <a:blip r:embed="rId7"/>
          <a:stretch>
            <a:fillRect/>
          </a:stretch>
        </p:blipFill>
        <p:spPr>
          <a:xfrm>
            <a:off x="4594860" y="3707892"/>
            <a:ext cx="228600" cy="228600"/>
          </a:xfrm>
          <a:prstGeom prst="rect">
            <a:avLst/>
          </a:prstGeom>
        </p:spPr>
      </p:pic>
      <p:sp>
        <p:nvSpPr>
          <p:cNvPr id="29" name="Text 22"/>
          <p:cNvSpPr txBox="1"/>
          <p:nvPr/>
        </p:nvSpPr>
        <p:spPr>
          <a:xfrm>
            <a:off x="5074920" y="361188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Pemecahan plot</a:t>
            </a:r>
            <a:endParaRPr lang="en-US" sz="1350" dirty="0"/>
          </a:p>
        </p:txBody>
      </p:sp>
      <p:sp>
        <p:nvSpPr>
          <p:cNvPr id="30" name="Text 23"/>
          <p:cNvSpPr txBox="1"/>
          <p:nvPr/>
        </p:nvSpPr>
        <p:spPr>
          <a:xfrm>
            <a:off x="4480560" y="417880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Bila baris atau kolom melebihi --plot-max-rows (30) atau --plot-max-cols (20), gambar dibagi _part01of03 dan seterusnya dengan skala warna dan sumbu yang sama.</a:t>
            </a:r>
            <a:endParaRPr lang="en-US" sz="1200" dirty="0"/>
          </a:p>
        </p:txBody>
      </p:sp>
      <p:sp>
        <p:nvSpPr>
          <p:cNvPr id="31" name="Shape 24"/>
          <p:cNvSpPr/>
          <p:nvPr/>
        </p:nvSpPr>
        <p:spPr>
          <a:xfrm>
            <a:off x="8046720" y="342900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32" name="Shape 25"/>
          <p:cNvSpPr/>
          <p:nvPr/>
        </p:nvSpPr>
        <p:spPr>
          <a:xfrm>
            <a:off x="8229600" y="3593592"/>
            <a:ext cx="457200" cy="457200"/>
          </a:xfrm>
          <a:prstGeom prst="ellipse">
            <a:avLst/>
          </a:prstGeom>
          <a:solidFill>
            <a:srgbClr val="8E70EB"/>
          </a:solidFill>
          <a:ln w="12700">
            <a:solidFill>
              <a:srgbClr val="8E70EB"/>
            </a:solidFill>
            <a:prstDash val="solid"/>
          </a:ln>
        </p:spPr>
        <p:txBody>
          <a:bodyPr/>
          <a:lstStyle/>
          <a:p>
            <a:endParaRPr/>
          </a:p>
        </p:txBody>
      </p:sp>
      <p:pic>
        <p:nvPicPr>
          <p:cNvPr id="33" name="Image 5" descr="Crosshairs"/>
          <p:cNvPicPr>
            <a:picLocks noChangeAspect="1"/>
          </p:cNvPicPr>
          <p:nvPr/>
        </p:nvPicPr>
        <p:blipFill>
          <a:blip r:embed="rId8"/>
          <a:stretch>
            <a:fillRect/>
          </a:stretch>
        </p:blipFill>
        <p:spPr>
          <a:xfrm>
            <a:off x="8343900" y="3707892"/>
            <a:ext cx="228600" cy="228600"/>
          </a:xfrm>
          <a:prstGeom prst="rect">
            <a:avLst/>
          </a:prstGeom>
        </p:spPr>
      </p:pic>
      <p:sp>
        <p:nvSpPr>
          <p:cNvPr id="34" name="Text 26"/>
          <p:cNvSpPr txBox="1"/>
          <p:nvPr/>
        </p:nvSpPr>
        <p:spPr>
          <a:xfrm>
            <a:off x="8823960" y="361188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RMSD in place</a:t>
            </a:r>
            <a:endParaRPr lang="en-US" sz="1350" dirty="0"/>
          </a:p>
        </p:txBody>
      </p:sp>
      <p:sp>
        <p:nvSpPr>
          <p:cNvPr id="35" name="Text 27"/>
          <p:cNvSpPr txBox="1"/>
          <p:nvPr/>
        </p:nvSpPr>
        <p:spPr>
          <a:xfrm>
            <a:off x="8229600" y="417880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RMSD native dihitung tanpa superposisi ulang (CalcRMS) dari pose terbaik lintas replikat. Ambang: &lt; 2,0 Å baik, 2,0 sampai 3,0 Å cukup, ≥ 3,0 Å buruk.</a:t>
            </a:r>
            <a:endParaRPr lang="en-US" sz="1200" dirty="0"/>
          </a:p>
        </p:txBody>
      </p:sp>
      <p:sp>
        <p:nvSpPr>
          <p:cNvPr id="36" name="Shape 28"/>
          <p:cNvSpPr/>
          <p:nvPr/>
        </p:nvSpPr>
        <p:spPr>
          <a:xfrm>
            <a:off x="548640" y="5440680"/>
            <a:ext cx="11091672" cy="777240"/>
          </a:xfrm>
          <a:prstGeom prst="roundRect">
            <a:avLst>
              <a:gd name="adj" fmla="val 11765"/>
            </a:avLst>
          </a:prstGeom>
          <a:solidFill>
            <a:srgbClr val="DDF3EB"/>
          </a:solidFill>
          <a:ln w="15875">
            <a:solidFill>
              <a:srgbClr val="009E73"/>
            </a:solidFill>
            <a:prstDash val="solid"/>
          </a:ln>
        </p:spPr>
        <p:txBody>
          <a:bodyPr/>
          <a:lstStyle/>
          <a:p>
            <a:endParaRPr/>
          </a:p>
        </p:txBody>
      </p:sp>
      <p:sp>
        <p:nvSpPr>
          <p:cNvPr id="37" name="Text 29"/>
          <p:cNvSpPr txBox="1"/>
          <p:nvPr/>
        </p:nvSpPr>
        <p:spPr>
          <a:xfrm>
            <a:off x="713232" y="5532120"/>
            <a:ext cx="10762488" cy="594360"/>
          </a:xfrm>
          <a:prstGeom prst="rect">
            <a:avLst/>
          </a:prstGeom>
          <a:noFill/>
          <a:ln/>
        </p:spPr>
        <p:txBody>
          <a:bodyPr wrap="square" lIns="0" tIns="0" rIns="0" bIns="0" rtlCol="0" anchor="t"/>
          <a:lstStyle/>
          <a:p>
            <a:pPr marL="0" indent="0">
              <a:spcAft>
                <a:spcPts val="300"/>
              </a:spcAft>
              <a:buNone/>
            </a:pPr>
            <a:r>
              <a:rPr lang="en-US" sz="1250" b="1" dirty="0">
                <a:solidFill>
                  <a:srgbClr val="1B2140"/>
                </a:solidFill>
                <a:latin typeface="Calibri" pitchFamily="34" charset="0"/>
                <a:ea typeface="Calibri" pitchFamily="34" charset="-122"/>
                <a:cs typeface="Calibri" pitchFamily="34" charset="-120"/>
              </a:rPr>
              <a:t>Cara membaca</a:t>
            </a:r>
            <a:endParaRPr lang="en-US" sz="1250" dirty="0"/>
          </a:p>
          <a:p>
            <a:pPr marL="0" indent="0">
              <a:spcAft>
                <a:spcPts val="300"/>
              </a:spcAft>
              <a:buNone/>
            </a:pPr>
            <a:r>
              <a:rPr lang="en-US" sz="1200" dirty="0">
                <a:solidFill>
                  <a:srgbClr val="1B2140"/>
                </a:solidFill>
                <a:latin typeface="Calibri" pitchFamily="34" charset="0"/>
                <a:ea typeface="Calibri" pitchFamily="34" charset="-122"/>
                <a:cs typeface="Calibri" pitchFamily="34" charset="-120"/>
              </a:rPr>
              <a:t>Grup Native adalah pembanding: garis putus-putus pada plot ΔG dan kolom Native (ref) pada heatmap menunjukkan skor ligan kristal pada reseptor yang sama.</a:t>
            </a:r>
            <a:endParaRPr lang="en-US" sz="1250" dirty="0"/>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310896"/>
            <a:ext cx="941832"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APPENDIX</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Interaksi otomatis dari BIOVIA untuk similaritas</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A9</a:t>
            </a:r>
            <a:endParaRPr lang="en-US" sz="1000" dirty="0"/>
          </a:p>
        </p:txBody>
      </p:sp>
      <p:sp>
        <p:nvSpPr>
          <p:cNvPr id="6" name="Shape 4"/>
          <p:cNvSpPr/>
          <p:nvPr/>
        </p:nvSpPr>
        <p:spPr>
          <a:xfrm>
            <a:off x="548640" y="146304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7" name="Shape 5"/>
          <p:cNvSpPr/>
          <p:nvPr/>
        </p:nvSpPr>
        <p:spPr>
          <a:xfrm>
            <a:off x="731520" y="1627632"/>
            <a:ext cx="457200" cy="457200"/>
          </a:xfrm>
          <a:prstGeom prst="ellipse">
            <a:avLst/>
          </a:prstGeom>
          <a:solidFill>
            <a:srgbClr val="3C71E8"/>
          </a:solidFill>
          <a:ln w="12700">
            <a:solidFill>
              <a:srgbClr val="3C71E8"/>
            </a:solidFill>
            <a:prstDash val="solid"/>
          </a:ln>
        </p:spPr>
        <p:txBody>
          <a:bodyPr/>
          <a:lstStyle/>
          <a:p>
            <a:endParaRPr/>
          </a:p>
        </p:txBody>
      </p:sp>
      <p:pic>
        <p:nvPicPr>
          <p:cNvPr id="8" name="Image 0" descr="SyncAlt"/>
          <p:cNvPicPr>
            <a:picLocks noChangeAspect="1"/>
          </p:cNvPicPr>
          <p:nvPr/>
        </p:nvPicPr>
        <p:blipFill>
          <a:blip r:embed="rId2"/>
          <a:stretch>
            <a:fillRect/>
          </a:stretch>
        </p:blipFill>
        <p:spPr>
          <a:xfrm>
            <a:off x="845820" y="1741932"/>
            <a:ext cx="228600" cy="228600"/>
          </a:xfrm>
          <a:prstGeom prst="rect">
            <a:avLst/>
          </a:prstGeom>
        </p:spPr>
      </p:pic>
      <p:sp>
        <p:nvSpPr>
          <p:cNvPr id="9" name="Text 6"/>
          <p:cNvSpPr txBox="1"/>
          <p:nvPr/>
        </p:nvSpPr>
        <p:spPr>
          <a:xfrm>
            <a:off x="1325880" y="164592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Sekali jalan</a:t>
            </a:r>
            <a:endParaRPr lang="en-US" sz="1350" dirty="0"/>
          </a:p>
        </p:txBody>
      </p:sp>
      <p:sp>
        <p:nvSpPr>
          <p:cNvPr id="10" name="Text 7"/>
          <p:cNvSpPr txBox="1"/>
          <p:nvPr/>
        </p:nvSpPr>
        <p:spPr>
          <a:xfrm>
            <a:off x="731520" y="221284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chemflow run menyambung dari docking ke ekspor interaksi lalu similaritas, otomatis bila BIOVIA terdeteksi. chemflow interactions dan chemflow similarity tetap bisa dipakai terpisah.</a:t>
            </a:r>
            <a:endParaRPr lang="en-US" sz="1200" dirty="0"/>
          </a:p>
        </p:txBody>
      </p:sp>
      <p:sp>
        <p:nvSpPr>
          <p:cNvPr id="11" name="Shape 8"/>
          <p:cNvSpPr/>
          <p:nvPr/>
        </p:nvSpPr>
        <p:spPr>
          <a:xfrm>
            <a:off x="4297680" y="146304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12" name="Shape 9"/>
          <p:cNvSpPr/>
          <p:nvPr/>
        </p:nvSpPr>
        <p:spPr>
          <a:xfrm>
            <a:off x="4480560" y="1627632"/>
            <a:ext cx="457200" cy="457200"/>
          </a:xfrm>
          <a:prstGeom prst="ellipse">
            <a:avLst/>
          </a:prstGeom>
          <a:solidFill>
            <a:srgbClr val="8E70EB"/>
          </a:solidFill>
          <a:ln w="12700">
            <a:solidFill>
              <a:srgbClr val="8E70EB"/>
            </a:solidFill>
            <a:prstDash val="solid"/>
          </a:ln>
        </p:spPr>
        <p:txBody>
          <a:bodyPr/>
          <a:lstStyle/>
          <a:p>
            <a:endParaRPr/>
          </a:p>
        </p:txBody>
      </p:sp>
      <p:pic>
        <p:nvPicPr>
          <p:cNvPr id="13" name="Image 1" descr="Cogs"/>
          <p:cNvPicPr>
            <a:picLocks noChangeAspect="1"/>
          </p:cNvPicPr>
          <p:nvPr/>
        </p:nvPicPr>
        <p:blipFill>
          <a:blip r:embed="rId3"/>
          <a:stretch>
            <a:fillRect/>
          </a:stretch>
        </p:blipFill>
        <p:spPr>
          <a:xfrm>
            <a:off x="4594860" y="1741932"/>
            <a:ext cx="228600" cy="228600"/>
          </a:xfrm>
          <a:prstGeom prst="rect">
            <a:avLst/>
          </a:prstGeom>
        </p:spPr>
      </p:pic>
      <p:sp>
        <p:nvSpPr>
          <p:cNvPr id="14" name="Text 10"/>
          <p:cNvSpPr txBox="1"/>
          <p:nvPr/>
        </p:nvSpPr>
        <p:spPr>
          <a:xfrm>
            <a:off x="5074920" y="164592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Deteksi instalasi</a:t>
            </a:r>
            <a:endParaRPr lang="en-US" sz="1350" dirty="0"/>
          </a:p>
        </p:txBody>
      </p:sp>
      <p:sp>
        <p:nvSpPr>
          <p:cNvPr id="15" name="Text 11"/>
          <p:cNvSpPr txBox="1"/>
          <p:nvPr/>
        </p:nvSpPr>
        <p:spPr>
          <a:xfrm>
            <a:off x="4480560" y="221284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DiscoveryStudio&lt;tahun&gt;.exe dicari di registry App Paths dan Program Files. Tahun terbaru dipilih, folder tanpa bin diabaikan, --biovia-exe menimpa.</a:t>
            </a:r>
            <a:endParaRPr lang="en-US" sz="1200" dirty="0"/>
          </a:p>
        </p:txBody>
      </p:sp>
      <p:sp>
        <p:nvSpPr>
          <p:cNvPr id="16" name="Shape 12"/>
          <p:cNvSpPr/>
          <p:nvPr/>
        </p:nvSpPr>
        <p:spPr>
          <a:xfrm>
            <a:off x="8046720" y="146304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17" name="Shape 13"/>
          <p:cNvSpPr/>
          <p:nvPr/>
        </p:nvSpPr>
        <p:spPr>
          <a:xfrm>
            <a:off x="8229600" y="1627632"/>
            <a:ext cx="457200" cy="457200"/>
          </a:xfrm>
          <a:prstGeom prst="ellipse">
            <a:avLst/>
          </a:prstGeom>
          <a:solidFill>
            <a:srgbClr val="3C71E8"/>
          </a:solidFill>
          <a:ln w="12700">
            <a:solidFill>
              <a:srgbClr val="3C71E8"/>
            </a:solidFill>
            <a:prstDash val="solid"/>
          </a:ln>
        </p:spPr>
        <p:txBody>
          <a:bodyPr/>
          <a:lstStyle/>
          <a:p>
            <a:endParaRPr/>
          </a:p>
        </p:txBody>
      </p:sp>
      <p:pic>
        <p:nvPicPr>
          <p:cNvPr id="18" name="Image 2" descr="ShieldAlt"/>
          <p:cNvPicPr>
            <a:picLocks noChangeAspect="1"/>
          </p:cNvPicPr>
          <p:nvPr/>
        </p:nvPicPr>
        <p:blipFill>
          <a:blip r:embed="rId4"/>
          <a:stretch>
            <a:fillRect/>
          </a:stretch>
        </p:blipFill>
        <p:spPr>
          <a:xfrm>
            <a:off x="8343900" y="1741932"/>
            <a:ext cx="228600" cy="228600"/>
          </a:xfrm>
          <a:prstGeom prst="rect">
            <a:avLst/>
          </a:prstGeom>
        </p:spPr>
      </p:pic>
      <p:sp>
        <p:nvSpPr>
          <p:cNvPr id="19" name="Text 14"/>
          <p:cNvSpPr txBox="1"/>
          <p:nvPr/>
        </p:nvSpPr>
        <p:spPr>
          <a:xfrm>
            <a:off x="8823960" y="164592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Galat lisensi teratasi</a:t>
            </a:r>
            <a:endParaRPr lang="en-US" sz="1350" dirty="0"/>
          </a:p>
        </p:txBody>
      </p:sp>
      <p:sp>
        <p:nvSpPr>
          <p:cNvPr id="20" name="Text 15"/>
          <p:cNvSpPr txBox="1"/>
          <p:nvPr/>
        </p:nvSpPr>
        <p:spPr>
          <a:xfrm>
            <a:off x="8229600" y="221284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Popen tidak membawa PATH dari registry App Paths yang dibutuhkan modul lisensi BIOVIA. chemflow menambahkannya, jadi BIOVIA terbuka tanpa galat lisensi.</a:t>
            </a:r>
            <a:endParaRPr lang="en-US" sz="1200" dirty="0"/>
          </a:p>
        </p:txBody>
      </p:sp>
      <p:sp>
        <p:nvSpPr>
          <p:cNvPr id="21" name="Shape 16"/>
          <p:cNvSpPr/>
          <p:nvPr/>
        </p:nvSpPr>
        <p:spPr>
          <a:xfrm>
            <a:off x="548640" y="342900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22" name="Shape 17"/>
          <p:cNvSpPr/>
          <p:nvPr/>
        </p:nvSpPr>
        <p:spPr>
          <a:xfrm>
            <a:off x="731520" y="3593592"/>
            <a:ext cx="457200" cy="457200"/>
          </a:xfrm>
          <a:prstGeom prst="ellipse">
            <a:avLst/>
          </a:prstGeom>
          <a:solidFill>
            <a:srgbClr val="8E70EB"/>
          </a:solidFill>
          <a:ln w="12700">
            <a:solidFill>
              <a:srgbClr val="8E70EB"/>
            </a:solidFill>
            <a:prstDash val="solid"/>
          </a:ln>
        </p:spPr>
        <p:txBody>
          <a:bodyPr/>
          <a:lstStyle/>
          <a:p>
            <a:endParaRPr/>
          </a:p>
        </p:txBody>
      </p:sp>
      <p:pic>
        <p:nvPicPr>
          <p:cNvPr id="23" name="Image 3" descr="Table"/>
          <p:cNvPicPr>
            <a:picLocks noChangeAspect="1"/>
          </p:cNvPicPr>
          <p:nvPr/>
        </p:nvPicPr>
        <p:blipFill>
          <a:blip r:embed="rId5"/>
          <a:stretch>
            <a:fillRect/>
          </a:stretch>
        </p:blipFill>
        <p:spPr>
          <a:xfrm>
            <a:off x="845820" y="3707892"/>
            <a:ext cx="228600" cy="228600"/>
          </a:xfrm>
          <a:prstGeom prst="rect">
            <a:avLst/>
          </a:prstGeom>
        </p:spPr>
      </p:pic>
      <p:sp>
        <p:nvSpPr>
          <p:cNvPr id="24" name="Text 18"/>
          <p:cNvSpPr txBox="1"/>
          <p:nvPr/>
        </p:nvSpPr>
        <p:spPr>
          <a:xfrm>
            <a:off x="1325880" y="361188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Kendali lewat pohon UI</a:t>
            </a:r>
            <a:endParaRPr lang="en-US" sz="1350" dirty="0"/>
          </a:p>
        </p:txBody>
      </p:sp>
      <p:sp>
        <p:nvSpPr>
          <p:cNvPr id="25" name="Text 19"/>
          <p:cNvSpPr txBox="1"/>
          <p:nvPr/>
        </p:nvSpPr>
        <p:spPr>
          <a:xfrm>
            <a:off x="731520" y="417880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Tombol, tab, dan tabel dicari lewat nama dan kelas kontrol, bukan koordinat layar. Fokus jendela diperiksa sebelum tiap input dikirim; input Anda dikunci.</a:t>
            </a:r>
            <a:endParaRPr lang="en-US" sz="1200" dirty="0"/>
          </a:p>
        </p:txBody>
      </p:sp>
      <p:sp>
        <p:nvSpPr>
          <p:cNvPr id="26" name="Shape 20"/>
          <p:cNvSpPr/>
          <p:nvPr/>
        </p:nvSpPr>
        <p:spPr>
          <a:xfrm>
            <a:off x="4297680" y="342900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27" name="Shape 21"/>
          <p:cNvSpPr/>
          <p:nvPr/>
        </p:nvSpPr>
        <p:spPr>
          <a:xfrm>
            <a:off x="4480560" y="3593592"/>
            <a:ext cx="457200" cy="457200"/>
          </a:xfrm>
          <a:prstGeom prst="ellipse">
            <a:avLst/>
          </a:prstGeom>
          <a:solidFill>
            <a:srgbClr val="3C71E8"/>
          </a:solidFill>
          <a:ln w="12700">
            <a:solidFill>
              <a:srgbClr val="3C71E8"/>
            </a:solidFill>
            <a:prstDash val="solid"/>
          </a:ln>
        </p:spPr>
        <p:txBody>
          <a:bodyPr/>
          <a:lstStyle/>
          <a:p>
            <a:endParaRPr/>
          </a:p>
        </p:txBody>
      </p:sp>
      <p:pic>
        <p:nvPicPr>
          <p:cNvPr id="28" name="Image 4" descr="FileCode"/>
          <p:cNvPicPr>
            <a:picLocks noChangeAspect="1"/>
          </p:cNvPicPr>
          <p:nvPr/>
        </p:nvPicPr>
        <p:blipFill>
          <a:blip r:embed="rId6"/>
          <a:stretch>
            <a:fillRect/>
          </a:stretch>
        </p:blipFill>
        <p:spPr>
          <a:xfrm>
            <a:off x="4594860" y="3707892"/>
            <a:ext cx="228600" cy="228600"/>
          </a:xfrm>
          <a:prstGeom prst="rect">
            <a:avLst/>
          </a:prstGeom>
        </p:spPr>
      </p:pic>
      <p:sp>
        <p:nvSpPr>
          <p:cNvPr id="29" name="Text 22"/>
          <p:cNvSpPr txBox="1"/>
          <p:nvPr/>
        </p:nvSpPr>
        <p:spPr>
          <a:xfrm>
            <a:off x="5074920" y="361188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Keluaran</a:t>
            </a:r>
            <a:endParaRPr lang="en-US" sz="1350" dirty="0"/>
          </a:p>
        </p:txBody>
      </p:sp>
      <p:sp>
        <p:nvSpPr>
          <p:cNvPr id="30" name="Text 23"/>
          <p:cNvSpPr txBox="1"/>
          <p:nvPr/>
        </p:nvSpPr>
        <p:spPr>
          <a:xfrm>
            <a:off x="4480560" y="417880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interaksi/&lt;kunci&gt;/&lt;basis&gt;_interaksi.png dan .xlsx (tabel Non-bond). Kompleks yang sudah lengkap dilewati, jadi ekspor yang terhenti bisa dilanjutkan.</a:t>
            </a:r>
            <a:endParaRPr lang="en-US" sz="1200" dirty="0"/>
          </a:p>
        </p:txBody>
      </p:sp>
      <p:sp>
        <p:nvSpPr>
          <p:cNvPr id="31" name="Shape 24"/>
          <p:cNvSpPr/>
          <p:nvPr/>
        </p:nvSpPr>
        <p:spPr>
          <a:xfrm>
            <a:off x="8046720" y="342900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32" name="Shape 25"/>
          <p:cNvSpPr/>
          <p:nvPr/>
        </p:nvSpPr>
        <p:spPr>
          <a:xfrm>
            <a:off x="8229600" y="3593592"/>
            <a:ext cx="457200" cy="457200"/>
          </a:xfrm>
          <a:prstGeom prst="ellipse">
            <a:avLst/>
          </a:prstGeom>
          <a:solidFill>
            <a:srgbClr val="8E70EB"/>
          </a:solidFill>
          <a:ln w="12700">
            <a:solidFill>
              <a:srgbClr val="8E70EB"/>
            </a:solidFill>
            <a:prstDash val="solid"/>
          </a:ln>
        </p:spPr>
        <p:txBody>
          <a:bodyPr/>
          <a:lstStyle/>
          <a:p>
            <a:endParaRPr/>
          </a:p>
        </p:txBody>
      </p:sp>
      <p:pic>
        <p:nvPicPr>
          <p:cNvPr id="33" name="Image 5" descr="ExclamationTriangle"/>
          <p:cNvPicPr>
            <a:picLocks noChangeAspect="1"/>
          </p:cNvPicPr>
          <p:nvPr/>
        </p:nvPicPr>
        <p:blipFill>
          <a:blip r:embed="rId7"/>
          <a:stretch>
            <a:fillRect/>
          </a:stretch>
        </p:blipFill>
        <p:spPr>
          <a:xfrm>
            <a:off x="8343900" y="3707892"/>
            <a:ext cx="228600" cy="228600"/>
          </a:xfrm>
          <a:prstGeom prst="rect">
            <a:avLst/>
          </a:prstGeom>
        </p:spPr>
      </p:pic>
      <p:sp>
        <p:nvSpPr>
          <p:cNvPr id="34" name="Text 26"/>
          <p:cNvSpPr txBox="1"/>
          <p:nvPr/>
        </p:nvSpPr>
        <p:spPr>
          <a:xfrm>
            <a:off x="8823960" y="361188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Batasan</a:t>
            </a:r>
            <a:endParaRPr lang="en-US" sz="1350" dirty="0"/>
          </a:p>
        </p:txBody>
      </p:sp>
      <p:sp>
        <p:nvSpPr>
          <p:cNvPr id="35" name="Text 27"/>
          <p:cNvSpPr txBox="1"/>
          <p:nvPr/>
        </p:nvSpPr>
        <p:spPr>
          <a:xfrm>
            <a:off x="8229600" y="417880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Hanya Windows. Mouse dan keyboard dikunci selama ekspor (sekitar 20 detik per kompleks); Esc tiga kali membatalkan. Diuji pada Discovery Studio 2021.</a:t>
            </a:r>
            <a:endParaRPr lang="en-US" sz="1200" dirty="0"/>
          </a:p>
        </p:txBody>
      </p:sp>
      <p:sp>
        <p:nvSpPr>
          <p:cNvPr id="36" name="Shape 28"/>
          <p:cNvSpPr/>
          <p:nvPr/>
        </p:nvSpPr>
        <p:spPr>
          <a:xfrm>
            <a:off x="548640" y="5440680"/>
            <a:ext cx="11091672" cy="777240"/>
          </a:xfrm>
          <a:prstGeom prst="roundRect">
            <a:avLst>
              <a:gd name="adj" fmla="val 11765"/>
            </a:avLst>
          </a:prstGeom>
          <a:solidFill>
            <a:srgbClr val="DDF3EB"/>
          </a:solidFill>
          <a:ln w="15875">
            <a:solidFill>
              <a:srgbClr val="009E73"/>
            </a:solidFill>
            <a:prstDash val="solid"/>
          </a:ln>
        </p:spPr>
        <p:txBody>
          <a:bodyPr/>
          <a:lstStyle/>
          <a:p>
            <a:endParaRPr/>
          </a:p>
        </p:txBody>
      </p:sp>
      <p:sp>
        <p:nvSpPr>
          <p:cNvPr id="37" name="Text 29"/>
          <p:cNvSpPr txBox="1"/>
          <p:nvPr/>
        </p:nvSpPr>
        <p:spPr>
          <a:xfrm>
            <a:off x="713232" y="5532120"/>
            <a:ext cx="10762488" cy="594360"/>
          </a:xfrm>
          <a:prstGeom prst="rect">
            <a:avLst/>
          </a:prstGeom>
          <a:noFill/>
          <a:ln/>
        </p:spPr>
        <p:txBody>
          <a:bodyPr wrap="square" lIns="0" tIns="0" rIns="0" bIns="0" rtlCol="0" anchor="t"/>
          <a:lstStyle/>
          <a:p>
            <a:pPr marL="0" indent="0">
              <a:spcAft>
                <a:spcPts val="300"/>
              </a:spcAft>
              <a:buNone/>
            </a:pPr>
            <a:r>
              <a:rPr lang="en-US" sz="1250" b="1" dirty="0">
                <a:solidFill>
                  <a:srgbClr val="1B2140"/>
                </a:solidFill>
                <a:latin typeface="Calibri" pitchFamily="34" charset="0"/>
                <a:ea typeface="Calibri" pitchFamily="34" charset="-122"/>
                <a:cs typeface="Calibri" pitchFamily="34" charset="-120"/>
              </a:rPr>
              <a:t>Perintah</a:t>
            </a:r>
            <a:endParaRPr lang="en-US" sz="1250" dirty="0"/>
          </a:p>
          <a:p>
            <a:pPr marL="0" indent="0">
              <a:spcAft>
                <a:spcPts val="300"/>
              </a:spcAft>
              <a:buNone/>
            </a:pPr>
            <a:r>
              <a:rPr lang="en-US" sz="1200" dirty="0">
                <a:solidFill>
                  <a:srgbClr val="1B2140"/>
                </a:solidFill>
                <a:latin typeface="Calibri" pitchFamily="34" charset="0"/>
                <a:ea typeface="Calibri" pitchFamily="34" charset="-122"/>
                <a:cs typeface="Calibri" pitchFamily="34" charset="-120"/>
              </a:rPr>
              <a:t>python -m chemflow run --ligands ligan.xlsx --receptors reseptor.xlsx --output hasil/</a:t>
            </a:r>
            <a:endParaRPr lang="en-US" sz="1250" dirty="0"/>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310896"/>
            <a:ext cx="941832"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APPENDIX</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Analisis GC-MS opsional (chemflow 2.0)</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A10</a:t>
            </a:r>
            <a:endParaRPr lang="en-US" sz="1000" dirty="0"/>
          </a:p>
        </p:txBody>
      </p:sp>
      <p:sp>
        <p:nvSpPr>
          <p:cNvPr id="6" name="Shape 4"/>
          <p:cNvSpPr/>
          <p:nvPr/>
        </p:nvSpPr>
        <p:spPr>
          <a:xfrm>
            <a:off x="548640" y="146304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7" name="Shape 5"/>
          <p:cNvSpPr/>
          <p:nvPr/>
        </p:nvSpPr>
        <p:spPr>
          <a:xfrm>
            <a:off x="731520" y="1627632"/>
            <a:ext cx="457200" cy="457200"/>
          </a:xfrm>
          <a:prstGeom prst="ellipse">
            <a:avLst/>
          </a:prstGeom>
          <a:solidFill>
            <a:srgbClr val="3C71E8"/>
          </a:solidFill>
          <a:ln w="12700">
            <a:solidFill>
              <a:srgbClr val="3C71E8"/>
            </a:solidFill>
            <a:prstDash val="solid"/>
          </a:ln>
        </p:spPr>
        <p:txBody>
          <a:bodyPr/>
          <a:lstStyle/>
          <a:p>
            <a:endParaRPr/>
          </a:p>
        </p:txBody>
      </p:sp>
      <p:pic>
        <p:nvPicPr>
          <p:cNvPr id="8" name="Image 0" descr="SyncAlt"/>
          <p:cNvPicPr>
            <a:picLocks noChangeAspect="1"/>
          </p:cNvPicPr>
          <p:nvPr/>
        </p:nvPicPr>
        <p:blipFill>
          <a:blip r:embed="rId2"/>
          <a:stretch>
            <a:fillRect/>
          </a:stretch>
        </p:blipFill>
        <p:spPr>
          <a:xfrm>
            <a:off x="845820" y="1741932"/>
            <a:ext cx="228600" cy="228600"/>
          </a:xfrm>
          <a:prstGeom prst="rect">
            <a:avLst/>
          </a:prstGeom>
        </p:spPr>
      </p:pic>
      <p:sp>
        <p:nvSpPr>
          <p:cNvPr id="9" name="Text 6"/>
          <p:cNvSpPr txBox="1"/>
          <p:nvPr/>
        </p:nvSpPr>
        <p:spPr>
          <a:xfrm>
            <a:off x="1325880" y="164592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Mandiri dan opsional</a:t>
            </a:r>
            <a:endParaRPr lang="en-US" sz="1350" dirty="0"/>
          </a:p>
        </p:txBody>
      </p:sp>
      <p:sp>
        <p:nvSpPr>
          <p:cNvPr id="10" name="Text 7"/>
          <p:cNvSpPr txBox="1"/>
          <p:nvPr/>
        </p:nvSpPr>
        <p:spPr>
          <a:xfrm>
            <a:off x="731520" y="221284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chemflow gcms --data ... --output ... berjalan tanpa docking dan bisa diulang pada folder yang sama. chemflow run --gcms menambahkannya sebagai tahap akhir; tanpa argumen GC-MS pipeline tidak berubah.</a:t>
            </a:r>
            <a:endParaRPr lang="en-US" sz="1200" dirty="0"/>
          </a:p>
        </p:txBody>
      </p:sp>
      <p:sp>
        <p:nvSpPr>
          <p:cNvPr id="11" name="Shape 8"/>
          <p:cNvSpPr/>
          <p:nvPr/>
        </p:nvSpPr>
        <p:spPr>
          <a:xfrm>
            <a:off x="4297680" y="146304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12" name="Shape 9"/>
          <p:cNvSpPr/>
          <p:nvPr/>
        </p:nvSpPr>
        <p:spPr>
          <a:xfrm>
            <a:off x="4480560" y="1627632"/>
            <a:ext cx="457200" cy="457200"/>
          </a:xfrm>
          <a:prstGeom prst="ellipse">
            <a:avLst/>
          </a:prstGeom>
          <a:solidFill>
            <a:srgbClr val="8E70EB"/>
          </a:solidFill>
          <a:ln w="12700">
            <a:solidFill>
              <a:srgbClr val="8E70EB"/>
            </a:solidFill>
            <a:prstDash val="solid"/>
          </a:ln>
        </p:spPr>
        <p:txBody>
          <a:bodyPr/>
          <a:lstStyle/>
          <a:p>
            <a:endParaRPr/>
          </a:p>
        </p:txBody>
      </p:sp>
      <p:pic>
        <p:nvPicPr>
          <p:cNvPr id="13" name="Image 1" descr="FileCode"/>
          <p:cNvPicPr>
            <a:picLocks noChangeAspect="1"/>
          </p:cNvPicPr>
          <p:nvPr/>
        </p:nvPicPr>
        <p:blipFill>
          <a:blip r:embed="rId3"/>
          <a:stretch>
            <a:fillRect/>
          </a:stretch>
        </p:blipFill>
        <p:spPr>
          <a:xfrm>
            <a:off x="4594860" y="1741932"/>
            <a:ext cx="228600" cy="228600"/>
          </a:xfrm>
          <a:prstGeom prst="rect">
            <a:avLst/>
          </a:prstGeom>
        </p:spPr>
      </p:pic>
      <p:sp>
        <p:nvSpPr>
          <p:cNvPr id="14" name="Text 10"/>
          <p:cNvSpPr txBox="1"/>
          <p:nvPr/>
        </p:nvSpPr>
        <p:spPr>
          <a:xfrm>
            <a:off x="5074920" y="164592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Banyak format</a:t>
            </a:r>
            <a:endParaRPr lang="en-US" sz="1350" dirty="0"/>
          </a:p>
        </p:txBody>
      </p:sp>
      <p:sp>
        <p:nvSpPr>
          <p:cNvPr id="15" name="Text 11"/>
          <p:cNvSpPr txBox="1"/>
          <p:nvPr/>
        </p:nvSpPr>
        <p:spPr>
          <a:xfrm>
            <a:off x="4480560" y="221284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Ekspor Shimadzu (xls, xlsx, txt), CSV/TSV, ANDI-MS .cdf, mzML, mzXML: kromatogram, tabel puncak, atau matriks fitur. Satuan RT, termasuk menit terkali 1000, dikoreksi otomatis.</a:t>
            </a:r>
            <a:endParaRPr lang="en-US" sz="1200" dirty="0"/>
          </a:p>
        </p:txBody>
      </p:sp>
      <p:sp>
        <p:nvSpPr>
          <p:cNvPr id="16" name="Shape 12"/>
          <p:cNvSpPr/>
          <p:nvPr/>
        </p:nvSpPr>
        <p:spPr>
          <a:xfrm>
            <a:off x="8046720" y="146304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17" name="Shape 13"/>
          <p:cNvSpPr/>
          <p:nvPr/>
        </p:nvSpPr>
        <p:spPr>
          <a:xfrm>
            <a:off x="8229600" y="1627632"/>
            <a:ext cx="457200" cy="457200"/>
          </a:xfrm>
          <a:prstGeom prst="ellipse">
            <a:avLst/>
          </a:prstGeom>
          <a:solidFill>
            <a:srgbClr val="3C71E8"/>
          </a:solidFill>
          <a:ln w="12700">
            <a:solidFill>
              <a:srgbClr val="3C71E8"/>
            </a:solidFill>
            <a:prstDash val="solid"/>
          </a:ln>
        </p:spPr>
        <p:txBody>
          <a:bodyPr/>
          <a:lstStyle/>
          <a:p>
            <a:endParaRPr/>
          </a:p>
        </p:txBody>
      </p:sp>
      <p:pic>
        <p:nvPicPr>
          <p:cNvPr id="18" name="Image 2" descr="Cogs"/>
          <p:cNvPicPr>
            <a:picLocks noChangeAspect="1"/>
          </p:cNvPicPr>
          <p:nvPr/>
        </p:nvPicPr>
        <p:blipFill>
          <a:blip r:embed="rId4"/>
          <a:stretch>
            <a:fillRect/>
          </a:stretch>
        </p:blipFill>
        <p:spPr>
          <a:xfrm>
            <a:off x="8343900" y="1741932"/>
            <a:ext cx="228600" cy="228600"/>
          </a:xfrm>
          <a:prstGeom prst="rect">
            <a:avLst/>
          </a:prstGeom>
        </p:spPr>
      </p:pic>
      <p:sp>
        <p:nvSpPr>
          <p:cNvPr id="19" name="Text 14"/>
          <p:cNvSpPr txBox="1"/>
          <p:nvPr/>
        </p:nvSpPr>
        <p:spPr>
          <a:xfrm>
            <a:off x="8823960" y="164592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Pemrosesan sinyal</a:t>
            </a:r>
            <a:endParaRPr lang="en-US" sz="1350" dirty="0"/>
          </a:p>
        </p:txBody>
      </p:sp>
      <p:sp>
        <p:nvSpPr>
          <p:cNvPr id="20" name="Text 15"/>
          <p:cNvSpPr txBox="1"/>
          <p:nvPr/>
        </p:nvSpPr>
        <p:spPr>
          <a:xfrm>
            <a:off x="8229600" y="221284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Baseline ALS, Savitzky-Golay, penyelarasan RT lewat korelasi silang, deteksi puncak berbasis S/N, pengelompokan puncak antar sampel, dan sidik jari per bin waktu.</a:t>
            </a:r>
            <a:endParaRPr lang="en-US" sz="1200" dirty="0"/>
          </a:p>
        </p:txBody>
      </p:sp>
      <p:sp>
        <p:nvSpPr>
          <p:cNvPr id="21" name="Shape 16"/>
          <p:cNvSpPr/>
          <p:nvPr/>
        </p:nvSpPr>
        <p:spPr>
          <a:xfrm>
            <a:off x="548640" y="342900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22" name="Shape 17"/>
          <p:cNvSpPr/>
          <p:nvPr/>
        </p:nvSpPr>
        <p:spPr>
          <a:xfrm>
            <a:off x="731520" y="3593592"/>
            <a:ext cx="457200" cy="457200"/>
          </a:xfrm>
          <a:prstGeom prst="ellipse">
            <a:avLst/>
          </a:prstGeom>
          <a:solidFill>
            <a:srgbClr val="8E70EB"/>
          </a:solidFill>
          <a:ln w="12700">
            <a:solidFill>
              <a:srgbClr val="8E70EB"/>
            </a:solidFill>
            <a:prstDash val="solid"/>
          </a:ln>
        </p:spPr>
        <p:txBody>
          <a:bodyPr/>
          <a:lstStyle/>
          <a:p>
            <a:endParaRPr/>
          </a:p>
        </p:txBody>
      </p:sp>
      <p:pic>
        <p:nvPicPr>
          <p:cNvPr id="23" name="Image 3" descr="Table"/>
          <p:cNvPicPr>
            <a:picLocks noChangeAspect="1"/>
          </p:cNvPicPr>
          <p:nvPr/>
        </p:nvPicPr>
        <p:blipFill>
          <a:blip r:embed="rId5"/>
          <a:stretch>
            <a:fillRect/>
          </a:stretch>
        </p:blipFill>
        <p:spPr>
          <a:xfrm>
            <a:off x="845820" y="3707892"/>
            <a:ext cx="228600" cy="228600"/>
          </a:xfrm>
          <a:prstGeom prst="rect">
            <a:avLst/>
          </a:prstGeom>
        </p:spPr>
      </p:pic>
      <p:sp>
        <p:nvSpPr>
          <p:cNvPr id="24" name="Text 18"/>
          <p:cNvSpPr txBox="1"/>
          <p:nvPr/>
        </p:nvSpPr>
        <p:spPr>
          <a:xfrm>
            <a:off x="1325880" y="361188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Kemometrik dan statistik</a:t>
            </a:r>
            <a:endParaRPr lang="en-US" sz="1350" dirty="0"/>
          </a:p>
        </p:txBody>
      </p:sp>
      <p:sp>
        <p:nvSpPr>
          <p:cNvPr id="25" name="Text 19"/>
          <p:cNvSpPr txBox="1"/>
          <p:nvPr/>
        </p:nvSpPr>
        <p:spPr>
          <a:xfrm>
            <a:off x="731520" y="417880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PCA gaya jurnal, HCA, kemiripan, uji univariat dengan koreksi FDR, PLS-DA dan LDA dengan validasi silang, uji permutasi, skor VIP, dan pencilan T2.</a:t>
            </a:r>
            <a:endParaRPr lang="en-US" sz="1200" dirty="0"/>
          </a:p>
        </p:txBody>
      </p:sp>
      <p:sp>
        <p:nvSpPr>
          <p:cNvPr id="26" name="Shape 20"/>
          <p:cNvSpPr/>
          <p:nvPr/>
        </p:nvSpPr>
        <p:spPr>
          <a:xfrm>
            <a:off x="4297680" y="342900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27" name="Shape 21"/>
          <p:cNvSpPr/>
          <p:nvPr/>
        </p:nvSpPr>
        <p:spPr>
          <a:xfrm>
            <a:off x="4480560" y="3593592"/>
            <a:ext cx="457200" cy="457200"/>
          </a:xfrm>
          <a:prstGeom prst="ellipse">
            <a:avLst/>
          </a:prstGeom>
          <a:solidFill>
            <a:srgbClr val="3C71E8"/>
          </a:solidFill>
          <a:ln w="12700">
            <a:solidFill>
              <a:srgbClr val="3C71E8"/>
            </a:solidFill>
            <a:prstDash val="solid"/>
          </a:ln>
        </p:spPr>
        <p:txBody>
          <a:bodyPr/>
          <a:lstStyle/>
          <a:p>
            <a:endParaRPr/>
          </a:p>
        </p:txBody>
      </p:sp>
      <p:pic>
        <p:nvPicPr>
          <p:cNvPr id="28" name="Image 4" descr="ShieldAlt"/>
          <p:cNvPicPr>
            <a:picLocks noChangeAspect="1"/>
          </p:cNvPicPr>
          <p:nvPr/>
        </p:nvPicPr>
        <p:blipFill>
          <a:blip r:embed="rId6"/>
          <a:stretch>
            <a:fillRect/>
          </a:stretch>
        </p:blipFill>
        <p:spPr>
          <a:xfrm>
            <a:off x="4594860" y="3707892"/>
            <a:ext cx="228600" cy="228600"/>
          </a:xfrm>
          <a:prstGeom prst="rect">
            <a:avLst/>
          </a:prstGeom>
        </p:spPr>
      </p:pic>
      <p:sp>
        <p:nvSpPr>
          <p:cNvPr id="29" name="Text 22"/>
          <p:cNvSpPr txBox="1"/>
          <p:nvPr/>
        </p:nvSpPr>
        <p:spPr>
          <a:xfrm>
            <a:off x="5074920" y="361188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Identifikasi dan alergen</a:t>
            </a:r>
            <a:endParaRPr lang="en-US" sz="1350" dirty="0"/>
          </a:p>
        </p:txBody>
      </p:sp>
      <p:sp>
        <p:nvSpPr>
          <p:cNvPr id="30" name="Text 23"/>
          <p:cNvSpPr txBox="1"/>
          <p:nvPr/>
        </p:nvSpPr>
        <p:spPr>
          <a:xfrm>
            <a:off x="4480560" y="417880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Nama dari laporan instrumen, pustaka RT atau RI, dan indeks Kovats. Skrining 24 alergen wewangian UE; senyawa bernama bersmiles jadi daftar ligan untuk docking.</a:t>
            </a:r>
            <a:endParaRPr lang="en-US" sz="1200" dirty="0"/>
          </a:p>
        </p:txBody>
      </p:sp>
      <p:sp>
        <p:nvSpPr>
          <p:cNvPr id="31" name="Shape 24"/>
          <p:cNvSpPr/>
          <p:nvPr/>
        </p:nvSpPr>
        <p:spPr>
          <a:xfrm>
            <a:off x="8046720" y="3429000"/>
            <a:ext cx="3611880" cy="1828800"/>
          </a:xfrm>
          <a:prstGeom prst="roundRect">
            <a:avLst>
              <a:gd name="adj" fmla="val 6000"/>
            </a:avLst>
          </a:prstGeom>
          <a:solidFill>
            <a:srgbClr val="E8EDFC"/>
          </a:solidFill>
          <a:ln w="9525">
            <a:solidFill>
              <a:srgbClr val="E8EDFC"/>
            </a:solidFill>
            <a:prstDash val="solid"/>
          </a:ln>
        </p:spPr>
        <p:txBody>
          <a:bodyPr/>
          <a:lstStyle/>
          <a:p>
            <a:endParaRPr/>
          </a:p>
        </p:txBody>
      </p:sp>
      <p:sp>
        <p:nvSpPr>
          <p:cNvPr id="32" name="Shape 25"/>
          <p:cNvSpPr/>
          <p:nvPr/>
        </p:nvSpPr>
        <p:spPr>
          <a:xfrm>
            <a:off x="8229600" y="3593592"/>
            <a:ext cx="457200" cy="457200"/>
          </a:xfrm>
          <a:prstGeom prst="ellipse">
            <a:avLst/>
          </a:prstGeom>
          <a:solidFill>
            <a:srgbClr val="8E70EB"/>
          </a:solidFill>
          <a:ln w="12700">
            <a:solidFill>
              <a:srgbClr val="8E70EB"/>
            </a:solidFill>
            <a:prstDash val="solid"/>
          </a:ln>
        </p:spPr>
        <p:txBody>
          <a:bodyPr/>
          <a:lstStyle/>
          <a:p>
            <a:endParaRPr/>
          </a:p>
        </p:txBody>
      </p:sp>
      <p:pic>
        <p:nvPicPr>
          <p:cNvPr id="33" name="Image 5" descr="ExclamationTriangle"/>
          <p:cNvPicPr>
            <a:picLocks noChangeAspect="1"/>
          </p:cNvPicPr>
          <p:nvPr/>
        </p:nvPicPr>
        <p:blipFill>
          <a:blip r:embed="rId7"/>
          <a:stretch>
            <a:fillRect/>
          </a:stretch>
        </p:blipFill>
        <p:spPr>
          <a:xfrm>
            <a:off x="8343900" y="3707892"/>
            <a:ext cx="228600" cy="228600"/>
          </a:xfrm>
          <a:prstGeom prst="rect">
            <a:avLst/>
          </a:prstGeom>
        </p:spPr>
      </p:pic>
      <p:sp>
        <p:nvSpPr>
          <p:cNvPr id="34" name="Text 26"/>
          <p:cNvSpPr txBox="1"/>
          <p:nvPr/>
        </p:nvSpPr>
        <p:spPr>
          <a:xfrm>
            <a:off x="8823960" y="3611880"/>
            <a:ext cx="2697480" cy="457200"/>
          </a:xfrm>
          <a:prstGeom prst="rect">
            <a:avLst/>
          </a:prstGeom>
          <a:noFill/>
          <a:ln/>
        </p:spPr>
        <p:txBody>
          <a:bodyPr wrap="square" lIns="0" tIns="0" rIns="0" bIns="0" rtlCol="0" anchor="ctr"/>
          <a:lstStyle/>
          <a:p>
            <a:pPr marL="0" indent="0">
              <a:buNone/>
            </a:pPr>
            <a:r>
              <a:rPr lang="en-US" sz="1350" b="1" dirty="0">
                <a:solidFill>
                  <a:srgbClr val="1B2140"/>
                </a:solidFill>
                <a:latin typeface="Calibri" pitchFamily="34" charset="0"/>
                <a:ea typeface="Calibri" pitchFamily="34" charset="-122"/>
                <a:cs typeface="Calibri" pitchFamily="34" charset="-120"/>
              </a:rPr>
              <a:t>Batasan</a:t>
            </a:r>
            <a:endParaRPr lang="en-US" sz="1350" dirty="0"/>
          </a:p>
        </p:txBody>
      </p:sp>
      <p:sp>
        <p:nvSpPr>
          <p:cNvPr id="35" name="Text 27"/>
          <p:cNvSpPr txBox="1"/>
          <p:nvPr/>
        </p:nvSpPr>
        <p:spPr>
          <a:xfrm>
            <a:off x="8229600" y="4178808"/>
            <a:ext cx="3291840" cy="1051560"/>
          </a:xfrm>
          <a:prstGeom prst="rect">
            <a:avLst/>
          </a:prstGeom>
          <a:noFill/>
          <a:ln/>
        </p:spPr>
        <p:txBody>
          <a:bodyPr wrap="square" lIns="0" tIns="0" rIns="0" bIns="0" rtlCol="0" anchor="t"/>
          <a:lstStyle/>
          <a:p>
            <a:pPr marL="0" indent="0">
              <a:buNone/>
            </a:pPr>
            <a:r>
              <a:rPr lang="en-US" sz="1200" dirty="0">
                <a:solidFill>
                  <a:srgbClr val="5B6480"/>
                </a:solidFill>
                <a:latin typeface="Calibri" pitchFamily="34" charset="0"/>
                <a:ea typeface="Calibri" pitchFamily="34" charset="-122"/>
                <a:cs typeface="Calibri" pitchFamily="34" charset="-120"/>
              </a:rPr>
              <a:t>Hanya TIC, tanpa pencocokan spektrum. Persen luas puncak bukan konsentrasi. Model terawasi butuh minimal 6 sampel dan 2 per kelas, dan kurang bermakna dengan sedikit ulangan.</a:t>
            </a:r>
            <a:endParaRPr lang="en-US" sz="1200" dirty="0"/>
          </a:p>
        </p:txBody>
      </p:sp>
      <p:sp>
        <p:nvSpPr>
          <p:cNvPr id="36" name="Shape 28"/>
          <p:cNvSpPr/>
          <p:nvPr/>
        </p:nvSpPr>
        <p:spPr>
          <a:xfrm>
            <a:off x="548640" y="5440680"/>
            <a:ext cx="11091672" cy="777240"/>
          </a:xfrm>
          <a:prstGeom prst="roundRect">
            <a:avLst>
              <a:gd name="adj" fmla="val 11765"/>
            </a:avLst>
          </a:prstGeom>
          <a:solidFill>
            <a:srgbClr val="DDF3EB"/>
          </a:solidFill>
          <a:ln w="15875">
            <a:solidFill>
              <a:srgbClr val="009E73"/>
            </a:solidFill>
            <a:prstDash val="solid"/>
          </a:ln>
        </p:spPr>
        <p:txBody>
          <a:bodyPr/>
          <a:lstStyle/>
          <a:p>
            <a:endParaRPr/>
          </a:p>
        </p:txBody>
      </p:sp>
      <p:sp>
        <p:nvSpPr>
          <p:cNvPr id="37" name="Text 29"/>
          <p:cNvSpPr txBox="1"/>
          <p:nvPr/>
        </p:nvSpPr>
        <p:spPr>
          <a:xfrm>
            <a:off x="713232" y="5532120"/>
            <a:ext cx="10762488" cy="594360"/>
          </a:xfrm>
          <a:prstGeom prst="rect">
            <a:avLst/>
          </a:prstGeom>
          <a:noFill/>
          <a:ln/>
        </p:spPr>
        <p:txBody>
          <a:bodyPr wrap="square" lIns="0" tIns="0" rIns="0" bIns="0" rtlCol="0" anchor="t"/>
          <a:lstStyle/>
          <a:p>
            <a:pPr marL="0" indent="0">
              <a:spcAft>
                <a:spcPts val="300"/>
              </a:spcAft>
              <a:buNone/>
            </a:pPr>
            <a:r>
              <a:rPr lang="en-US" sz="1250" b="1" dirty="0">
                <a:solidFill>
                  <a:srgbClr val="1B2140"/>
                </a:solidFill>
                <a:latin typeface="Calibri" pitchFamily="34" charset="0"/>
                <a:ea typeface="Calibri" pitchFamily="34" charset="-122"/>
                <a:cs typeface="Calibri" pitchFamily="34" charset="-120"/>
              </a:rPr>
              <a:t>Perintah</a:t>
            </a:r>
            <a:endParaRPr lang="en-US" sz="1250" dirty="0"/>
          </a:p>
          <a:p>
            <a:pPr marL="0" indent="0">
              <a:spcAft>
                <a:spcPts val="300"/>
              </a:spcAft>
              <a:buNone/>
            </a:pPr>
            <a:r>
              <a:rPr lang="en-US" sz="1200" dirty="0">
                <a:solidFill>
                  <a:srgbClr val="1B2140"/>
                </a:solidFill>
                <a:latin typeface="Calibri" pitchFamily="34" charset="0"/>
                <a:ea typeface="Calibri" pitchFamily="34" charset="-122"/>
                <a:cs typeface="Calibri" pitchFamily="34" charset="-120"/>
              </a:rPr>
              <a:t>python -m chemflow gcms --data data-gcms/ --output hasil/</a:t>
            </a:r>
            <a:endParaRPr lang="en-US" sz="1250" dirty="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310896"/>
            <a:ext cx="941832" cy="256032"/>
          </a:xfrm>
          <a:prstGeom prst="roundRect">
            <a:avLst>
              <a:gd name="adj" fmla="val 50000"/>
            </a:avLst>
          </a:prstGeom>
          <a:solidFill>
            <a:srgbClr val="E8EDFC"/>
          </a:solidFill>
          <a:ln/>
        </p:spPr>
        <p:txBody>
          <a:bodyPr wrap="square" lIns="0" tIns="0" rIns="0" bIns="0" rtlCol="0" anchor="ctr"/>
          <a:lstStyle/>
          <a:p>
            <a:pPr marL="0" indent="0" algn="ctr">
              <a:buNone/>
            </a:pPr>
            <a:r>
              <a:rPr lang="en-US" sz="1000" b="1" dirty="0">
                <a:solidFill>
                  <a:srgbClr val="3C71E8"/>
                </a:solidFill>
                <a:latin typeface="Calibri" pitchFamily="34" charset="0"/>
                <a:ea typeface="Calibri" pitchFamily="34" charset="-122"/>
                <a:cs typeface="Calibri" pitchFamily="34" charset="-120"/>
              </a:rPr>
              <a:t>APPENDIX</a:t>
            </a:r>
            <a:endParaRPr lang="en-US" sz="1000" dirty="0"/>
          </a:p>
        </p:txBody>
      </p:sp>
      <p:sp>
        <p:nvSpPr>
          <p:cNvPr id="3" name="Text 1"/>
          <p:cNvSpPr txBox="1"/>
          <p:nvPr/>
        </p:nvSpPr>
        <p:spPr>
          <a:xfrm>
            <a:off x="548640" y="621792"/>
            <a:ext cx="11094415" cy="914400"/>
          </a:xfrm>
          <a:prstGeom prst="rect">
            <a:avLst/>
          </a:prstGeom>
          <a:noFill/>
          <a:ln/>
        </p:spPr>
        <p:txBody>
          <a:bodyPr wrap="square" lIns="0" tIns="0" rIns="0" bIns="0" rtlCol="0" anchor="t">
            <a:normAutofit/>
          </a:bodyPr>
          <a:lstStyle/>
          <a:p>
            <a:pPr marL="0" indent="0">
              <a:buNone/>
            </a:pPr>
            <a:r>
              <a:rPr lang="en-US" sz="2800" b="1" dirty="0">
                <a:solidFill>
                  <a:srgbClr val="1B2140"/>
                </a:solidFill>
                <a:latin typeface="Cambria" pitchFamily="34" charset="0"/>
                <a:ea typeface="Cambria" pitchFamily="34" charset="-122"/>
                <a:cs typeface="Cambria" pitchFamily="34" charset="-120"/>
              </a:rPr>
              <a:t>GC-MS: PCA gaya jurnal dan kromatogram (data sintetis)</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marL="0" indent="0">
              <a:buNone/>
            </a:pPr>
            <a:r>
              <a:rPr lang="en-US" sz="900" dirty="0">
                <a:solidFill>
                  <a:srgbClr val="5B6480"/>
                </a:solidFill>
                <a:latin typeface="Calibri" pitchFamily="34" charset="0"/>
                <a:ea typeface="Calibri" pitchFamily="34" charset="-122"/>
                <a:cs typeface="Calibri" pitchFamily="34" charset="-120"/>
              </a:rPr>
              <a:t>chemflow v2.0.0  ·  MIT  ·  github.com/Arifmaulanaazis/chemflow</a:t>
            </a:r>
            <a:endParaRPr lang="en-US" sz="900" dirty="0"/>
          </a:p>
        </p:txBody>
      </p:sp>
      <p:sp>
        <p:nvSpPr>
          <p:cNvPr id="5" name="Text 3"/>
          <p:cNvSpPr txBox="1"/>
          <p:nvPr/>
        </p:nvSpPr>
        <p:spPr>
          <a:xfrm>
            <a:off x="10545775" y="6446520"/>
            <a:ext cx="1097280" cy="228600"/>
          </a:xfrm>
          <a:prstGeom prst="rect">
            <a:avLst/>
          </a:prstGeom>
          <a:noFill/>
          <a:ln/>
        </p:spPr>
        <p:txBody>
          <a:bodyPr wrap="square" lIns="0" tIns="0" rIns="0" bIns="0" rtlCol="0" anchor="ctr"/>
          <a:lstStyle/>
          <a:p>
            <a:pPr marL="0" indent="0" algn="r">
              <a:buNone/>
            </a:pPr>
            <a:r>
              <a:rPr lang="en-US" sz="1000" dirty="0">
                <a:solidFill>
                  <a:srgbClr val="5B6480"/>
                </a:solidFill>
                <a:latin typeface="Calibri" pitchFamily="34" charset="0"/>
                <a:ea typeface="Calibri" pitchFamily="34" charset="-122"/>
                <a:cs typeface="Calibri" pitchFamily="34" charset="-120"/>
              </a:rPr>
              <a:t>A11</a:t>
            </a:r>
            <a:endParaRPr lang="en-US" sz="1000" dirty="0"/>
          </a:p>
        </p:txBody>
      </p:sp>
      <p:sp>
        <p:nvSpPr>
          <p:cNvPr id="8" name="Text 4"/>
          <p:cNvSpPr txBox="1"/>
          <p:nvPr/>
        </p:nvSpPr>
        <p:spPr>
          <a:xfrm>
            <a:off x="548640" y="5486400"/>
            <a:ext cx="8412480" cy="365760"/>
          </a:xfrm>
          <a:prstGeom prst="rect">
            <a:avLst/>
          </a:prstGeom>
          <a:noFill/>
          <a:ln/>
        </p:spPr>
        <p:txBody>
          <a:bodyPr wrap="square" lIns="0" tIns="0" rIns="0" bIns="0" rtlCol="0" anchor="t"/>
          <a:lstStyle/>
          <a:p>
            <a:pPr marL="0" indent="0" algn="l">
              <a:buNone/>
            </a:pPr>
            <a:r>
              <a:rPr lang="en-US" sz="1000" dirty="0">
                <a:solidFill>
                  <a:srgbClr val="5B6480"/>
                </a:solidFill>
                <a:latin typeface="Calibri" pitchFamily="34" charset="0"/>
                <a:ea typeface="Calibri" pitchFamily="34" charset="-122"/>
                <a:cs typeface="Calibri" pitchFamily="34" charset="-120"/>
              </a:rPr>
              <a:t>pca_2d.png dan kromatogram_tumpang_tindih.png dari studi sintetis: 2 kelas x 2 seri x 3 ulangan.</a:t>
            </a:r>
            <a:endParaRPr lang="en-US" sz="1000" dirty="0"/>
          </a:p>
        </p:txBody>
      </p:sp>
      <p:sp>
        <p:nvSpPr>
          <p:cNvPr id="9" name="Shape 5"/>
          <p:cNvSpPr/>
          <p:nvPr/>
        </p:nvSpPr>
        <p:spPr>
          <a:xfrm>
            <a:off x="9144000" y="1645920"/>
            <a:ext cx="2496312" cy="4526280"/>
          </a:xfrm>
          <a:prstGeom prst="roundRect">
            <a:avLst>
              <a:gd name="adj" fmla="val 4396"/>
            </a:avLst>
          </a:prstGeom>
          <a:solidFill>
            <a:srgbClr val="EDE7FC"/>
          </a:solidFill>
          <a:ln w="9525">
            <a:solidFill>
              <a:srgbClr val="EDE7FC"/>
            </a:solidFill>
            <a:prstDash val="solid"/>
          </a:ln>
        </p:spPr>
        <p:txBody>
          <a:bodyPr/>
          <a:p/>
        </p:txBody>
      </p:sp>
      <p:sp>
        <p:nvSpPr>
          <p:cNvPr id="10" name="Text 6"/>
          <p:cNvSpPr txBox="1"/>
          <p:nvPr/>
        </p:nvSpPr>
        <p:spPr>
          <a:xfrm>
            <a:off x="9326880" y="1755648"/>
            <a:ext cx="2194560" cy="274320"/>
          </a:xfrm>
          <a:prstGeom prst="rect">
            <a:avLst/>
          </a:prstGeom>
          <a:noFill/>
          <a:ln/>
        </p:spPr>
        <p:txBody>
          <a:bodyPr wrap="square" lIns="0" tIns="0" rIns="0" bIns="0" rtlCol="0" anchor="t"/>
          <a:lstStyle/>
          <a:p>
            <a:pPr marL="0" indent="0">
              <a:buNone/>
            </a:pPr>
            <a:r>
              <a:rPr lang="en-US" sz="1400" b="1" dirty="0">
                <a:solidFill>
                  <a:srgbClr val="1B2140"/>
                </a:solidFill>
                <a:latin typeface="Calibri" pitchFamily="34" charset="0"/>
                <a:ea typeface="Calibri" pitchFamily="34" charset="-122"/>
                <a:cs typeface="Calibri" pitchFamily="34" charset="-120"/>
              </a:rPr>
              <a:t>Cara baca</a:t>
            </a:r>
            <a:endParaRPr lang="en-US" sz="1400" dirty="0"/>
          </a:p>
        </p:txBody>
      </p:sp>
      <p:sp>
        <p:nvSpPr>
          <p:cNvPr id="11" name="Text 7"/>
          <p:cNvSpPr txBox="1"/>
          <p:nvPr/>
        </p:nvSpPr>
        <p:spPr>
          <a:xfrm>
            <a:off x="9326880" y="2121408"/>
            <a:ext cx="2194560" cy="3017520"/>
          </a:xfrm>
          <a:prstGeom prst="rect">
            <a:avLst/>
          </a:prstGeom>
          <a:noFill/>
          <a:ln/>
        </p:spPr>
        <p:txBody>
          <a:bodyPr wrap="square" lIns="0" tIns="0" rIns="0" bIns="0" rtlCol="0" anchor="t"/>
          <a:lstStyle/>
          <a:p>
            <a:pPr marL="177800" indent="-177800">
              <a:spcAft>
                <a:spcPts val="400"/>
              </a:spcAft>
              <a:buSzPct val="100000"/>
              <a:buChar char="•"/>
            </a:pPr>
            <a:r>
              <a:rPr lang="en-US" sz="1100" dirty="0">
                <a:solidFill>
                  <a:srgbClr val="1B2140"/>
                </a:solidFill>
                <a:latin typeface="Calibri" pitchFamily="34" charset="0"/>
                <a:ea typeface="Calibri" pitchFamily="34" charset="-122"/>
                <a:cs typeface="Calibri" pitchFamily="34" charset="-120"/>
              </a:rPr>
              <a:t>Warna: seri (Mawar, Melati)</a:t>
            </a:r>
            <a:endParaRPr lang="en-US" sz="1100" dirty="0"/>
          </a:p>
          <a:p>
            <a:pPr marL="177800" indent="-177800">
              <a:spcAft>
                <a:spcPts val="400"/>
              </a:spcAft>
              <a:buSzPct val="100000"/>
              <a:buChar char="•"/>
            </a:pPr>
            <a:r>
              <a:rPr lang="en-US" sz="1100" dirty="0">
                <a:solidFill>
                  <a:srgbClr val="1B2140"/>
                </a:solidFill>
                <a:latin typeface="Calibri" pitchFamily="34" charset="0"/>
                <a:ea typeface="Calibri" pitchFamily="34" charset="-122"/>
                <a:cs typeface="Calibri" pitchFamily="34" charset="-120"/>
              </a:rPr>
              <a:t>Penanda: kelas (Asli, Tiruan)</a:t>
            </a:r>
            <a:endParaRPr lang="en-US" sz="1100" dirty="0"/>
          </a:p>
          <a:p>
            <a:pPr marL="177800" indent="-177800">
              <a:spcAft>
                <a:spcPts val="400"/>
              </a:spcAft>
              <a:buSzPct val="100000"/>
              <a:buChar char="•"/>
            </a:pPr>
            <a:r>
              <a:rPr lang="en-US" sz="1100" dirty="0">
                <a:solidFill>
                  <a:srgbClr val="1B2140"/>
                </a:solidFill>
                <a:latin typeface="Calibri" pitchFamily="34" charset="0"/>
                <a:ea typeface="Calibri" pitchFamily="34" charset="-122"/>
                <a:cs typeface="Calibri" pitchFamily="34" charset="-120"/>
              </a:rPr>
              <a:t>Elips 95% per kelas, gaya garis berbeda</a:t>
            </a:r>
            <a:endParaRPr lang="en-US" sz="1100" dirty="0"/>
          </a:p>
          <a:p>
            <a:pPr marL="177800" indent="-177800">
              <a:spcAft>
                <a:spcPts val="400"/>
              </a:spcAft>
              <a:buSzPct val="100000"/>
              <a:buChar char="•"/>
            </a:pPr>
            <a:r>
              <a:rPr lang="en-US" sz="1100" dirty="0">
                <a:solidFill>
                  <a:srgbClr val="1B2140"/>
                </a:solidFill>
                <a:latin typeface="Calibri" pitchFamily="34" charset="0"/>
                <a:ea typeface="Calibri" pitchFamily="34" charset="-122"/>
                <a:cs typeface="Calibri" pitchFamily="34" charset="-120"/>
              </a:rPr>
              <a:t>Puncak 12,0 dan 16,0 menit sengaja dibuat berbeda</a:t>
            </a:r>
            <a:endParaRPr lang="en-US" sz="1100" dirty="0"/>
          </a:p>
          <a:p>
            <a:pPr marL="177800" indent="-177800">
              <a:spcAft>
                <a:spcPts val="400"/>
              </a:spcAft>
              <a:buSzPct val="100000"/>
              <a:buChar char="•"/>
            </a:pPr>
            <a:r>
              <a:rPr lang="en-US" sz="1100" dirty="0">
                <a:solidFill>
                  <a:srgbClr val="1B2140"/>
                </a:solidFill>
                <a:latin typeface="Calibri" pitchFamily="34" charset="0"/>
                <a:ea typeface="Calibri" pitchFamily="34" charset="-122"/>
                <a:cs typeface="Calibri" pitchFamily="34" charset="-120"/>
              </a:rPr>
              <a:t>PLS-DA dan LDA: akurasi validasi silang 100%, p permutasi &lt; 0,05</a:t>
            </a:r>
            <a:endParaRPr lang="en-US" sz="1100" dirty="0"/>
          </a:p>
        </p:txBody>
      </p:sp>
      <p:sp>
        <p:nvSpPr>
          <p:cNvPr id="12" name="Text 8"/>
          <p:cNvSpPr txBox="1"/>
          <p:nvPr/>
        </p:nvSpPr>
        <p:spPr>
          <a:xfrm>
            <a:off x="9326880" y="5212080"/>
            <a:ext cx="2194560" cy="822960"/>
          </a:xfrm>
          <a:prstGeom prst="rect">
            <a:avLst/>
          </a:prstGeom>
          <a:noFill/>
          <a:ln/>
        </p:spPr>
        <p:txBody>
          <a:bodyPr wrap="square" lIns="0" tIns="0" rIns="0" bIns="0" rtlCol="0" anchor="t"/>
          <a:lstStyle/>
          <a:p>
            <a:pPr marL="0" indent="0">
              <a:buNone/>
            </a:pPr>
            <a:r>
              <a:rPr lang="en-US" sz="1050" i="1" dirty="0">
                <a:solidFill>
                  <a:srgbClr val="5B6480"/>
                </a:solidFill>
                <a:latin typeface="Calibri" pitchFamily="34" charset="0"/>
                <a:ea typeface="Calibri" pitchFamily="34" charset="-122"/>
                <a:cs typeface="Calibri" pitchFamily="34" charset="-120"/>
              </a:rPr>
              <a:t>Data sintetis untuk ilustrasi, bukan hasil pengukuran.</a:t>
            </a:r>
            <a:endParaRPr lang="en-US" sz="1050" dirty="0"/>
          </a:p>
        </p:txBody>
      </p:sp>
      <p:sp>
        <p:nvSpPr>
          <p:cNvPr id="13" name="Text 9"/>
          <p:cNvSpPr txBox="1"/>
          <p:nvPr/>
        </p:nvSpPr>
        <p:spPr>
          <a:xfrm>
            <a:off x="548640" y="5806440"/>
            <a:ext cx="8412480" cy="457200"/>
          </a:xfrm>
          <a:prstGeom prst="rect">
            <a:avLst/>
          </a:prstGeom>
          <a:noFill/>
          <a:ln/>
        </p:spPr>
        <p:txBody>
          <a:bodyPr wrap="square" lIns="0" tIns="0" rIns="0" bIns="0" rtlCol="0" anchor="t"/>
          <a:lstStyle/>
          <a:p>
            <a:pPr marL="0" indent="0" algn="l">
              <a:buNone/>
            </a:pPr>
            <a:r>
              <a:rPr lang="en-US" sz="1000" dirty="0">
                <a:solidFill>
                  <a:srgbClr val="5B6480"/>
                </a:solidFill>
                <a:latin typeface="Calibri" pitchFamily="34" charset="0"/>
                <a:ea typeface="Calibri" pitchFamily="34" charset="-122"/>
                <a:cs typeface="Calibri" pitchFamily="34" charset="-120"/>
              </a:rPr>
              <a:t>Studi sintetis dibuat oleh tests/gcms_data.py; format masukan asli: xls, csv, cdf, mzML, mzXML.</a:t>
            </a:r>
            <a:endParaRPr lang="en-US" sz="1000" dirty="0"/>
          </a:p>
        </p:txBody>
      </p:sp>
      <p:pic>
        <p:nvPicPr>
          <p:cNvPr id="14" name="Picture 13" descr="gcms_pca_2d.png"/>
          <p:cNvPicPr>
            <a:picLocks noChangeAspect="1"/>
          </p:cNvPicPr>
          <p:nvPr/>
        </p:nvPicPr>
        <p:blipFill>
          <a:blip r:embed="rId2"/>
          <a:stretch>
            <a:fillRect/>
          </a:stretch>
        </p:blipFill>
        <p:spPr>
          <a:xfrm>
            <a:off x="548640" y="2188353"/>
            <a:ext cx="4114800" cy="2682462"/>
          </a:xfrm>
          <a:prstGeom prst="rect">
            <a:avLst/>
          </a:prstGeom>
        </p:spPr>
      </p:pic>
      <p:pic>
        <p:nvPicPr>
          <p:cNvPr id="15" name="Picture 14" descr="gcms_kromatogram_tumpang_tindih.png"/>
          <p:cNvPicPr>
            <a:picLocks noChangeAspect="1"/>
          </p:cNvPicPr>
          <p:nvPr/>
        </p:nvPicPr>
        <p:blipFill>
          <a:blip r:embed="rId3"/>
          <a:stretch>
            <a:fillRect/>
          </a:stretch>
        </p:blipFill>
        <p:spPr>
          <a:xfrm>
            <a:off x="4754880" y="2329434"/>
            <a:ext cx="4114799" cy="24003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225</TotalTime>
  <Words>14077</Words>
  <Application>Microsoft Office PowerPoint</Application>
  <PresentationFormat>Widescreen</PresentationFormat>
  <Paragraphs>1559</Paragraphs>
  <Slides>44</Slides>
  <Notes>44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chemflow: Skrining Virtual Otomatis dengan Python</dc:title>
  <dc:subject>Workshop in silico: preparasi, docking AutoDock Vina, ADMET, dan analitik</dc:subject>
  <dc:creator>Arif Maulana Azis</dc:creator>
  <cp:lastModifiedBy>Arif Maulana Azis</cp:lastModifiedBy>
  <cp:revision>15</cp:revision>
  <dcterms:created xsi:type="dcterms:W3CDTF">2026-09-19T07:10:51Z</dcterms:created>
  <dcterms:modified xsi:type="dcterms:W3CDTF">2026-09-19T23:23:27Z</dcterms:modified>
</cp:coreProperties>
</file>